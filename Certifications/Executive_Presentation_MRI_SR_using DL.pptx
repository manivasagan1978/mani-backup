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6" Type="http://schemas.microsoft.com/office/2020/02/relationships/classificationlabels" Target="docMetadata/LabelInfo.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Presentation on Deep Learning-Based Super-Resolution Techniques for 3D MRI Reconstruction" id="{9F7D1C20-81B4-477D-8CF8-6F45A53AE36C}">
          <p14:sldIdLst>
            <p14:sldId id="2561"/>
          </p14:sldIdLst>
        </p14:section>
        <p14:section name="Introduction and Context" id="{4E49689E-0F03-4C70-9ADE-66C84486E027}">
          <p14:sldIdLst>
            <p14:sldId id="2562"/>
            <p14:sldId id="2563"/>
            <p14:sldId id="2564"/>
          </p14:sldIdLst>
        </p14:section>
        <p14:section name="Deep Learning Approaches for MRI Super-Resolution" id="{BF1831F5-4FA9-46A3-9A77-3477C82E3353}">
          <p14:sldIdLst>
            <p14:sldId id="2565"/>
            <p14:sldId id="2566"/>
            <p14:sldId id="2567"/>
          </p14:sldIdLst>
        </p14:section>
        <p14:section name="Datasets and Experimental Protocols" id="{4C488FEF-AA27-4C87-AF7F-C86A940AB797}">
          <p14:sldIdLst>
            <p14:sldId id="2568"/>
            <p14:sldId id="2569"/>
          </p14:sldIdLst>
        </p14:section>
        <p14:section name="Key Findings and Strategic Insights" id="{D21A0FE6-26D9-4988-BED1-7A04529A1978}">
          <p14:sldIdLst>
            <p14:sldId id="2570"/>
            <p14:sldId id="2571"/>
          </p14:sldIdLst>
        </p14:section>
        <p14:section name="Conclusion and Recommendations" id="{C6EE4EB6-C92B-45BF-817F-3732A743787B}">
          <p14:sldIdLst>
            <p14:sldId id="2572"/>
            <p14:sldId id="25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8C7C28-F851-426A-A6CF-717328D2920B}" v="215" dt="2025-12-19T03:32:08.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62" d="100"/>
          <a:sy n="62" d="100"/>
        </p:scale>
        <p:origin x="828" y="268"/>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notesMaster" Target="notesMasters/notesMaster1.xml" /><Relationship Id="rId3" Type="http://schemas.openxmlformats.org/officeDocument/2006/relationships/customXml" Target="../customXml/item3.xml" /><Relationship Id="rId21" Type="http://schemas.openxmlformats.org/officeDocument/2006/relationships/theme" Target="theme/theme1.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viewProps" Target="viewProp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microsoft.com/office/2015/10/relationships/revisionInfo" Target="revisionInfo.xml" /><Relationship Id="rId5" Type="http://schemas.openxmlformats.org/officeDocument/2006/relationships/slide" Target="slides/slide1.xml" /><Relationship Id="rId15" Type="http://schemas.openxmlformats.org/officeDocument/2006/relationships/slide" Target="slides/slide11.xml" /><Relationship Id="rId23" Type="http://schemas.microsoft.com/office/2016/11/relationships/changesInfo" Target="changesInfos/changesInfo1.xml" /><Relationship Id="rId10" Type="http://schemas.openxmlformats.org/officeDocument/2006/relationships/slide" Target="slides/slide6.xml" /><Relationship Id="rId19" Type="http://schemas.openxmlformats.org/officeDocument/2006/relationships/presProps" Target="presProp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tableStyles" Target="tableStyle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vasagan N (US)" userId="ce61b23d-0f63-46e9-8d6c-4ff56284f554" providerId="ADAL" clId="{551C808D-D0AE-4635-8DCB-574B9D52CBCC}"/>
    <pc:docChg chg="custSel modSld">
      <pc:chgData name="Manivasagan N (US)" userId="ce61b23d-0f63-46e9-8d6c-4ff56284f554" providerId="ADAL" clId="{551C808D-D0AE-4635-8DCB-574B9D52CBCC}" dt="2025-12-19T03:32:08.435" v="271" actId="20577"/>
      <pc:docMkLst>
        <pc:docMk/>
      </pc:docMkLst>
      <pc:sldChg chg="addSp modSp mod modAnim">
        <pc:chgData name="Manivasagan N (US)" userId="ce61b23d-0f63-46e9-8d6c-4ff56284f554" providerId="ADAL" clId="{551C808D-D0AE-4635-8DCB-574B9D52CBCC}" dt="2025-12-19T03:32:08.435" v="271" actId="20577"/>
        <pc:sldMkLst>
          <pc:docMk/>
          <pc:sldMk cId="1373110065" sldId="2561"/>
        </pc:sldMkLst>
        <pc:spChg chg="mod">
          <ac:chgData name="Manivasagan N (US)" userId="ce61b23d-0f63-46e9-8d6c-4ff56284f554" providerId="ADAL" clId="{551C808D-D0AE-4635-8DCB-574B9D52CBCC}" dt="2025-12-19T03:26:44.959" v="226" actId="14100"/>
          <ac:spMkLst>
            <pc:docMk/>
            <pc:sldMk cId="1373110065" sldId="2561"/>
            <ac:spMk id="2" creationId="{D364CE11-5938-37EF-2452-535B9089CE51}"/>
          </ac:spMkLst>
        </pc:spChg>
        <pc:spChg chg="mod">
          <ac:chgData name="Manivasagan N (US)" userId="ce61b23d-0f63-46e9-8d6c-4ff56284f554" providerId="ADAL" clId="{551C808D-D0AE-4635-8DCB-574B9D52CBCC}" dt="2025-12-19T03:27:38.511" v="253" actId="1037"/>
          <ac:spMkLst>
            <pc:docMk/>
            <pc:sldMk cId="1373110065" sldId="2561"/>
            <ac:spMk id="3" creationId="{CE10CA86-EA90-B94C-C8D5-C6706EDA3BC6}"/>
          </ac:spMkLst>
        </pc:spChg>
        <pc:spChg chg="add mod">
          <ac:chgData name="Manivasagan N (US)" userId="ce61b23d-0f63-46e9-8d6c-4ff56284f554" providerId="ADAL" clId="{551C808D-D0AE-4635-8DCB-574B9D52CBCC}" dt="2025-12-19T03:32:08.435" v="271" actId="20577"/>
          <ac:spMkLst>
            <pc:docMk/>
            <pc:sldMk cId="1373110065" sldId="2561"/>
            <ac:spMk id="5" creationId="{69D88A5C-2FF9-F21D-9CED-9C480B1125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D4D602-1115-4D25-BB04-F0D55F7F7939}" type="datetimeFigureOut">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FFFBB-032A-429C-AD03-082ACC8B9327}" type="slidenum">
              <a:t>‹#›</a:t>
            </a:fld>
            <a:endParaRPr lang="en-US"/>
          </a:p>
        </p:txBody>
      </p:sp>
    </p:spTree>
    <p:extLst>
      <p:ext uri="{BB962C8B-B14F-4D97-AF65-F5344CB8AC3E}">
        <p14:creationId xmlns:p14="http://schemas.microsoft.com/office/powerpoint/2010/main" val="1002476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5DFE6E92-5D17-4A86-8947-A72AC96E7058}" type="slidenum">
              <a:t>1</a:t>
            </a:fld>
            <a:endParaRPr lang="en-US"/>
          </a:p>
        </p:txBody>
      </p:sp>
    </p:spTree>
    <p:extLst>
      <p:ext uri="{BB962C8B-B14F-4D97-AF65-F5344CB8AC3E}">
        <p14:creationId xmlns:p14="http://schemas.microsoft.com/office/powerpoint/2010/main" val="3041742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Overview of MRI and Challenges, Purpose and Scope of the Survey
</a:t>
            </a:r>
          </a:p>
        </p:txBody>
      </p:sp>
      <p:sp>
        <p:nvSpPr>
          <p:cNvPr id="4" name="Slide Number Placeholder 3"/>
          <p:cNvSpPr>
            <a:spLocks noGrp="1"/>
          </p:cNvSpPr>
          <p:nvPr>
            <p:ph type="sldNum" sz="quarter" idx="5"/>
          </p:nvPr>
        </p:nvSpPr>
        <p:spPr/>
        <p:txBody>
          <a:bodyPr/>
          <a:lstStyle/>
          <a:p>
            <a:fld id="{5DFE6E92-5D17-4A86-8947-A72AC96E7058}" type="slidenum">
              <a:t>2</a:t>
            </a:fld>
            <a:endParaRPr lang="en-US"/>
          </a:p>
        </p:txBody>
      </p:sp>
    </p:spTree>
    <p:extLst>
      <p:ext uri="{BB962C8B-B14F-4D97-AF65-F5344CB8AC3E}">
        <p14:creationId xmlns:p14="http://schemas.microsoft.com/office/powerpoint/2010/main" val="3200647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Magnetic Resonance Imaging (MRI) is a cornerstone in medical diagnostics due to its non-invasive nature and superior soft-tissue contrast. It plays a critical role in detecting neurological, cardiovascular, and musculoskeletal disorders. However, MRI faces significant challenges such as low spatial resolution, long acquisition times, and susceptibility to motion artifacts. These limitations often lead to patient discomfort and reduced clinical throughput. Conventional methods like interpolation and reconstruction-based approaches have attempted to address these issues but fall short in preserving fine anatomical details. This sets the stage for advanced computational techniques, particularly deep learning-based super-resolution (SR), which can enhance image quality without additional scanning time or hardware modifications. SR techniques aim to reconstruct high-resolution images from low-resolution inputs, improving diagnostic accuracy and workflow efficiency.
</a:t>
            </a:r>
          </a:p>
        </p:txBody>
      </p:sp>
      <p:sp>
        <p:nvSpPr>
          <p:cNvPr id="4" name="Slide Number Placeholder 3"/>
          <p:cNvSpPr>
            <a:spLocks noGrp="1"/>
          </p:cNvSpPr>
          <p:nvPr>
            <p:ph type="sldNum" sz="quarter" idx="5"/>
          </p:nvPr>
        </p:nvSpPr>
        <p:spPr/>
        <p:txBody>
          <a:bodyPr/>
          <a:lstStyle/>
          <a:p>
            <a:fld id="{5DFE6E92-5D17-4A86-8947-A72AC96E7058}" type="slidenum">
              <a:t>3</a:t>
            </a:fld>
            <a:endParaRPr lang="en-US"/>
          </a:p>
        </p:txBody>
      </p:sp>
    </p:spTree>
    <p:extLst>
      <p:ext uri="{BB962C8B-B14F-4D97-AF65-F5344CB8AC3E}">
        <p14:creationId xmlns:p14="http://schemas.microsoft.com/office/powerpoint/2010/main" val="1322195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The survey provides a comprehensive review of deep learning-based super-resolution techniques for 3D MRI reconstruction. It synthesizes insights from recent literature, highlighting major developments, architectural innovations, and persistent research gaps. The paper explores fundamental principles of MRI SR, evaluates state-of-the-art deep learning strategies, and examines reconstruction mechanisms that transform low-resolution slices into high-quality volumetric images. Additionally, it reviews commonly used datasets and experimental protocols, proposing a generalized solution framework to address challenges such as computational complexity, data scarcity, and model generalization. The ultimate goal is to guide future research toward efficient, adaptive, and clinically deployable SR models for 3D MRI imaging.
</a:t>
            </a:r>
          </a:p>
        </p:txBody>
      </p:sp>
      <p:sp>
        <p:nvSpPr>
          <p:cNvPr id="4" name="Slide Number Placeholder 3"/>
          <p:cNvSpPr>
            <a:spLocks noGrp="1"/>
          </p:cNvSpPr>
          <p:nvPr>
            <p:ph type="sldNum" sz="quarter" idx="5"/>
          </p:nvPr>
        </p:nvSpPr>
        <p:spPr/>
        <p:txBody>
          <a:bodyPr/>
          <a:lstStyle/>
          <a:p>
            <a:fld id="{5DFE6E92-5D17-4A86-8947-A72AC96E7058}" type="slidenum">
              <a:t>4</a:t>
            </a:fld>
            <a:endParaRPr lang="en-US"/>
          </a:p>
        </p:txBody>
      </p:sp>
    </p:spTree>
    <p:extLst>
      <p:ext uri="{BB962C8B-B14F-4D97-AF65-F5344CB8AC3E}">
        <p14:creationId xmlns:p14="http://schemas.microsoft.com/office/powerpoint/2010/main" val="2027675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Key Techniques and Architectures, Comparative Analysis of Methods
</a:t>
            </a:r>
          </a:p>
        </p:txBody>
      </p:sp>
      <p:sp>
        <p:nvSpPr>
          <p:cNvPr id="4" name="Slide Number Placeholder 3"/>
          <p:cNvSpPr>
            <a:spLocks noGrp="1"/>
          </p:cNvSpPr>
          <p:nvPr>
            <p:ph type="sldNum" sz="quarter" idx="5"/>
          </p:nvPr>
        </p:nvSpPr>
        <p:spPr/>
        <p:txBody>
          <a:bodyPr/>
          <a:lstStyle/>
          <a:p>
            <a:fld id="{5DFE6E92-5D17-4A86-8947-A72AC96E7058}" type="slidenum">
              <a:t>5</a:t>
            </a:fld>
            <a:endParaRPr lang="en-US"/>
          </a:p>
        </p:txBody>
      </p:sp>
    </p:spTree>
    <p:extLst>
      <p:ext uri="{BB962C8B-B14F-4D97-AF65-F5344CB8AC3E}">
        <p14:creationId xmlns:p14="http://schemas.microsoft.com/office/powerpoint/2010/main" val="3399383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Deep learning has revolutionized MRI super-resolution by enabling models to learn complex mappings between low-resolution and high-resolution images directly from data. Convolutional Neural Networks (CNNs) form the foundation of many SR frameworks, capturing hierarchical spatial features and reducing noise. Generative Adversarial Networks (GANs) further enhance image realism by employing adversarial training, which encourages sharper and more anatomically accurate reconstructions. Transformer-based models leverage attention mechanisms to capture global context and long-range dependencies, ensuring consistency across slices. Diffusion models introduce iterative denoising processes that progressively refine low-resolution inputs into high-fidelity volumetric outputs. These architectures outperform traditional methods by preserving fine anatomical details, improving signal-to-noise ratio, and supporting multi-modal integration for comprehensive diagnostic interpretation.
</a:t>
            </a:r>
          </a:p>
        </p:txBody>
      </p:sp>
      <p:sp>
        <p:nvSpPr>
          <p:cNvPr id="4" name="Slide Number Placeholder 3"/>
          <p:cNvSpPr>
            <a:spLocks noGrp="1"/>
          </p:cNvSpPr>
          <p:nvPr>
            <p:ph type="sldNum" sz="quarter" idx="5"/>
          </p:nvPr>
        </p:nvSpPr>
        <p:spPr/>
        <p:txBody>
          <a:bodyPr/>
          <a:lstStyle/>
          <a:p>
            <a:fld id="{5DFE6E92-5D17-4A86-8947-A72AC96E7058}" type="slidenum">
              <a:t>6</a:t>
            </a:fld>
            <a:endParaRPr lang="en-US"/>
          </a:p>
        </p:txBody>
      </p:sp>
    </p:spTree>
    <p:extLst>
      <p:ext uri="{BB962C8B-B14F-4D97-AF65-F5344CB8AC3E}">
        <p14:creationId xmlns:p14="http://schemas.microsoft.com/office/powerpoint/2010/main" val="2090775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The survey compares leading deep learning models such as DVF-Net, NC-PDNet, MRSR-CNN, ESRGAN, CNet, miSRGAN, k-GAN, ULF-Net, InverseSR, MADGAN, DeepCSR, NeSVoR, and SwinMR. Evaluation metrics include PSNR, SSIM, DSC, MSE, and AUC, which consistently demonstrate the superiority of these models over conventional approaches. For instance, DVF-Net enables real-time 3D MRI reconstruction with motion tracking, while NC-PDNet excels in handling non-Cartesian trajectories. GAN-based models like ESRGAN and miSRGAN improve perceptual quality and structural fidelity, whereas transformer-based architectures such as SwinMR capture global contextual features for enhanced image sharpness. Despite these advancements, challenges remain in computational efficiency, scalability, and generalization across diverse imaging protocols.
</a:t>
            </a:r>
          </a:p>
        </p:txBody>
      </p:sp>
      <p:sp>
        <p:nvSpPr>
          <p:cNvPr id="4" name="Slide Number Placeholder 3"/>
          <p:cNvSpPr>
            <a:spLocks noGrp="1"/>
          </p:cNvSpPr>
          <p:nvPr>
            <p:ph type="sldNum" sz="quarter" idx="5"/>
          </p:nvPr>
        </p:nvSpPr>
        <p:spPr/>
        <p:txBody>
          <a:bodyPr/>
          <a:lstStyle/>
          <a:p>
            <a:fld id="{5DFE6E92-5D17-4A86-8947-A72AC96E7058}" type="slidenum">
              <a:t>7</a:t>
            </a:fld>
            <a:endParaRPr lang="en-US"/>
          </a:p>
        </p:txBody>
      </p:sp>
    </p:spTree>
    <p:extLst>
      <p:ext uri="{BB962C8B-B14F-4D97-AF65-F5344CB8AC3E}">
        <p14:creationId xmlns:p14="http://schemas.microsoft.com/office/powerpoint/2010/main" val="2581635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Overview of Popular Datasets
</a:t>
            </a:r>
          </a:p>
        </p:txBody>
      </p:sp>
      <p:sp>
        <p:nvSpPr>
          <p:cNvPr id="4" name="Slide Number Placeholder 3"/>
          <p:cNvSpPr>
            <a:spLocks noGrp="1"/>
          </p:cNvSpPr>
          <p:nvPr>
            <p:ph type="sldNum" sz="quarter" idx="5"/>
          </p:nvPr>
        </p:nvSpPr>
        <p:spPr/>
        <p:txBody>
          <a:bodyPr/>
          <a:lstStyle/>
          <a:p>
            <a:fld id="{5DFE6E92-5D17-4A86-8947-A72AC96E7058}" type="slidenum">
              <a:t>8</a:t>
            </a:fld>
            <a:endParaRPr lang="en-US"/>
          </a:p>
        </p:txBody>
      </p:sp>
    </p:spTree>
    <p:extLst>
      <p:ext uri="{BB962C8B-B14F-4D97-AF65-F5344CB8AC3E}">
        <p14:creationId xmlns:p14="http://schemas.microsoft.com/office/powerpoint/2010/main" val="348298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Several publicly available datasets support research in 3D MRI reconstruction and super-resolution. The IXI dataset includes T1-, T2-, and PD-weighted scans of over 600 healthy subjects, commonly used for volumetric reconstruction and multi-contrast analysis. The fastMRI dataset, developed by Facebook AI and NYU Langone Health, offers raw k-space data and fully reconstructed images for accelerated MRI research, with approximately 1,500 brain scans. BraTS focuses on glioma patients, providing multi-contrast MRI and voxel-level tumor annotations for segmentation tasks. ADNI offers longitudinal scans for Alzheimer’s research, while the Human Connectome Project (HCP) provides high-resolution structural and diffusion MRI volumes for connectivity mapping. These datasets enable robust model training and evaluation across diverse anatomical and pathological conditions.
</a:t>
            </a:r>
          </a:p>
        </p:txBody>
      </p:sp>
      <p:sp>
        <p:nvSpPr>
          <p:cNvPr id="4" name="Slide Number Placeholder 3"/>
          <p:cNvSpPr>
            <a:spLocks noGrp="1"/>
          </p:cNvSpPr>
          <p:nvPr>
            <p:ph type="sldNum" sz="quarter" idx="5"/>
          </p:nvPr>
        </p:nvSpPr>
        <p:spPr/>
        <p:txBody>
          <a:bodyPr/>
          <a:lstStyle/>
          <a:p>
            <a:fld id="{5DFE6E92-5D17-4A86-8947-A72AC96E7058}" type="slidenum">
              <a:t>9</a:t>
            </a:fld>
            <a:endParaRPr lang="en-US"/>
          </a:p>
        </p:txBody>
      </p:sp>
    </p:spTree>
    <p:extLst>
      <p:ext uri="{BB962C8B-B14F-4D97-AF65-F5344CB8AC3E}">
        <p14:creationId xmlns:p14="http://schemas.microsoft.com/office/powerpoint/2010/main" val="1165613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Research Trends and Future Directions
</a:t>
            </a:r>
          </a:p>
        </p:txBody>
      </p:sp>
      <p:sp>
        <p:nvSpPr>
          <p:cNvPr id="4" name="Slide Number Placeholder 3"/>
          <p:cNvSpPr>
            <a:spLocks noGrp="1"/>
          </p:cNvSpPr>
          <p:nvPr>
            <p:ph type="sldNum" sz="quarter" idx="5"/>
          </p:nvPr>
        </p:nvSpPr>
        <p:spPr/>
        <p:txBody>
          <a:bodyPr/>
          <a:lstStyle/>
          <a:p>
            <a:fld id="{5DFE6E92-5D17-4A86-8947-A72AC96E7058}" type="slidenum">
              <a:t>10</a:t>
            </a:fld>
            <a:endParaRPr lang="en-US"/>
          </a:p>
        </p:txBody>
      </p:sp>
    </p:spTree>
    <p:extLst>
      <p:ext uri="{BB962C8B-B14F-4D97-AF65-F5344CB8AC3E}">
        <p14:creationId xmlns:p14="http://schemas.microsoft.com/office/powerpoint/2010/main" val="3259902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The survey highlights a clear trend toward deep learning-based methodologies for 3D MRI reconstruction due to their superior ability to recover high-quality images from sparse or undersampled data. Hybrid strategies combining physics-based constraints with deep learning have improved structural fidelity and data consistency. Multi-modal fusion approaches leveraging complementary information from different MRI sequences enhance perceptual quality and diagnostic accuracy. Generative and diffusion-based models offer promising avenues for realistic volumetric outputs, while transformer architectures excel in capturing global context. Future research should focus on addressing computational challenges, improving generalization across scanners, and integrating interpretability for clinical validation. Real-time processing and scalable deployment remain critical for translating these advancements into routine clinical practice.
</a:t>
            </a:r>
          </a:p>
        </p:txBody>
      </p:sp>
      <p:sp>
        <p:nvSpPr>
          <p:cNvPr id="4" name="Slide Number Placeholder 3"/>
          <p:cNvSpPr>
            <a:spLocks noGrp="1"/>
          </p:cNvSpPr>
          <p:nvPr>
            <p:ph type="sldNum" sz="quarter" idx="5"/>
          </p:nvPr>
        </p:nvSpPr>
        <p:spPr/>
        <p:txBody>
          <a:bodyPr/>
          <a:lstStyle/>
          <a:p>
            <a:fld id="{5DFE6E92-5D17-4A86-8947-A72AC96E7058}" type="slidenum">
              <a:t>11</a:t>
            </a:fld>
            <a:endParaRPr lang="en-US"/>
          </a:p>
        </p:txBody>
      </p:sp>
    </p:spTree>
    <p:extLst>
      <p:ext uri="{BB962C8B-B14F-4D97-AF65-F5344CB8AC3E}">
        <p14:creationId xmlns:p14="http://schemas.microsoft.com/office/powerpoint/2010/main" val="2909501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Summary and Actionable Insights
</a:t>
            </a:r>
          </a:p>
        </p:txBody>
      </p:sp>
      <p:sp>
        <p:nvSpPr>
          <p:cNvPr id="4" name="Slide Number Placeholder 3"/>
          <p:cNvSpPr>
            <a:spLocks noGrp="1"/>
          </p:cNvSpPr>
          <p:nvPr>
            <p:ph type="sldNum" sz="quarter" idx="5"/>
          </p:nvPr>
        </p:nvSpPr>
        <p:spPr/>
        <p:txBody>
          <a:bodyPr/>
          <a:lstStyle/>
          <a:p>
            <a:fld id="{5DFE6E92-5D17-4A86-8947-A72AC96E7058}" type="slidenum">
              <a:t>12</a:t>
            </a:fld>
            <a:endParaRPr lang="en-US"/>
          </a:p>
        </p:txBody>
      </p:sp>
    </p:spTree>
    <p:extLst>
      <p:ext uri="{BB962C8B-B14F-4D97-AF65-F5344CB8AC3E}">
        <p14:creationId xmlns:p14="http://schemas.microsoft.com/office/powerpoint/2010/main" val="2143278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https://pwc-my.sharepoint.com/personal/manivasagan_n_pwc_com/_layouts/15/Doc.aspx?sourcedoc=%7BA6E83C66-E955-4155-ABE9-45936D13C444%7D&amp;file=MANIVASAGAN%20-surveypaper-Final%20copy%20-%20Copy.docx&amp;action=default&amp;mobileredirect=true
Deep learning-based super-resolution techniques are transforming MRI diagnostics by enabling high-quality, rapid 3D reconstruction without additional scanning time. These methods improve diagnostic accuracy, reduce patient discomfort, and enhance clinical workflow efficiency. To maximize impact, researchers and practitioners should prioritize developing adaptive, clinically validated models that integrate multi-modal data and operate efficiently on large-scale datasets. Emphasis should be placed on optimizing computational performance for real-time applications and ensuring robustness across diverse imaging protocols. Collaborative efforts between academia, industry, and healthcare institutions will be essential to accelerate the adoption of these technologies in clinical settings.
</a:t>
            </a:r>
          </a:p>
        </p:txBody>
      </p:sp>
      <p:sp>
        <p:nvSpPr>
          <p:cNvPr id="4" name="Slide Number Placeholder 3"/>
          <p:cNvSpPr>
            <a:spLocks noGrp="1"/>
          </p:cNvSpPr>
          <p:nvPr>
            <p:ph type="sldNum" sz="quarter" idx="5"/>
          </p:nvPr>
        </p:nvSpPr>
        <p:spPr/>
        <p:txBody>
          <a:bodyPr/>
          <a:lstStyle/>
          <a:p>
            <a:fld id="{5DFE6E92-5D17-4A86-8947-A72AC96E7058}" type="slidenum">
              <a:t>13</a:t>
            </a:fld>
            <a:endParaRPr lang="en-US"/>
          </a:p>
        </p:txBody>
      </p:sp>
    </p:spTree>
    <p:extLst>
      <p:ext uri="{BB962C8B-B14F-4D97-AF65-F5344CB8AC3E}">
        <p14:creationId xmlns:p14="http://schemas.microsoft.com/office/powerpoint/2010/main" val="42879359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1.xml" /></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1.xml" /></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Master" Target="../slideMasters/slideMaster1.xml" /></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 /><Relationship Id="rId1" Type="http://schemas.openxmlformats.org/officeDocument/2006/relationships/slideMaster" Target="../slideMasters/slideMaster1.xml" /></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1.xml" /></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1.xml" /></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1.xml" /></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12/19/2025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12/19/2025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12/19/2025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12/19/2025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12/19/2025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12/19/2025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12/19/2025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12/19/2025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12/19/2025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12/19/2025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12/19/2025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12/19/2025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12/19/2025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12/19/2025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12/19/2025</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12/19/2025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12/19/2025</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12/19/2025</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12/19/2025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12/19/2025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12/19/2025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12/19/2025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12/19/2025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12/19/2025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12/19/2025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12/19/2025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12/19/2025</a:t>
            </a:fld>
            <a:endParaRPr lang="en-US" dirty="0"/>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endParaRPr lang="en-US" dirty="0"/>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12/19/2025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12/19/2025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12/19/2025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12/19/2025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12/19/2025</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9" Type="http://schemas.openxmlformats.org/officeDocument/2006/relationships/slideLayout" Target="../slideLayouts/slideLayout39.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34" Type="http://schemas.openxmlformats.org/officeDocument/2006/relationships/slideLayout" Target="../slideLayouts/slideLayout34.xml" /><Relationship Id="rId42" Type="http://schemas.openxmlformats.org/officeDocument/2006/relationships/slideLayout" Target="../slideLayouts/slideLayout42.xml" /><Relationship Id="rId47" Type="http://schemas.openxmlformats.org/officeDocument/2006/relationships/slideLayout" Target="../slideLayouts/slideLayout47.xml" /><Relationship Id="rId50" Type="http://schemas.openxmlformats.org/officeDocument/2006/relationships/slideLayout" Target="../slideLayouts/slideLayout50.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33" Type="http://schemas.openxmlformats.org/officeDocument/2006/relationships/slideLayout" Target="../slideLayouts/slideLayout33.xml" /><Relationship Id="rId38" Type="http://schemas.openxmlformats.org/officeDocument/2006/relationships/slideLayout" Target="../slideLayouts/slideLayout38.xml" /><Relationship Id="rId46" Type="http://schemas.openxmlformats.org/officeDocument/2006/relationships/slideLayout" Target="../slideLayouts/slideLayout46.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29" Type="http://schemas.openxmlformats.org/officeDocument/2006/relationships/slideLayout" Target="../slideLayouts/slideLayout29.xml" /><Relationship Id="rId41" Type="http://schemas.openxmlformats.org/officeDocument/2006/relationships/slideLayout" Target="../slideLayouts/slideLayout41.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32" Type="http://schemas.openxmlformats.org/officeDocument/2006/relationships/slideLayout" Target="../slideLayouts/slideLayout32.xml" /><Relationship Id="rId37" Type="http://schemas.openxmlformats.org/officeDocument/2006/relationships/slideLayout" Target="../slideLayouts/slideLayout37.xml" /><Relationship Id="rId40" Type="http://schemas.openxmlformats.org/officeDocument/2006/relationships/slideLayout" Target="../slideLayouts/slideLayout40.xml" /><Relationship Id="rId45" Type="http://schemas.openxmlformats.org/officeDocument/2006/relationships/slideLayout" Target="../slideLayouts/slideLayout45.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slideLayout" Target="../slideLayouts/slideLayout28.xml" /><Relationship Id="rId36" Type="http://schemas.openxmlformats.org/officeDocument/2006/relationships/slideLayout" Target="../slideLayouts/slideLayout36.xml" /><Relationship Id="rId49" Type="http://schemas.openxmlformats.org/officeDocument/2006/relationships/slideLayout" Target="../slideLayouts/slideLayout49.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31" Type="http://schemas.openxmlformats.org/officeDocument/2006/relationships/slideLayout" Target="../slideLayouts/slideLayout31.xml" /><Relationship Id="rId44" Type="http://schemas.openxmlformats.org/officeDocument/2006/relationships/slideLayout" Target="../slideLayouts/slideLayout44.xml" /><Relationship Id="rId52"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 Id="rId30" Type="http://schemas.openxmlformats.org/officeDocument/2006/relationships/slideLayout" Target="../slideLayouts/slideLayout30.xml" /><Relationship Id="rId35" Type="http://schemas.openxmlformats.org/officeDocument/2006/relationships/slideLayout" Target="../slideLayouts/slideLayout35.xml" /><Relationship Id="rId43" Type="http://schemas.openxmlformats.org/officeDocument/2006/relationships/slideLayout" Target="../slideLayouts/slideLayout43.xml" /><Relationship Id="rId48" Type="http://schemas.openxmlformats.org/officeDocument/2006/relationships/slideLayout" Target="../slideLayouts/slideLayout48.xml" /><Relationship Id="rId8" Type="http://schemas.openxmlformats.org/officeDocument/2006/relationships/slideLayout" Target="../slideLayouts/slideLayout8.xml" /><Relationship Id="rId51" Type="http://schemas.openxmlformats.org/officeDocument/2006/relationships/slideLayout" Target="../slideLayouts/slideLayout5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12/19/2025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1.xml" /><Relationship Id="rId1" Type="http://schemas.openxmlformats.org/officeDocument/2006/relationships/slideLayout" Target="../slideLayouts/slideLayout4.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9.xml" /></Relationships>
</file>

<file path=ppt/slides/_rels/slide3.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notesSlide" Target="../notesSlides/notesSlide3.xml" /><Relationship Id="rId1" Type="http://schemas.openxmlformats.org/officeDocument/2006/relationships/slideLayout" Target="../slideLayouts/slideLayout33.xml" /></Relationships>
</file>

<file path=ppt/slides/_rels/slide4.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notesSlide" Target="../notesSlides/notesSlide4.xml" /><Relationship Id="rId1" Type="http://schemas.openxmlformats.org/officeDocument/2006/relationships/slideLayout" Target="../slideLayouts/slideLayout3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9.xml" /></Relationships>
</file>

<file path=ppt/slides/_rels/slide6.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notesSlide" Target="../notesSlides/notesSlide6.xml" /><Relationship Id="rId1" Type="http://schemas.openxmlformats.org/officeDocument/2006/relationships/slideLayout" Target="../slideLayouts/slideLayout33.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9.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9.xml" /></Relationships>
</file>

<file path=ppt/slides/_rels/slide11.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notesSlide" Target="../notesSlides/notesSlide11.xml" /><Relationship Id="rId1" Type="http://schemas.openxmlformats.org/officeDocument/2006/relationships/slideLayout" Target="../slideLayouts/slideLayout3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9.xml" /></Relationships>
</file>

<file path=ppt/slides/_rels/slide13.xml.rels><?xml version="1.0" encoding="UTF-8" standalone="yes"?>
<Relationships xmlns="http://schemas.openxmlformats.org/package/2006/relationships"><Relationship Id="rId3" Type="http://schemas.openxmlformats.org/officeDocument/2006/relationships/image" Target="../media/image14.jpeg" /><Relationship Id="rId2" Type="http://schemas.openxmlformats.org/officeDocument/2006/relationships/notesSlide" Target="../notesSlides/notesSlide13.xml" /><Relationship Id="rId1" Type="http://schemas.openxmlformats.org/officeDocument/2006/relationships/slideLayout" Target="../slideLayouts/slideLayout3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4CE11-5938-37EF-2452-535B9089CE51}"/>
              </a:ext>
            </a:extLst>
          </p:cNvPr>
          <p:cNvSpPr>
            <a:spLocks noGrp="1"/>
          </p:cNvSpPr>
          <p:nvPr>
            <p:ph type="ctrTitle"/>
          </p:nvPr>
        </p:nvSpPr>
        <p:spPr>
          <a:xfrm>
            <a:off x="457200" y="457200"/>
            <a:ext cx="4025153" cy="2514600"/>
          </a:xfrm>
        </p:spPr>
        <p:txBody>
          <a:bodyPr anchor="t">
            <a:normAutofit/>
          </a:bodyPr>
          <a:lstStyle/>
          <a:p>
            <a:r>
              <a:rPr lang="en-US" sz="3400" dirty="0"/>
              <a:t>Deep Learning-Based Super-Resolution Techniques for 3D MRI Reconstruction</a:t>
            </a:r>
          </a:p>
        </p:txBody>
      </p:sp>
      <p:sp>
        <p:nvSpPr>
          <p:cNvPr id="3" name="Subtitle 2">
            <a:extLst>
              <a:ext uri="{FF2B5EF4-FFF2-40B4-BE49-F238E27FC236}">
                <a16:creationId xmlns:a16="http://schemas.microsoft.com/office/drawing/2014/main" id="{CE10CA86-EA90-B94C-C8D5-C6706EDA3BC6}"/>
              </a:ext>
            </a:extLst>
          </p:cNvPr>
          <p:cNvSpPr>
            <a:spLocks noGrp="1"/>
          </p:cNvSpPr>
          <p:nvPr>
            <p:ph type="subTitle" idx="1"/>
          </p:nvPr>
        </p:nvSpPr>
        <p:spPr>
          <a:xfrm>
            <a:off x="76200" y="5105400"/>
            <a:ext cx="5181600" cy="1244194"/>
          </a:xfrm>
        </p:spPr>
        <p:txBody>
          <a:bodyPr anchor="ctr">
            <a:normAutofit fontScale="92500" lnSpcReduction="20000"/>
          </a:bodyPr>
          <a:lstStyle/>
          <a:p>
            <a:r>
              <a:rPr lang="en-US" dirty="0"/>
              <a:t>N. Manivasagan, Presidency University</a:t>
            </a:r>
          </a:p>
          <a:p>
            <a:r>
              <a:rPr lang="en-US" dirty="0"/>
              <a:t>Dr. D. Sivabalaselvamani, Associate Professor,</a:t>
            </a:r>
          </a:p>
          <a:p>
            <a:r>
              <a:rPr lang="en-US" dirty="0"/>
              <a:t>Presidency University, Bangalore</a:t>
            </a:r>
          </a:p>
        </p:txBody>
      </p:sp>
      <p:pic>
        <p:nvPicPr>
          <p:cNvPr id="4" name="Picture 3" descr="Abstract neurons system- 3d rendered image of virtual molecular net structure.">
            <a:extLst>
              <a:ext uri="{FF2B5EF4-FFF2-40B4-BE49-F238E27FC236}">
                <a16:creationId xmlns:a16="http://schemas.microsoft.com/office/drawing/2014/main" id="{AA113371-270B-40A8-ADAD-27AC8D681650}"/>
              </a:ext>
            </a:extLst>
          </p:cNvPr>
          <p:cNvPicPr>
            <a:picLocks noChangeAspect="1"/>
          </p:cNvPicPr>
          <p:nvPr/>
        </p:nvPicPr>
        <p:blipFill>
          <a:blip r:embed="rId3"/>
          <a:srcRect l="41250"/>
          <a:stretch>
            <a:fillRect/>
          </a:stretch>
        </p:blipFill>
        <p:spPr>
          <a:xfrm>
            <a:off x="5029201" y="10"/>
            <a:ext cx="7162800" cy="6857990"/>
          </a:xfrm>
          <a:prstGeom prst="rect">
            <a:avLst/>
          </a:prstGeom>
          <a:noFill/>
        </p:spPr>
      </p:pic>
      <p:sp>
        <p:nvSpPr>
          <p:cNvPr id="5" name="Subtitle 2">
            <a:extLst>
              <a:ext uri="{FF2B5EF4-FFF2-40B4-BE49-F238E27FC236}">
                <a16:creationId xmlns:a16="http://schemas.microsoft.com/office/drawing/2014/main" id="{69D88A5C-2FF9-F21D-9CED-9C480B1125ED}"/>
              </a:ext>
            </a:extLst>
          </p:cNvPr>
          <p:cNvSpPr txBox="1">
            <a:spLocks/>
          </p:cNvSpPr>
          <p:nvPr/>
        </p:nvSpPr>
        <p:spPr>
          <a:xfrm>
            <a:off x="457200" y="3200400"/>
            <a:ext cx="4025153" cy="1016813"/>
          </a:xfrm>
          <a:prstGeom prst="rect">
            <a:avLst/>
          </a:prstGeom>
        </p:spPr>
        <p:txBody>
          <a:bodyPr vert="horz" lIns="91440" tIns="45720" rIns="91440" bIns="45720" rtlCol="0" anchor="ctr">
            <a:normAutofit fontScale="85000" lnSpcReduction="20000"/>
          </a:bodyPr>
          <a:lstStyle>
            <a:lvl1pPr marL="0" indent="0" algn="l" defTabSz="914400" rtl="0" eaLnBrk="1" latinLnBrk="0" hangingPunct="1">
              <a:lnSpc>
                <a:spcPct val="120000"/>
              </a:lnSpc>
              <a:spcBef>
                <a:spcPts val="1000"/>
              </a:spcBef>
              <a:buFont typeface="Arial" panose="020B0604020202020204" pitchFamily="34" charset="0"/>
              <a:buNone/>
              <a:defRPr lang="en-US" sz="2000" kern="1200" dirty="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Enhancing medical images using advanced AI methods</a:t>
            </a:r>
          </a:p>
          <a:p>
            <a:r>
              <a:rPr lang="en-US" dirty="0"/>
              <a:t>Date: 19-12-2025</a:t>
            </a:r>
          </a:p>
        </p:txBody>
      </p:sp>
    </p:spTree>
    <p:extLst>
      <p:ext uri="{BB962C8B-B14F-4D97-AF65-F5344CB8AC3E}">
        <p14:creationId xmlns:p14="http://schemas.microsoft.com/office/powerpoint/2010/main" val="137311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par>
                                <p:cTn id="21" presetID="42" presetClass="entr" presetSubtype="0" fill="hold" grpId="1" nodeType="withEffect">
                                  <p:stCondLst>
                                    <p:cond delay="250"/>
                                  </p:stCondLst>
                                  <p:iterate>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250"/>
                                        <p:tgtEl>
                                          <p:spTgt spid="3"/>
                                        </p:tgtEl>
                                      </p:cBhvr>
                                    </p:animEffect>
                                    <p:anim calcmode="lin" valueType="num">
                                      <p:cBhvr>
                                        <p:cTn id="24" dur="250" fill="hold"/>
                                        <p:tgtEl>
                                          <p:spTgt spid="3"/>
                                        </p:tgtEl>
                                        <p:attrNameLst>
                                          <p:attrName>ppt_x</p:attrName>
                                        </p:attrNameLst>
                                      </p:cBhvr>
                                      <p:tavLst>
                                        <p:tav tm="0">
                                          <p:val>
                                            <p:strVal val="#ppt_x"/>
                                          </p:val>
                                        </p:tav>
                                        <p:tav tm="100000">
                                          <p:val>
                                            <p:strVal val="#ppt_x"/>
                                          </p:val>
                                        </p:tav>
                                      </p:tavLst>
                                    </p:anim>
                                    <p:anim calcmode="lin" valueType="num">
                                      <p:cBhvr>
                                        <p:cTn id="25" dur="250" fill="hold"/>
                                        <p:tgtEl>
                                          <p:spTgt spid="3"/>
                                        </p:tgtEl>
                                        <p:attrNameLst>
                                          <p:attrName>ppt_y</p:attrName>
                                        </p:attrNameLst>
                                      </p:cBhvr>
                                      <p:tavLst>
                                        <p:tav tm="0">
                                          <p:val>
                                            <p:strVal val="#ppt_y+.1"/>
                                          </p:val>
                                        </p:tav>
                                        <p:tav tm="100000">
                                          <p:val>
                                            <p:strVal val="#ppt_y"/>
                                          </p:val>
                                        </p:tav>
                                      </p:tavLst>
                                    </p:anim>
                                  </p:childTnLst>
                                </p:cTn>
                              </p:par>
                              <p:par>
                                <p:cTn id="26" presetID="10" presetClass="entr" presetSubtype="0" fill="hold" grpId="0" nodeType="withEffect">
                                  <p:stCondLst>
                                    <p:cond delay="1500"/>
                                  </p:stCondLst>
                                  <p:iterate>
                                    <p:tmPct val="10000"/>
                                  </p:iterate>
                                  <p:childTnLst>
                                    <p:set>
                                      <p:cBhvr>
                                        <p:cTn id="27" dur="1" fill="hold">
                                          <p:stCondLst>
                                            <p:cond delay="0"/>
                                          </p:stCondLst>
                                        </p:cTn>
                                        <p:tgtEl>
                                          <p:spTgt spid="5">
                                            <p:txEl>
                                              <p:pRg st="0" end="0"/>
                                            </p:txEl>
                                          </p:spTgt>
                                        </p:tgtEl>
                                        <p:attrNameLst>
                                          <p:attrName>style.visibility</p:attrName>
                                        </p:attrNameLst>
                                      </p:cBhvr>
                                      <p:to>
                                        <p:strVal val="visible"/>
                                      </p:to>
                                    </p:set>
                                    <p:animEffect transition="in" filter="fade">
                                      <p:cBhvr>
                                        <p:cTn id="28" dur="700"/>
                                        <p:tgtEl>
                                          <p:spTgt spid="5">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1500"/>
                                  </p:stCondLst>
                                  <p:iterate>
                                    <p:tmPct val="10000"/>
                                  </p:iterate>
                                  <p:childTnLst>
                                    <p:set>
                                      <p:cBhvr>
                                        <p:cTn id="32" dur="1" fill="hold">
                                          <p:stCondLst>
                                            <p:cond delay="0"/>
                                          </p:stCondLst>
                                        </p:cTn>
                                        <p:tgtEl>
                                          <p:spTgt spid="5">
                                            <p:txEl>
                                              <p:pRg st="1" end="1"/>
                                            </p:txEl>
                                          </p:spTgt>
                                        </p:tgtEl>
                                        <p:attrNameLst>
                                          <p:attrName>style.visibility</p:attrName>
                                        </p:attrNameLst>
                                      </p:cBhvr>
                                      <p:to>
                                        <p:strVal val="visible"/>
                                      </p:to>
                                    </p:set>
                                    <p:animEffect transition="in" filter="fade">
                                      <p:cBhvr>
                                        <p:cTn id="33" dur="700"/>
                                        <p:tgtEl>
                                          <p:spTgt spid="5">
                                            <p:txEl>
                                              <p:pRg st="1" end="1"/>
                                            </p:txEl>
                                          </p:spTgt>
                                        </p:tgtEl>
                                      </p:cBhvr>
                                    </p:animEffect>
                                  </p:childTnLst>
                                </p:cTn>
                              </p:par>
                              <p:par>
                                <p:cTn id="34" presetID="42" presetClass="entr" presetSubtype="0" fill="hold" grpId="1" nodeType="withEffect">
                                  <p:stCondLst>
                                    <p:cond delay="250"/>
                                  </p:stCondLst>
                                  <p:iterate>
                                    <p:tmPct val="10000"/>
                                  </p:iterate>
                                  <p:childTnLst>
                                    <p:set>
                                      <p:cBhvr>
                                        <p:cTn id="35" dur="1" fill="hold">
                                          <p:stCondLst>
                                            <p:cond delay="0"/>
                                          </p:stCondLst>
                                        </p:cTn>
                                        <p:tgtEl>
                                          <p:spTgt spid="5"/>
                                        </p:tgtEl>
                                        <p:attrNameLst>
                                          <p:attrName>style.visibility</p:attrName>
                                        </p:attrNameLst>
                                      </p:cBhvr>
                                      <p:to>
                                        <p:strVal val="visible"/>
                                      </p:to>
                                    </p:set>
                                    <p:animEffect transition="in" filter="fade">
                                      <p:cBhvr>
                                        <p:cTn id="36" dur="250"/>
                                        <p:tgtEl>
                                          <p:spTgt spid="5"/>
                                        </p:tgtEl>
                                      </p:cBhvr>
                                    </p:animEffect>
                                    <p:anim calcmode="lin" valueType="num">
                                      <p:cBhvr>
                                        <p:cTn id="37" dur="250" fill="hold"/>
                                        <p:tgtEl>
                                          <p:spTgt spid="5"/>
                                        </p:tgtEl>
                                        <p:attrNameLst>
                                          <p:attrName>ppt_x</p:attrName>
                                        </p:attrNameLst>
                                      </p:cBhvr>
                                      <p:tavLst>
                                        <p:tav tm="0">
                                          <p:val>
                                            <p:strVal val="#ppt_x"/>
                                          </p:val>
                                        </p:tav>
                                        <p:tav tm="100000">
                                          <p:val>
                                            <p:strVal val="#ppt_x"/>
                                          </p:val>
                                        </p:tav>
                                      </p:tavLst>
                                    </p:anim>
                                    <p:anim calcmode="lin" valueType="num">
                                      <p:cBhvr>
                                        <p:cTn id="38"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P spid="5" grpId="0" build="p"/>
      <p:bldP spid="5"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72476-9F4F-8729-C50D-343BB4D20159}"/>
              </a:ext>
            </a:extLst>
          </p:cNvPr>
          <p:cNvSpPr>
            <a:spLocks noGrp="1"/>
          </p:cNvSpPr>
          <p:nvPr>
            <p:ph type="ctrTitle"/>
          </p:nvPr>
        </p:nvSpPr>
        <p:spPr>
          <a:xfrm>
            <a:off x="457197" y="3507830"/>
            <a:ext cx="7772400" cy="2944368"/>
          </a:xfrm>
        </p:spPr>
        <p:txBody>
          <a:bodyPr anchor="b">
            <a:normAutofit/>
          </a:bodyPr>
          <a:lstStyle/>
          <a:p>
            <a:r>
              <a:rPr lang="en-US"/>
              <a:t>Introduction and Context</a:t>
            </a:r>
          </a:p>
        </p:txBody>
      </p:sp>
    </p:spTree>
    <p:extLst>
      <p:ext uri="{BB962C8B-B14F-4D97-AF65-F5344CB8AC3E}">
        <p14:creationId xmlns:p14="http://schemas.microsoft.com/office/powerpoint/2010/main" val="18870773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2FEDA-66B3-7FDA-A662-B6B2DDD575C0}"/>
              </a:ext>
            </a:extLst>
          </p:cNvPr>
          <p:cNvSpPr>
            <a:spLocks noGrp="1"/>
          </p:cNvSpPr>
          <p:nvPr>
            <p:ph type="title"/>
          </p:nvPr>
        </p:nvSpPr>
        <p:spPr>
          <a:xfrm>
            <a:off x="457200" y="457200"/>
            <a:ext cx="4380272" cy="1453896"/>
          </a:xfrm>
        </p:spPr>
        <p:txBody>
          <a:bodyPr anchor="t">
            <a:normAutofit/>
          </a:bodyPr>
          <a:lstStyle/>
          <a:p>
            <a:r>
              <a:rPr lang="en-US"/>
              <a:t>Overview of MRI and Challenges</a:t>
            </a:r>
          </a:p>
        </p:txBody>
      </p:sp>
      <p:pic>
        <p:nvPicPr>
          <p:cNvPr id="5" name="Content Placeholder 4" descr="3D illustration of cat scan machine.">
            <a:extLst>
              <a:ext uri="{FF2B5EF4-FFF2-40B4-BE49-F238E27FC236}">
                <a16:creationId xmlns:a16="http://schemas.microsoft.com/office/drawing/2014/main" id="{63C38FED-69A8-4B67-A844-43DDAA6D3088}"/>
              </a:ext>
            </a:extLst>
          </p:cNvPr>
          <p:cNvPicPr>
            <a:picLocks noGrp="1" noChangeAspect="1"/>
          </p:cNvPicPr>
          <p:nvPr>
            <p:ph type="pic" sz="quarter" idx="13"/>
          </p:nvPr>
        </p:nvPicPr>
        <p:blipFill>
          <a:blip r:embed="rId3"/>
          <a:srcRect l="2572" r="7983" b="1"/>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1058D075-C78F-0CFE-75C9-53E4D3EF52C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MRI Diagnostic Importance</a:t>
            </a:r>
          </a:p>
          <a:p>
            <a:pPr marL="0" lvl="1" indent="0">
              <a:buFont typeface="Arial" panose="020B0604020202020204" pitchFamily="34" charset="0"/>
              <a:buNone/>
            </a:pPr>
            <a:r>
              <a:t>MRI provides non-invasive, high contrast imaging crucial for neurological, cardiovascular, and musculoskeletal diagnosis.</a:t>
            </a:r>
            <a:endParaRPr lang="en-US"/>
          </a:p>
          <a:p>
            <a:pPr marL="0" indent="0">
              <a:spcBef>
                <a:spcPts val="2500"/>
              </a:spcBef>
              <a:buFont typeface="Arial" panose="020B0604020202020204" pitchFamily="34" charset="0"/>
              <a:buNone/>
            </a:pPr>
            <a:r>
              <a:rPr lang="en-US" b="1"/>
              <a:t>Challenges in MRI</a:t>
            </a:r>
          </a:p>
          <a:p>
            <a:pPr marL="0" lvl="1" indent="0">
              <a:buFont typeface="Arial" panose="020B0604020202020204" pitchFamily="34" charset="0"/>
              <a:buNone/>
            </a:pPr>
            <a:r>
              <a:t>MRI faces challenges like low spatial resolution, long scan times, and motion artifacts affecting image quality.</a:t>
            </a:r>
            <a:endParaRPr lang="en-US"/>
          </a:p>
          <a:p>
            <a:pPr marL="0" indent="0">
              <a:spcBef>
                <a:spcPts val="2500"/>
              </a:spcBef>
              <a:buFont typeface="Arial" panose="020B0604020202020204" pitchFamily="34" charset="0"/>
              <a:buNone/>
            </a:pPr>
            <a:r>
              <a:rPr lang="en-US" b="1"/>
              <a:t>Limitations of Conventional Methods</a:t>
            </a:r>
          </a:p>
          <a:p>
            <a:pPr marL="0" lvl="1" indent="0">
              <a:buFont typeface="Arial" panose="020B0604020202020204" pitchFamily="34" charset="0"/>
              <a:buNone/>
            </a:pPr>
            <a:r>
              <a:t>Traditional interpolation and reconstruction methods fail to preserve fine anatomical details in MRI images.</a:t>
            </a:r>
            <a:endParaRPr lang="en-US"/>
          </a:p>
          <a:p>
            <a:pPr marL="0" indent="0">
              <a:spcBef>
                <a:spcPts val="2500"/>
              </a:spcBef>
              <a:buFont typeface="Arial" panose="020B0604020202020204" pitchFamily="34" charset="0"/>
              <a:buNone/>
            </a:pPr>
            <a:r>
              <a:rPr lang="en-US" b="1"/>
              <a:t>Deep Learning Super-Resolution</a:t>
            </a:r>
          </a:p>
          <a:p>
            <a:pPr marL="0" lvl="1" indent="0">
              <a:buFont typeface="Arial" panose="020B0604020202020204" pitchFamily="34" charset="0"/>
              <a:buNone/>
            </a:pPr>
            <a:r>
              <a:t>Deep learning-based super-resolution enhances MRI image quality without extra scanning time or hardware changes.</a:t>
            </a:r>
            <a:endParaRPr lang="en-US"/>
          </a:p>
        </p:txBody>
      </p:sp>
    </p:spTree>
    <p:extLst>
      <p:ext uri="{BB962C8B-B14F-4D97-AF65-F5344CB8AC3E}">
        <p14:creationId xmlns:p14="http://schemas.microsoft.com/office/powerpoint/2010/main" val="42226636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61C9-E0CF-1944-2991-C14AF556D8F1}"/>
              </a:ext>
            </a:extLst>
          </p:cNvPr>
          <p:cNvSpPr>
            <a:spLocks noGrp="1"/>
          </p:cNvSpPr>
          <p:nvPr>
            <p:ph type="title"/>
          </p:nvPr>
        </p:nvSpPr>
        <p:spPr>
          <a:xfrm>
            <a:off x="457200" y="457200"/>
            <a:ext cx="4380272" cy="1453896"/>
          </a:xfrm>
        </p:spPr>
        <p:txBody>
          <a:bodyPr anchor="t">
            <a:normAutofit/>
          </a:bodyPr>
          <a:lstStyle/>
          <a:p>
            <a:r>
              <a:rPr lang="en-US"/>
              <a:t>Purpose and Scope of the Survey</a:t>
            </a:r>
          </a:p>
        </p:txBody>
      </p:sp>
      <p:pic>
        <p:nvPicPr>
          <p:cNvPr id="5" name="Content Placeholder 4" descr="Neuron cells system - 3d rendered image of Neuron cell network. View  interconnected neurons cells with electrical pulses. Conceptual medical image.  Glowing synapse.  Healthcare concept.">
            <a:extLst>
              <a:ext uri="{FF2B5EF4-FFF2-40B4-BE49-F238E27FC236}">
                <a16:creationId xmlns:a16="http://schemas.microsoft.com/office/drawing/2014/main" id="{5433C4E4-8946-4AAE-8B35-D56FE414E2B5}"/>
              </a:ext>
            </a:extLst>
          </p:cNvPr>
          <p:cNvPicPr>
            <a:picLocks noGrp="1" noChangeAspect="1"/>
          </p:cNvPicPr>
          <p:nvPr>
            <p:ph type="pic" sz="quarter" idx="13"/>
          </p:nvPr>
        </p:nvPicPr>
        <p:blipFill>
          <a:blip r:embed="rId3"/>
          <a:srcRect l="19850" r="13064" b="-2"/>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8FAF85AE-E51E-B048-76D0-22312EC0672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Comprehensive Literature Review</a:t>
            </a:r>
          </a:p>
          <a:p>
            <a:pPr marL="0" lvl="1" indent="0">
              <a:buFont typeface="Arial" panose="020B0604020202020204" pitchFamily="34" charset="0"/>
              <a:buNone/>
            </a:pPr>
            <a:r>
              <a:t>The survey synthesizes recent deep learning developments and identifies architectural innovations in 3D MRI super-resolution.</a:t>
            </a:r>
            <a:endParaRPr lang="en-US"/>
          </a:p>
          <a:p>
            <a:pPr marL="0" indent="0">
              <a:spcBef>
                <a:spcPts val="2500"/>
              </a:spcBef>
              <a:buFont typeface="Arial" panose="020B0604020202020204" pitchFamily="34" charset="0"/>
              <a:buNone/>
            </a:pPr>
            <a:r>
              <a:rPr lang="en-US" b="1"/>
              <a:t>Reconstruction Mechanisms</a:t>
            </a:r>
          </a:p>
          <a:p>
            <a:pPr marL="0" lvl="1" indent="0">
              <a:buFont typeface="Arial" panose="020B0604020202020204" pitchFamily="34" charset="0"/>
              <a:buNone/>
            </a:pPr>
            <a:r>
              <a:t>It examines methods that convert low-resolution MRI slices into high-quality volumetric images using advanced algorithms.</a:t>
            </a:r>
            <a:endParaRPr lang="en-US"/>
          </a:p>
          <a:p>
            <a:pPr marL="0" indent="0">
              <a:spcBef>
                <a:spcPts val="2500"/>
              </a:spcBef>
              <a:buFont typeface="Arial" panose="020B0604020202020204" pitchFamily="34" charset="0"/>
              <a:buNone/>
            </a:pPr>
            <a:r>
              <a:rPr lang="en-US" b="1"/>
              <a:t>Challenges and Solutions</a:t>
            </a:r>
          </a:p>
          <a:p>
            <a:pPr marL="0" lvl="1" indent="0">
              <a:buFont typeface="Arial" panose="020B0604020202020204" pitchFamily="34" charset="0"/>
              <a:buNone/>
            </a:pPr>
            <a:r>
              <a:t>The survey addresses computational complexity, data scarcity, and model generalization with proposed solution frameworks.</a:t>
            </a:r>
            <a:endParaRPr lang="en-US"/>
          </a:p>
          <a:p>
            <a:pPr marL="0" indent="0">
              <a:spcBef>
                <a:spcPts val="2500"/>
              </a:spcBef>
              <a:buFont typeface="Arial" panose="020B0604020202020204" pitchFamily="34" charset="0"/>
              <a:buNone/>
            </a:pPr>
            <a:r>
              <a:rPr lang="en-US" b="1"/>
              <a:t>Future Research Guidance</a:t>
            </a:r>
          </a:p>
          <a:p>
            <a:pPr marL="0" lvl="1" indent="0">
              <a:buFont typeface="Arial" panose="020B0604020202020204" pitchFamily="34" charset="0"/>
              <a:buNone/>
            </a:pPr>
            <a:r>
              <a:t>The paper aims to guide development of efficient, adaptive, and clinically deployable 3D MRI super-resolution models.</a:t>
            </a:r>
            <a:endParaRPr lang="en-US"/>
          </a:p>
        </p:txBody>
      </p:sp>
    </p:spTree>
    <p:extLst>
      <p:ext uri="{BB962C8B-B14F-4D97-AF65-F5344CB8AC3E}">
        <p14:creationId xmlns:p14="http://schemas.microsoft.com/office/powerpoint/2010/main" val="3536300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48A98-FF80-5A4C-EBAC-5CA3828E105D}"/>
              </a:ext>
            </a:extLst>
          </p:cNvPr>
          <p:cNvSpPr>
            <a:spLocks noGrp="1"/>
          </p:cNvSpPr>
          <p:nvPr>
            <p:ph type="ctrTitle"/>
          </p:nvPr>
        </p:nvSpPr>
        <p:spPr>
          <a:xfrm>
            <a:off x="457197" y="3507830"/>
            <a:ext cx="7772400" cy="2944368"/>
          </a:xfrm>
        </p:spPr>
        <p:txBody>
          <a:bodyPr anchor="b">
            <a:normAutofit/>
          </a:bodyPr>
          <a:lstStyle/>
          <a:p>
            <a:r>
              <a:rPr lang="en-US" sz="6800"/>
              <a:t>Deep Learning Approaches for MRI Super-Resolution</a:t>
            </a:r>
          </a:p>
        </p:txBody>
      </p:sp>
    </p:spTree>
    <p:extLst>
      <p:ext uri="{BB962C8B-B14F-4D97-AF65-F5344CB8AC3E}">
        <p14:creationId xmlns:p14="http://schemas.microsoft.com/office/powerpoint/2010/main" val="14656592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AEB2-2EF5-7343-E261-730A3FA28187}"/>
              </a:ext>
            </a:extLst>
          </p:cNvPr>
          <p:cNvSpPr>
            <a:spLocks noGrp="1"/>
          </p:cNvSpPr>
          <p:nvPr>
            <p:ph type="title"/>
          </p:nvPr>
        </p:nvSpPr>
        <p:spPr>
          <a:xfrm>
            <a:off x="457200" y="457200"/>
            <a:ext cx="4380272" cy="1453896"/>
          </a:xfrm>
        </p:spPr>
        <p:txBody>
          <a:bodyPr anchor="t">
            <a:normAutofit/>
          </a:bodyPr>
          <a:lstStyle/>
          <a:p>
            <a:r>
              <a:rPr lang="en-US"/>
              <a:t>Key Techniques and Architectures</a:t>
            </a:r>
          </a:p>
        </p:txBody>
      </p:sp>
      <p:pic>
        <p:nvPicPr>
          <p:cNvPr id="5" name="Content Placeholder 4" descr="Neuron cell network - Equirectangular Panorama 3d rendered image of Neuron cell network on black background. 360. VR. Hologram effect. DOF.">
            <a:extLst>
              <a:ext uri="{FF2B5EF4-FFF2-40B4-BE49-F238E27FC236}">
                <a16:creationId xmlns:a16="http://schemas.microsoft.com/office/drawing/2014/main" id="{3A671FD0-D0ED-4954-9A53-0A2FA52789D7}"/>
              </a:ext>
            </a:extLst>
          </p:cNvPr>
          <p:cNvPicPr>
            <a:picLocks noGrp="1" noChangeAspect="1"/>
          </p:cNvPicPr>
          <p:nvPr>
            <p:ph type="pic" sz="quarter" idx="13"/>
          </p:nvPr>
        </p:nvPicPr>
        <p:blipFill>
          <a:blip r:embed="rId3"/>
          <a:srcRect l="16894" r="23476" b="1"/>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ECF063A0-A960-D6B7-7167-AF97A78A3AE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Convolutional Neural Networks</a:t>
            </a:r>
          </a:p>
          <a:p>
            <a:pPr marL="0" lvl="1" indent="0">
              <a:buFont typeface="Arial" panose="020B0604020202020204" pitchFamily="34" charset="0"/>
              <a:buNone/>
            </a:pPr>
            <a:r>
              <a:t>CNNs capture hierarchical spatial features and reduce noise in MRI images for improved super-resolution results.</a:t>
            </a:r>
            <a:endParaRPr lang="en-US"/>
          </a:p>
          <a:p>
            <a:pPr marL="0" indent="0">
              <a:spcBef>
                <a:spcPts val="2500"/>
              </a:spcBef>
              <a:buFont typeface="Arial" panose="020B0604020202020204" pitchFamily="34" charset="0"/>
              <a:buNone/>
            </a:pPr>
            <a:r>
              <a:rPr lang="en-US" b="1"/>
              <a:t>Generative Adversarial Networks</a:t>
            </a:r>
          </a:p>
          <a:p>
            <a:pPr marL="0" lvl="1" indent="0">
              <a:buFont typeface="Arial" panose="020B0604020202020204" pitchFamily="34" charset="0"/>
              <a:buNone/>
            </a:pPr>
            <a:r>
              <a:t>GANs use adversarial training to enhance image realism and produce sharper, anatomically accurate reconstructions.</a:t>
            </a:r>
            <a:endParaRPr lang="en-US"/>
          </a:p>
          <a:p>
            <a:pPr marL="0" indent="0">
              <a:spcBef>
                <a:spcPts val="2500"/>
              </a:spcBef>
              <a:buFont typeface="Arial" panose="020B0604020202020204" pitchFamily="34" charset="0"/>
              <a:buNone/>
            </a:pPr>
            <a:r>
              <a:rPr lang="en-US" b="1"/>
              <a:t>Transformer-based Models</a:t>
            </a:r>
          </a:p>
          <a:p>
            <a:pPr marL="0" lvl="1" indent="0">
              <a:buFont typeface="Arial" panose="020B0604020202020204" pitchFamily="34" charset="0"/>
              <a:buNone/>
            </a:pPr>
            <a:r>
              <a:t>Transformers utilize attention mechanisms to capture global context and maintain consistency across MRI slices.</a:t>
            </a:r>
            <a:endParaRPr lang="en-US"/>
          </a:p>
          <a:p>
            <a:pPr marL="0" indent="0">
              <a:spcBef>
                <a:spcPts val="2500"/>
              </a:spcBef>
              <a:buFont typeface="Arial" panose="020B0604020202020204" pitchFamily="34" charset="0"/>
              <a:buNone/>
            </a:pPr>
            <a:r>
              <a:rPr lang="en-US" b="1"/>
              <a:t>Diffusion Models</a:t>
            </a:r>
          </a:p>
          <a:p>
            <a:pPr marL="0" lvl="1" indent="0">
              <a:buFont typeface="Arial" panose="020B0604020202020204" pitchFamily="34" charset="0"/>
              <a:buNone/>
            </a:pPr>
            <a:r>
              <a:t>Diffusion models progressively refine low-resolution inputs into high-fidelity volumetric MRI outputs via iterative denoising.</a:t>
            </a:r>
            <a:endParaRPr lang="en-US"/>
          </a:p>
        </p:txBody>
      </p:sp>
    </p:spTree>
    <p:extLst>
      <p:ext uri="{BB962C8B-B14F-4D97-AF65-F5344CB8AC3E}">
        <p14:creationId xmlns:p14="http://schemas.microsoft.com/office/powerpoint/2010/main" val="25325234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646B5-339A-A098-C167-922D52B96EAC}"/>
              </a:ext>
            </a:extLst>
          </p:cNvPr>
          <p:cNvSpPr>
            <a:spLocks noGrp="1"/>
          </p:cNvSpPr>
          <p:nvPr>
            <p:ph type="title"/>
          </p:nvPr>
        </p:nvSpPr>
        <p:spPr>
          <a:xfrm>
            <a:off x="457200" y="457201"/>
            <a:ext cx="10809026" cy="971006"/>
          </a:xfrm>
        </p:spPr>
        <p:txBody>
          <a:bodyPr anchor="b">
            <a:normAutofit/>
          </a:bodyPr>
          <a:lstStyle/>
          <a:p>
            <a:r>
              <a:rPr lang="en-US"/>
              <a:t>Comparative Analysis of Methods</a:t>
            </a:r>
          </a:p>
        </p:txBody>
      </p:sp>
      <p:graphicFrame>
        <p:nvGraphicFramePr>
          <p:cNvPr id="5" name="Content Placeholder 4">
            <a:extLst>
              <a:ext uri="{FF2B5EF4-FFF2-40B4-BE49-F238E27FC236}">
                <a16:creationId xmlns:a16="http://schemas.microsoft.com/office/drawing/2014/main" id="{4083B8E9-B1B3-4DC1-92DD-64181F0864F7}"/>
              </a:ext>
            </a:extLst>
          </p:cNvPr>
          <p:cNvGraphicFramePr>
            <a:graphicFrameLocks noGrp="1"/>
          </p:cNvGraphicFramePr>
          <p:nvPr>
            <p:ph idx="1"/>
          </p:nvPr>
        </p:nvGraphicFramePr>
        <p:xfrm>
          <a:off x="457201" y="1788800"/>
          <a:ext cx="10809028" cy="4327062"/>
        </p:xfrm>
        <a:graphic>
          <a:graphicData uri="http://schemas.openxmlformats.org/drawingml/2006/table">
            <a:tbl>
              <a:tblPr firstRow="1" bandRow="1">
                <a:noFill/>
                <a:tableStyleId>{5C22544A-7EE6-4342-B048-85BDC9FD1C3A}</a:tableStyleId>
              </a:tblPr>
              <a:tblGrid>
                <a:gridCol w="1919400">
                  <a:extLst>
                    <a:ext uri="{9D8B030D-6E8A-4147-A177-3AD203B41FA5}">
                      <a16:colId xmlns:a16="http://schemas.microsoft.com/office/drawing/2014/main" val="1288646827"/>
                    </a:ext>
                  </a:extLst>
                </a:gridCol>
                <a:gridCol w="2935173">
                  <a:extLst>
                    <a:ext uri="{9D8B030D-6E8A-4147-A177-3AD203B41FA5}">
                      <a16:colId xmlns:a16="http://schemas.microsoft.com/office/drawing/2014/main" val="3077393389"/>
                    </a:ext>
                  </a:extLst>
                </a:gridCol>
                <a:gridCol w="3027908">
                  <a:extLst>
                    <a:ext uri="{9D8B030D-6E8A-4147-A177-3AD203B41FA5}">
                      <a16:colId xmlns:a16="http://schemas.microsoft.com/office/drawing/2014/main" val="2142560901"/>
                    </a:ext>
                  </a:extLst>
                </a:gridCol>
                <a:gridCol w="2926547">
                  <a:extLst>
                    <a:ext uri="{9D8B030D-6E8A-4147-A177-3AD203B41FA5}">
                      <a16:colId xmlns:a16="http://schemas.microsoft.com/office/drawing/2014/main" val="1254832208"/>
                    </a:ext>
                  </a:extLst>
                </a:gridCol>
              </a:tblGrid>
              <a:tr h="753613">
                <a:tc>
                  <a:txBody>
                    <a:bodyPr/>
                    <a:lstStyle/>
                    <a:p>
                      <a:pPr>
                        <a:buNone/>
                      </a:pPr>
                      <a:r>
                        <a:rPr lang="en-US" sz="2200" b="1" cap="all" spc="150">
                          <a:solidFill>
                            <a:schemeClr val="tx1"/>
                          </a:solidFill>
                        </a:rPr>
                        <a:t>Method</a:t>
                      </a:r>
                    </a:p>
                  </a:txBody>
                  <a:tcPr marL="186333" marR="186333" marT="186333" marB="186333"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200" b="1" cap="all" spc="150">
                          <a:solidFill>
                            <a:schemeClr val="tx1"/>
                          </a:solidFill>
                        </a:rPr>
                        <a:t>Metrics</a:t>
                      </a:r>
                    </a:p>
                  </a:txBody>
                  <a:tcPr marL="186333" marR="186333" marT="186333" marB="186333"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200" b="1" cap="all" spc="150">
                          <a:solidFill>
                            <a:schemeClr val="tx1"/>
                          </a:solidFill>
                        </a:rPr>
                        <a:t>Merits</a:t>
                      </a:r>
                    </a:p>
                  </a:txBody>
                  <a:tcPr marL="186333" marR="186333" marT="186333" marB="186333"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200" b="1" cap="all" spc="150">
                          <a:solidFill>
                            <a:schemeClr val="tx1"/>
                          </a:solidFill>
                        </a:rPr>
                        <a:t>Demerits</a:t>
                      </a:r>
                    </a:p>
                  </a:txBody>
                  <a:tcPr marL="186333" marR="186333" marT="186333" marB="186333"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3749478358"/>
                  </a:ext>
                </a:extLst>
              </a:tr>
              <a:tr h="960649">
                <a:tc>
                  <a:txBody>
                    <a:bodyPr/>
                    <a:lstStyle/>
                    <a:p>
                      <a:pPr>
                        <a:buNone/>
                      </a:pPr>
                      <a:r>
                        <a:rPr lang="en-US" sz="1800" b="1" cap="none" spc="0">
                          <a:solidFill>
                            <a:schemeClr val="tx1"/>
                          </a:solidFill>
                        </a:rPr>
                        <a:t>DVF-Net</a:t>
                      </a:r>
                    </a:p>
                  </a:txBody>
                  <a:tcPr marL="186333" marR="186333" marT="186333" marB="186333"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800" cap="none" spc="0">
                          <a:solidFill>
                            <a:schemeClr val="tx1"/>
                          </a:solidFill>
                        </a:rPr>
                        <a:t>DSC, vessel localization</a:t>
                      </a:r>
                    </a:p>
                  </a:txBody>
                  <a:tcPr marL="186333" marR="186333" marT="186333" marB="186333"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800" cap="none" spc="0">
                          <a:solidFill>
                            <a:schemeClr val="tx1"/>
                          </a:solidFill>
                        </a:rPr>
                        <a:t>Real-time reconstruction, motion tracking</a:t>
                      </a:r>
                    </a:p>
                  </a:txBody>
                  <a:tcPr marL="186333" marR="186333" marT="186333" marB="186333"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800" cap="none" spc="0">
                          <a:solidFill>
                            <a:schemeClr val="tx1"/>
                          </a:solidFill>
                        </a:rPr>
                        <a:t>Limited to liver data</a:t>
                      </a:r>
                    </a:p>
                  </a:txBody>
                  <a:tcPr marL="186333" marR="186333" marT="186333" marB="186333"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3138340872"/>
                  </a:ext>
                </a:extLst>
              </a:tr>
              <a:tr h="960649">
                <a:tc>
                  <a:txBody>
                    <a:bodyPr/>
                    <a:lstStyle/>
                    <a:p>
                      <a:pPr>
                        <a:buNone/>
                      </a:pPr>
                      <a:r>
                        <a:rPr lang="en-US" sz="1800" b="1" cap="none" spc="0">
                          <a:solidFill>
                            <a:schemeClr val="tx1"/>
                          </a:solidFill>
                        </a:rPr>
                        <a:t>NC-PDNet</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800" cap="none" spc="0">
                          <a:solidFill>
                            <a:schemeClr val="tx1"/>
                          </a:solidFill>
                        </a:rPr>
                        <a:t>PSNR, SSIM</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800" cap="none" spc="0">
                          <a:solidFill>
                            <a:schemeClr val="tx1"/>
                          </a:solidFill>
                        </a:rPr>
                        <a:t>Handles spiral/radial trajectories</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800" cap="none" spc="0">
                          <a:solidFill>
                            <a:schemeClr val="tx1"/>
                          </a:solidFill>
                        </a:rPr>
                        <a:t>High computational cost</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260418840"/>
                  </a:ext>
                </a:extLst>
              </a:tr>
              <a:tr h="960649">
                <a:tc>
                  <a:txBody>
                    <a:bodyPr/>
                    <a:lstStyle/>
                    <a:p>
                      <a:pPr>
                        <a:buNone/>
                      </a:pPr>
                      <a:r>
                        <a:rPr lang="en-US" sz="1800" b="1" cap="none" spc="0">
                          <a:solidFill>
                            <a:schemeClr val="tx1"/>
                          </a:solidFill>
                        </a:rPr>
                        <a:t>ESRGAN</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800" cap="none" spc="0">
                          <a:solidFill>
                            <a:schemeClr val="tx1"/>
                          </a:solidFill>
                        </a:rPr>
                        <a:t>PSNR, SSIM</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800" cap="none" spc="0">
                          <a:solidFill>
                            <a:schemeClr val="tx1"/>
                          </a:solidFill>
                        </a:rPr>
                        <a:t>Improves 2D-to-3D detail recovery</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800" cap="none" spc="0">
                          <a:solidFill>
                            <a:schemeClr val="tx1"/>
                          </a:solidFill>
                        </a:rPr>
                        <a:t>Smoothing artifacts</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616210897"/>
                  </a:ext>
                </a:extLst>
              </a:tr>
              <a:tr h="691502">
                <a:tc>
                  <a:txBody>
                    <a:bodyPr/>
                    <a:lstStyle/>
                    <a:p>
                      <a:pPr>
                        <a:buNone/>
                      </a:pPr>
                      <a:r>
                        <a:rPr lang="en-US" sz="1800" b="1" cap="none" spc="0">
                          <a:solidFill>
                            <a:schemeClr val="tx1"/>
                          </a:solidFill>
                        </a:rPr>
                        <a:t>SwinMR</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800" cap="none" spc="0">
                          <a:solidFill>
                            <a:schemeClr val="tx1"/>
                          </a:solidFill>
                        </a:rPr>
                        <a:t>PSNR, SSIM</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800" cap="none" spc="0">
                          <a:solidFill>
                            <a:schemeClr val="tx1"/>
                          </a:solidFill>
                        </a:rPr>
                        <a:t>Captures global context</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800" cap="none" spc="0">
                          <a:solidFill>
                            <a:schemeClr val="tx1"/>
                          </a:solidFill>
                        </a:rPr>
                        <a:t>Memory-intensive</a:t>
                      </a:r>
                    </a:p>
                  </a:txBody>
                  <a:tcPr marL="186333" marR="186333" marT="186333" marB="18633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892961716"/>
                  </a:ext>
                </a:extLst>
              </a:tr>
            </a:tbl>
          </a:graphicData>
        </a:graphic>
      </p:graphicFrame>
    </p:spTree>
    <p:extLst>
      <p:ext uri="{BB962C8B-B14F-4D97-AF65-F5344CB8AC3E}">
        <p14:creationId xmlns:p14="http://schemas.microsoft.com/office/powerpoint/2010/main" val="58607610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53F34-CE86-E55C-CB6A-040023263EC5}"/>
              </a:ext>
            </a:extLst>
          </p:cNvPr>
          <p:cNvSpPr>
            <a:spLocks noGrp="1"/>
          </p:cNvSpPr>
          <p:nvPr>
            <p:ph type="ctrTitle"/>
          </p:nvPr>
        </p:nvSpPr>
        <p:spPr>
          <a:xfrm>
            <a:off x="457197" y="3507830"/>
            <a:ext cx="7772400" cy="2944368"/>
          </a:xfrm>
        </p:spPr>
        <p:txBody>
          <a:bodyPr anchor="b">
            <a:normAutofit/>
          </a:bodyPr>
          <a:lstStyle/>
          <a:p>
            <a:r>
              <a:rPr lang="en-US" sz="6800"/>
              <a:t>Datasets and Experimental Protocols</a:t>
            </a:r>
          </a:p>
        </p:txBody>
      </p:sp>
    </p:spTree>
    <p:extLst>
      <p:ext uri="{BB962C8B-B14F-4D97-AF65-F5344CB8AC3E}">
        <p14:creationId xmlns:p14="http://schemas.microsoft.com/office/powerpoint/2010/main" val="35503848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45B3B-9F88-BF67-AD8A-C32AE92E0015}"/>
              </a:ext>
            </a:extLst>
          </p:cNvPr>
          <p:cNvSpPr>
            <a:spLocks noGrp="1"/>
          </p:cNvSpPr>
          <p:nvPr>
            <p:ph type="title"/>
          </p:nvPr>
        </p:nvSpPr>
        <p:spPr>
          <a:xfrm>
            <a:off x="457200" y="457201"/>
            <a:ext cx="10809026" cy="971006"/>
          </a:xfrm>
        </p:spPr>
        <p:txBody>
          <a:bodyPr anchor="b">
            <a:normAutofit/>
          </a:bodyPr>
          <a:lstStyle/>
          <a:p>
            <a:r>
              <a:rPr lang="en-US"/>
              <a:t>Overview of Popular Datasets</a:t>
            </a:r>
          </a:p>
        </p:txBody>
      </p:sp>
      <p:graphicFrame>
        <p:nvGraphicFramePr>
          <p:cNvPr id="5" name="Content Placeholder 4">
            <a:extLst>
              <a:ext uri="{FF2B5EF4-FFF2-40B4-BE49-F238E27FC236}">
                <a16:creationId xmlns:a16="http://schemas.microsoft.com/office/drawing/2014/main" id="{6D81662F-DD22-4BD9-A719-62E00B0A5A04}"/>
              </a:ext>
            </a:extLst>
          </p:cNvPr>
          <p:cNvGraphicFramePr>
            <a:graphicFrameLocks noGrp="1"/>
          </p:cNvGraphicFramePr>
          <p:nvPr>
            <p:ph idx="1"/>
          </p:nvPr>
        </p:nvGraphicFramePr>
        <p:xfrm>
          <a:off x="457201" y="1623346"/>
          <a:ext cx="10809028" cy="4657971"/>
        </p:xfrm>
        <a:graphic>
          <a:graphicData uri="http://schemas.openxmlformats.org/drawingml/2006/table">
            <a:tbl>
              <a:tblPr firstRow="1" bandRow="1">
                <a:noFill/>
                <a:tableStyleId>{5C22544A-7EE6-4342-B048-85BDC9FD1C3A}</a:tableStyleId>
              </a:tblPr>
              <a:tblGrid>
                <a:gridCol w="1901588">
                  <a:extLst>
                    <a:ext uri="{9D8B030D-6E8A-4147-A177-3AD203B41FA5}">
                      <a16:colId xmlns:a16="http://schemas.microsoft.com/office/drawing/2014/main" val="509736368"/>
                    </a:ext>
                  </a:extLst>
                </a:gridCol>
                <a:gridCol w="2081739">
                  <a:extLst>
                    <a:ext uri="{9D8B030D-6E8A-4147-A177-3AD203B41FA5}">
                      <a16:colId xmlns:a16="http://schemas.microsoft.com/office/drawing/2014/main" val="1198246553"/>
                    </a:ext>
                  </a:extLst>
                </a:gridCol>
                <a:gridCol w="2347961">
                  <a:extLst>
                    <a:ext uri="{9D8B030D-6E8A-4147-A177-3AD203B41FA5}">
                      <a16:colId xmlns:a16="http://schemas.microsoft.com/office/drawing/2014/main" val="3218916288"/>
                    </a:ext>
                  </a:extLst>
                </a:gridCol>
                <a:gridCol w="2446043">
                  <a:extLst>
                    <a:ext uri="{9D8B030D-6E8A-4147-A177-3AD203B41FA5}">
                      <a16:colId xmlns:a16="http://schemas.microsoft.com/office/drawing/2014/main" val="4287690341"/>
                    </a:ext>
                  </a:extLst>
                </a:gridCol>
                <a:gridCol w="2031697">
                  <a:extLst>
                    <a:ext uri="{9D8B030D-6E8A-4147-A177-3AD203B41FA5}">
                      <a16:colId xmlns:a16="http://schemas.microsoft.com/office/drawing/2014/main" val="1713840785"/>
                    </a:ext>
                  </a:extLst>
                </a:gridCol>
              </a:tblGrid>
              <a:tr h="699464">
                <a:tc>
                  <a:txBody>
                    <a:bodyPr/>
                    <a:lstStyle/>
                    <a:p>
                      <a:pPr>
                        <a:buNone/>
                      </a:pPr>
                      <a:r>
                        <a:rPr lang="en-US" sz="2000" b="1" cap="all" spc="150">
                          <a:solidFill>
                            <a:schemeClr val="tx1"/>
                          </a:solidFill>
                        </a:rPr>
                        <a:t>Dataset</a:t>
                      </a:r>
                    </a:p>
                  </a:txBody>
                  <a:tcPr marL="172944" marR="172944" marT="172944" marB="17294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000" b="1" cap="all" spc="150">
                          <a:solidFill>
                            <a:schemeClr val="tx1"/>
                          </a:solidFill>
                        </a:rPr>
                        <a:t>Subjects</a:t>
                      </a:r>
                    </a:p>
                  </a:txBody>
                  <a:tcPr marL="172944" marR="172944" marT="172944" marB="17294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000" b="1" cap="all" spc="150">
                          <a:solidFill>
                            <a:schemeClr val="tx1"/>
                          </a:solidFill>
                        </a:rPr>
                        <a:t>Modalities</a:t>
                      </a:r>
                    </a:p>
                  </a:txBody>
                  <a:tcPr marL="172944" marR="172944" marT="172944" marB="17294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000" b="1" cap="all" spc="150">
                          <a:solidFill>
                            <a:schemeClr val="tx1"/>
                          </a:solidFill>
                        </a:rPr>
                        <a:t>Resolution</a:t>
                      </a:r>
                    </a:p>
                  </a:txBody>
                  <a:tcPr marL="172944" marR="172944" marT="172944" marB="17294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000" b="1" cap="all" spc="150">
                          <a:solidFill>
                            <a:schemeClr val="tx1"/>
                          </a:solidFill>
                        </a:rPr>
                        <a:t>Usage</a:t>
                      </a:r>
                    </a:p>
                  </a:txBody>
                  <a:tcPr marL="172944" marR="172944" marT="172944" marB="172944"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1360846820"/>
                  </a:ext>
                </a:extLst>
              </a:tr>
              <a:tr h="641816">
                <a:tc>
                  <a:txBody>
                    <a:bodyPr/>
                    <a:lstStyle/>
                    <a:p>
                      <a:pPr>
                        <a:buNone/>
                      </a:pPr>
                      <a:r>
                        <a:rPr lang="en-US" sz="1600" b="1" cap="none" spc="0">
                          <a:solidFill>
                            <a:schemeClr val="tx1"/>
                          </a:solidFill>
                        </a:rPr>
                        <a:t>IXI</a:t>
                      </a:r>
                    </a:p>
                  </a:txBody>
                  <a:tcPr marL="172944" marR="172944" marT="172944" marB="17294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600" cap="none" spc="0">
                          <a:solidFill>
                            <a:schemeClr val="tx1"/>
                          </a:solidFill>
                        </a:rPr>
                        <a:t>~600</a:t>
                      </a:r>
                    </a:p>
                  </a:txBody>
                  <a:tcPr marL="172944" marR="172944" marT="172944" marB="17294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600" cap="none" spc="0">
                          <a:solidFill>
                            <a:schemeClr val="tx1"/>
                          </a:solidFill>
                        </a:rPr>
                        <a:t>T1, T2, PD</a:t>
                      </a:r>
                    </a:p>
                  </a:txBody>
                  <a:tcPr marL="172944" marR="172944" marT="172944" marB="17294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600" cap="none" spc="0">
                          <a:solidFill>
                            <a:schemeClr val="tx1"/>
                          </a:solidFill>
                        </a:rPr>
                        <a:t>~1 mm³</a:t>
                      </a:r>
                    </a:p>
                  </a:txBody>
                  <a:tcPr marL="172944" marR="172944" marT="172944" marB="172944"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600" cap="none" spc="0">
                          <a:solidFill>
                            <a:schemeClr val="tx1"/>
                          </a:solidFill>
                        </a:rPr>
                        <a:t>Volumetric SR</a:t>
                      </a:r>
                    </a:p>
                  </a:txBody>
                  <a:tcPr marL="172944" marR="172944" marT="172944" marB="172944"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365121551"/>
                  </a:ext>
                </a:extLst>
              </a:tr>
              <a:tr h="641816">
                <a:tc>
                  <a:txBody>
                    <a:bodyPr/>
                    <a:lstStyle/>
                    <a:p>
                      <a:pPr>
                        <a:buNone/>
                      </a:pPr>
                      <a:r>
                        <a:rPr lang="en-US" sz="1600" b="1" cap="none" spc="0">
                          <a:solidFill>
                            <a:schemeClr val="tx1"/>
                          </a:solidFill>
                        </a:rPr>
                        <a:t>fastMRI</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~1500</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T1, T2</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Raw k-space + 3D</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Accelerated MRI</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015222099"/>
                  </a:ext>
                </a:extLst>
              </a:tr>
              <a:tr h="891625">
                <a:tc>
                  <a:txBody>
                    <a:bodyPr/>
                    <a:lstStyle/>
                    <a:p>
                      <a:pPr>
                        <a:buNone/>
                      </a:pPr>
                      <a:r>
                        <a:rPr lang="en-US" sz="1600" b="1" cap="none" spc="0">
                          <a:solidFill>
                            <a:schemeClr val="tx1"/>
                          </a:solidFill>
                        </a:rPr>
                        <a:t>BraTS</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~450</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T1, T1c, T2, FLAIR</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3D multi-contrast</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Tumor segmentation</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304069438"/>
                  </a:ext>
                </a:extLst>
              </a:tr>
              <a:tr h="891625">
                <a:tc>
                  <a:txBody>
                    <a:bodyPr/>
                    <a:lstStyle/>
                    <a:p>
                      <a:pPr>
                        <a:buNone/>
                      </a:pPr>
                      <a:r>
                        <a:rPr lang="en-US" sz="1600" b="1" cap="none" spc="0">
                          <a:solidFill>
                            <a:schemeClr val="tx1"/>
                          </a:solidFill>
                        </a:rPr>
                        <a:t>ADNI</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~1000+</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T1, T2, FLAIR</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High-resolution</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Alzheimer’s research</a:t>
                      </a:r>
                    </a:p>
                  </a:txBody>
                  <a:tcPr marL="172944" marR="172944" marT="172944" marB="17294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990758504"/>
                  </a:ext>
                </a:extLst>
              </a:tr>
              <a:tr h="891625">
                <a:tc>
                  <a:txBody>
                    <a:bodyPr/>
                    <a:lstStyle/>
                    <a:p>
                      <a:pPr>
                        <a:buNone/>
                      </a:pPr>
                      <a:r>
                        <a:rPr lang="en-US" sz="1600" b="1" cap="none" spc="0">
                          <a:solidFill>
                            <a:schemeClr val="tx1"/>
                          </a:solidFill>
                        </a:rPr>
                        <a:t>HCP</a:t>
                      </a:r>
                    </a:p>
                  </a:txBody>
                  <a:tcPr marL="172944" marR="172944" marT="172944" marB="17294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600" cap="none" spc="0">
                          <a:solidFill>
                            <a:schemeClr val="tx1"/>
                          </a:solidFill>
                        </a:rPr>
                        <a:t>~1200</a:t>
                      </a:r>
                    </a:p>
                  </a:txBody>
                  <a:tcPr marL="172944" marR="172944" marT="172944" marB="17294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600" cap="none" spc="0">
                          <a:solidFill>
                            <a:schemeClr val="tx1"/>
                          </a:solidFill>
                        </a:rPr>
                        <a:t>T1, T2, diffusion</a:t>
                      </a:r>
                    </a:p>
                  </a:txBody>
                  <a:tcPr marL="172944" marR="172944" marT="172944" marB="17294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600" cap="none" spc="0">
                          <a:solidFill>
                            <a:schemeClr val="tx1"/>
                          </a:solidFill>
                        </a:rPr>
                        <a:t>0.7–1.25 mm³</a:t>
                      </a:r>
                    </a:p>
                  </a:txBody>
                  <a:tcPr marL="172944" marR="172944" marT="172944" marB="172944"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600" cap="none" spc="0">
                          <a:solidFill>
                            <a:schemeClr val="tx1"/>
                          </a:solidFill>
                        </a:rPr>
                        <a:t>Connectivity mapping</a:t>
                      </a:r>
                    </a:p>
                  </a:txBody>
                  <a:tcPr marL="172944" marR="172944" marT="172944" marB="172944"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2303486442"/>
                  </a:ext>
                </a:extLst>
              </a:tr>
            </a:tbl>
          </a:graphicData>
        </a:graphic>
      </p:graphicFrame>
    </p:spTree>
    <p:extLst>
      <p:ext uri="{BB962C8B-B14F-4D97-AF65-F5344CB8AC3E}">
        <p14:creationId xmlns:p14="http://schemas.microsoft.com/office/powerpoint/2010/main" val="36046893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EF4A6-1AA7-260F-4204-863389F2C5E7}"/>
              </a:ext>
            </a:extLst>
          </p:cNvPr>
          <p:cNvSpPr>
            <a:spLocks noGrp="1"/>
          </p:cNvSpPr>
          <p:nvPr>
            <p:ph type="ctrTitle"/>
          </p:nvPr>
        </p:nvSpPr>
        <p:spPr>
          <a:xfrm>
            <a:off x="457197" y="3507830"/>
            <a:ext cx="7772400" cy="2944368"/>
          </a:xfrm>
        </p:spPr>
        <p:txBody>
          <a:bodyPr anchor="b">
            <a:normAutofit/>
          </a:bodyPr>
          <a:lstStyle/>
          <a:p>
            <a:r>
              <a:rPr lang="en-US"/>
              <a:t>Key Findings and Strategic Insights</a:t>
            </a:r>
          </a:p>
        </p:txBody>
      </p:sp>
    </p:spTree>
    <p:extLst>
      <p:ext uri="{BB962C8B-B14F-4D97-AF65-F5344CB8AC3E}">
        <p14:creationId xmlns:p14="http://schemas.microsoft.com/office/powerpoint/2010/main" val="40957522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D094F-1707-A5B5-2A33-3CC49B84E39C}"/>
              </a:ext>
            </a:extLst>
          </p:cNvPr>
          <p:cNvSpPr>
            <a:spLocks noGrp="1"/>
          </p:cNvSpPr>
          <p:nvPr>
            <p:ph type="title"/>
          </p:nvPr>
        </p:nvSpPr>
        <p:spPr>
          <a:xfrm>
            <a:off x="457199" y="457200"/>
            <a:ext cx="4482573" cy="1453896"/>
          </a:xfrm>
        </p:spPr>
        <p:txBody>
          <a:bodyPr anchor="t">
            <a:normAutofit/>
          </a:bodyPr>
          <a:lstStyle/>
          <a:p>
            <a:r>
              <a:rPr lang="en-US"/>
              <a:t>Research Trends and Future Directions</a:t>
            </a:r>
          </a:p>
        </p:txBody>
      </p:sp>
      <p:pic>
        <p:nvPicPr>
          <p:cNvPr id="5" name="Content Placeholder 4" descr="Health series:Tomography Tunnel-PET/CT, ">
            <a:extLst>
              <a:ext uri="{FF2B5EF4-FFF2-40B4-BE49-F238E27FC236}">
                <a16:creationId xmlns:a16="http://schemas.microsoft.com/office/drawing/2014/main" id="{BC199672-CDD4-437D-9727-B830ACFA5158}"/>
              </a:ext>
            </a:extLst>
          </p:cNvPr>
          <p:cNvPicPr>
            <a:picLocks noGrp="1" noChangeAspect="1"/>
          </p:cNvPicPr>
          <p:nvPr>
            <p:ph type="pic" sz="quarter" idx="13"/>
          </p:nvPr>
        </p:nvPicPr>
        <p:blipFill>
          <a:blip r:embed="rId3"/>
          <a:srcRect l="10806" r="18576" b="3"/>
          <a:stretch>
            <a:fillRect/>
          </a:stretch>
        </p:blipFill>
        <p:spPr>
          <a:xfrm>
            <a:off x="559502" y="2175642"/>
            <a:ext cx="4380271" cy="4124756"/>
          </a:xfrm>
          <a:prstGeom prst="rect">
            <a:avLst/>
          </a:prstGeom>
          <a:noFill/>
        </p:spPr>
      </p:pic>
      <p:sp>
        <p:nvSpPr>
          <p:cNvPr id="4" name="Content Placeholder 3">
            <a:extLst>
              <a:ext uri="{FF2B5EF4-FFF2-40B4-BE49-F238E27FC236}">
                <a16:creationId xmlns:a16="http://schemas.microsoft.com/office/drawing/2014/main" id="{DF0F615F-A6C3-F6B2-3861-AE59CF4F40C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Deep Learning Advancements</a:t>
            </a:r>
          </a:p>
          <a:p>
            <a:pPr marL="0" lvl="1" indent="0">
              <a:buFont typeface="Arial" panose="020B0604020202020204" pitchFamily="34" charset="0"/>
              <a:buNone/>
            </a:pPr>
            <a:r>
              <a:t>Deep learning methods enhance 3D MRI reconstruction by recovering high-quality images from sparse data efficiently.</a:t>
            </a:r>
            <a:endParaRPr lang="en-US"/>
          </a:p>
          <a:p>
            <a:pPr marL="0" indent="0">
              <a:spcBef>
                <a:spcPts val="2500"/>
              </a:spcBef>
              <a:buFont typeface="Arial" panose="020B0604020202020204" pitchFamily="34" charset="0"/>
              <a:buNone/>
            </a:pPr>
            <a:r>
              <a:rPr lang="en-US" b="1"/>
              <a:t>Hybrid and Multi-modal Approaches</a:t>
            </a:r>
          </a:p>
          <a:p>
            <a:pPr marL="0" lvl="1" indent="0">
              <a:buFont typeface="Arial" panose="020B0604020202020204" pitchFamily="34" charset="0"/>
              <a:buNone/>
            </a:pPr>
            <a:r>
              <a:t>Combining physics-based constraints with deep learning and multi-modal fusion improves image fidelity and diagnostic accuracy.</a:t>
            </a:r>
            <a:endParaRPr lang="en-US"/>
          </a:p>
          <a:p>
            <a:pPr marL="0" indent="0">
              <a:spcBef>
                <a:spcPts val="2500"/>
              </a:spcBef>
              <a:buFont typeface="Arial" panose="020B0604020202020204" pitchFamily="34" charset="0"/>
              <a:buNone/>
            </a:pPr>
            <a:r>
              <a:rPr lang="en-US" b="1"/>
              <a:t>Emerging Models and Architectures</a:t>
            </a:r>
          </a:p>
          <a:p>
            <a:pPr marL="0" lvl="1" indent="0">
              <a:buFont typeface="Arial" panose="020B0604020202020204" pitchFamily="34" charset="0"/>
              <a:buNone/>
            </a:pPr>
            <a:r>
              <a:t>Generative models and transformers provide realistic volumetric outputs and capture global context in MRI data.</a:t>
            </a:r>
            <a:endParaRPr lang="en-US"/>
          </a:p>
          <a:p>
            <a:pPr marL="0" indent="0">
              <a:spcBef>
                <a:spcPts val="2500"/>
              </a:spcBef>
              <a:buFont typeface="Arial" panose="020B0604020202020204" pitchFamily="34" charset="0"/>
              <a:buNone/>
            </a:pPr>
            <a:r>
              <a:rPr lang="en-US" b="1"/>
              <a:t>Future Research Focus</a:t>
            </a:r>
          </a:p>
          <a:p>
            <a:pPr marL="0" lvl="1" indent="0">
              <a:buFont typeface="Arial" panose="020B0604020202020204" pitchFamily="34" charset="0"/>
              <a:buNone/>
            </a:pPr>
            <a:r>
              <a:t>Future work should improve computational efficiency, generalizability, interpretability, and enable real-time clinical deployment.</a:t>
            </a:r>
            <a:endParaRPr lang="en-US"/>
          </a:p>
        </p:txBody>
      </p:sp>
    </p:spTree>
    <p:extLst>
      <p:ext uri="{BB962C8B-B14F-4D97-AF65-F5344CB8AC3E}">
        <p14:creationId xmlns:p14="http://schemas.microsoft.com/office/powerpoint/2010/main" val="1111484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7644B-FB25-AEF1-9979-2BCFAD519990}"/>
              </a:ext>
            </a:extLst>
          </p:cNvPr>
          <p:cNvSpPr>
            <a:spLocks noGrp="1"/>
          </p:cNvSpPr>
          <p:nvPr>
            <p:ph type="ctrTitle"/>
          </p:nvPr>
        </p:nvSpPr>
        <p:spPr>
          <a:xfrm>
            <a:off x="457197" y="3507830"/>
            <a:ext cx="7772400" cy="2944368"/>
          </a:xfrm>
        </p:spPr>
        <p:txBody>
          <a:bodyPr anchor="b">
            <a:normAutofit/>
          </a:bodyPr>
          <a:lstStyle/>
          <a:p>
            <a:r>
              <a:rPr lang="en-US" sz="6800"/>
              <a:t>Conclusion and Recommendations</a:t>
            </a:r>
          </a:p>
        </p:txBody>
      </p:sp>
    </p:spTree>
    <p:extLst>
      <p:ext uri="{BB962C8B-B14F-4D97-AF65-F5344CB8AC3E}">
        <p14:creationId xmlns:p14="http://schemas.microsoft.com/office/powerpoint/2010/main" val="2832253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3C25-AFCF-DD2C-587C-4464E7A5451B}"/>
              </a:ext>
            </a:extLst>
          </p:cNvPr>
          <p:cNvSpPr>
            <a:spLocks noGrp="1"/>
          </p:cNvSpPr>
          <p:nvPr>
            <p:ph type="title"/>
          </p:nvPr>
        </p:nvSpPr>
        <p:spPr>
          <a:xfrm>
            <a:off x="457199" y="457200"/>
            <a:ext cx="4482573" cy="1453896"/>
          </a:xfrm>
        </p:spPr>
        <p:txBody>
          <a:bodyPr anchor="t">
            <a:normAutofit/>
          </a:bodyPr>
          <a:lstStyle/>
          <a:p>
            <a:r>
              <a:rPr lang="en-US"/>
              <a:t>Summary and Actionable Insights</a:t>
            </a:r>
          </a:p>
        </p:txBody>
      </p:sp>
      <p:pic>
        <p:nvPicPr>
          <p:cNvPr id="5" name="Content Placeholder 4" descr="Smart Phone Application for Medical Scan">
            <a:extLst>
              <a:ext uri="{FF2B5EF4-FFF2-40B4-BE49-F238E27FC236}">
                <a16:creationId xmlns:a16="http://schemas.microsoft.com/office/drawing/2014/main" id="{D5369237-EDC8-41C9-AC1B-F2079C36564D}"/>
              </a:ext>
            </a:extLst>
          </p:cNvPr>
          <p:cNvPicPr>
            <a:picLocks noGrp="1" noChangeAspect="1"/>
          </p:cNvPicPr>
          <p:nvPr>
            <p:ph type="pic" sz="quarter" idx="13"/>
          </p:nvPr>
        </p:nvPicPr>
        <p:blipFill>
          <a:blip r:embed="rId3"/>
          <a:srcRect l="27637" r="1746" b="3"/>
          <a:stretch>
            <a:fillRect/>
          </a:stretch>
        </p:blipFill>
        <p:spPr>
          <a:xfrm>
            <a:off x="559502" y="2175642"/>
            <a:ext cx="4380271" cy="4124756"/>
          </a:xfrm>
          <a:prstGeom prst="rect">
            <a:avLst/>
          </a:prstGeom>
          <a:noFill/>
        </p:spPr>
      </p:pic>
      <p:sp>
        <p:nvSpPr>
          <p:cNvPr id="4" name="Content Placeholder 3">
            <a:extLst>
              <a:ext uri="{FF2B5EF4-FFF2-40B4-BE49-F238E27FC236}">
                <a16:creationId xmlns:a16="http://schemas.microsoft.com/office/drawing/2014/main" id="{7786E2B7-EA23-4276-70DD-51D7BF0AE49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Super-Resolution in MRI</a:t>
            </a:r>
          </a:p>
          <a:p>
            <a:pPr marL="0" lvl="1" indent="0">
              <a:buFont typeface="Arial" panose="020B0604020202020204" pitchFamily="34" charset="0"/>
              <a:buNone/>
            </a:pPr>
            <a:r>
              <a:t>Deep learning super-resolution enables fast, high-quality 3D MRI reconstruction without extra scan time, improving diagnostics.</a:t>
            </a:r>
            <a:endParaRPr lang="en-US"/>
          </a:p>
          <a:p>
            <a:pPr marL="0" indent="0">
              <a:spcBef>
                <a:spcPts val="2500"/>
              </a:spcBef>
              <a:buFont typeface="Arial" panose="020B0604020202020204" pitchFamily="34" charset="0"/>
              <a:buNone/>
            </a:pPr>
            <a:r>
              <a:rPr lang="en-US" b="1"/>
              <a:t>Model Development Priorities</a:t>
            </a:r>
          </a:p>
          <a:p>
            <a:pPr marL="0" lvl="1" indent="0">
              <a:buFont typeface="Arial" panose="020B0604020202020204" pitchFamily="34" charset="0"/>
              <a:buNone/>
            </a:pPr>
            <a:r>
              <a:t>Focus on adaptive, clinically validated models that integrate multi-modal data and handle large-scale datasets efficiently.</a:t>
            </a:r>
            <a:endParaRPr lang="en-US"/>
          </a:p>
          <a:p>
            <a:pPr marL="0" indent="0">
              <a:spcBef>
                <a:spcPts val="2500"/>
              </a:spcBef>
              <a:buFont typeface="Arial" panose="020B0604020202020204" pitchFamily="34" charset="0"/>
              <a:buNone/>
            </a:pPr>
            <a:r>
              <a:rPr lang="en-US" b="1"/>
              <a:t>Performance Optimization</a:t>
            </a:r>
          </a:p>
          <a:p>
            <a:pPr marL="0" lvl="1" indent="0">
              <a:buFont typeface="Arial" panose="020B0604020202020204" pitchFamily="34" charset="0"/>
              <a:buNone/>
            </a:pPr>
            <a:r>
              <a:t>Optimize computational speed for real-time applications ensuring robustness across various imaging protocols.</a:t>
            </a:r>
            <a:endParaRPr lang="en-US"/>
          </a:p>
          <a:p>
            <a:pPr marL="0" indent="0">
              <a:spcBef>
                <a:spcPts val="2500"/>
              </a:spcBef>
              <a:buFont typeface="Arial" panose="020B0604020202020204" pitchFamily="34" charset="0"/>
              <a:buNone/>
            </a:pPr>
            <a:r>
              <a:rPr lang="en-US" b="1"/>
              <a:t>Collaborative Adoption</a:t>
            </a:r>
          </a:p>
          <a:p>
            <a:pPr marL="0" lvl="1" indent="0">
              <a:buFont typeface="Arial" panose="020B0604020202020204" pitchFamily="34" charset="0"/>
              <a:buNone/>
            </a:pPr>
            <a:r>
              <a:t>Encourage partnerships between academia, industry, and healthcare to accelerate clinical integration of these technologies.</a:t>
            </a:r>
            <a:endParaRPr lang="en-US"/>
          </a:p>
        </p:txBody>
      </p:sp>
    </p:spTree>
    <p:extLst>
      <p:ext uri="{BB962C8B-B14F-4D97-AF65-F5344CB8AC3E}">
        <p14:creationId xmlns:p14="http://schemas.microsoft.com/office/powerpoint/2010/main" val="1033140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49EA57-08A7-43CA-A845-5F6B04788291}">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2.xml><?xml version="1.0" encoding="utf-8"?>
<ds:datastoreItem xmlns:ds="http://schemas.openxmlformats.org/officeDocument/2006/customXml" ds:itemID="{8C4D25C3-873C-4C53-9166-E36A3E5D9C30}">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customXml/itemProps3.xml><?xml version="1.0" encoding="utf-8"?>
<ds:datastoreItem xmlns:ds="http://schemas.openxmlformats.org/officeDocument/2006/customXml" ds:itemID="{D6138AE6-00E4-459C-8B3A-08927B7E54F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Bevel</Template>
  <TotalTime>1018</TotalTime>
  <Words>2328</Words>
  <Application>Microsoft Office PowerPoint</Application>
  <PresentationFormat>Widescreen</PresentationFormat>
  <Paragraphs>134</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Bevel</vt:lpstr>
      <vt:lpstr>Deep Learning-Based Super-Resolution Techniques for 3D MRI Reconstruction</vt:lpstr>
      <vt:lpstr>Introduction and Context</vt:lpstr>
      <vt:lpstr>Overview of MRI and Challenges</vt:lpstr>
      <vt:lpstr>Purpose and Scope of the Survey</vt:lpstr>
      <vt:lpstr>Deep Learning Approaches for MRI Super-Resolution</vt:lpstr>
      <vt:lpstr>Key Techniques and Architectures</vt:lpstr>
      <vt:lpstr>Comparative Analysis of Methods</vt:lpstr>
      <vt:lpstr>Datasets and Experimental Protocols</vt:lpstr>
      <vt:lpstr>Overview of Popular Datasets</vt:lpstr>
      <vt:lpstr>Key Findings and Strategic Insights</vt:lpstr>
      <vt:lpstr>Research Trends and Future Directions</vt:lpstr>
      <vt:lpstr>Conclusion and Recommendations</vt:lpstr>
      <vt:lpstr>Summary and Actionable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Super-Resolution Techniques for 3D MRI Reconstruction</dc:title>
  <cp:lastModifiedBy>Manivasagan N (US)</cp:lastModifiedBy>
  <cp:revision>3</cp:revision>
  <dcterms:created xsi:type="dcterms:W3CDTF">2025-08-21T02:25:28Z</dcterms:created>
  <dcterms:modified xsi:type="dcterms:W3CDTF">2025-12-19T03:48:29Z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