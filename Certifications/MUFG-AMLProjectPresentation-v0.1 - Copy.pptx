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6"/>
  </p:notesMasterIdLst>
  <p:handoutMasterIdLst>
    <p:handoutMasterId r:id="rId17"/>
  </p:handoutMasterIdLst>
  <p:sldIdLst>
    <p:sldId id="256" r:id="rId6"/>
    <p:sldId id="471" r:id="rId7"/>
    <p:sldId id="560" r:id="rId8"/>
    <p:sldId id="528" r:id="rId9"/>
    <p:sldId id="565" r:id="rId10"/>
    <p:sldId id="530" r:id="rId11"/>
    <p:sldId id="536" r:id="rId12"/>
    <p:sldId id="566" r:id="rId13"/>
    <p:sldId id="567" r:id="rId14"/>
    <p:sldId id="56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p15:clr>
            <a:srgbClr val="A4A3A4"/>
          </p15:clr>
        </p15:guide>
        <p15:guide id="2" orient="horz" pos="744">
          <p15:clr>
            <a:srgbClr val="A4A3A4"/>
          </p15:clr>
        </p15:guide>
        <p15:guide id="3" orient="horz" pos="4192">
          <p15:clr>
            <a:srgbClr val="A4A3A4"/>
          </p15:clr>
        </p15:guide>
        <p15:guide id="4" orient="horz" pos="650">
          <p15:clr>
            <a:srgbClr val="A4A3A4"/>
          </p15:clr>
        </p15:guide>
        <p15:guide id="5" orient="horz">
          <p15:clr>
            <a:srgbClr val="A4A3A4"/>
          </p15:clr>
        </p15:guide>
        <p15:guide id="6" pos="2880">
          <p15:clr>
            <a:srgbClr val="A4A3A4"/>
          </p15:clr>
        </p15:guide>
        <p15:guide id="7" pos="256">
          <p15:clr>
            <a:srgbClr val="A4A3A4"/>
          </p15:clr>
        </p15:guide>
        <p15:guide id="8" pos="55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D8D8"/>
    <a:srgbClr val="00A1E4"/>
    <a:srgbClr val="E6E8F2"/>
    <a:srgbClr val="ABE9FF"/>
    <a:srgbClr val="D0D4E8"/>
    <a:srgbClr val="CAD4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autoAdjust="0"/>
    <p:restoredTop sz="93907" autoAdjust="0"/>
  </p:normalViewPr>
  <p:slideViewPr>
    <p:cSldViewPr snapToGrid="0">
      <p:cViewPr varScale="1">
        <p:scale>
          <a:sx n="68" d="100"/>
          <a:sy n="68" d="100"/>
        </p:scale>
        <p:origin x="1240" y="56"/>
      </p:cViewPr>
      <p:guideLst>
        <p:guide orient="horz" pos="2174"/>
        <p:guide orient="horz" pos="744"/>
        <p:guide orient="horz" pos="4192"/>
        <p:guide orient="horz" pos="650"/>
        <p:guide orient="horz"/>
        <p:guide pos="2880"/>
        <p:guide pos="256"/>
        <p:guide pos="5520"/>
      </p:guideLst>
    </p:cSldViewPr>
  </p:slideViewPr>
  <p:notesTextViewPr>
    <p:cViewPr>
      <p:scale>
        <a:sx n="1" d="1"/>
        <a:sy n="1" d="1"/>
      </p:scale>
      <p:origin x="0" y="0"/>
    </p:cViewPr>
  </p:notesTextViewPr>
  <p:notesViewPr>
    <p:cSldViewPr snapToGrid="0">
      <p:cViewPr varScale="1">
        <p:scale>
          <a:sx n="51" d="100"/>
          <a:sy n="51" d="100"/>
        </p:scale>
        <p:origin x="2692" y="5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80038FD-2886-4743-BE20-9F32D67C49D3}" type="datetimeFigureOut">
              <a:rPr lang="en-US" smtClean="0"/>
              <a:t>1/10/2019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B89152-32C6-403F-A002-D49E501DA928}" type="slidenum">
              <a:rPr lang="en-US" smtClean="0"/>
              <a:t>‹#›</a:t>
            </a:fld>
            <a:endParaRPr lang="en-US"/>
          </a:p>
        </p:txBody>
      </p:sp>
    </p:spTree>
    <p:extLst>
      <p:ext uri="{BB962C8B-B14F-4D97-AF65-F5344CB8AC3E}">
        <p14:creationId xmlns:p14="http://schemas.microsoft.com/office/powerpoint/2010/main" val="41606008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FDE7B7-9C84-4310-8975-D238F9323F57}" type="datetimeFigureOut">
              <a:rPr lang="en-US" smtClean="0"/>
              <a:t>1/10/2019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2C0AA9-5F18-48B3-BC22-AF761F352F78}" type="slidenum">
              <a:rPr lang="en-US" smtClean="0"/>
              <a:t>‹#›</a:t>
            </a:fld>
            <a:endParaRPr lang="en-US"/>
          </a:p>
        </p:txBody>
      </p:sp>
    </p:spTree>
    <p:extLst>
      <p:ext uri="{BB962C8B-B14F-4D97-AF65-F5344CB8AC3E}">
        <p14:creationId xmlns:p14="http://schemas.microsoft.com/office/powerpoint/2010/main" val="2082465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2C0AA9-5F18-48B3-BC22-AF761F352F78}" type="slidenum">
              <a:rPr lang="en-US" smtClean="0"/>
              <a:t>1</a:t>
            </a:fld>
            <a:endParaRPr lang="en-US" dirty="0"/>
          </a:p>
        </p:txBody>
      </p:sp>
    </p:spTree>
    <p:extLst>
      <p:ext uri="{BB962C8B-B14F-4D97-AF65-F5344CB8AC3E}">
        <p14:creationId xmlns:p14="http://schemas.microsoft.com/office/powerpoint/2010/main" val="16592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40A83A-9F3B-4F84-9FB0-D33881C79186}" type="slidenum">
              <a:rPr lang="en-US" smtClean="0"/>
              <a:pPr/>
              <a:t>2</a:t>
            </a:fld>
            <a:endParaRPr lang="en-US" dirty="0"/>
          </a:p>
        </p:txBody>
      </p:sp>
    </p:spTree>
    <p:extLst>
      <p:ext uri="{BB962C8B-B14F-4D97-AF65-F5344CB8AC3E}">
        <p14:creationId xmlns:p14="http://schemas.microsoft.com/office/powerpoint/2010/main" val="32985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Questions to SAS</a:t>
            </a:r>
          </a:p>
          <a:p>
            <a:endParaRPr lang="en-US" dirty="0"/>
          </a:p>
          <a:p>
            <a:r>
              <a:rPr lang="en-US" dirty="0"/>
              <a:t>.How many</a:t>
            </a:r>
            <a:r>
              <a:rPr lang="en-US" baseline="0" dirty="0"/>
              <a:t> years data retention required in the SAS-PRE Stage</a:t>
            </a:r>
          </a:p>
          <a:p>
            <a:endParaRPr lang="en-US" baseline="0" dirty="0"/>
          </a:p>
          <a:p>
            <a:r>
              <a:rPr lang="en-US" baseline="0" dirty="0"/>
              <a:t>.Confirm the “2A “ approach of Address enrichment for payment data using locale.</a:t>
            </a:r>
          </a:p>
          <a:p>
            <a:endParaRPr lang="en-US" baseline="0" dirty="0"/>
          </a:p>
          <a:p>
            <a:r>
              <a:rPr lang="en-US" baseline="0" dirty="0"/>
              <a:t>.Review the 6B –Data load process into LASER(In-memory)</a:t>
            </a:r>
          </a:p>
          <a:p>
            <a:endParaRPr lang="en-US" baseline="0" dirty="0"/>
          </a:p>
          <a:p>
            <a:r>
              <a:rPr lang="en-US" dirty="0"/>
              <a:t>BRD-1.63</a:t>
            </a:r>
          </a:p>
          <a:p>
            <a:r>
              <a:rPr lang="en-US" dirty="0"/>
              <a:t>BRD-1.64</a:t>
            </a:r>
          </a:p>
          <a:p>
            <a:r>
              <a:rPr lang="en-US" dirty="0"/>
              <a:t>BRD-1.65</a:t>
            </a:r>
          </a:p>
          <a:p>
            <a:r>
              <a:rPr lang="en-US" dirty="0"/>
              <a:t>BRD-1.66</a:t>
            </a:r>
          </a:p>
          <a:p>
            <a:r>
              <a:rPr lang="en-US" dirty="0"/>
              <a:t>BRD-1.67</a:t>
            </a:r>
          </a:p>
        </p:txBody>
      </p:sp>
      <p:sp>
        <p:nvSpPr>
          <p:cNvPr id="4" name="Slide Number Placeholder 3"/>
          <p:cNvSpPr>
            <a:spLocks noGrp="1"/>
          </p:cNvSpPr>
          <p:nvPr>
            <p:ph type="sldNum" sz="quarter" idx="10"/>
          </p:nvPr>
        </p:nvSpPr>
        <p:spPr/>
        <p:txBody>
          <a:bodyPr/>
          <a:lstStyle/>
          <a:p>
            <a:fld id="{3440A83A-9F3B-4F84-9FB0-D33881C79186}"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267988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How will a multi tenant environment</a:t>
            </a:r>
            <a:r>
              <a:rPr lang="en-US" baseline="0" dirty="0"/>
              <a:t> be created for alerts from RDC?</a:t>
            </a:r>
          </a:p>
          <a:p>
            <a:pPr marL="228600" indent="-228600">
              <a:buAutoNum type="arabicPeriod"/>
            </a:pPr>
            <a:r>
              <a:rPr lang="en-US" baseline="0" dirty="0"/>
              <a:t>What infrastructure can be leveraged? How much additional space is required on the server for the new tenant?</a:t>
            </a:r>
          </a:p>
          <a:p>
            <a:pPr marL="228600" indent="-228600">
              <a:buAutoNum type="arabicPeriod"/>
            </a:pPr>
            <a:r>
              <a:rPr lang="en-US" baseline="0" dirty="0"/>
              <a:t>Which folders, packages, deployments will be shared between the two tenants?</a:t>
            </a:r>
          </a:p>
          <a:p>
            <a:pPr marL="228600" indent="-228600">
              <a:buAutoNum type="arabicPeriod"/>
            </a:pPr>
            <a:r>
              <a:rPr lang="en-US" baseline="0" dirty="0"/>
              <a:t>Can the design and implementation work done on one tenant be leveraged for other tenant?</a:t>
            </a:r>
          </a:p>
          <a:p>
            <a:pPr marL="0" indent="0">
              <a:buNone/>
            </a:pPr>
            <a:r>
              <a:rPr lang="en-US" baseline="0" dirty="0"/>
              <a:t>Response : SAS yet to get back on these questions</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3440A83A-9F3B-4F84-9FB0-D33881C79186}" type="slidenum">
              <a:rPr lang="en-US" smtClean="0"/>
              <a:pPr/>
              <a:t>4</a:t>
            </a:fld>
            <a:endParaRPr lang="en-US" dirty="0"/>
          </a:p>
        </p:txBody>
      </p:sp>
    </p:spTree>
    <p:extLst>
      <p:ext uri="{BB962C8B-B14F-4D97-AF65-F5344CB8AC3E}">
        <p14:creationId xmlns:p14="http://schemas.microsoft.com/office/powerpoint/2010/main" val="3232788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Will the</a:t>
            </a:r>
            <a:r>
              <a:rPr lang="en-US" baseline="0" dirty="0"/>
              <a:t> data from KYC be from a db view or a file?</a:t>
            </a:r>
          </a:p>
          <a:p>
            <a:pPr marL="0" indent="0">
              <a:buNone/>
            </a:pPr>
            <a:r>
              <a:rPr lang="en-US" baseline="0" dirty="0"/>
              <a:t>2.Do we need these details to be part of Party or a separate table?</a:t>
            </a:r>
          </a:p>
          <a:p>
            <a:pPr marL="0" indent="0">
              <a:buNone/>
            </a:pPr>
            <a:r>
              <a:rPr lang="en-US" baseline="0" dirty="0"/>
              <a:t>Response: SAS prefer it to be part of Party table</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3440A83A-9F3B-4F84-9FB0-D33881C79186}" type="slidenum">
              <a:rPr lang="en-US" smtClean="0"/>
              <a:pPr/>
              <a:t>5</a:t>
            </a:fld>
            <a:endParaRPr lang="en-US" dirty="0"/>
          </a:p>
        </p:txBody>
      </p:sp>
    </p:spTree>
    <p:extLst>
      <p:ext uri="{BB962C8B-B14F-4D97-AF65-F5344CB8AC3E}">
        <p14:creationId xmlns:p14="http://schemas.microsoft.com/office/powerpoint/2010/main" val="4066881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Explain AGP and how it can be customized</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3440A83A-9F3B-4F84-9FB0-D33881C79186}" type="slidenum">
              <a:rPr lang="en-US" smtClean="0"/>
              <a:pPr/>
              <a:t>6</a:t>
            </a:fld>
            <a:endParaRPr lang="en-US" dirty="0"/>
          </a:p>
        </p:txBody>
      </p:sp>
    </p:spTree>
    <p:extLst>
      <p:ext uri="{BB962C8B-B14F-4D97-AF65-F5344CB8AC3E}">
        <p14:creationId xmlns:p14="http://schemas.microsoft.com/office/powerpoint/2010/main" val="2387314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to SAS</a:t>
            </a:r>
          </a:p>
          <a:p>
            <a:endParaRPr lang="en-US" dirty="0"/>
          </a:p>
          <a:p>
            <a:pPr marL="171450" indent="-171450">
              <a:buFontTx/>
              <a:buChar char="-"/>
            </a:pPr>
            <a:r>
              <a:rPr lang="en-US" dirty="0"/>
              <a:t>Please confirm for DQ checks is it separate “Business Rule engine” or SAS DI tool is used to validate for each KDE value.</a:t>
            </a:r>
          </a:p>
          <a:p>
            <a:pPr marL="171450" indent="-171450">
              <a:buFontTx/>
              <a:buChar char="-"/>
            </a:pPr>
            <a:r>
              <a:rPr lang="en-US" dirty="0"/>
              <a:t>Data Remediation captures and reports data based on discussion with SAS it confirmed supports even to correct the data for “Critical” data anomalies from the SAS data management console</a:t>
            </a:r>
          </a:p>
          <a:p>
            <a:r>
              <a:rPr lang="en-US" dirty="0"/>
              <a:t>    once Business reviews and approval completes for a given data anomalies issue. What is the impact to batch process and how for the same batch that data anomalies corrected data will be feed?</a:t>
            </a:r>
          </a:p>
          <a:p>
            <a:pPr marL="171450" indent="-171450">
              <a:buFontTx/>
              <a:buChar char="-"/>
            </a:pPr>
            <a:endParaRPr lang="en-US" dirty="0"/>
          </a:p>
          <a:p>
            <a:pPr marL="171450" indent="-171450">
              <a:buFontTx/>
              <a:buChar char="-"/>
            </a:pPr>
            <a:endParaRPr lang="en-US" dirty="0"/>
          </a:p>
          <a:p>
            <a:pPr marL="171450" indent="-171450">
              <a:buFontTx/>
              <a:buChar char="-"/>
            </a:pPr>
            <a:r>
              <a:rPr lang="en-US" dirty="0"/>
              <a:t>BRD ITEMS</a:t>
            </a:r>
          </a:p>
          <a:p>
            <a:pPr marL="171450" indent="-171450">
              <a:buFontTx/>
              <a:buChar char="-"/>
            </a:pPr>
            <a:endParaRPr lang="en-US" dirty="0"/>
          </a:p>
          <a:p>
            <a:pPr marL="171450" indent="-171450">
              <a:buFontTx/>
              <a:buChar char="-"/>
            </a:pPr>
            <a:r>
              <a:rPr lang="en-US" dirty="0"/>
              <a:t>BRD 8.01</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BRD 8.03</a:t>
            </a:r>
          </a:p>
          <a:p>
            <a:pPr marL="171450" indent="-171450">
              <a:buFontTx/>
              <a:buChar char="-"/>
            </a:pPr>
            <a:r>
              <a:rPr lang="en-US" dirty="0"/>
              <a:t>BRD1.72</a:t>
            </a:r>
          </a:p>
          <a:p>
            <a:pPr marL="171450" indent="-171450">
              <a:buFontTx/>
              <a:buChar char="-"/>
            </a:pPr>
            <a:r>
              <a:rPr lang="en-US" dirty="0"/>
              <a:t>BRD 1.04</a:t>
            </a:r>
          </a:p>
          <a:p>
            <a:pPr marL="171450" indent="-171450">
              <a:buFontTx/>
              <a:buChar char="-"/>
            </a:pPr>
            <a:r>
              <a:rPr lang="en-US" dirty="0"/>
              <a:t>BRD 1.06</a:t>
            </a:r>
          </a:p>
          <a:p>
            <a:pPr marL="171450" indent="-171450">
              <a:buFontTx/>
              <a:buChar char="-"/>
            </a:pPr>
            <a:r>
              <a:rPr lang="en-US" dirty="0"/>
              <a:t>BRD-1.73</a:t>
            </a:r>
          </a:p>
        </p:txBody>
      </p:sp>
      <p:sp>
        <p:nvSpPr>
          <p:cNvPr id="4" name="Slide Number Placeholder 3"/>
          <p:cNvSpPr>
            <a:spLocks noGrp="1"/>
          </p:cNvSpPr>
          <p:nvPr>
            <p:ph type="sldNum" sz="quarter" idx="10"/>
          </p:nvPr>
        </p:nvSpPr>
        <p:spPr/>
        <p:txBody>
          <a:bodyPr/>
          <a:lstStyle/>
          <a:p>
            <a:fld id="{3440A83A-9F3B-4F84-9FB0-D33881C79186}" type="slidenum">
              <a:rPr lang="en-US" smtClean="0"/>
              <a:pPr/>
              <a:t>7</a:t>
            </a:fld>
            <a:endParaRPr lang="en-US" dirty="0"/>
          </a:p>
        </p:txBody>
      </p:sp>
    </p:spTree>
    <p:extLst>
      <p:ext uri="{BB962C8B-B14F-4D97-AF65-F5344CB8AC3E}">
        <p14:creationId xmlns:p14="http://schemas.microsoft.com/office/powerpoint/2010/main" val="511872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Slide Number Placeholder 5"/>
          <p:cNvSpPr>
            <a:spLocks noGrp="1"/>
          </p:cNvSpPr>
          <p:nvPr>
            <p:ph type="sldNum" sz="quarter" idx="12"/>
          </p:nvPr>
        </p:nvSpPr>
        <p:spPr>
          <a:xfrm>
            <a:off x="7127382" y="6356350"/>
            <a:ext cx="1846521" cy="374059"/>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9805510"/>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lvl1pPr marL="342900" indent="-342900">
              <a:buFont typeface="Wingdings" panose="05000000000000000000" pitchFamily="2" charset="2"/>
              <a:buChar char="Ø"/>
              <a:defRPr/>
            </a:lvl1pPr>
            <a:lvl3pPr marL="1143000" indent="-228600">
              <a:buFont typeface="Wingdings" panose="05000000000000000000" pitchFamily="2" charset="2"/>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Two">
    <p:spTree>
      <p:nvGrpSpPr>
        <p:cNvPr id="1" name=""/>
        <p:cNvGrpSpPr/>
        <p:nvPr/>
      </p:nvGrpSpPr>
      <p:grpSpPr>
        <a:xfrm>
          <a:off x="0" y="0"/>
          <a:ext cx="0" cy="0"/>
          <a:chOff x="0" y="0"/>
          <a:chExt cx="0" cy="0"/>
        </a:xfrm>
      </p:grpSpPr>
      <p:sp>
        <p:nvSpPr>
          <p:cNvPr id="8" name="Rectangle 7"/>
          <p:cNvSpPr/>
          <p:nvPr userDrawn="1"/>
        </p:nvSpPr>
        <p:spPr>
          <a:xfrm rot="19354223">
            <a:off x="-350274" y="3063427"/>
            <a:ext cx="8673676" cy="923330"/>
          </a:xfrm>
          <a:prstGeom prst="rect">
            <a:avLst/>
          </a:prstGeom>
          <a:noFill/>
        </p:spPr>
        <p:txBody>
          <a:bodyPr wrap="square" lIns="91440" tIns="45720" rIns="91440" bIns="45720">
            <a:spAutoFit/>
          </a:bodyPr>
          <a:lstStyle/>
          <a:p>
            <a:pPr algn="dist"/>
            <a:r>
              <a:rPr lang="en-US" sz="5400" b="1" cap="none" spc="0" dirty="0">
                <a:ln w="12700">
                  <a:solidFill>
                    <a:srgbClr val="FFC5C5"/>
                  </a:solidFill>
                  <a:prstDash val="solid"/>
                </a:ln>
                <a:solidFill>
                  <a:srgbClr val="FFC5C5"/>
                </a:solidFill>
                <a:effectLst>
                  <a:outerShdw blurRad="41275" dist="20320" dir="1800000" algn="tl" rotWithShape="0">
                    <a:srgbClr val="000000">
                      <a:alpha val="40000"/>
                    </a:srgbClr>
                  </a:outerShdw>
                </a:effectLst>
              </a:rPr>
              <a:t>DRAFT</a:t>
            </a:r>
          </a:p>
        </p:txBody>
      </p:sp>
      <p:sp>
        <p:nvSpPr>
          <p:cNvPr id="2" name="Title 1"/>
          <p:cNvSpPr>
            <a:spLocks noGrp="1"/>
          </p:cNvSpPr>
          <p:nvPr>
            <p:ph type="title"/>
          </p:nvPr>
        </p:nvSpPr>
        <p:spPr>
          <a:xfrm>
            <a:off x="533400" y="694205"/>
            <a:ext cx="8077200" cy="369332"/>
          </a:xfrm>
        </p:spPr>
        <p:txBody>
          <a:bodyPr>
            <a:spAutoFit/>
          </a:bodyPr>
          <a:lstStyle>
            <a:lvl1pPr>
              <a:defRPr sz="2400"/>
            </a:lvl1pPr>
          </a:lstStyle>
          <a:p>
            <a:r>
              <a:rPr lang="en-US" noProof="0"/>
              <a:t>Click to edit Master title style</a:t>
            </a:r>
            <a:endParaRPr lang="en-GB" noProof="0" dirty="0"/>
          </a:p>
        </p:txBody>
      </p:sp>
      <p:sp>
        <p:nvSpPr>
          <p:cNvPr id="28" name="Content Placeholder 26"/>
          <p:cNvSpPr>
            <a:spLocks noGrp="1"/>
          </p:cNvSpPr>
          <p:nvPr>
            <p:ph sz="quarter" idx="14"/>
          </p:nvPr>
        </p:nvSpPr>
        <p:spPr>
          <a:xfrm>
            <a:off x="533400" y="1694331"/>
            <a:ext cx="3962400" cy="441959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31" name="Content Placeholder 26"/>
          <p:cNvSpPr>
            <a:spLocks noGrp="1"/>
          </p:cNvSpPr>
          <p:nvPr>
            <p:ph sz="quarter" idx="15"/>
          </p:nvPr>
        </p:nvSpPr>
        <p:spPr>
          <a:xfrm>
            <a:off x="4648205" y="1694329"/>
            <a:ext cx="3962399" cy="44196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3" name="Slide Number Placeholder 5"/>
          <p:cNvSpPr txBox="1">
            <a:spLocks/>
          </p:cNvSpPr>
          <p:nvPr/>
        </p:nvSpPr>
        <p:spPr>
          <a:xfrm>
            <a:off x="8488614" y="6544166"/>
            <a:ext cx="125034" cy="123111"/>
          </a:xfrm>
          <a:prstGeom prst="rect">
            <a:avLst/>
          </a:prstGeom>
        </p:spPr>
        <p:txBody>
          <a:bodyPr wrap="none" lIns="0" tIns="0" rIns="0" bIns="0" anchor="t" anchorCtr="0">
            <a:spAutoFit/>
          </a:bodyPr>
          <a:lstStyle>
            <a:lvl1pPr algn="r">
              <a:defRPr sz="1000">
                <a:solidFill>
                  <a:schemeClr val="tx1"/>
                </a:solidFill>
                <a:latin typeface="Arial" pitchFamily="34" charset="0"/>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GB" sz="800" b="0" i="0" u="none" strike="noStrike" kern="1200" cap="none" spc="0" normalizeH="0" baseline="0" noProof="0" smtClean="0">
                <a:ln>
                  <a:noFill/>
                </a:ln>
                <a:solidFill>
                  <a:schemeClr val="tx1"/>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pic>
        <p:nvPicPr>
          <p:cNvPr id="10" name="Picture 2"/>
          <p:cNvPicPr>
            <a:picLocks noChangeAspect="1"/>
          </p:cNvPicPr>
          <p:nvPr/>
        </p:nvPicPr>
        <p:blipFill>
          <a:blip r:embed="rId2" cstate="print"/>
          <a:srcRect/>
          <a:stretch>
            <a:fillRect/>
          </a:stretch>
        </p:blipFill>
        <p:spPr bwMode="auto">
          <a:xfrm>
            <a:off x="0" y="0"/>
            <a:ext cx="9144000" cy="661988"/>
          </a:xfrm>
          <a:prstGeom prst="rect">
            <a:avLst/>
          </a:prstGeom>
          <a:noFill/>
          <a:ln w="9525">
            <a:noFill/>
            <a:miter lim="800000"/>
            <a:headEnd/>
            <a:tailEnd/>
          </a:ln>
        </p:spPr>
      </p:pic>
      <p:pic>
        <p:nvPicPr>
          <p:cNvPr id="11" name="Picture 1"/>
          <p:cNvPicPr>
            <a:picLocks noChangeAspect="1" noChangeArrowheads="1"/>
          </p:cNvPicPr>
          <p:nvPr/>
        </p:nvPicPr>
        <p:blipFill>
          <a:blip r:embed="rId3" cstate="print"/>
          <a:srcRect/>
          <a:stretch>
            <a:fillRect/>
          </a:stretch>
        </p:blipFill>
        <p:spPr bwMode="auto">
          <a:xfrm>
            <a:off x="90311" y="6248400"/>
            <a:ext cx="519289" cy="533400"/>
          </a:xfrm>
          <a:prstGeom prst="rect">
            <a:avLst/>
          </a:prstGeom>
          <a:noFill/>
          <a:ln w="9525">
            <a:noFill/>
            <a:miter lim="800000"/>
            <a:headEnd/>
            <a:tailEnd/>
          </a:ln>
        </p:spPr>
      </p:pic>
    </p:spTree>
    <p:extLst>
      <p:ext uri="{BB962C8B-B14F-4D97-AF65-F5344CB8AC3E}">
        <p14:creationId xmlns:p14="http://schemas.microsoft.com/office/powerpoint/2010/main" val="304183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IGATE Sensitive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1772363871"/>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lvl1pPr marL="342900" indent="-342900">
              <a:buFont typeface="Wingdings" panose="05000000000000000000" pitchFamily="2" charset="2"/>
              <a:buChar char="Ø"/>
              <a:defRPr/>
            </a:lvl1pPr>
            <a:lvl3pPr marL="1143000" indent="-228600">
              <a:buFont typeface="Wingdings" panose="05000000000000000000" pitchFamily="2" charset="2"/>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457986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982807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2278370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642239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234828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745872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963667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3660950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644331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t>1/10/2019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t>‹#›</a:t>
            </a:fld>
            <a:endParaRPr lang="en-US"/>
          </a:p>
        </p:txBody>
      </p:sp>
    </p:spTree>
    <p:extLst>
      <p:ext uri="{BB962C8B-B14F-4D97-AF65-F5344CB8AC3E}">
        <p14:creationId xmlns:p14="http://schemas.microsoft.com/office/powerpoint/2010/main" val="535679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image" Target="../media/image6.png"/><Relationship Id="rId2" Type="http://schemas.openxmlformats.org/officeDocument/2006/relationships/slideLayout" Target="../slideLayouts/slideLayout14.xml"/><Relationship Id="rId16"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5.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Freeform 4"/>
          <p:cNvSpPr>
            <a:spLocks/>
          </p:cNvSpPr>
          <p:nvPr userDrawn="1">
            <p:custDataLst>
              <p:tags r:id="rId14"/>
            </p:custDataLst>
          </p:nvPr>
        </p:nvSpPr>
        <p:spPr bwMode="auto">
          <a:xfrm>
            <a:off x="3" y="510812"/>
            <a:ext cx="9143998" cy="6721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rgbClr val="00B0F0"/>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cxnSp>
        <p:nvCxnSpPr>
          <p:cNvPr id="18" name="Straight Connector 17"/>
          <p:cNvCxnSpPr/>
          <p:nvPr userDrawn="1">
            <p:custDataLst>
              <p:tags r:id="rId15"/>
            </p:custDataLst>
          </p:nvPr>
        </p:nvCxnSpPr>
        <p:spPr>
          <a:xfrm flipH="1">
            <a:off x="1" y="6330430"/>
            <a:ext cx="9143999" cy="0"/>
          </a:xfrm>
          <a:prstGeom prst="line">
            <a:avLst/>
          </a:prstGeom>
          <a:ln w="9525"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19" name="Rectangle 20"/>
          <p:cNvSpPr txBox="1">
            <a:spLocks noChangeArrowheads="1"/>
          </p:cNvSpPr>
          <p:nvPr userDrawn="1"/>
        </p:nvSpPr>
        <p:spPr>
          <a:xfrm>
            <a:off x="3086100" y="6435205"/>
            <a:ext cx="1358514" cy="286961"/>
          </a:xfrm>
          <a:prstGeom prst="rect">
            <a:avLst/>
          </a:prstGeom>
          <a:noFill/>
        </p:spPr>
        <p:txBody>
          <a:bodyPr/>
          <a:lstStyle/>
          <a:p>
            <a:pPr>
              <a:defRPr/>
            </a:pPr>
            <a:fld id="{634B1AA2-1421-4123-B46B-C773544C4A12}" type="datetime4">
              <a:rPr lang="en-US" sz="800" b="1">
                <a:solidFill>
                  <a:prstClr val="white">
                    <a:lumMod val="50000"/>
                  </a:prstClr>
                </a:solidFill>
                <a:latin typeface="Candara" panose="020E0502030303020204" pitchFamily="34" charset="0"/>
              </a:rPr>
              <a:pPr>
                <a:defRPr/>
              </a:pPr>
              <a:t>January 10, 2019</a:t>
            </a:fld>
            <a:endParaRPr lang="en-US" sz="800" b="1" dirty="0">
              <a:solidFill>
                <a:prstClr val="white">
                  <a:lumMod val="50000"/>
                </a:prstClr>
              </a:solidFill>
              <a:latin typeface="Candara" panose="020E0502030303020204" pitchFamily="34" charset="0"/>
            </a:endParaRPr>
          </a:p>
        </p:txBody>
      </p:sp>
      <p:sp>
        <p:nvSpPr>
          <p:cNvPr id="20" name="Text Box 9"/>
          <p:cNvSpPr txBox="1">
            <a:spLocks noChangeArrowheads="1"/>
          </p:cNvSpPr>
          <p:nvPr userDrawn="1"/>
        </p:nvSpPr>
        <p:spPr bwMode="auto">
          <a:xfrm>
            <a:off x="4216830" y="6435205"/>
            <a:ext cx="1604587" cy="215444"/>
          </a:xfrm>
          <a:prstGeom prst="rect">
            <a:avLst/>
          </a:prstGeom>
          <a:noFill/>
          <a:ln w="9525">
            <a:noFill/>
            <a:miter lim="800000"/>
            <a:headEnd/>
            <a:tailEnd/>
          </a:ln>
        </p:spPr>
        <p:txBody>
          <a:bodyPr wrap="square">
            <a:spAutoFit/>
          </a:bodyPr>
          <a:lstStyle/>
          <a:p>
            <a:pPr>
              <a:defRPr/>
            </a:pPr>
            <a:r>
              <a:rPr lang="en-US" altLang="ja-JP" sz="800" dirty="0">
                <a:solidFill>
                  <a:prstClr val="white">
                    <a:lumMod val="50000"/>
                  </a:prstClr>
                </a:solidFill>
                <a:latin typeface="Candara" panose="020E0502030303020204" pitchFamily="34" charset="0"/>
              </a:rPr>
              <a:t>Proprietary and Confidential </a:t>
            </a:r>
          </a:p>
        </p:txBody>
      </p:sp>
      <p:sp>
        <p:nvSpPr>
          <p:cNvPr id="21" name="Text Box 5"/>
          <p:cNvSpPr txBox="1">
            <a:spLocks noChangeArrowheads="1"/>
          </p:cNvSpPr>
          <p:nvPr userDrawn="1"/>
        </p:nvSpPr>
        <p:spPr bwMode="gray">
          <a:xfrm>
            <a:off x="7785100" y="6632134"/>
            <a:ext cx="1041400" cy="123111"/>
          </a:xfrm>
          <a:prstGeom prst="rect">
            <a:avLst/>
          </a:prstGeom>
          <a:noFill/>
          <a:ln w="12700">
            <a:noFill/>
            <a:miter lim="800000"/>
            <a:headEnd/>
            <a:tailEnd/>
          </a:ln>
          <a:effectLst>
            <a:prstShdw prst="shdw17" dist="17961" dir="2700000">
              <a:srgbClr val="DDDDDD">
                <a:gamma/>
                <a:shade val="60000"/>
                <a:invGamma/>
              </a:srgbClr>
            </a:prstShdw>
          </a:effectLst>
        </p:spPr>
        <p:txBody>
          <a:bodyPr wrap="square" lIns="0" tIns="0" rIns="0" bIns="0" anchor="b" anchorCtr="1">
            <a:spAutoFit/>
          </a:bodyPr>
          <a:lstStyle/>
          <a:p>
            <a:pPr algn="ctr" eaLnBrk="0" hangingPunct="0">
              <a:buClr>
                <a:srgbClr val="000000"/>
              </a:buClr>
              <a:buSzPct val="65000"/>
              <a:buFont typeface="Wingdings" pitchFamily="2" charset="2"/>
              <a:buNone/>
              <a:defRPr/>
            </a:pPr>
            <a:r>
              <a:rPr lang="en-US" sz="800" dirty="0">
                <a:solidFill>
                  <a:srgbClr val="1F497D"/>
                </a:solidFill>
                <a:latin typeface="Candara" panose="020E0502030303020204" pitchFamily="34" charset="0"/>
                <a:ea typeface="ＭＳ Ｐゴシック"/>
                <a:cs typeface="Arial" pitchFamily="34" charset="0"/>
              </a:rPr>
              <a:t>- </a:t>
            </a:r>
            <a:fld id="{F47D9766-21FB-48EB-955B-1DFC7B4C9F61}" type="slidenum">
              <a:rPr lang="en-US" sz="800">
                <a:solidFill>
                  <a:prstClr val="white">
                    <a:lumMod val="50000"/>
                  </a:prstClr>
                </a:solidFill>
                <a:latin typeface="Candara" panose="020E0502030303020204" pitchFamily="34" charset="0"/>
              </a:rPr>
              <a:pPr algn="ctr" eaLnBrk="0" hangingPunct="0">
                <a:buClr>
                  <a:srgbClr val="000000"/>
                </a:buClr>
                <a:buSzPct val="65000"/>
                <a:buFont typeface="Wingdings" pitchFamily="2" charset="2"/>
                <a:buNone/>
                <a:defRPr/>
              </a:pPr>
              <a:t>‹#›</a:t>
            </a:fld>
            <a:r>
              <a:rPr lang="en-US" sz="800" dirty="0">
                <a:solidFill>
                  <a:prstClr val="white">
                    <a:lumMod val="50000"/>
                  </a:prstClr>
                </a:solidFill>
                <a:latin typeface="Candara" panose="020E0502030303020204" pitchFamily="34" charset="0"/>
              </a:rPr>
              <a:t> </a:t>
            </a:r>
            <a:r>
              <a:rPr lang="en-US" sz="800" dirty="0">
                <a:solidFill>
                  <a:srgbClr val="1F497D"/>
                </a:solidFill>
                <a:latin typeface="Candara" panose="020E0502030303020204" pitchFamily="34" charset="0"/>
                <a:ea typeface="ＭＳ Ｐゴシック"/>
                <a:cs typeface="Arial" pitchFamily="34" charset="0"/>
              </a:rPr>
              <a:t>-</a:t>
            </a:r>
          </a:p>
        </p:txBody>
      </p:sp>
      <p:cxnSp>
        <p:nvCxnSpPr>
          <p:cNvPr id="22" name="Straight Connector 21"/>
          <p:cNvCxnSpPr/>
          <p:nvPr userDrawn="1"/>
        </p:nvCxnSpPr>
        <p:spPr>
          <a:xfrm>
            <a:off x="4104141" y="6479068"/>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5566207" y="6479068"/>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C82A312B-A322-423D-830B-B199DED09C62}"/>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482307" y="6479068"/>
            <a:ext cx="1391798" cy="310514"/>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hf sldNum="0" hd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anose="05000000000000000000" pitchFamily="2" charset="2"/>
        <a:buChar char="Ø"/>
        <a:defRPr sz="1800" b="1" kern="1200">
          <a:solidFill>
            <a:schemeClr val="bg1">
              <a:lumMod val="50000"/>
            </a:schemeClr>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bg1">
              <a:lumMod val="50000"/>
            </a:schemeClr>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Wingdings" panose="05000000000000000000" pitchFamily="2" charset="2"/>
        <a:buChar char="§"/>
        <a:defRPr sz="1200" kern="1200">
          <a:solidFill>
            <a:schemeClr val="bg1">
              <a:lumMod val="50000"/>
            </a:schemeClr>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Freeform 4"/>
          <p:cNvSpPr>
            <a:spLocks/>
          </p:cNvSpPr>
          <p:nvPr userDrawn="1">
            <p:custDataLst>
              <p:tags r:id="rId13"/>
            </p:custDataLst>
          </p:nvPr>
        </p:nvSpPr>
        <p:spPr bwMode="auto">
          <a:xfrm>
            <a:off x="3" y="510812"/>
            <a:ext cx="9143998" cy="6721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rgbClr val="00B0F0"/>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pic>
        <p:nvPicPr>
          <p:cNvPr id="16" name="Picture 103" descr="C:\Users\UserSim\Desktop\Capgemini\Capgemini_logo_cmyk.png"/>
          <p:cNvPicPr>
            <a:picLocks noChangeAspect="1" noChangeArrowheads="1"/>
          </p:cNvPicPr>
          <p:nvPr userDrawn="1">
            <p:custDataLst>
              <p:tags r:id="rId14"/>
            </p:custDataLst>
          </p:nvPr>
        </p:nvPicPr>
        <p:blipFill>
          <a:blip r:embed="rId16" cstate="email"/>
          <a:srcRect/>
          <a:stretch>
            <a:fillRect/>
          </a:stretch>
        </p:blipFill>
        <p:spPr bwMode="auto">
          <a:xfrm>
            <a:off x="468630" y="6435205"/>
            <a:ext cx="1360170" cy="320040"/>
          </a:xfrm>
          <a:prstGeom prst="rect">
            <a:avLst/>
          </a:prstGeom>
          <a:noFill/>
        </p:spPr>
      </p:pic>
      <p:pic>
        <p:nvPicPr>
          <p:cNvPr id="17" name="Picture 1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274268" y="6529065"/>
            <a:ext cx="457200" cy="189470"/>
          </a:xfrm>
          <a:prstGeom prst="rect">
            <a:avLst/>
          </a:prstGeom>
        </p:spPr>
      </p:pic>
      <p:cxnSp>
        <p:nvCxnSpPr>
          <p:cNvPr id="18" name="Straight Connector 17"/>
          <p:cNvCxnSpPr/>
          <p:nvPr userDrawn="1">
            <p:custDataLst>
              <p:tags r:id="rId15"/>
            </p:custDataLst>
          </p:nvPr>
        </p:nvCxnSpPr>
        <p:spPr>
          <a:xfrm flipH="1">
            <a:off x="1" y="6330430"/>
            <a:ext cx="9143999" cy="0"/>
          </a:xfrm>
          <a:prstGeom prst="line">
            <a:avLst/>
          </a:prstGeom>
          <a:ln w="9525"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19" name="Rectangle 20"/>
          <p:cNvSpPr txBox="1">
            <a:spLocks noChangeArrowheads="1"/>
          </p:cNvSpPr>
          <p:nvPr userDrawn="1"/>
        </p:nvSpPr>
        <p:spPr>
          <a:xfrm>
            <a:off x="3225414" y="6493566"/>
            <a:ext cx="1219200" cy="228600"/>
          </a:xfrm>
          <a:prstGeom prst="rect">
            <a:avLst/>
          </a:prstGeom>
          <a:noFill/>
        </p:spPr>
        <p:txBody>
          <a:bodyPr/>
          <a:lstStyle/>
          <a:p>
            <a:pPr>
              <a:defRPr/>
            </a:pPr>
            <a:fld id="{634B1AA2-1421-4123-B46B-C773544C4A12}" type="datetime4">
              <a:rPr lang="en-US" sz="800">
                <a:solidFill>
                  <a:prstClr val="white">
                    <a:lumMod val="50000"/>
                  </a:prstClr>
                </a:solidFill>
                <a:latin typeface="Candara" panose="020E0502030303020204" pitchFamily="34" charset="0"/>
              </a:rPr>
              <a:pPr>
                <a:defRPr/>
              </a:pPr>
              <a:t>January 10, 2019</a:t>
            </a:fld>
            <a:endParaRPr lang="en-US" sz="800" dirty="0">
              <a:solidFill>
                <a:prstClr val="white">
                  <a:lumMod val="50000"/>
                </a:prstClr>
              </a:solidFill>
              <a:latin typeface="Candara" panose="020E0502030303020204" pitchFamily="34" charset="0"/>
            </a:endParaRPr>
          </a:p>
        </p:txBody>
      </p:sp>
      <p:sp>
        <p:nvSpPr>
          <p:cNvPr id="20" name="Text Box 9"/>
          <p:cNvSpPr txBox="1">
            <a:spLocks noChangeArrowheads="1"/>
          </p:cNvSpPr>
          <p:nvPr userDrawn="1"/>
        </p:nvSpPr>
        <p:spPr bwMode="auto">
          <a:xfrm>
            <a:off x="4115231" y="6493566"/>
            <a:ext cx="1431802" cy="215444"/>
          </a:xfrm>
          <a:prstGeom prst="rect">
            <a:avLst/>
          </a:prstGeom>
          <a:noFill/>
          <a:ln w="9525">
            <a:noFill/>
            <a:miter lim="800000"/>
            <a:headEnd/>
            <a:tailEnd/>
          </a:ln>
        </p:spPr>
        <p:txBody>
          <a:bodyPr wrap="none">
            <a:spAutoFit/>
          </a:bodyPr>
          <a:lstStyle/>
          <a:p>
            <a:pPr>
              <a:defRPr/>
            </a:pPr>
            <a:r>
              <a:rPr lang="en-US" altLang="ja-JP" sz="800" dirty="0">
                <a:solidFill>
                  <a:prstClr val="white">
                    <a:lumMod val="50000"/>
                  </a:prstClr>
                </a:solidFill>
                <a:latin typeface="Candara" panose="020E0502030303020204" pitchFamily="34" charset="0"/>
              </a:rPr>
              <a:t>Proprietary and Confidential </a:t>
            </a:r>
          </a:p>
        </p:txBody>
      </p:sp>
      <p:sp>
        <p:nvSpPr>
          <p:cNvPr id="21" name="Text Box 5"/>
          <p:cNvSpPr txBox="1">
            <a:spLocks noChangeArrowheads="1"/>
          </p:cNvSpPr>
          <p:nvPr userDrawn="1"/>
        </p:nvSpPr>
        <p:spPr bwMode="gray">
          <a:xfrm>
            <a:off x="5719819" y="6543081"/>
            <a:ext cx="198772" cy="123111"/>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rgbClr val="1F497D"/>
                </a:solidFill>
                <a:latin typeface="Candara" panose="020E0502030303020204" pitchFamily="34" charset="0"/>
                <a:ea typeface="ＭＳ Ｐゴシック"/>
                <a:cs typeface="Arial" pitchFamily="34" charset="0"/>
              </a:rPr>
              <a:t>- </a:t>
            </a:r>
            <a:fld id="{F47D9766-21FB-48EB-955B-1DFC7B4C9F61}" type="slidenum">
              <a:rPr lang="en-US" sz="800">
                <a:solidFill>
                  <a:prstClr val="white">
                    <a:lumMod val="50000"/>
                  </a:prstClr>
                </a:solidFill>
                <a:latin typeface="Candara" panose="020E0502030303020204" pitchFamily="34" charset="0"/>
              </a:rPr>
              <a:pPr algn="ctr" eaLnBrk="0" hangingPunct="0">
                <a:buClr>
                  <a:srgbClr val="000000"/>
                </a:buClr>
                <a:buSzPct val="65000"/>
                <a:buFont typeface="Wingdings" pitchFamily="2" charset="2"/>
                <a:buNone/>
                <a:defRPr/>
              </a:pPr>
              <a:t>‹#›</a:t>
            </a:fld>
            <a:r>
              <a:rPr lang="en-US" sz="800" dirty="0">
                <a:solidFill>
                  <a:prstClr val="white">
                    <a:lumMod val="50000"/>
                  </a:prstClr>
                </a:solidFill>
                <a:latin typeface="Candara" panose="020E0502030303020204" pitchFamily="34" charset="0"/>
              </a:rPr>
              <a:t> </a:t>
            </a:r>
            <a:r>
              <a:rPr lang="en-US" sz="800" dirty="0">
                <a:solidFill>
                  <a:srgbClr val="1F497D"/>
                </a:solidFill>
                <a:latin typeface="Candara" panose="020E0502030303020204" pitchFamily="34" charset="0"/>
                <a:ea typeface="ＭＳ Ｐゴシック"/>
                <a:cs typeface="Arial" pitchFamily="34" charset="0"/>
              </a:rPr>
              <a:t>-</a:t>
            </a:r>
          </a:p>
        </p:txBody>
      </p:sp>
      <p:cxnSp>
        <p:nvCxnSpPr>
          <p:cNvPr id="22" name="Straight Connector 21"/>
          <p:cNvCxnSpPr/>
          <p:nvPr userDrawn="1"/>
        </p:nvCxnSpPr>
        <p:spPr>
          <a:xfrm>
            <a:off x="4104141" y="6479068"/>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5566207" y="6479068"/>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8969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anose="05000000000000000000" pitchFamily="2" charset="2"/>
        <a:buChar char="Ø"/>
        <a:defRPr sz="1800" b="1" kern="1200">
          <a:solidFill>
            <a:schemeClr val="bg1">
              <a:lumMod val="50000"/>
            </a:schemeClr>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bg1">
              <a:lumMod val="50000"/>
            </a:schemeClr>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Wingdings" panose="05000000000000000000" pitchFamily="2" charset="2"/>
        <a:buChar char="§"/>
        <a:defRPr sz="1200" kern="1200">
          <a:solidFill>
            <a:schemeClr val="bg1">
              <a:lumMod val="50000"/>
            </a:schemeClr>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0" y="-26768"/>
            <a:ext cx="9144000" cy="59142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218861"/>
            <a:ext cx="9144000" cy="1337310"/>
          </a:xfrm>
          <a:prstGeom prst="rect">
            <a:avLst/>
          </a:prstGeom>
        </p:spPr>
      </p:pic>
      <p:sp>
        <p:nvSpPr>
          <p:cNvPr id="10" name="Rectangle 9"/>
          <p:cNvSpPr/>
          <p:nvPr/>
        </p:nvSpPr>
        <p:spPr>
          <a:xfrm>
            <a:off x="0" y="6310489"/>
            <a:ext cx="9144000" cy="54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545898" y="2876198"/>
            <a:ext cx="5992346" cy="646331"/>
          </a:xfrm>
          <a:prstGeom prst="rect">
            <a:avLst/>
          </a:prstGeom>
          <a:noFill/>
        </p:spPr>
        <p:txBody>
          <a:bodyPr wrap="none" rtlCol="0">
            <a:spAutoFit/>
          </a:bodyPr>
          <a:lstStyle/>
          <a:p>
            <a:r>
              <a:rPr lang="en-US" sz="3600" dirty="0">
                <a:solidFill>
                  <a:schemeClr val="bg1"/>
                </a:solidFill>
                <a:latin typeface="Candara" panose="020E0502030303020204" pitchFamily="34" charset="0"/>
              </a:rPr>
              <a:t>BTMU AML </a:t>
            </a:r>
            <a:r>
              <a:rPr lang="en-US" sz="3600" dirty="0" err="1">
                <a:solidFill>
                  <a:schemeClr val="bg1"/>
                </a:solidFill>
                <a:latin typeface="Candara" panose="020E0502030303020204" pitchFamily="34" charset="0"/>
              </a:rPr>
              <a:t>Cleanslate</a:t>
            </a:r>
            <a:r>
              <a:rPr lang="en-US" sz="3600" dirty="0">
                <a:solidFill>
                  <a:schemeClr val="bg1"/>
                </a:solidFill>
                <a:latin typeface="Candara" panose="020E0502030303020204" pitchFamily="34" charset="0"/>
              </a:rPr>
              <a:t> Project</a:t>
            </a:r>
          </a:p>
        </p:txBody>
      </p:sp>
      <p:sp>
        <p:nvSpPr>
          <p:cNvPr id="2" name="Rectangle 1"/>
          <p:cNvSpPr/>
          <p:nvPr/>
        </p:nvSpPr>
        <p:spPr>
          <a:xfrm>
            <a:off x="0" y="-1"/>
            <a:ext cx="9144000" cy="541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9">
            <a:extLst>
              <a:ext uri="{FF2B5EF4-FFF2-40B4-BE49-F238E27FC236}">
                <a16:creationId xmlns:a16="http://schemas.microsoft.com/office/drawing/2014/main" id="{9C3527C4-3579-4F5B-85CA-B773A9A870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9828" y="6074231"/>
            <a:ext cx="2286000" cy="510013"/>
          </a:xfrm>
          <a:prstGeom prst="rect">
            <a:avLst/>
          </a:prstGeom>
        </p:spPr>
      </p:pic>
    </p:spTree>
    <p:extLst>
      <p:ext uri="{BB962C8B-B14F-4D97-AF65-F5344CB8AC3E}">
        <p14:creationId xmlns:p14="http://schemas.microsoft.com/office/powerpoint/2010/main" val="69991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888"/>
          </a:xfrm>
        </p:spPr>
        <p:txBody>
          <a:bodyPr/>
          <a:lstStyle/>
          <a:p>
            <a:pPr algn="ctr" eaLnBrk="1" hangingPunct="1"/>
            <a:r>
              <a:rPr lang="en-US" i="0" dirty="0">
                <a:solidFill>
                  <a:schemeClr val="bg1"/>
                </a:solidFill>
                <a:latin typeface="+mn-lt"/>
              </a:rPr>
              <a:t>Summary</a:t>
            </a:r>
          </a:p>
        </p:txBody>
      </p:sp>
      <p:sp>
        <p:nvSpPr>
          <p:cNvPr id="9" name="Rectangle 8"/>
          <p:cNvSpPr/>
          <p:nvPr/>
        </p:nvSpPr>
        <p:spPr>
          <a:xfrm>
            <a:off x="228600" y="1034930"/>
            <a:ext cx="3124200" cy="2241670"/>
          </a:xfrm>
          <a:prstGeom prst="rect">
            <a:avLst/>
          </a:prstGeom>
          <a:noFill/>
          <a:ln w="19050">
            <a:solidFill>
              <a:srgbClr val="C00000"/>
            </a:solidFill>
          </a:ln>
        </p:spPr>
        <p:style>
          <a:lnRef idx="2">
            <a:schemeClr val="dk1"/>
          </a:lnRef>
          <a:fillRef idx="1">
            <a:schemeClr val="lt1"/>
          </a:fillRef>
          <a:effectRef idx="0">
            <a:schemeClr val="dk1"/>
          </a:effectRef>
          <a:fontRef idx="minor">
            <a:schemeClr val="dk1"/>
          </a:fontRef>
        </p:style>
        <p:txBody>
          <a:bodyPr rtlCol="0" anchor="t"/>
          <a:lstStyle/>
          <a:p>
            <a:pPr marL="171450" indent="-171450">
              <a:spcAft>
                <a:spcPts val="900"/>
              </a:spcAft>
              <a:buFont typeface="Arial" panose="020B0604020202020204" pitchFamily="34" charset="0"/>
              <a:buChar char="•"/>
            </a:pPr>
            <a:r>
              <a:rPr lang="en-US" sz="1000" dirty="0"/>
              <a:t>The key goal of the project is to change and improve the Branch’s (BTMU-NY) BSA/AML Compliance Program by effective and robust monitoring tools and workflow management system.  </a:t>
            </a:r>
          </a:p>
          <a:p>
            <a:pPr marL="171450" indent="-171450">
              <a:spcAft>
                <a:spcPts val="600"/>
              </a:spcAft>
              <a:buFont typeface="Arial" panose="020B0604020202020204" pitchFamily="34" charset="0"/>
              <a:buChar char="•"/>
            </a:pPr>
            <a:r>
              <a:rPr lang="en-US" sz="1000" dirty="0"/>
              <a:t>The following are the business drivers for the project:</a:t>
            </a:r>
          </a:p>
          <a:p>
            <a:pPr marL="628650" lvl="1" indent="-171450">
              <a:spcAft>
                <a:spcPts val="600"/>
              </a:spcAft>
              <a:buFont typeface="Arial" panose="020B0604020202020204" pitchFamily="34" charset="0"/>
              <a:buChar char="‒"/>
            </a:pPr>
            <a:r>
              <a:rPr lang="en-US" sz="1000" dirty="0"/>
              <a:t>System reaching end of life</a:t>
            </a:r>
          </a:p>
          <a:p>
            <a:pPr marL="628650" lvl="1" indent="-171450">
              <a:spcAft>
                <a:spcPts val="600"/>
              </a:spcAft>
              <a:buFont typeface="Arial" panose="020B0604020202020204" pitchFamily="34" charset="0"/>
              <a:buChar char="‒"/>
            </a:pPr>
            <a:r>
              <a:rPr lang="en-US" sz="1000" dirty="0"/>
              <a:t>External Audit Remediation</a:t>
            </a:r>
          </a:p>
          <a:p>
            <a:pPr marL="628650" lvl="1" indent="-171450">
              <a:spcAft>
                <a:spcPts val="600"/>
              </a:spcAft>
              <a:buFont typeface="Arial" panose="020B0604020202020204" pitchFamily="34" charset="0"/>
              <a:buChar char="‒"/>
            </a:pPr>
            <a:r>
              <a:rPr lang="en-US" sz="1000" dirty="0"/>
              <a:t>Gain Process and Operational Efficiency</a:t>
            </a:r>
          </a:p>
          <a:p>
            <a:pPr marL="628650" lvl="1" indent="-171450">
              <a:spcAft>
                <a:spcPts val="600"/>
              </a:spcAft>
              <a:buFont typeface="Arial" panose="020B0604020202020204" pitchFamily="34" charset="0"/>
              <a:buChar char="‒"/>
            </a:pPr>
            <a:r>
              <a:rPr lang="en-US" sz="1000" dirty="0"/>
              <a:t>Better Analytics</a:t>
            </a:r>
          </a:p>
        </p:txBody>
      </p:sp>
      <p:sp>
        <p:nvSpPr>
          <p:cNvPr id="10" name="Rectangle 9"/>
          <p:cNvSpPr/>
          <p:nvPr/>
        </p:nvSpPr>
        <p:spPr>
          <a:xfrm>
            <a:off x="228600" y="762000"/>
            <a:ext cx="3124200"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Objective</a:t>
            </a:r>
          </a:p>
        </p:txBody>
      </p:sp>
      <p:sp>
        <p:nvSpPr>
          <p:cNvPr id="7" name="Rectangle 6"/>
          <p:cNvSpPr/>
          <p:nvPr/>
        </p:nvSpPr>
        <p:spPr>
          <a:xfrm>
            <a:off x="3442087" y="3657600"/>
            <a:ext cx="5466423" cy="2618599"/>
          </a:xfrm>
          <a:prstGeom prst="rect">
            <a:avLst/>
          </a:prstGeom>
          <a:noFill/>
          <a:ln w="19050">
            <a:solidFill>
              <a:srgbClr val="C00000"/>
            </a:solidFill>
          </a:ln>
        </p:spPr>
        <p:style>
          <a:lnRef idx="2">
            <a:schemeClr val="dk1"/>
          </a:lnRef>
          <a:fillRef idx="1">
            <a:schemeClr val="lt1"/>
          </a:fillRef>
          <a:effectRef idx="0">
            <a:schemeClr val="dk1"/>
          </a:effectRef>
          <a:fontRef idx="minor">
            <a:schemeClr val="dk1"/>
          </a:fontRef>
        </p:style>
        <p:txBody>
          <a:bodyPr rtlCol="0" anchor="t"/>
          <a:lstStyle/>
          <a:p>
            <a:pPr>
              <a:spcBef>
                <a:spcPts val="600"/>
              </a:spcBef>
            </a:pPr>
            <a:endParaRPr lang="en-US" sz="1000" dirty="0"/>
          </a:p>
        </p:txBody>
      </p:sp>
      <p:sp>
        <p:nvSpPr>
          <p:cNvPr id="8" name="Rectangle 7"/>
          <p:cNvSpPr/>
          <p:nvPr/>
        </p:nvSpPr>
        <p:spPr>
          <a:xfrm>
            <a:off x="3442088" y="3352800"/>
            <a:ext cx="5466423"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Product Coverage</a:t>
            </a:r>
          </a:p>
        </p:txBody>
      </p:sp>
      <p:graphicFrame>
        <p:nvGraphicFramePr>
          <p:cNvPr id="11" name="Table 1"/>
          <p:cNvGraphicFramePr>
            <a:graphicFrameLocks noGrp="1"/>
          </p:cNvGraphicFramePr>
          <p:nvPr>
            <p:extLst>
              <p:ext uri="{D42A27DB-BD31-4B8C-83A1-F6EECF244321}">
                <p14:modId xmlns:p14="http://schemas.microsoft.com/office/powerpoint/2010/main" val="3615547787"/>
              </p:ext>
            </p:extLst>
          </p:nvPr>
        </p:nvGraphicFramePr>
        <p:xfrm>
          <a:off x="3581400" y="3733800"/>
          <a:ext cx="5181600" cy="2445390"/>
        </p:xfrm>
        <a:graphic>
          <a:graphicData uri="http://schemas.openxmlformats.org/drawingml/2006/table">
            <a:tbl>
              <a:tblPr firstRow="1" bandRow="1">
                <a:tableStyleId>{1FECB4D8-DB02-4DC6-A0A2-4F2EBAE1DC90}</a:tableStyleId>
              </a:tblPr>
              <a:tblGrid>
                <a:gridCol w="1219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304800">
                <a:tc>
                  <a:txBody>
                    <a:bodyPr/>
                    <a:lstStyle>
                      <a:lvl1pPr marL="0" algn="l" defTabSz="1018824" rtl="0" eaLnBrk="1" latinLnBrk="0" hangingPunct="1">
                        <a:defRPr sz="2000" b="1" kern="1200">
                          <a:solidFill>
                            <a:schemeClr val="lt1"/>
                          </a:solidFill>
                          <a:latin typeface="Arial"/>
                          <a:ea typeface=""/>
                          <a:cs typeface=""/>
                        </a:defRPr>
                      </a:lvl1pPr>
                      <a:lvl2pPr marL="509412" algn="l" defTabSz="1018824" rtl="0" eaLnBrk="1" latinLnBrk="0" hangingPunct="1">
                        <a:defRPr sz="2000" b="1" kern="1200">
                          <a:solidFill>
                            <a:schemeClr val="lt1"/>
                          </a:solidFill>
                          <a:latin typeface="Arial"/>
                          <a:ea typeface=""/>
                          <a:cs typeface=""/>
                        </a:defRPr>
                      </a:lvl2pPr>
                      <a:lvl3pPr marL="1018824" algn="l" defTabSz="1018824" rtl="0" eaLnBrk="1" latinLnBrk="0" hangingPunct="1">
                        <a:defRPr sz="2000" b="1" kern="1200">
                          <a:solidFill>
                            <a:schemeClr val="lt1"/>
                          </a:solidFill>
                          <a:latin typeface="Arial"/>
                          <a:ea typeface=""/>
                          <a:cs typeface=""/>
                        </a:defRPr>
                      </a:lvl3pPr>
                      <a:lvl4pPr marL="1528237" algn="l" defTabSz="1018824" rtl="0" eaLnBrk="1" latinLnBrk="0" hangingPunct="1">
                        <a:defRPr sz="2000" b="1" kern="1200">
                          <a:solidFill>
                            <a:schemeClr val="lt1"/>
                          </a:solidFill>
                          <a:latin typeface="Arial"/>
                          <a:ea typeface=""/>
                          <a:cs typeface=""/>
                        </a:defRPr>
                      </a:lvl4pPr>
                      <a:lvl5pPr marL="2037649" algn="l" defTabSz="1018824" rtl="0" eaLnBrk="1" latinLnBrk="0" hangingPunct="1">
                        <a:defRPr sz="2000" b="1" kern="1200">
                          <a:solidFill>
                            <a:schemeClr val="lt1"/>
                          </a:solidFill>
                          <a:latin typeface="Arial"/>
                          <a:ea typeface=""/>
                          <a:cs typeface=""/>
                        </a:defRPr>
                      </a:lvl5pPr>
                      <a:lvl6pPr marL="2547061" algn="l" defTabSz="1018824" rtl="0" eaLnBrk="1" latinLnBrk="0" hangingPunct="1">
                        <a:defRPr sz="2000" b="1" kern="1200">
                          <a:solidFill>
                            <a:schemeClr val="lt1"/>
                          </a:solidFill>
                          <a:latin typeface="Arial"/>
                          <a:ea typeface=""/>
                          <a:cs typeface=""/>
                        </a:defRPr>
                      </a:lvl6pPr>
                      <a:lvl7pPr marL="3056473" algn="l" defTabSz="1018824" rtl="0" eaLnBrk="1" latinLnBrk="0" hangingPunct="1">
                        <a:defRPr sz="2000" b="1" kern="1200">
                          <a:solidFill>
                            <a:schemeClr val="lt1"/>
                          </a:solidFill>
                          <a:latin typeface="Arial"/>
                          <a:ea typeface=""/>
                          <a:cs typeface=""/>
                        </a:defRPr>
                      </a:lvl7pPr>
                      <a:lvl8pPr marL="3565886" algn="l" defTabSz="1018824" rtl="0" eaLnBrk="1" latinLnBrk="0" hangingPunct="1">
                        <a:defRPr sz="2000" b="1" kern="1200">
                          <a:solidFill>
                            <a:schemeClr val="lt1"/>
                          </a:solidFill>
                          <a:latin typeface="Arial"/>
                          <a:ea typeface=""/>
                          <a:cs typeface=""/>
                        </a:defRPr>
                      </a:lvl8pPr>
                      <a:lvl9pPr marL="4075298" algn="l" defTabSz="1018824" rtl="0" eaLnBrk="1" latinLnBrk="0" hangingPunct="1">
                        <a:defRPr sz="2000" b="1" kern="1200">
                          <a:solidFill>
                            <a:schemeClr val="lt1"/>
                          </a:solidFill>
                          <a:latin typeface="Arial"/>
                          <a:ea typeface=""/>
                          <a:cs typeface=""/>
                        </a:defRPr>
                      </a:lvl9pPr>
                    </a:lstStyle>
                    <a:p>
                      <a:pPr algn="l"/>
                      <a:r>
                        <a:rPr lang="en-US" sz="800" dirty="0">
                          <a:solidFill>
                            <a:schemeClr val="tx1"/>
                          </a:solidFill>
                        </a:rPr>
                        <a:t>Product</a:t>
                      </a:r>
                      <a:r>
                        <a:rPr lang="en-US" sz="800" baseline="0" dirty="0">
                          <a:solidFill>
                            <a:schemeClr val="tx1"/>
                          </a:solidFill>
                        </a:rPr>
                        <a:t> Types</a:t>
                      </a:r>
                      <a:endParaRPr lang="en-US" sz="800" dirty="0">
                        <a:solidFill>
                          <a:schemeClr val="tx1"/>
                        </a:solidFill>
                        <a:latin typeface="Arial" pitchFamily="34" charset="0"/>
                        <a:cs typeface="Arial"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l"/>
                      <a:r>
                        <a:rPr lang="en-US" sz="800" dirty="0">
                          <a:solidFill>
                            <a:schemeClr val="tx1"/>
                          </a:solidFill>
                          <a:latin typeface="Arial" pitchFamily="34" charset="0"/>
                          <a:cs typeface="Arial" pitchFamily="34" charset="0"/>
                        </a:rPr>
                        <a:t>Entity</a:t>
                      </a:r>
                      <a:r>
                        <a:rPr lang="en-US" sz="800" baseline="0" dirty="0">
                          <a:solidFill>
                            <a:schemeClr val="tx1"/>
                          </a:solidFill>
                          <a:latin typeface="Arial" pitchFamily="34" charset="0"/>
                          <a:cs typeface="Arial" pitchFamily="34" charset="0"/>
                        </a:rPr>
                        <a:t> Type</a:t>
                      </a:r>
                      <a:endParaRPr lang="en-US" sz="800" dirty="0">
                        <a:solidFill>
                          <a:schemeClr val="tx1"/>
                        </a:solidFill>
                        <a:latin typeface="Arial" pitchFamily="34" charset="0"/>
                        <a:cs typeface="Arial"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lvl1pPr marL="0" algn="l" defTabSz="1018824" rtl="0" eaLnBrk="1" latinLnBrk="0" hangingPunct="1">
                        <a:defRPr sz="2000" b="1" kern="1200">
                          <a:solidFill>
                            <a:schemeClr val="lt1"/>
                          </a:solidFill>
                          <a:latin typeface="Arial"/>
                          <a:ea typeface=""/>
                          <a:cs typeface=""/>
                        </a:defRPr>
                      </a:lvl1pPr>
                      <a:lvl2pPr marL="509412" algn="l" defTabSz="1018824" rtl="0" eaLnBrk="1" latinLnBrk="0" hangingPunct="1">
                        <a:defRPr sz="2000" b="1" kern="1200">
                          <a:solidFill>
                            <a:schemeClr val="lt1"/>
                          </a:solidFill>
                          <a:latin typeface="Arial"/>
                          <a:ea typeface=""/>
                          <a:cs typeface=""/>
                        </a:defRPr>
                      </a:lvl2pPr>
                      <a:lvl3pPr marL="1018824" algn="l" defTabSz="1018824" rtl="0" eaLnBrk="1" latinLnBrk="0" hangingPunct="1">
                        <a:defRPr sz="2000" b="1" kern="1200">
                          <a:solidFill>
                            <a:schemeClr val="lt1"/>
                          </a:solidFill>
                          <a:latin typeface="Arial"/>
                          <a:ea typeface=""/>
                          <a:cs typeface=""/>
                        </a:defRPr>
                      </a:lvl3pPr>
                      <a:lvl4pPr marL="1528237" algn="l" defTabSz="1018824" rtl="0" eaLnBrk="1" latinLnBrk="0" hangingPunct="1">
                        <a:defRPr sz="2000" b="1" kern="1200">
                          <a:solidFill>
                            <a:schemeClr val="lt1"/>
                          </a:solidFill>
                          <a:latin typeface="Arial"/>
                          <a:ea typeface=""/>
                          <a:cs typeface=""/>
                        </a:defRPr>
                      </a:lvl4pPr>
                      <a:lvl5pPr marL="2037649" algn="l" defTabSz="1018824" rtl="0" eaLnBrk="1" latinLnBrk="0" hangingPunct="1">
                        <a:defRPr sz="2000" b="1" kern="1200">
                          <a:solidFill>
                            <a:schemeClr val="lt1"/>
                          </a:solidFill>
                          <a:latin typeface="Arial"/>
                          <a:ea typeface=""/>
                          <a:cs typeface=""/>
                        </a:defRPr>
                      </a:lvl5pPr>
                      <a:lvl6pPr marL="2547061" algn="l" defTabSz="1018824" rtl="0" eaLnBrk="1" latinLnBrk="0" hangingPunct="1">
                        <a:defRPr sz="2000" b="1" kern="1200">
                          <a:solidFill>
                            <a:schemeClr val="lt1"/>
                          </a:solidFill>
                          <a:latin typeface="Arial"/>
                          <a:ea typeface=""/>
                          <a:cs typeface=""/>
                        </a:defRPr>
                      </a:lvl6pPr>
                      <a:lvl7pPr marL="3056473" algn="l" defTabSz="1018824" rtl="0" eaLnBrk="1" latinLnBrk="0" hangingPunct="1">
                        <a:defRPr sz="2000" b="1" kern="1200">
                          <a:solidFill>
                            <a:schemeClr val="lt1"/>
                          </a:solidFill>
                          <a:latin typeface="Arial"/>
                          <a:ea typeface=""/>
                          <a:cs typeface=""/>
                        </a:defRPr>
                      </a:lvl7pPr>
                      <a:lvl8pPr marL="3565886" algn="l" defTabSz="1018824" rtl="0" eaLnBrk="1" latinLnBrk="0" hangingPunct="1">
                        <a:defRPr sz="2000" b="1" kern="1200">
                          <a:solidFill>
                            <a:schemeClr val="lt1"/>
                          </a:solidFill>
                          <a:latin typeface="Arial"/>
                          <a:ea typeface=""/>
                          <a:cs typeface=""/>
                        </a:defRPr>
                      </a:lvl8pPr>
                      <a:lvl9pPr marL="4075298" algn="l" defTabSz="1018824" rtl="0" eaLnBrk="1" latinLnBrk="0" hangingPunct="1">
                        <a:defRPr sz="2000" b="1" kern="1200">
                          <a:solidFill>
                            <a:schemeClr val="lt1"/>
                          </a:solidFill>
                          <a:latin typeface="Arial"/>
                          <a:ea typeface=""/>
                          <a:cs typeface=""/>
                        </a:defRPr>
                      </a:lvl9pPr>
                    </a:lstStyle>
                    <a:p>
                      <a:pPr algn="l"/>
                      <a:r>
                        <a:rPr lang="en-US" sz="800" dirty="0">
                          <a:solidFill>
                            <a:schemeClr val="tx1"/>
                          </a:solidFill>
                        </a:rPr>
                        <a:t>Source System (GSI ID)</a:t>
                      </a:r>
                      <a:endParaRPr lang="en-US" sz="800" dirty="0">
                        <a:solidFill>
                          <a:schemeClr val="tx1"/>
                        </a:solidFill>
                        <a:latin typeface="Arial" pitchFamily="34" charset="0"/>
                        <a:cs typeface="Arial"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lvl1pPr marL="0" algn="l" defTabSz="1018824" rtl="0" eaLnBrk="1" latinLnBrk="0" hangingPunct="1">
                        <a:defRPr sz="2000" b="1" kern="1200">
                          <a:solidFill>
                            <a:schemeClr val="lt1"/>
                          </a:solidFill>
                          <a:latin typeface="Arial"/>
                          <a:ea typeface=""/>
                          <a:cs typeface=""/>
                        </a:defRPr>
                      </a:lvl1pPr>
                      <a:lvl2pPr marL="509412" algn="l" defTabSz="1018824" rtl="0" eaLnBrk="1" latinLnBrk="0" hangingPunct="1">
                        <a:defRPr sz="2000" b="1" kern="1200">
                          <a:solidFill>
                            <a:schemeClr val="lt1"/>
                          </a:solidFill>
                          <a:latin typeface="Arial"/>
                          <a:ea typeface=""/>
                          <a:cs typeface=""/>
                        </a:defRPr>
                      </a:lvl2pPr>
                      <a:lvl3pPr marL="1018824" algn="l" defTabSz="1018824" rtl="0" eaLnBrk="1" latinLnBrk="0" hangingPunct="1">
                        <a:defRPr sz="2000" b="1" kern="1200">
                          <a:solidFill>
                            <a:schemeClr val="lt1"/>
                          </a:solidFill>
                          <a:latin typeface="Arial"/>
                          <a:ea typeface=""/>
                          <a:cs typeface=""/>
                        </a:defRPr>
                      </a:lvl3pPr>
                      <a:lvl4pPr marL="1528237" algn="l" defTabSz="1018824" rtl="0" eaLnBrk="1" latinLnBrk="0" hangingPunct="1">
                        <a:defRPr sz="2000" b="1" kern="1200">
                          <a:solidFill>
                            <a:schemeClr val="lt1"/>
                          </a:solidFill>
                          <a:latin typeface="Arial"/>
                          <a:ea typeface=""/>
                          <a:cs typeface=""/>
                        </a:defRPr>
                      </a:lvl4pPr>
                      <a:lvl5pPr marL="2037649" algn="l" defTabSz="1018824" rtl="0" eaLnBrk="1" latinLnBrk="0" hangingPunct="1">
                        <a:defRPr sz="2000" b="1" kern="1200">
                          <a:solidFill>
                            <a:schemeClr val="lt1"/>
                          </a:solidFill>
                          <a:latin typeface="Arial"/>
                          <a:ea typeface=""/>
                          <a:cs typeface=""/>
                        </a:defRPr>
                      </a:lvl5pPr>
                      <a:lvl6pPr marL="2547061" algn="l" defTabSz="1018824" rtl="0" eaLnBrk="1" latinLnBrk="0" hangingPunct="1">
                        <a:defRPr sz="2000" b="1" kern="1200">
                          <a:solidFill>
                            <a:schemeClr val="lt1"/>
                          </a:solidFill>
                          <a:latin typeface="Arial"/>
                          <a:ea typeface=""/>
                          <a:cs typeface=""/>
                        </a:defRPr>
                      </a:lvl6pPr>
                      <a:lvl7pPr marL="3056473" algn="l" defTabSz="1018824" rtl="0" eaLnBrk="1" latinLnBrk="0" hangingPunct="1">
                        <a:defRPr sz="2000" b="1" kern="1200">
                          <a:solidFill>
                            <a:schemeClr val="lt1"/>
                          </a:solidFill>
                          <a:latin typeface="Arial"/>
                          <a:ea typeface=""/>
                          <a:cs typeface=""/>
                        </a:defRPr>
                      </a:lvl7pPr>
                      <a:lvl8pPr marL="3565886" algn="l" defTabSz="1018824" rtl="0" eaLnBrk="1" latinLnBrk="0" hangingPunct="1">
                        <a:defRPr sz="2000" b="1" kern="1200">
                          <a:solidFill>
                            <a:schemeClr val="lt1"/>
                          </a:solidFill>
                          <a:latin typeface="Arial"/>
                          <a:ea typeface=""/>
                          <a:cs typeface=""/>
                        </a:defRPr>
                      </a:lvl8pPr>
                      <a:lvl9pPr marL="4075298" algn="l" defTabSz="1018824" rtl="0" eaLnBrk="1" latinLnBrk="0" hangingPunct="1">
                        <a:defRPr sz="2000" b="1" kern="1200">
                          <a:solidFill>
                            <a:schemeClr val="lt1"/>
                          </a:solidFill>
                          <a:latin typeface="Arial"/>
                          <a:ea typeface=""/>
                          <a:cs typeface=""/>
                        </a:defRPr>
                      </a:lvl9pPr>
                    </a:lstStyle>
                    <a:p>
                      <a:pPr algn="l"/>
                      <a:r>
                        <a:rPr lang="en-US" sz="800" dirty="0">
                          <a:solidFill>
                            <a:schemeClr val="tx1"/>
                          </a:solidFill>
                        </a:rPr>
                        <a:t>314a</a:t>
                      </a:r>
                      <a:r>
                        <a:rPr lang="en-US" sz="800" baseline="0" dirty="0">
                          <a:solidFill>
                            <a:schemeClr val="tx1"/>
                          </a:solidFill>
                        </a:rPr>
                        <a:t> Screening</a:t>
                      </a:r>
                      <a:endParaRPr lang="en-US" sz="800" dirty="0">
                        <a:solidFill>
                          <a:schemeClr val="tx1"/>
                        </a:solidFill>
                        <a:latin typeface="Arial" pitchFamily="34" charset="0"/>
                        <a:cs typeface="Arial"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lvl1pPr marL="0" algn="l" defTabSz="1018824" rtl="0" eaLnBrk="1" latinLnBrk="0" hangingPunct="1">
                        <a:defRPr sz="2000" b="1" kern="1200">
                          <a:solidFill>
                            <a:schemeClr val="lt1"/>
                          </a:solidFill>
                          <a:latin typeface="Arial"/>
                          <a:ea typeface=""/>
                          <a:cs typeface=""/>
                        </a:defRPr>
                      </a:lvl1pPr>
                      <a:lvl2pPr marL="509412" algn="l" defTabSz="1018824" rtl="0" eaLnBrk="1" latinLnBrk="0" hangingPunct="1">
                        <a:defRPr sz="2000" b="1" kern="1200">
                          <a:solidFill>
                            <a:schemeClr val="lt1"/>
                          </a:solidFill>
                          <a:latin typeface="Arial"/>
                          <a:ea typeface=""/>
                          <a:cs typeface=""/>
                        </a:defRPr>
                      </a:lvl2pPr>
                      <a:lvl3pPr marL="1018824" algn="l" defTabSz="1018824" rtl="0" eaLnBrk="1" latinLnBrk="0" hangingPunct="1">
                        <a:defRPr sz="2000" b="1" kern="1200">
                          <a:solidFill>
                            <a:schemeClr val="lt1"/>
                          </a:solidFill>
                          <a:latin typeface="Arial"/>
                          <a:ea typeface=""/>
                          <a:cs typeface=""/>
                        </a:defRPr>
                      </a:lvl3pPr>
                      <a:lvl4pPr marL="1528237" algn="l" defTabSz="1018824" rtl="0" eaLnBrk="1" latinLnBrk="0" hangingPunct="1">
                        <a:defRPr sz="2000" b="1" kern="1200">
                          <a:solidFill>
                            <a:schemeClr val="lt1"/>
                          </a:solidFill>
                          <a:latin typeface="Arial"/>
                          <a:ea typeface=""/>
                          <a:cs typeface=""/>
                        </a:defRPr>
                      </a:lvl4pPr>
                      <a:lvl5pPr marL="2037649" algn="l" defTabSz="1018824" rtl="0" eaLnBrk="1" latinLnBrk="0" hangingPunct="1">
                        <a:defRPr sz="2000" b="1" kern="1200">
                          <a:solidFill>
                            <a:schemeClr val="lt1"/>
                          </a:solidFill>
                          <a:latin typeface="Arial"/>
                          <a:ea typeface=""/>
                          <a:cs typeface=""/>
                        </a:defRPr>
                      </a:lvl5pPr>
                      <a:lvl6pPr marL="2547061" algn="l" defTabSz="1018824" rtl="0" eaLnBrk="1" latinLnBrk="0" hangingPunct="1">
                        <a:defRPr sz="2000" b="1" kern="1200">
                          <a:solidFill>
                            <a:schemeClr val="lt1"/>
                          </a:solidFill>
                          <a:latin typeface="Arial"/>
                          <a:ea typeface=""/>
                          <a:cs typeface=""/>
                        </a:defRPr>
                      </a:lvl6pPr>
                      <a:lvl7pPr marL="3056473" algn="l" defTabSz="1018824" rtl="0" eaLnBrk="1" latinLnBrk="0" hangingPunct="1">
                        <a:defRPr sz="2000" b="1" kern="1200">
                          <a:solidFill>
                            <a:schemeClr val="lt1"/>
                          </a:solidFill>
                          <a:latin typeface="Arial"/>
                          <a:ea typeface=""/>
                          <a:cs typeface=""/>
                        </a:defRPr>
                      </a:lvl7pPr>
                      <a:lvl8pPr marL="3565886" algn="l" defTabSz="1018824" rtl="0" eaLnBrk="1" latinLnBrk="0" hangingPunct="1">
                        <a:defRPr sz="2000" b="1" kern="1200">
                          <a:solidFill>
                            <a:schemeClr val="lt1"/>
                          </a:solidFill>
                          <a:latin typeface="Arial"/>
                          <a:ea typeface=""/>
                          <a:cs typeface=""/>
                        </a:defRPr>
                      </a:lvl8pPr>
                      <a:lvl9pPr marL="4075298" algn="l" defTabSz="1018824" rtl="0" eaLnBrk="1" latinLnBrk="0" hangingPunct="1">
                        <a:defRPr sz="2000" b="1" kern="1200">
                          <a:solidFill>
                            <a:schemeClr val="lt1"/>
                          </a:solidFill>
                          <a:latin typeface="Arial"/>
                          <a:ea typeface=""/>
                          <a:cs typeface=""/>
                        </a:defRPr>
                      </a:lvl9pPr>
                    </a:lstStyle>
                    <a:p>
                      <a:pPr algn="l"/>
                      <a:r>
                        <a:rPr lang="en-US" sz="800" dirty="0">
                          <a:solidFill>
                            <a:schemeClr val="tx1"/>
                          </a:solidFill>
                        </a:rPr>
                        <a:t>Transaction Monitoring</a:t>
                      </a:r>
                      <a:endParaRPr lang="en-US" sz="800" dirty="0">
                        <a:solidFill>
                          <a:schemeClr val="tx1"/>
                        </a:solidFill>
                        <a:latin typeface="Arial" pitchFamily="34" charset="0"/>
                        <a:cs typeface="Arial"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8326">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r>
                        <a:rPr lang="en-US" sz="800" dirty="0">
                          <a:latin typeface="Arial"/>
                          <a:cs typeface="Arial" pitchFamily="34" charset="0"/>
                        </a:rPr>
                        <a:t>Deposits</a:t>
                      </a:r>
                      <a:r>
                        <a:rPr lang="en-US" sz="800" baseline="0" dirty="0">
                          <a:latin typeface="Arial"/>
                          <a:cs typeface="Arial" pitchFamily="34" charset="0"/>
                        </a:rPr>
                        <a:t>, </a:t>
                      </a:r>
                      <a:r>
                        <a:rPr lang="en-US" sz="800" baseline="0" dirty="0">
                          <a:solidFill>
                            <a:srgbClr val="FF0000"/>
                          </a:solidFill>
                          <a:latin typeface="Arial"/>
                          <a:cs typeface="Arial" pitchFamily="34" charset="0"/>
                        </a:rPr>
                        <a:t>Loan Deals</a:t>
                      </a:r>
                      <a:endParaRPr lang="en-US" sz="800" dirty="0">
                        <a:solidFill>
                          <a:srgbClr val="FF0000"/>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Account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l"/>
                      <a:r>
                        <a:rPr lang="en-US" sz="800" dirty="0"/>
                        <a:t>OVS - MIS (Y05)</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88326">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r>
                        <a:rPr lang="en-US" sz="800" dirty="0"/>
                        <a:t>Deposits ,Loans</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Transaction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l"/>
                      <a:r>
                        <a:rPr lang="en-US" sz="800" dirty="0"/>
                        <a:t>OVS - MIS (Y05)</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95940">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r>
                        <a:rPr lang="en-US" sz="800" dirty="0"/>
                        <a:t>Checks (lock box)</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Transaction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l"/>
                      <a:r>
                        <a:rPr lang="en-US" sz="800" dirty="0"/>
                        <a:t>BNY</a:t>
                      </a:r>
                      <a:r>
                        <a:rPr lang="en-US" sz="800" baseline="0" dirty="0"/>
                        <a:t> Mellon (Q18)</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95940">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algn="l" defTabSz="1018824" rtl="0" eaLnBrk="1" latinLnBrk="0" hangingPunct="1"/>
                      <a:r>
                        <a:rPr lang="en-US" sz="800" kern="1200" dirty="0">
                          <a:solidFill>
                            <a:schemeClr val="dk1"/>
                          </a:solidFill>
                          <a:latin typeface="Arial" pitchFamily="34" charset="0"/>
                          <a:ea typeface=""/>
                          <a:cs typeface="Arial" pitchFamily="34" charset="0"/>
                        </a:rPr>
                        <a:t>Payments(Completed , </a:t>
                      </a:r>
                      <a:r>
                        <a:rPr lang="en-US" sz="800" kern="1200" baseline="0" dirty="0">
                          <a:solidFill>
                            <a:schemeClr val="dk1"/>
                          </a:solidFill>
                          <a:latin typeface="Arial" pitchFamily="34" charset="0"/>
                          <a:ea typeface=""/>
                          <a:cs typeface="Arial" pitchFamily="34" charset="0"/>
                        </a:rPr>
                        <a:t>Cancelled)</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1018824" rtl="0" eaLnBrk="1" latinLnBrk="0" hangingPunct="1"/>
                      <a:r>
                        <a:rPr lang="en-US" sz="800" kern="1200" dirty="0">
                          <a:solidFill>
                            <a:schemeClr val="dk1"/>
                          </a:solidFill>
                          <a:latin typeface="Arial" pitchFamily="34" charset="0"/>
                          <a:ea typeface=""/>
                          <a:cs typeface="Arial" pitchFamily="34" charset="0"/>
                        </a:rPr>
                        <a:t>Wire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algn="l" defTabSz="1018824" rtl="0" eaLnBrk="1" latinLnBrk="0" hangingPunct="1"/>
                      <a:r>
                        <a:rPr lang="en-US" sz="800" kern="1200" dirty="0"/>
                        <a:t>Global</a:t>
                      </a:r>
                      <a:r>
                        <a:rPr lang="en-US" sz="800" kern="1200" baseline="0" dirty="0"/>
                        <a:t> PayPlus (GPP)</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ctr" defTabSz="1018824" rtl="0" eaLnBrk="1" fontAlgn="auto" latinLnBrk="0" hangingPunct="1">
                        <a:lnSpc>
                          <a:spcPct val="100000"/>
                        </a:lnSpc>
                        <a:spcBef>
                          <a:spcPts val="0"/>
                        </a:spcBef>
                        <a:spcAft>
                          <a:spcPts val="0"/>
                        </a:spcAft>
                        <a:buClrTx/>
                        <a:buSzTx/>
                        <a:buFontTx/>
                        <a:buNone/>
                        <a:tabLst/>
                        <a:defRPr/>
                      </a:pPr>
                      <a:r>
                        <a:rPr lang="en-US" sz="800" kern="1200" dirty="0"/>
                        <a:t>√</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ctr" defTabSz="1018824" rtl="0" eaLnBrk="1" fontAlgn="auto" latinLnBrk="0" hangingPunct="1">
                        <a:lnSpc>
                          <a:spcPct val="100000"/>
                        </a:lnSpc>
                        <a:spcBef>
                          <a:spcPts val="0"/>
                        </a:spcBef>
                        <a:spcAft>
                          <a:spcPts val="0"/>
                        </a:spcAft>
                        <a:buClrTx/>
                        <a:buSzTx/>
                        <a:buFontTx/>
                        <a:buNone/>
                        <a:tabLst/>
                        <a:defRPr/>
                      </a:pPr>
                      <a:r>
                        <a:rPr lang="en-US" sz="800" kern="1200" dirty="0"/>
                        <a:t>√</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88326">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800" kern="1200" dirty="0"/>
                        <a:t>Payments</a:t>
                      </a:r>
                      <a:r>
                        <a:rPr lang="en-US" sz="800" kern="1200" baseline="0" dirty="0"/>
                        <a:t> </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Arial" pitchFamily="34" charset="0"/>
                          <a:ea typeface=""/>
                          <a:cs typeface="Arial" pitchFamily="34" charset="0"/>
                        </a:rPr>
                        <a:t>Wire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l"/>
                      <a:r>
                        <a:rPr lang="en-US" sz="800" dirty="0">
                          <a:latin typeface="Arial" pitchFamily="34" charset="0"/>
                          <a:cs typeface="Arial" pitchFamily="34" charset="0"/>
                        </a:rPr>
                        <a:t>BESS (Q12)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ctr" defTabSz="1018824" rtl="0" eaLnBrk="1" fontAlgn="auto" latinLnBrk="0" hangingPunct="1">
                        <a:lnSpc>
                          <a:spcPct val="100000"/>
                        </a:lnSpc>
                        <a:spcBef>
                          <a:spcPts val="0"/>
                        </a:spcBef>
                        <a:spcAft>
                          <a:spcPts val="0"/>
                        </a:spcAft>
                        <a:buClrTx/>
                        <a:buSzTx/>
                        <a:buFontTx/>
                        <a:buNone/>
                        <a:tabLst/>
                        <a:defRPr/>
                      </a:pPr>
                      <a:r>
                        <a:rPr lang="en-US" sz="800" kern="1200" dirty="0"/>
                        <a:t>√</a:t>
                      </a:r>
                      <a:endParaRPr lang="en-US" sz="800" kern="1200" dirty="0">
                        <a:solidFill>
                          <a:schemeClr val="dk1"/>
                        </a:solidFill>
                        <a:latin typeface="Arial" pitchFamily="34" charset="0"/>
                        <a:ea typeface=""/>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88326">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r>
                        <a:rPr lang="en-US" sz="800" dirty="0"/>
                        <a:t>Payments</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ACH – IAT and Domestic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l"/>
                      <a:r>
                        <a:rPr lang="en-US" sz="800" dirty="0"/>
                        <a:t>AMH (Y73)</a:t>
                      </a:r>
                      <a:endParaRPr lang="en-US" sz="8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algn="ct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018824" rtl="0" eaLnBrk="1" latinLnBrk="0" hangingPunct="1">
                        <a:defRPr sz="2000" kern="1200">
                          <a:solidFill>
                            <a:schemeClr val="dk1"/>
                          </a:solidFill>
                          <a:latin typeface="Arial"/>
                          <a:ea typeface=""/>
                          <a:cs typeface=""/>
                        </a:defRPr>
                      </a:lvl1pPr>
                      <a:lvl2pPr marL="509412" algn="l" defTabSz="1018824" rtl="0" eaLnBrk="1" latinLnBrk="0" hangingPunct="1">
                        <a:defRPr sz="2000" kern="1200">
                          <a:solidFill>
                            <a:schemeClr val="dk1"/>
                          </a:solidFill>
                          <a:latin typeface="Arial"/>
                          <a:ea typeface=""/>
                          <a:cs typeface=""/>
                        </a:defRPr>
                      </a:lvl2pPr>
                      <a:lvl3pPr marL="1018824" algn="l" defTabSz="1018824" rtl="0" eaLnBrk="1" latinLnBrk="0" hangingPunct="1">
                        <a:defRPr sz="2000" kern="1200">
                          <a:solidFill>
                            <a:schemeClr val="dk1"/>
                          </a:solidFill>
                          <a:latin typeface="Arial"/>
                          <a:ea typeface=""/>
                          <a:cs typeface=""/>
                        </a:defRPr>
                      </a:lvl3pPr>
                      <a:lvl4pPr marL="1528237" algn="l" defTabSz="1018824" rtl="0" eaLnBrk="1" latinLnBrk="0" hangingPunct="1">
                        <a:defRPr sz="2000" kern="1200">
                          <a:solidFill>
                            <a:schemeClr val="dk1"/>
                          </a:solidFill>
                          <a:latin typeface="Arial"/>
                          <a:ea typeface=""/>
                          <a:cs typeface=""/>
                        </a:defRPr>
                      </a:lvl4pPr>
                      <a:lvl5pPr marL="2037649" algn="l" defTabSz="1018824" rtl="0" eaLnBrk="1" latinLnBrk="0" hangingPunct="1">
                        <a:defRPr sz="2000" kern="1200">
                          <a:solidFill>
                            <a:schemeClr val="dk1"/>
                          </a:solidFill>
                          <a:latin typeface="Arial"/>
                          <a:ea typeface=""/>
                          <a:cs typeface=""/>
                        </a:defRPr>
                      </a:lvl5pPr>
                      <a:lvl6pPr marL="2547061" algn="l" defTabSz="1018824" rtl="0" eaLnBrk="1" latinLnBrk="0" hangingPunct="1">
                        <a:defRPr sz="2000" kern="1200">
                          <a:solidFill>
                            <a:schemeClr val="dk1"/>
                          </a:solidFill>
                          <a:latin typeface="Arial"/>
                          <a:ea typeface=""/>
                          <a:cs typeface=""/>
                        </a:defRPr>
                      </a:lvl6pPr>
                      <a:lvl7pPr marL="3056473" algn="l" defTabSz="1018824" rtl="0" eaLnBrk="1" latinLnBrk="0" hangingPunct="1">
                        <a:defRPr sz="2000" kern="1200">
                          <a:solidFill>
                            <a:schemeClr val="dk1"/>
                          </a:solidFill>
                          <a:latin typeface="Arial"/>
                          <a:ea typeface=""/>
                          <a:cs typeface=""/>
                        </a:defRPr>
                      </a:lvl7pPr>
                      <a:lvl8pPr marL="3565886" algn="l" defTabSz="1018824" rtl="0" eaLnBrk="1" latinLnBrk="0" hangingPunct="1">
                        <a:defRPr sz="2000" kern="1200">
                          <a:solidFill>
                            <a:schemeClr val="dk1"/>
                          </a:solidFill>
                          <a:latin typeface="Arial"/>
                          <a:ea typeface=""/>
                          <a:cs typeface=""/>
                        </a:defRPr>
                      </a:lvl8pPr>
                      <a:lvl9pPr marL="4075298" algn="l" defTabSz="1018824" rtl="0" eaLnBrk="1" latinLnBrk="0" hangingPunct="1">
                        <a:defRPr sz="2000" kern="1200">
                          <a:solidFill>
                            <a:schemeClr val="dk1"/>
                          </a:solidFill>
                          <a:latin typeface="Arial"/>
                          <a:ea typeface=""/>
                          <a:cs typeface=""/>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90170">
                <a:tc>
                  <a:txBody>
                    <a:bodyPr/>
                    <a:lstStyle/>
                    <a:p>
                      <a:r>
                        <a:rPr lang="en-US" sz="800" dirty="0">
                          <a:latin typeface="Arial" pitchFamily="34" charset="0"/>
                          <a:cs typeface="Arial" pitchFamily="34" charset="0"/>
                        </a:rPr>
                        <a:t>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Customers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800" dirty="0">
                          <a:latin typeface="Arial" pitchFamily="34" charset="0"/>
                          <a:cs typeface="Arial" pitchFamily="34" charset="0"/>
                        </a:rPr>
                        <a:t>CDL (Y94) &amp; KYC (X51)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kern="1200" dirty="0"/>
                        <a:t>√ </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88326">
                <a:tc>
                  <a:txBody>
                    <a:bodyPr/>
                    <a:lstStyle/>
                    <a:p>
                      <a:r>
                        <a:rPr lang="en-US" sz="800" dirty="0">
                          <a:latin typeface="Arial" pitchFamily="34" charset="0"/>
                          <a:cs typeface="Arial" pitchFamily="34" charset="0"/>
                        </a:rPr>
                        <a:t>E-QAR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latin typeface="Arial" pitchFamily="34" charset="0"/>
                          <a:cs typeface="Arial" pitchFamily="34" charset="0"/>
                        </a:rPr>
                        <a:t>Alerts and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800" dirty="0">
                          <a:latin typeface="Arial" pitchFamily="34" charset="0"/>
                          <a:cs typeface="Arial" pitchFamily="34" charset="0"/>
                        </a:rPr>
                        <a:t>E-QAR (AIS)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effectLst>
                            <a:outerShdw blurRad="38100" dist="38100" dir="2700000" algn="tl">
                              <a:srgbClr val="000000">
                                <a:alpha val="43137"/>
                              </a:srgbClr>
                            </a:outerShdw>
                          </a:effectLst>
                        </a:rPr>
                        <a:t>√</a:t>
                      </a:r>
                      <a:endParaRPr lang="en-US" sz="800" b="0" dirty="0">
                        <a:effectLst>
                          <a:outerShdw blurRad="38100" dist="38100" dir="2700000" algn="tl">
                            <a:srgbClr val="000000">
                              <a:alpha val="43137"/>
                            </a:srgbClr>
                          </a:outerShdw>
                        </a:effectLst>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12" name="Rectangle 11"/>
          <p:cNvSpPr/>
          <p:nvPr/>
        </p:nvSpPr>
        <p:spPr>
          <a:xfrm>
            <a:off x="3448978" y="1034930"/>
            <a:ext cx="5456897" cy="2241670"/>
          </a:xfrm>
          <a:prstGeom prst="rect">
            <a:avLst/>
          </a:prstGeom>
          <a:noFill/>
          <a:ln w="19050">
            <a:solidFill>
              <a:srgbClr val="C00000"/>
            </a:solidFill>
          </a:ln>
        </p:spPr>
        <p:style>
          <a:lnRef idx="2">
            <a:schemeClr val="dk1"/>
          </a:lnRef>
          <a:fillRef idx="1">
            <a:schemeClr val="lt1"/>
          </a:fillRef>
          <a:effectRef idx="0">
            <a:schemeClr val="dk1"/>
          </a:effectRef>
          <a:fontRef idx="minor">
            <a:schemeClr val="dk1"/>
          </a:fontRef>
        </p:style>
        <p:txBody>
          <a:bodyPr rtlCol="0" anchor="t"/>
          <a:lstStyle/>
          <a:p>
            <a:pPr>
              <a:spcBef>
                <a:spcPts val="600"/>
              </a:spcBef>
            </a:pPr>
            <a:r>
              <a:rPr lang="en-US" sz="1000" b="1" dirty="0"/>
              <a:t>The following is the scope of Project Clean Slate:</a:t>
            </a:r>
          </a:p>
          <a:p>
            <a:pPr>
              <a:spcBef>
                <a:spcPts val="300"/>
              </a:spcBef>
              <a:spcAft>
                <a:spcPts val="600"/>
              </a:spcAft>
            </a:pPr>
            <a:r>
              <a:rPr lang="en-US" sz="1000" dirty="0"/>
              <a:t>• Replace Actimize SAM for Transaction Monitoring</a:t>
            </a:r>
          </a:p>
          <a:p>
            <a:pPr>
              <a:spcBef>
                <a:spcPts val="300"/>
              </a:spcBef>
              <a:spcAft>
                <a:spcPts val="600"/>
              </a:spcAft>
            </a:pPr>
            <a:r>
              <a:rPr lang="en-US" sz="1000" dirty="0"/>
              <a:t>• Replace SearchSpace  behavior pattern profiling rules and alerts within the core transaction monitoring system</a:t>
            </a:r>
          </a:p>
          <a:p>
            <a:pPr>
              <a:spcBef>
                <a:spcPts val="300"/>
              </a:spcBef>
              <a:spcAft>
                <a:spcPts val="600"/>
              </a:spcAft>
            </a:pPr>
            <a:r>
              <a:rPr lang="en-US" sz="1000" dirty="0"/>
              <a:t>• Reporting – productivity, aging, data quality, dashboard metrics etc. </a:t>
            </a:r>
          </a:p>
          <a:p>
            <a:pPr>
              <a:spcBef>
                <a:spcPts val="300"/>
              </a:spcBef>
              <a:spcAft>
                <a:spcPts val="600"/>
              </a:spcAft>
            </a:pPr>
            <a:r>
              <a:rPr lang="en-US" sz="1000" dirty="0"/>
              <a:t>• Alerts and Case volume management and process efficiencies</a:t>
            </a:r>
          </a:p>
          <a:p>
            <a:pPr>
              <a:spcBef>
                <a:spcPts val="300"/>
              </a:spcBef>
              <a:spcAft>
                <a:spcPts val="600"/>
              </a:spcAft>
            </a:pPr>
            <a:r>
              <a:rPr lang="en-US" sz="1000" dirty="0"/>
              <a:t>• Integrated workflow case management system for all transaction monitoring alerts </a:t>
            </a:r>
          </a:p>
          <a:p>
            <a:pPr>
              <a:spcBef>
                <a:spcPts val="300"/>
              </a:spcBef>
              <a:spcAft>
                <a:spcPts val="600"/>
              </a:spcAft>
            </a:pPr>
            <a:r>
              <a:rPr lang="en-US" sz="1000" dirty="0"/>
              <a:t>• Any required updates to desktop procedures/user manual as a result of any changes from the system implementation and associated process changes for ISA and business areas.</a:t>
            </a:r>
          </a:p>
          <a:p>
            <a:pPr>
              <a:spcBef>
                <a:spcPts val="600"/>
              </a:spcBef>
            </a:pPr>
            <a:endParaRPr lang="en-US" sz="1000" dirty="0"/>
          </a:p>
          <a:p>
            <a:pPr>
              <a:spcBef>
                <a:spcPts val="600"/>
              </a:spcBef>
            </a:pPr>
            <a:endParaRPr lang="en-US" sz="1000" dirty="0"/>
          </a:p>
          <a:p>
            <a:pPr>
              <a:spcBef>
                <a:spcPts val="600"/>
              </a:spcBef>
            </a:pPr>
            <a:endParaRPr lang="en-US" sz="1000" dirty="0"/>
          </a:p>
          <a:p>
            <a:pPr>
              <a:spcBef>
                <a:spcPts val="600"/>
              </a:spcBef>
            </a:pPr>
            <a:endParaRPr lang="en-US" sz="1000" dirty="0"/>
          </a:p>
        </p:txBody>
      </p:sp>
      <p:sp>
        <p:nvSpPr>
          <p:cNvPr id="13" name="Rectangle 12"/>
          <p:cNvSpPr/>
          <p:nvPr/>
        </p:nvSpPr>
        <p:spPr>
          <a:xfrm>
            <a:off x="3448978" y="762000"/>
            <a:ext cx="5456897"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Project Scope</a:t>
            </a:r>
          </a:p>
        </p:txBody>
      </p:sp>
      <p:sp>
        <p:nvSpPr>
          <p:cNvPr id="15" name="Rectangle 14"/>
          <p:cNvSpPr/>
          <p:nvPr/>
        </p:nvSpPr>
        <p:spPr>
          <a:xfrm>
            <a:off x="227864" y="3657600"/>
            <a:ext cx="3124936" cy="2618599"/>
          </a:xfrm>
          <a:prstGeom prst="rect">
            <a:avLst/>
          </a:prstGeom>
          <a:noFill/>
          <a:ln w="19050">
            <a:solidFill>
              <a:srgbClr val="C00000"/>
            </a:solidFill>
          </a:ln>
        </p:spPr>
        <p:style>
          <a:lnRef idx="2">
            <a:schemeClr val="dk1"/>
          </a:lnRef>
          <a:fillRef idx="1">
            <a:schemeClr val="lt1"/>
          </a:fillRef>
          <a:effectRef idx="0">
            <a:schemeClr val="dk1"/>
          </a:effectRef>
          <a:fontRef idx="minor">
            <a:schemeClr val="dk1"/>
          </a:fontRef>
        </p:style>
        <p:txBody>
          <a:bodyPr rtlCol="0" anchor="t"/>
          <a:lstStyle/>
          <a:p>
            <a:pPr>
              <a:spcBef>
                <a:spcPts val="600"/>
              </a:spcBef>
            </a:pPr>
            <a:r>
              <a:rPr lang="en-US" sz="1000" b="1" i="1" dirty="0"/>
              <a:t> </a:t>
            </a:r>
            <a:endParaRPr lang="en-US" sz="1000" dirty="0"/>
          </a:p>
          <a:p>
            <a:pPr marL="171450" indent="-171450">
              <a:spcBef>
                <a:spcPts val="600"/>
              </a:spcBef>
              <a:buFont typeface="Wingdings 3" panose="05040102010807070707" pitchFamily="18" charset="2"/>
              <a:buChar char=""/>
            </a:pPr>
            <a:endParaRPr lang="en-US" sz="1000" dirty="0"/>
          </a:p>
          <a:p>
            <a:pPr marL="171450" indent="-171450">
              <a:spcBef>
                <a:spcPts val="600"/>
              </a:spcBef>
              <a:buFont typeface="Wingdings 3" panose="05040102010807070707" pitchFamily="18" charset="2"/>
              <a:buChar char=""/>
            </a:pPr>
            <a:endParaRPr lang="en-US" sz="1000" dirty="0"/>
          </a:p>
          <a:p>
            <a:pPr>
              <a:spcBef>
                <a:spcPts val="600"/>
              </a:spcBef>
            </a:pPr>
            <a:endParaRPr lang="en-US" sz="1000" dirty="0"/>
          </a:p>
        </p:txBody>
      </p:sp>
      <p:sp>
        <p:nvSpPr>
          <p:cNvPr id="16" name="Rectangle 15"/>
          <p:cNvSpPr/>
          <p:nvPr/>
        </p:nvSpPr>
        <p:spPr>
          <a:xfrm>
            <a:off x="227864" y="3352800"/>
            <a:ext cx="3124936"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Pending Items</a:t>
            </a:r>
          </a:p>
        </p:txBody>
      </p:sp>
      <p:graphicFrame>
        <p:nvGraphicFramePr>
          <p:cNvPr id="5" name="Table 4"/>
          <p:cNvGraphicFramePr>
            <a:graphicFrameLocks noGrp="1"/>
          </p:cNvGraphicFramePr>
          <p:nvPr>
            <p:extLst/>
          </p:nvPr>
        </p:nvGraphicFramePr>
        <p:xfrm>
          <a:off x="304800" y="3733800"/>
          <a:ext cx="2895600" cy="196366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20550">
                <a:tc>
                  <a:txBody>
                    <a:bodyPr/>
                    <a:lstStyle/>
                    <a:p>
                      <a:r>
                        <a:rPr lang="en-US" sz="800" dirty="0">
                          <a:solidFill>
                            <a:schemeClr val="tx1"/>
                          </a:solidFill>
                        </a:rPr>
                        <a:t>SR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800" dirty="0">
                          <a:solidFill>
                            <a:schemeClr val="tx1"/>
                          </a:solidFill>
                        </a:rPr>
                        <a:t>Pending Items /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585296">
                <a:tc>
                  <a:txBody>
                    <a:bodyPr/>
                    <a:lstStyle/>
                    <a:p>
                      <a:r>
                        <a:rPr lang="en-US" sz="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900" dirty="0"/>
                        <a:t>Impact of Data Track activities/schedules</a:t>
                      </a:r>
                      <a:r>
                        <a:rPr lang="en-US" sz="900" baseline="0" dirty="0"/>
                        <a:t> on Platform Track activities and delivery timelines</a:t>
                      </a:r>
                      <a:endParaRPr lang="en-US"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8907">
                <a:tc>
                  <a:txBody>
                    <a:bodyPr/>
                    <a:lstStyle/>
                    <a:p>
                      <a:r>
                        <a:rPr lang="en-US" sz="9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dirty="0"/>
                        <a:t>Decision</a:t>
                      </a:r>
                      <a:r>
                        <a:rPr lang="en-US" sz="900" baseline="0" dirty="0"/>
                        <a:t> on whether Global Case Manager will be leveraged as the case manager for sanctions alerts (Manual and RDC)</a:t>
                      </a:r>
                      <a:endParaRPr lang="en-US"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28907">
                <a:tc>
                  <a:txBody>
                    <a:bodyPr/>
                    <a:lstStyle/>
                    <a:p>
                      <a:r>
                        <a:rPr lang="en-US" sz="9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900" dirty="0"/>
                        <a:t>Assessment</a:t>
                      </a:r>
                      <a:r>
                        <a:rPr lang="en-US" sz="900" baseline="0" dirty="0"/>
                        <a:t> of impact on the project if RDC (KYC) alerts cannot be ingested into Focal Point post </a:t>
                      </a:r>
                      <a:r>
                        <a:rPr lang="en-US" sz="900" baseline="0" dirty="0" err="1"/>
                        <a:t>Actimize</a:t>
                      </a:r>
                      <a:r>
                        <a:rPr lang="en-US" sz="900" baseline="0" dirty="0"/>
                        <a:t> decommissioning</a:t>
                      </a:r>
                      <a:endParaRPr lang="en-US"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51900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888"/>
          </a:xfrm>
        </p:spPr>
        <p:txBody>
          <a:bodyPr/>
          <a:lstStyle/>
          <a:p>
            <a:pPr algn="ctr" eaLnBrk="1" hangingPunct="1"/>
            <a:r>
              <a:rPr lang="en-US" i="0" dirty="0">
                <a:solidFill>
                  <a:schemeClr val="bg1"/>
                </a:solidFill>
                <a:latin typeface="+mn-lt"/>
              </a:rPr>
              <a:t>High Level Data Flow</a:t>
            </a:r>
          </a:p>
        </p:txBody>
      </p:sp>
      <p:sp>
        <p:nvSpPr>
          <p:cNvPr id="15" name="Rectangle 14"/>
          <p:cNvSpPr/>
          <p:nvPr/>
        </p:nvSpPr>
        <p:spPr>
          <a:xfrm>
            <a:off x="276807" y="1252852"/>
            <a:ext cx="1318715" cy="301413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8" name="Rectangle 17"/>
          <p:cNvSpPr/>
          <p:nvPr/>
        </p:nvSpPr>
        <p:spPr>
          <a:xfrm>
            <a:off x="1819693" y="1828800"/>
            <a:ext cx="1124372" cy="2590799"/>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24" name="Rectangle 23"/>
          <p:cNvSpPr/>
          <p:nvPr/>
        </p:nvSpPr>
        <p:spPr>
          <a:xfrm>
            <a:off x="276807" y="1024251"/>
            <a:ext cx="1318715" cy="228600"/>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Source Systems</a:t>
            </a:r>
          </a:p>
        </p:txBody>
      </p:sp>
      <p:sp>
        <p:nvSpPr>
          <p:cNvPr id="26" name="Rectangle 25"/>
          <p:cNvSpPr/>
          <p:nvPr/>
        </p:nvSpPr>
        <p:spPr>
          <a:xfrm>
            <a:off x="1819693" y="1607392"/>
            <a:ext cx="1124372"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EDW</a:t>
            </a:r>
          </a:p>
        </p:txBody>
      </p:sp>
      <p:sp>
        <p:nvSpPr>
          <p:cNvPr id="31" name="Rectangle 30"/>
          <p:cNvSpPr/>
          <p:nvPr/>
        </p:nvSpPr>
        <p:spPr>
          <a:xfrm>
            <a:off x="152400" y="709059"/>
            <a:ext cx="8839200" cy="3748641"/>
          </a:xfrm>
          <a:prstGeom prst="rect">
            <a:avLst/>
          </a:prstGeom>
          <a:noFill/>
          <a:ln w="15875"/>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32" name="Flowchart: Process 31"/>
          <p:cNvSpPr/>
          <p:nvPr/>
        </p:nvSpPr>
        <p:spPr>
          <a:xfrm>
            <a:off x="353007" y="3179065"/>
            <a:ext cx="1152821" cy="984367"/>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OVS-MIS </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CDL </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T - 360</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Pyramid Sphinx</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Sophis</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Bony Mellon</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KYC</a:t>
            </a:r>
          </a:p>
          <a:p>
            <a:endParaRPr lang="en-US" sz="800" kern="0" dirty="0">
              <a:solidFill>
                <a:sysClr val="windowText" lastClr="000000"/>
              </a:solidFill>
              <a:latin typeface="Calibri" pitchFamily="34" charset="0"/>
              <a:cs typeface="Calibri" pitchFamily="34" charset="0"/>
            </a:endParaRPr>
          </a:p>
        </p:txBody>
      </p:sp>
      <p:grpSp>
        <p:nvGrpSpPr>
          <p:cNvPr id="55" name="Group 2"/>
          <p:cNvGrpSpPr/>
          <p:nvPr/>
        </p:nvGrpSpPr>
        <p:grpSpPr>
          <a:xfrm>
            <a:off x="228600" y="4495801"/>
            <a:ext cx="1618828" cy="2362199"/>
            <a:chOff x="228600" y="4495800"/>
            <a:chExt cx="1618828" cy="2193470"/>
          </a:xfrm>
        </p:grpSpPr>
        <p:sp>
          <p:nvSpPr>
            <p:cNvPr id="52" name="Pentagon 3"/>
            <p:cNvSpPr/>
            <p:nvPr/>
          </p:nvSpPr>
          <p:spPr>
            <a:xfrm>
              <a:off x="228600" y="4495800"/>
              <a:ext cx="1618828" cy="381000"/>
            </a:xfrm>
            <a:prstGeom prst="homePlate">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EDW and Data Lake</a:t>
              </a:r>
            </a:p>
          </p:txBody>
        </p:sp>
        <p:sp>
          <p:nvSpPr>
            <p:cNvPr id="58" name="Flowchart: Process 4"/>
            <p:cNvSpPr/>
            <p:nvPr/>
          </p:nvSpPr>
          <p:spPr>
            <a:xfrm>
              <a:off x="228600" y="4884913"/>
              <a:ext cx="1412443" cy="1804357"/>
            </a:xfrm>
            <a:prstGeom prst="flowChartProcess">
              <a:avLst/>
            </a:prstGeom>
            <a:solidFill>
              <a:schemeClr val="bg1"/>
            </a:solid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Source system files will  be loaded to Stage A  without transformation </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1A</a:t>
              </a:r>
              <a:r>
                <a:rPr lang="en-US" sz="800" b="1" kern="0" dirty="0">
                  <a:solidFill>
                    <a:prstClr val="black"/>
                  </a:solidFill>
                  <a:latin typeface="Calibri" pitchFamily="34" charset="0"/>
                  <a:cs typeface="Calibri" pitchFamily="34" charset="0"/>
                </a:rPr>
                <a:t> </a:t>
              </a:r>
              <a:r>
                <a:rPr lang="en-US" sz="800" b="1" kern="0" dirty="0">
                  <a:solidFill>
                    <a:sysClr val="windowText" lastClr="000000"/>
                  </a:solidFill>
                  <a:latin typeface="Calibri" pitchFamily="34" charset="0"/>
                  <a:cs typeface="Calibri" pitchFamily="34" charset="0"/>
                </a:rPr>
                <a:t>- </a:t>
              </a:r>
              <a:r>
                <a:rPr lang="en-US" sz="800" kern="0" dirty="0">
                  <a:solidFill>
                    <a:sysClr val="windowText" lastClr="000000"/>
                  </a:solidFill>
                  <a:latin typeface="Calibri" pitchFamily="34" charset="0"/>
                  <a:cs typeface="Calibri" pitchFamily="34" charset="0"/>
                </a:rPr>
                <a:t>STGA to STGB  -Business  filters and transformation will be applied</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1B</a:t>
              </a:r>
              <a:r>
                <a:rPr lang="en-US" sz="800" b="1" kern="0" dirty="0">
                  <a:solidFill>
                    <a:prstClr val="white"/>
                  </a:solidFill>
                  <a:latin typeface="Calibri" pitchFamily="34" charset="0"/>
                  <a:cs typeface="Calibri" pitchFamily="34" charset="0"/>
                </a:rPr>
                <a:t> </a:t>
              </a:r>
              <a:r>
                <a:rPr lang="en-US" sz="800" kern="0" dirty="0">
                  <a:solidFill>
                    <a:sysClr val="windowText" lastClr="000000"/>
                  </a:solidFill>
                  <a:latin typeface="Calibri" pitchFamily="34" charset="0"/>
                  <a:cs typeface="Calibri" pitchFamily="34" charset="0"/>
                </a:rPr>
                <a:t>- CORE and OUT will  have  the required data to send Pre-SAS Stage</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1C</a:t>
              </a:r>
              <a:r>
                <a:rPr lang="en-US" sz="800" b="1" kern="0" dirty="0">
                  <a:solidFill>
                    <a:sysClr val="windowText" lastClr="000000"/>
                  </a:solidFill>
                  <a:latin typeface="Calibri" pitchFamily="34" charset="0"/>
                  <a:cs typeface="Calibri" pitchFamily="34" charset="0"/>
                </a:rPr>
                <a:t> - </a:t>
              </a:r>
              <a:r>
                <a:rPr lang="en-US" sz="800" kern="0" dirty="0">
                  <a:solidFill>
                    <a:sysClr val="windowText" lastClr="000000"/>
                  </a:solidFill>
                  <a:latin typeface="Calibri" pitchFamily="34" charset="0"/>
                  <a:cs typeface="Calibri" pitchFamily="34" charset="0"/>
                </a:rPr>
                <a:t>EDM – Data for Reporting</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1D</a:t>
              </a:r>
              <a:r>
                <a:rPr lang="en-US" sz="800" kern="0" dirty="0">
                  <a:solidFill>
                    <a:sysClr val="windowText" lastClr="000000"/>
                  </a:solidFill>
                  <a:latin typeface="Calibri" pitchFamily="34" charset="0"/>
                  <a:cs typeface="Calibri" pitchFamily="34" charset="0"/>
                </a:rPr>
                <a:t> – CORE to EDM repository for BO reporting</a:t>
              </a:r>
            </a:p>
            <a:p>
              <a:pPr marL="171450" indent="-171450">
                <a:buFont typeface="Arial" panose="020B0604020202020204" pitchFamily="34" charset="0"/>
                <a:buChar char="•"/>
              </a:pPr>
              <a:r>
                <a:rPr lang="en-US" sz="800" b="1" kern="0" dirty="0">
                  <a:solidFill>
                    <a:srgbClr val="FF0000"/>
                  </a:solidFill>
                  <a:latin typeface="Calibri" pitchFamily="34" charset="0"/>
                  <a:cs typeface="Calibri" pitchFamily="34" charset="0"/>
                </a:rPr>
                <a:t>1H </a:t>
              </a:r>
              <a:r>
                <a:rPr lang="en-US" sz="800" kern="0" dirty="0">
                  <a:solidFill>
                    <a:sysClr val="windowText" lastClr="000000"/>
                  </a:solidFill>
                  <a:latin typeface="Calibri" pitchFamily="34" charset="0"/>
                  <a:cs typeface="Calibri" pitchFamily="34" charset="0"/>
                </a:rPr>
                <a:t>– RDC requested file</a:t>
              </a:r>
            </a:p>
            <a:p>
              <a:pPr marL="171450" indent="-171450">
                <a:buFont typeface="Arial" panose="020B0604020202020204" pitchFamily="34" charset="0"/>
                <a:buChar char="•"/>
              </a:pPr>
              <a:r>
                <a:rPr lang="en-US" sz="800" b="1" kern="0" dirty="0">
                  <a:solidFill>
                    <a:srgbClr val="FF0000"/>
                  </a:solidFill>
                  <a:latin typeface="Calibri" pitchFamily="34" charset="0"/>
                  <a:cs typeface="Calibri" pitchFamily="34" charset="0"/>
                </a:rPr>
                <a:t>1G-</a:t>
              </a:r>
              <a:r>
                <a:rPr lang="en-US" sz="800" kern="0" dirty="0">
                  <a:solidFill>
                    <a:sysClr val="windowText" lastClr="000000"/>
                  </a:solidFill>
                  <a:latin typeface="Calibri" pitchFamily="34" charset="0"/>
                  <a:cs typeface="Calibri" pitchFamily="34" charset="0"/>
                </a:rPr>
                <a:t> Reference data to KYC</a:t>
              </a:r>
            </a:p>
          </p:txBody>
        </p:sp>
      </p:grpSp>
      <p:grpSp>
        <p:nvGrpSpPr>
          <p:cNvPr id="57" name="Group 8"/>
          <p:cNvGrpSpPr/>
          <p:nvPr/>
        </p:nvGrpSpPr>
        <p:grpSpPr>
          <a:xfrm>
            <a:off x="1733135" y="4495802"/>
            <a:ext cx="1653441" cy="2362198"/>
            <a:chOff x="2067662" y="4495802"/>
            <a:chExt cx="1653441" cy="2362198"/>
          </a:xfrm>
        </p:grpSpPr>
        <p:sp>
          <p:nvSpPr>
            <p:cNvPr id="53" name="Chevron 12"/>
            <p:cNvSpPr/>
            <p:nvPr/>
          </p:nvSpPr>
          <p:spPr>
            <a:xfrm>
              <a:off x="2067662" y="4495802"/>
              <a:ext cx="1653441" cy="410307"/>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SAS Pre – Stage</a:t>
              </a:r>
            </a:p>
          </p:txBody>
        </p:sp>
        <p:sp>
          <p:nvSpPr>
            <p:cNvPr id="59" name="Flowchart: Process 13"/>
            <p:cNvSpPr/>
            <p:nvPr/>
          </p:nvSpPr>
          <p:spPr>
            <a:xfrm>
              <a:off x="2067662" y="4906109"/>
              <a:ext cx="1432184" cy="1951891"/>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1F</a:t>
              </a:r>
              <a:r>
                <a:rPr lang="en-US" sz="800" kern="0" dirty="0">
                  <a:solidFill>
                    <a:sysClr val="windowText" lastClr="000000"/>
                  </a:solidFill>
                  <a:latin typeface="Calibri" pitchFamily="34" charset="0"/>
                  <a:cs typeface="Calibri" pitchFamily="34" charset="0"/>
                </a:rPr>
                <a:t> –Data will be feed From  EDW OUT to SAS Pre-Stage  in  a form of compressed  </a:t>
              </a:r>
              <a:r>
                <a:rPr lang="en-US" sz="800" b="1" kern="0" dirty="0">
                  <a:solidFill>
                    <a:sysClr val="windowText" lastClr="000000"/>
                  </a:solidFill>
                  <a:latin typeface="Calibri" pitchFamily="34" charset="0"/>
                  <a:cs typeface="Calibri" pitchFamily="34" charset="0"/>
                </a:rPr>
                <a:t>“Flat files”</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KYC data will  feed from EDW to SAS –Pre Stage</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SAS Pre –Stage will maintain the payment history data for the entity resolution process.</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1E –</a:t>
              </a:r>
              <a:r>
                <a:rPr lang="en-US" sz="800" kern="0" dirty="0">
                  <a:solidFill>
                    <a:prstClr val="black"/>
                  </a:solidFill>
                  <a:latin typeface="Calibri" pitchFamily="34" charset="0"/>
                  <a:cs typeface="Calibri" pitchFamily="34" charset="0"/>
                </a:rPr>
                <a:t> Payments data  </a:t>
              </a:r>
              <a:r>
                <a:rPr lang="en-US" sz="800" kern="0" dirty="0">
                  <a:solidFill>
                    <a:sysClr val="windowText" lastClr="000000"/>
                  </a:solidFill>
                  <a:latin typeface="Calibri" pitchFamily="34" charset="0"/>
                  <a:cs typeface="Calibri" pitchFamily="34" charset="0"/>
                </a:rPr>
                <a:t>which will feed from Data Lake (Hadoop) to SAS Pre – Stage  in a form of  compressed "</a:t>
              </a:r>
              <a:r>
                <a:rPr lang="en-US" sz="800" b="1" kern="0" dirty="0">
                  <a:solidFill>
                    <a:sysClr val="windowText" lastClr="000000"/>
                  </a:solidFill>
                  <a:latin typeface="Calibri" pitchFamily="34" charset="0"/>
                  <a:cs typeface="Calibri" pitchFamily="34" charset="0"/>
                </a:rPr>
                <a:t>Flat</a:t>
              </a:r>
              <a:r>
                <a:rPr lang="en-US" sz="800" kern="0" dirty="0">
                  <a:solidFill>
                    <a:sysClr val="windowText" lastClr="000000"/>
                  </a:solidFill>
                  <a:latin typeface="Calibri" pitchFamily="34" charset="0"/>
                  <a:cs typeface="Calibri" pitchFamily="34" charset="0"/>
                </a:rPr>
                <a:t> </a:t>
              </a:r>
              <a:r>
                <a:rPr lang="en-US" sz="800" b="1" kern="0" dirty="0">
                  <a:solidFill>
                    <a:sysClr val="windowText" lastClr="000000"/>
                  </a:solidFill>
                  <a:latin typeface="Calibri" pitchFamily="34" charset="0"/>
                  <a:cs typeface="Calibri" pitchFamily="34" charset="0"/>
                </a:rPr>
                <a:t>files</a:t>
              </a:r>
              <a:r>
                <a:rPr lang="en-US" sz="800" kern="0" dirty="0">
                  <a:solidFill>
                    <a:sysClr val="windowText" lastClr="000000"/>
                  </a:solidFill>
                  <a:latin typeface="Calibri" pitchFamily="34" charset="0"/>
                  <a:cs typeface="Calibri" pitchFamily="34" charset="0"/>
                </a:rPr>
                <a:t>”</a:t>
              </a:r>
            </a:p>
            <a:p>
              <a:pPr marL="171450" indent="-171450">
                <a:buFont typeface="Arial" panose="020B0604020202020204" pitchFamily="34" charset="0"/>
                <a:buChar char="•"/>
              </a:pPr>
              <a:endParaRPr lang="en-US" sz="800" kern="0" dirty="0">
                <a:solidFill>
                  <a:sysClr val="windowText" lastClr="000000"/>
                </a:solidFill>
                <a:latin typeface="Calibri" pitchFamily="34" charset="0"/>
                <a:cs typeface="Calibri" pitchFamily="34" charset="0"/>
              </a:endParaRPr>
            </a:p>
          </p:txBody>
        </p:sp>
      </p:grpSp>
      <p:sp>
        <p:nvSpPr>
          <p:cNvPr id="67" name="Document 27"/>
          <p:cNvSpPr/>
          <p:nvPr/>
        </p:nvSpPr>
        <p:spPr>
          <a:xfrm>
            <a:off x="533400" y="2320689"/>
            <a:ext cx="838199" cy="74268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800" kern="0" dirty="0">
                <a:solidFill>
                  <a:sysClr val="windowText" lastClr="000000"/>
                </a:solidFill>
                <a:latin typeface="Calibri" pitchFamily="34" charset="0"/>
                <a:cs typeface="Calibri" pitchFamily="34" charset="0"/>
              </a:rPr>
              <a:t>Non – Payment Source System Files</a:t>
            </a:r>
          </a:p>
        </p:txBody>
      </p:sp>
      <p:sp>
        <p:nvSpPr>
          <p:cNvPr id="128" name="Can 127"/>
          <p:cNvSpPr/>
          <p:nvPr/>
        </p:nvSpPr>
        <p:spPr>
          <a:xfrm>
            <a:off x="2116014" y="1917148"/>
            <a:ext cx="645830" cy="321378"/>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STG A</a:t>
            </a:r>
          </a:p>
        </p:txBody>
      </p:sp>
      <p:grpSp>
        <p:nvGrpSpPr>
          <p:cNvPr id="124" name="Group 96"/>
          <p:cNvGrpSpPr/>
          <p:nvPr/>
        </p:nvGrpSpPr>
        <p:grpSpPr>
          <a:xfrm>
            <a:off x="3447627" y="1237862"/>
            <a:ext cx="921223" cy="1664116"/>
            <a:chOff x="3447627" y="1237862"/>
            <a:chExt cx="921223" cy="1842650"/>
          </a:xfrm>
        </p:grpSpPr>
        <p:sp>
          <p:nvSpPr>
            <p:cNvPr id="106" name="Rectangle 20"/>
            <p:cNvSpPr/>
            <p:nvPr/>
          </p:nvSpPr>
          <p:spPr>
            <a:xfrm>
              <a:off x="3447627" y="1464552"/>
              <a:ext cx="921223" cy="1615960"/>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07" name="Rectangle 21"/>
            <p:cNvSpPr/>
            <p:nvPr/>
          </p:nvSpPr>
          <p:spPr>
            <a:xfrm>
              <a:off x="3447627" y="1237862"/>
              <a:ext cx="921223"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SAS Pre-Stage</a:t>
              </a:r>
            </a:p>
          </p:txBody>
        </p:sp>
        <p:sp>
          <p:nvSpPr>
            <p:cNvPr id="130" name="Can 22"/>
            <p:cNvSpPr/>
            <p:nvPr/>
          </p:nvSpPr>
          <p:spPr>
            <a:xfrm>
              <a:off x="3572069" y="1485900"/>
              <a:ext cx="725960" cy="1380611"/>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endParaRPr lang="en-US" sz="800" kern="0" dirty="0">
                <a:solidFill>
                  <a:sysClr val="windowText" lastClr="000000"/>
                </a:solidFill>
                <a:latin typeface="Calibri" pitchFamily="34" charset="0"/>
                <a:cs typeface="Calibri" pitchFamily="34" charset="0"/>
              </a:endParaRPr>
            </a:p>
          </p:txBody>
        </p:sp>
      </p:grpSp>
      <p:sp>
        <p:nvSpPr>
          <p:cNvPr id="131" name="Can 130"/>
          <p:cNvSpPr/>
          <p:nvPr/>
        </p:nvSpPr>
        <p:spPr>
          <a:xfrm>
            <a:off x="2116014" y="2448020"/>
            <a:ext cx="645830" cy="321378"/>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STGB</a:t>
            </a:r>
          </a:p>
        </p:txBody>
      </p:sp>
      <p:sp>
        <p:nvSpPr>
          <p:cNvPr id="132" name="Can 131"/>
          <p:cNvSpPr/>
          <p:nvPr/>
        </p:nvSpPr>
        <p:spPr>
          <a:xfrm>
            <a:off x="2116014" y="2955222"/>
            <a:ext cx="645830" cy="321378"/>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CORE</a:t>
            </a:r>
          </a:p>
        </p:txBody>
      </p:sp>
      <p:sp>
        <p:nvSpPr>
          <p:cNvPr id="136" name="Can 135"/>
          <p:cNvSpPr/>
          <p:nvPr/>
        </p:nvSpPr>
        <p:spPr>
          <a:xfrm>
            <a:off x="2116014" y="3505200"/>
            <a:ext cx="645830" cy="321378"/>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OUT</a:t>
            </a:r>
          </a:p>
        </p:txBody>
      </p:sp>
      <p:cxnSp>
        <p:nvCxnSpPr>
          <p:cNvPr id="137" name="Straight Arrow Connector 136"/>
          <p:cNvCxnSpPr>
            <a:stCxn id="128" idx="3"/>
            <a:endCxn id="131" idx="0"/>
          </p:cNvCxnSpPr>
          <p:nvPr/>
        </p:nvCxnSpPr>
        <p:spPr>
          <a:xfrm>
            <a:off x="2438929" y="2238526"/>
            <a:ext cx="0" cy="300524"/>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131" idx="3"/>
            <a:endCxn id="132" idx="1"/>
          </p:cNvCxnSpPr>
          <p:nvPr/>
        </p:nvCxnSpPr>
        <p:spPr>
          <a:xfrm>
            <a:off x="2438929" y="2769398"/>
            <a:ext cx="0" cy="185824"/>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a:stCxn id="132" idx="3"/>
            <a:endCxn id="136" idx="1"/>
          </p:cNvCxnSpPr>
          <p:nvPr/>
        </p:nvCxnSpPr>
        <p:spPr>
          <a:xfrm>
            <a:off x="2438929" y="3276600"/>
            <a:ext cx="0" cy="22860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40" name="Straight Arrow Connector 233"/>
          <p:cNvCxnSpPr>
            <a:stCxn id="136" idx="4"/>
            <a:endCxn id="106" idx="1"/>
          </p:cNvCxnSpPr>
          <p:nvPr/>
        </p:nvCxnSpPr>
        <p:spPr>
          <a:xfrm flipV="1">
            <a:off x="2761844" y="2172283"/>
            <a:ext cx="685783" cy="1493606"/>
          </a:xfrm>
          <a:prstGeom prst="bentConnector3">
            <a:avLst>
              <a:gd name="adj1" fmla="val 50000"/>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nvGrpSpPr>
          <p:cNvPr id="127" name="Group 93"/>
          <p:cNvGrpSpPr/>
          <p:nvPr/>
        </p:nvGrpSpPr>
        <p:grpSpPr>
          <a:xfrm>
            <a:off x="4656524" y="1237862"/>
            <a:ext cx="838200" cy="1664116"/>
            <a:chOff x="4656524" y="1237862"/>
            <a:chExt cx="838200" cy="1842650"/>
          </a:xfrm>
        </p:grpSpPr>
        <p:sp>
          <p:nvSpPr>
            <p:cNvPr id="109" name="Rectangle 32"/>
            <p:cNvSpPr/>
            <p:nvPr/>
          </p:nvSpPr>
          <p:spPr>
            <a:xfrm>
              <a:off x="4656524" y="1464551"/>
              <a:ext cx="838200" cy="16159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14" name="Rectangle 33"/>
            <p:cNvSpPr/>
            <p:nvPr/>
          </p:nvSpPr>
          <p:spPr>
            <a:xfrm>
              <a:off x="4656524" y="1237862"/>
              <a:ext cx="838200"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SAS Stage</a:t>
              </a:r>
            </a:p>
          </p:txBody>
        </p:sp>
        <p:sp>
          <p:nvSpPr>
            <p:cNvPr id="141" name="Can 34"/>
            <p:cNvSpPr/>
            <p:nvPr/>
          </p:nvSpPr>
          <p:spPr>
            <a:xfrm>
              <a:off x="4721219" y="1485900"/>
              <a:ext cx="725960" cy="1380611"/>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endParaRPr lang="en-US" sz="800" kern="0" dirty="0">
                <a:solidFill>
                  <a:sysClr val="windowText" lastClr="000000"/>
                </a:solidFill>
                <a:latin typeface="Calibri" pitchFamily="34" charset="0"/>
                <a:cs typeface="Calibri" pitchFamily="34" charset="0"/>
              </a:endParaRPr>
            </a:p>
          </p:txBody>
        </p:sp>
      </p:grpSp>
      <p:grpSp>
        <p:nvGrpSpPr>
          <p:cNvPr id="129" name="Group 77"/>
          <p:cNvGrpSpPr/>
          <p:nvPr/>
        </p:nvGrpSpPr>
        <p:grpSpPr>
          <a:xfrm>
            <a:off x="5782398" y="1237862"/>
            <a:ext cx="838200" cy="1664116"/>
            <a:chOff x="5782398" y="1237862"/>
            <a:chExt cx="838200" cy="1842650"/>
          </a:xfrm>
        </p:grpSpPr>
        <p:sp>
          <p:nvSpPr>
            <p:cNvPr id="117" name="Rectangle 40"/>
            <p:cNvSpPr/>
            <p:nvPr/>
          </p:nvSpPr>
          <p:spPr>
            <a:xfrm>
              <a:off x="5782398" y="1464551"/>
              <a:ext cx="838200" cy="16159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18" name="Rectangle 41"/>
            <p:cNvSpPr/>
            <p:nvPr/>
          </p:nvSpPr>
          <p:spPr>
            <a:xfrm>
              <a:off x="5782398" y="1237862"/>
              <a:ext cx="838200"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SAS Core</a:t>
              </a:r>
            </a:p>
          </p:txBody>
        </p:sp>
        <p:sp>
          <p:nvSpPr>
            <p:cNvPr id="142" name="Can 45"/>
            <p:cNvSpPr/>
            <p:nvPr/>
          </p:nvSpPr>
          <p:spPr>
            <a:xfrm>
              <a:off x="5838066" y="1485900"/>
              <a:ext cx="725960" cy="1380611"/>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endParaRPr lang="en-US" sz="800" kern="0" dirty="0">
                <a:solidFill>
                  <a:sysClr val="windowText" lastClr="000000"/>
                </a:solidFill>
                <a:latin typeface="Calibri" pitchFamily="34" charset="0"/>
                <a:cs typeface="Calibri" pitchFamily="34" charset="0"/>
              </a:endParaRPr>
            </a:p>
          </p:txBody>
        </p:sp>
      </p:grpSp>
      <p:grpSp>
        <p:nvGrpSpPr>
          <p:cNvPr id="135" name="Group 76"/>
          <p:cNvGrpSpPr/>
          <p:nvPr/>
        </p:nvGrpSpPr>
        <p:grpSpPr>
          <a:xfrm>
            <a:off x="6908272" y="1237862"/>
            <a:ext cx="838200" cy="1664116"/>
            <a:chOff x="6908272" y="1237862"/>
            <a:chExt cx="838200" cy="1842650"/>
          </a:xfrm>
        </p:grpSpPr>
        <p:sp>
          <p:nvSpPr>
            <p:cNvPr id="123" name="Rectangle 11267"/>
            <p:cNvSpPr/>
            <p:nvPr/>
          </p:nvSpPr>
          <p:spPr>
            <a:xfrm>
              <a:off x="6908272" y="1464551"/>
              <a:ext cx="838200" cy="16159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25" name="Rectangle 11268"/>
            <p:cNvSpPr/>
            <p:nvPr/>
          </p:nvSpPr>
          <p:spPr>
            <a:xfrm>
              <a:off x="6908272" y="1237862"/>
              <a:ext cx="838200"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SAS KC</a:t>
              </a:r>
            </a:p>
          </p:txBody>
        </p:sp>
        <p:sp>
          <p:nvSpPr>
            <p:cNvPr id="143" name="Can 11269"/>
            <p:cNvSpPr/>
            <p:nvPr/>
          </p:nvSpPr>
          <p:spPr>
            <a:xfrm>
              <a:off x="6967594" y="1485900"/>
              <a:ext cx="725960" cy="1380611"/>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Cases &amp; Alert Information</a:t>
              </a:r>
            </a:p>
            <a:p>
              <a:pPr algn="ctr"/>
              <a:endParaRPr lang="en-US" sz="800" kern="0" dirty="0">
                <a:solidFill>
                  <a:sysClr val="windowText" lastClr="000000"/>
                </a:solidFill>
                <a:latin typeface="Calibri" pitchFamily="34" charset="0"/>
                <a:cs typeface="Calibri" pitchFamily="34" charset="0"/>
              </a:endParaRPr>
            </a:p>
          </p:txBody>
        </p:sp>
      </p:grpSp>
      <p:cxnSp>
        <p:nvCxnSpPr>
          <p:cNvPr id="144" name="Straight Arrow Connector 143"/>
          <p:cNvCxnSpPr>
            <a:stCxn id="106" idx="3"/>
            <a:endCxn id="109" idx="1"/>
          </p:cNvCxnSpPr>
          <p:nvPr/>
        </p:nvCxnSpPr>
        <p:spPr>
          <a:xfrm>
            <a:off x="4368850" y="2172283"/>
            <a:ext cx="28767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a:stCxn id="109" idx="3"/>
            <a:endCxn id="117" idx="1"/>
          </p:cNvCxnSpPr>
          <p:nvPr/>
        </p:nvCxnSpPr>
        <p:spPr>
          <a:xfrm>
            <a:off x="5494724" y="2172283"/>
            <a:ext cx="28767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a:stCxn id="117" idx="3"/>
            <a:endCxn id="123" idx="1"/>
          </p:cNvCxnSpPr>
          <p:nvPr/>
        </p:nvCxnSpPr>
        <p:spPr>
          <a:xfrm>
            <a:off x="6620598" y="2172283"/>
            <a:ext cx="28767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56" name="TextBox 44"/>
          <p:cNvSpPr txBox="1"/>
          <p:nvPr/>
        </p:nvSpPr>
        <p:spPr>
          <a:xfrm>
            <a:off x="2738570" y="2271876"/>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1A</a:t>
            </a:r>
          </a:p>
        </p:txBody>
      </p:sp>
      <p:sp>
        <p:nvSpPr>
          <p:cNvPr id="63" name="TextBox 44"/>
          <p:cNvSpPr txBox="1"/>
          <p:nvPr/>
        </p:nvSpPr>
        <p:spPr>
          <a:xfrm>
            <a:off x="2738570" y="2825778"/>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1B</a:t>
            </a:r>
          </a:p>
        </p:txBody>
      </p:sp>
      <p:sp>
        <p:nvSpPr>
          <p:cNvPr id="64" name="TextBox 44"/>
          <p:cNvSpPr txBox="1"/>
          <p:nvPr/>
        </p:nvSpPr>
        <p:spPr>
          <a:xfrm>
            <a:off x="2738570" y="3389206"/>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1C</a:t>
            </a:r>
          </a:p>
        </p:txBody>
      </p:sp>
      <p:sp>
        <p:nvSpPr>
          <p:cNvPr id="65" name="TextBox 44"/>
          <p:cNvSpPr txBox="1"/>
          <p:nvPr/>
        </p:nvSpPr>
        <p:spPr>
          <a:xfrm>
            <a:off x="4464073" y="1990725"/>
            <a:ext cx="145690" cy="138545"/>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2A</a:t>
            </a:r>
          </a:p>
        </p:txBody>
      </p:sp>
      <p:sp>
        <p:nvSpPr>
          <p:cNvPr id="68" name="TextBox 44"/>
          <p:cNvSpPr txBox="1"/>
          <p:nvPr/>
        </p:nvSpPr>
        <p:spPr>
          <a:xfrm>
            <a:off x="5562600" y="1990725"/>
            <a:ext cx="145690"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3A</a:t>
            </a:r>
          </a:p>
        </p:txBody>
      </p:sp>
      <p:sp>
        <p:nvSpPr>
          <p:cNvPr id="69" name="TextBox 44"/>
          <p:cNvSpPr txBox="1"/>
          <p:nvPr/>
        </p:nvSpPr>
        <p:spPr>
          <a:xfrm>
            <a:off x="6705600" y="1990725"/>
            <a:ext cx="132445"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4A</a:t>
            </a:r>
          </a:p>
        </p:txBody>
      </p:sp>
      <p:sp>
        <p:nvSpPr>
          <p:cNvPr id="70" name="Rectangle 69"/>
          <p:cNvSpPr/>
          <p:nvPr/>
        </p:nvSpPr>
        <p:spPr>
          <a:xfrm>
            <a:off x="7987493" y="1478903"/>
            <a:ext cx="881252" cy="606388"/>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71" name="Rectangle 70"/>
          <p:cNvSpPr/>
          <p:nvPr/>
        </p:nvSpPr>
        <p:spPr>
          <a:xfrm>
            <a:off x="7987493" y="1245054"/>
            <a:ext cx="881252"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Case  Manager</a:t>
            </a:r>
          </a:p>
        </p:txBody>
      </p:sp>
      <p:cxnSp>
        <p:nvCxnSpPr>
          <p:cNvPr id="75" name="Straight Arrow Connector 233"/>
          <p:cNvCxnSpPr>
            <a:stCxn id="109" idx="2"/>
          </p:cNvCxnSpPr>
          <p:nvPr/>
        </p:nvCxnSpPr>
        <p:spPr>
          <a:xfrm rot="16200000" flipH="1">
            <a:off x="5427674" y="2549927"/>
            <a:ext cx="425986" cy="1130087"/>
          </a:xfrm>
          <a:prstGeom prst="bentConnector2">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nvGrpSpPr>
          <p:cNvPr id="60" name="Group 2"/>
          <p:cNvGrpSpPr/>
          <p:nvPr/>
        </p:nvGrpSpPr>
        <p:grpSpPr>
          <a:xfrm>
            <a:off x="3276600" y="4503912"/>
            <a:ext cx="1582480" cy="2354087"/>
            <a:chOff x="3501745" y="4503913"/>
            <a:chExt cx="1582480" cy="2114559"/>
          </a:xfrm>
        </p:grpSpPr>
        <p:sp>
          <p:nvSpPr>
            <p:cNvPr id="79" name="Chevron 3"/>
            <p:cNvSpPr/>
            <p:nvPr/>
          </p:nvSpPr>
          <p:spPr>
            <a:xfrm>
              <a:off x="3501745" y="4503913"/>
              <a:ext cx="1582480" cy="361274"/>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SAS Stage</a:t>
              </a:r>
            </a:p>
          </p:txBody>
        </p:sp>
        <p:sp>
          <p:nvSpPr>
            <p:cNvPr id="80" name="Flowchart: Process 4"/>
            <p:cNvSpPr/>
            <p:nvPr/>
          </p:nvSpPr>
          <p:spPr>
            <a:xfrm>
              <a:off x="3519465" y="4865187"/>
              <a:ext cx="1362204" cy="1753285"/>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2A</a:t>
              </a:r>
              <a:r>
                <a:rPr lang="en-US" sz="800" b="1" kern="0" dirty="0">
                  <a:solidFill>
                    <a:sysClr val="windowText" lastClr="000000"/>
                  </a:solidFill>
                  <a:latin typeface="Calibri" pitchFamily="34" charset="0"/>
                  <a:cs typeface="Calibri" pitchFamily="34" charset="0"/>
                </a:rPr>
                <a:t> </a:t>
              </a:r>
              <a:r>
                <a:rPr lang="en-US" sz="800" kern="0" dirty="0">
                  <a:solidFill>
                    <a:sysClr val="windowText" lastClr="000000"/>
                  </a:solidFill>
                  <a:latin typeface="Calibri" pitchFamily="34" charset="0"/>
                  <a:cs typeface="Calibri" pitchFamily="34" charset="0"/>
                </a:rPr>
                <a:t>– Entity Resolution process  for Wire/ACH data.</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Country Code enrichment for Wire/ACH data</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Party Movement for Wire/ACH data</a:t>
              </a:r>
            </a:p>
            <a:p>
              <a:pPr marL="171450" indent="-171450">
                <a:buFont typeface="Arial" panose="020B0604020202020204" pitchFamily="34" charset="0"/>
                <a:buChar char="•"/>
              </a:pPr>
              <a:r>
                <a:rPr lang="en-US" sz="800" kern="0" dirty="0">
                  <a:solidFill>
                    <a:schemeClr val="tx1"/>
                  </a:solidFill>
                  <a:latin typeface="Calibri" pitchFamily="34" charset="0"/>
                  <a:cs typeface="Calibri" pitchFamily="34" charset="0"/>
                </a:rPr>
                <a:t>Address  Enrichment process  using the “</a:t>
              </a:r>
              <a:r>
                <a:rPr lang="en-US" sz="800" b="1" kern="0" dirty="0">
                  <a:solidFill>
                    <a:schemeClr val="tx1"/>
                  </a:solidFill>
                  <a:latin typeface="Calibri" pitchFamily="34" charset="0"/>
                  <a:cs typeface="Calibri" pitchFamily="34" charset="0"/>
                </a:rPr>
                <a:t>Locale</a:t>
              </a:r>
              <a:r>
                <a:rPr lang="en-US" sz="800" kern="0" dirty="0">
                  <a:solidFill>
                    <a:schemeClr val="tx1"/>
                  </a:solidFill>
                  <a:latin typeface="Calibri" pitchFamily="34" charset="0"/>
                  <a:cs typeface="Calibri" pitchFamily="34" charset="0"/>
                </a:rPr>
                <a:t>” feature.</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Data Quality remediation process.</a:t>
              </a:r>
            </a:p>
            <a:p>
              <a:pPr marL="171450" indent="-171450">
                <a:buFont typeface="Arial" panose="020B0604020202020204" pitchFamily="34" charset="0"/>
                <a:buChar char="•"/>
              </a:pPr>
              <a:endParaRPr lang="en-US" sz="800" kern="0" dirty="0">
                <a:solidFill>
                  <a:sysClr val="windowText" lastClr="000000"/>
                </a:solidFill>
                <a:latin typeface="Calibri" pitchFamily="34" charset="0"/>
                <a:cs typeface="Calibri" pitchFamily="34" charset="0"/>
              </a:endParaRPr>
            </a:p>
            <a:p>
              <a:pPr marL="171450" indent="-171450">
                <a:buFont typeface="Arial" panose="020B0604020202020204" pitchFamily="34" charset="0"/>
                <a:buChar char="•"/>
              </a:pPr>
              <a:endParaRPr lang="en-US" sz="800" kern="0" dirty="0">
                <a:solidFill>
                  <a:sysClr val="windowText" lastClr="000000"/>
                </a:solidFill>
                <a:latin typeface="Calibri" pitchFamily="34" charset="0"/>
                <a:cs typeface="Calibri" pitchFamily="34" charset="0"/>
              </a:endParaRPr>
            </a:p>
          </p:txBody>
        </p:sp>
      </p:grpSp>
      <p:grpSp>
        <p:nvGrpSpPr>
          <p:cNvPr id="61" name="Group 11280"/>
          <p:cNvGrpSpPr/>
          <p:nvPr/>
        </p:nvGrpSpPr>
        <p:grpSpPr>
          <a:xfrm>
            <a:off x="4776332" y="4503913"/>
            <a:ext cx="1483226" cy="2354086"/>
            <a:chOff x="4955005" y="4503090"/>
            <a:chExt cx="1483226" cy="2115422"/>
          </a:xfrm>
        </p:grpSpPr>
        <p:sp>
          <p:nvSpPr>
            <p:cNvPr id="81" name="Chevron 11281"/>
            <p:cNvSpPr/>
            <p:nvPr/>
          </p:nvSpPr>
          <p:spPr>
            <a:xfrm>
              <a:off x="4955005" y="4503090"/>
              <a:ext cx="1483226" cy="361420"/>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SAS Core</a:t>
              </a:r>
            </a:p>
          </p:txBody>
        </p:sp>
        <p:sp>
          <p:nvSpPr>
            <p:cNvPr id="82" name="Flowchart: Process 11282"/>
            <p:cNvSpPr/>
            <p:nvPr/>
          </p:nvSpPr>
          <p:spPr>
            <a:xfrm>
              <a:off x="4955005" y="4868685"/>
              <a:ext cx="1269073" cy="1749827"/>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3A</a:t>
              </a:r>
              <a:r>
                <a:rPr lang="en-US" sz="800" b="1" kern="0" dirty="0">
                  <a:solidFill>
                    <a:sysClr val="windowText" lastClr="000000"/>
                  </a:solidFill>
                  <a:latin typeface="Calibri" pitchFamily="34" charset="0"/>
                  <a:cs typeface="Calibri" pitchFamily="34" charset="0"/>
                </a:rPr>
                <a:t> </a:t>
              </a:r>
              <a:r>
                <a:rPr lang="en-US" sz="800" kern="0" dirty="0">
                  <a:solidFill>
                    <a:sysClr val="windowText" lastClr="000000"/>
                  </a:solidFill>
                  <a:latin typeface="Calibri" pitchFamily="34" charset="0"/>
                  <a:cs typeface="Calibri" pitchFamily="34" charset="0"/>
                </a:rPr>
                <a:t>- SAS ETL process - Error and Exception reports </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Errors and Warnings will be captured in the  database  and reports  are generated for the data stewards.</a:t>
              </a:r>
            </a:p>
            <a:p>
              <a:pPr marL="171450" indent="-171450">
                <a:buFont typeface="Arial" panose="020B0604020202020204" pitchFamily="34" charset="0"/>
                <a:buChar char="•"/>
              </a:pPr>
              <a:endParaRPr lang="en-US" sz="800" kern="0" dirty="0">
                <a:solidFill>
                  <a:sysClr val="windowText" lastClr="000000"/>
                </a:solidFill>
                <a:latin typeface="Calibri" pitchFamily="34" charset="0"/>
                <a:cs typeface="Calibri" pitchFamily="34" charset="0"/>
              </a:endParaRPr>
            </a:p>
          </p:txBody>
        </p:sp>
      </p:grpSp>
      <p:grpSp>
        <p:nvGrpSpPr>
          <p:cNvPr id="62" name="Group 2"/>
          <p:cNvGrpSpPr/>
          <p:nvPr/>
        </p:nvGrpSpPr>
        <p:grpSpPr>
          <a:xfrm>
            <a:off x="6154788" y="4503913"/>
            <a:ext cx="1538766" cy="2354087"/>
            <a:chOff x="6286989" y="4503090"/>
            <a:chExt cx="1538766" cy="2115422"/>
          </a:xfrm>
        </p:grpSpPr>
        <p:sp>
          <p:nvSpPr>
            <p:cNvPr id="83" name="Chevron 3"/>
            <p:cNvSpPr/>
            <p:nvPr/>
          </p:nvSpPr>
          <p:spPr>
            <a:xfrm>
              <a:off x="6286989" y="4503090"/>
              <a:ext cx="1538766" cy="365595"/>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SAS KC</a:t>
              </a:r>
            </a:p>
          </p:txBody>
        </p:sp>
        <p:sp>
          <p:nvSpPr>
            <p:cNvPr id="84" name="Flowchart: Process 4"/>
            <p:cNvSpPr/>
            <p:nvPr/>
          </p:nvSpPr>
          <p:spPr>
            <a:xfrm>
              <a:off x="6286989" y="4868685"/>
              <a:ext cx="1320851" cy="1749827"/>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4A</a:t>
              </a:r>
              <a:r>
                <a:rPr lang="en-US" sz="800" kern="0" dirty="0">
                  <a:solidFill>
                    <a:sysClr val="windowText" lastClr="000000"/>
                  </a:solidFill>
                  <a:latin typeface="Calibri" pitchFamily="34" charset="0"/>
                  <a:cs typeface="Calibri" pitchFamily="34" charset="0"/>
                </a:rPr>
                <a:t> - AGP – Alert Generation Process</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Prep Data file system creation </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4B </a:t>
              </a:r>
              <a:r>
                <a:rPr lang="en-US" sz="800" kern="0" dirty="0">
                  <a:solidFill>
                    <a:sysClr val="windowText" lastClr="000000"/>
                  </a:solidFill>
                  <a:latin typeface="Calibri" pitchFamily="34" charset="0"/>
                  <a:cs typeface="Calibri" pitchFamily="34" charset="0"/>
                </a:rPr>
                <a:t>– RDC Sanctions Alerts to SAS Tenant</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4C </a:t>
              </a:r>
              <a:r>
                <a:rPr lang="en-US" sz="800" kern="0" dirty="0">
                  <a:solidFill>
                    <a:sysClr val="windowText" lastClr="000000"/>
                  </a:solidFill>
                  <a:latin typeface="Calibri" pitchFamily="34" charset="0"/>
                  <a:cs typeface="Calibri" pitchFamily="34" charset="0"/>
                </a:rPr>
                <a:t>– RDC KYC Alerts to Focal Point</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5A </a:t>
              </a:r>
              <a:r>
                <a:rPr lang="en-US" sz="800" kern="0" dirty="0">
                  <a:solidFill>
                    <a:sysClr val="windowText" lastClr="000000"/>
                  </a:solidFill>
                  <a:latin typeface="Calibri" pitchFamily="34" charset="0"/>
                  <a:cs typeface="Calibri" pitchFamily="34" charset="0"/>
                </a:rPr>
                <a:t>- Loads the Entity Triage Data Mart and performs round robin routing of entities and displays results in Case Manager.</a:t>
              </a:r>
            </a:p>
          </p:txBody>
        </p:sp>
      </p:grpSp>
      <p:grpSp>
        <p:nvGrpSpPr>
          <p:cNvPr id="11264" name="Group 8"/>
          <p:cNvGrpSpPr/>
          <p:nvPr/>
        </p:nvGrpSpPr>
        <p:grpSpPr>
          <a:xfrm>
            <a:off x="7570089" y="4503913"/>
            <a:ext cx="1497711" cy="2354087"/>
            <a:chOff x="7570089" y="4503090"/>
            <a:chExt cx="1497711" cy="2115421"/>
          </a:xfrm>
        </p:grpSpPr>
        <p:sp>
          <p:nvSpPr>
            <p:cNvPr id="85" name="Chevron 9"/>
            <p:cNvSpPr/>
            <p:nvPr/>
          </p:nvSpPr>
          <p:spPr>
            <a:xfrm>
              <a:off x="7570089" y="4503090"/>
              <a:ext cx="1497711" cy="365595"/>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1100" b="1" dirty="0">
                  <a:solidFill>
                    <a:prstClr val="white"/>
                  </a:solidFill>
                  <a:latin typeface="Calibri" panose="020F0502020204030204" pitchFamily="34" charset="0"/>
                  <a:cs typeface="Calibri" panose="020F0502020204030204" pitchFamily="34" charset="0"/>
                </a:rPr>
                <a:t>Analytics and Reports</a:t>
              </a:r>
            </a:p>
          </p:txBody>
        </p:sp>
        <p:sp>
          <p:nvSpPr>
            <p:cNvPr id="86" name="Flowchart: Process 10"/>
            <p:cNvSpPr/>
            <p:nvPr/>
          </p:nvSpPr>
          <p:spPr>
            <a:xfrm>
              <a:off x="7585024" y="4868685"/>
              <a:ext cx="1320851" cy="1749826"/>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6A </a:t>
              </a:r>
              <a:r>
                <a:rPr lang="en-US" sz="800" kern="0" dirty="0">
                  <a:solidFill>
                    <a:sysClr val="windowText" lastClr="000000"/>
                  </a:solidFill>
                  <a:latin typeface="Calibri" pitchFamily="34" charset="0"/>
                  <a:cs typeface="Calibri" pitchFamily="34" charset="0"/>
                </a:rPr>
                <a:t>– E-Miner  based on the complexity of reports.</a:t>
              </a:r>
            </a:p>
            <a:p>
              <a:pPr marL="171450" indent="-171450">
                <a:buFont typeface="Arial" panose="020B0604020202020204" pitchFamily="34" charset="0"/>
                <a:buChar char="•"/>
              </a:pPr>
              <a:r>
                <a:rPr lang="en-US" sz="800" b="1" kern="0" dirty="0">
                  <a:solidFill>
                    <a:prstClr val="black"/>
                  </a:solidFill>
                  <a:latin typeface="Calibri" pitchFamily="34" charset="0"/>
                  <a:cs typeface="Calibri" pitchFamily="34" charset="0"/>
                </a:rPr>
                <a:t> </a:t>
              </a:r>
              <a:r>
                <a:rPr lang="en-US" sz="800" b="1" kern="0" dirty="0">
                  <a:solidFill>
                    <a:srgbClr val="FF0000"/>
                  </a:solidFill>
                  <a:latin typeface="Calibri" pitchFamily="34" charset="0"/>
                  <a:cs typeface="Calibri" pitchFamily="34" charset="0"/>
                </a:rPr>
                <a:t>6B </a:t>
              </a:r>
              <a:r>
                <a:rPr lang="en-US" sz="800" kern="0" dirty="0">
                  <a:solidFill>
                    <a:sysClr val="windowText" lastClr="000000"/>
                  </a:solidFill>
                  <a:latin typeface="Calibri" pitchFamily="34" charset="0"/>
                  <a:cs typeface="Calibri" pitchFamily="34" charset="0"/>
                </a:rPr>
                <a:t>– Visual Analytics reports  </a:t>
              </a:r>
            </a:p>
            <a:p>
              <a:pPr marL="171450" indent="-171450">
                <a:buFont typeface="Arial" panose="020B0604020202020204" pitchFamily="34" charset="0"/>
                <a:buChar char="•"/>
              </a:pPr>
              <a:r>
                <a:rPr lang="en-US" sz="800" b="1" kern="0" dirty="0">
                  <a:solidFill>
                    <a:srgbClr val="FF0000"/>
                  </a:solidFill>
                  <a:latin typeface="Calibri" pitchFamily="34" charset="0"/>
                  <a:cs typeface="Calibri" pitchFamily="34" charset="0"/>
                </a:rPr>
                <a:t>6C – </a:t>
              </a:r>
              <a:r>
                <a:rPr lang="en-US" sz="800" kern="0" dirty="0">
                  <a:solidFill>
                    <a:sysClr val="windowText" lastClr="000000"/>
                  </a:solidFill>
                  <a:latin typeface="Calibri" pitchFamily="34" charset="0"/>
                  <a:cs typeface="Calibri" pitchFamily="34" charset="0"/>
                </a:rPr>
                <a:t>Solr Search – for Searching functionality </a:t>
              </a:r>
            </a:p>
          </p:txBody>
        </p:sp>
      </p:grpSp>
      <p:sp>
        <p:nvSpPr>
          <p:cNvPr id="87" name="Rectangle 86"/>
          <p:cNvSpPr/>
          <p:nvPr/>
        </p:nvSpPr>
        <p:spPr>
          <a:xfrm>
            <a:off x="8064815" y="1524000"/>
            <a:ext cx="745871"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dirty="0">
                <a:solidFill>
                  <a:prstClr val="black"/>
                </a:solidFill>
                <a:latin typeface="Calibri" panose="020F0502020204030204" pitchFamily="34" charset="0"/>
              </a:rPr>
              <a:t>Cases Investigation &amp; Disposition</a:t>
            </a:r>
          </a:p>
        </p:txBody>
      </p:sp>
      <p:cxnSp>
        <p:nvCxnSpPr>
          <p:cNvPr id="74" name="Straight Arrow Connector 73"/>
          <p:cNvCxnSpPr>
            <a:endCxn id="70" idx="1"/>
          </p:cNvCxnSpPr>
          <p:nvPr/>
        </p:nvCxnSpPr>
        <p:spPr>
          <a:xfrm>
            <a:off x="7746472" y="1782097"/>
            <a:ext cx="241021"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93" name="TextBox 44"/>
          <p:cNvSpPr txBox="1"/>
          <p:nvPr/>
        </p:nvSpPr>
        <p:spPr>
          <a:xfrm>
            <a:off x="7475639" y="3140671"/>
            <a:ext cx="511854" cy="13592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6A, 6B, 6C</a:t>
            </a:r>
          </a:p>
        </p:txBody>
      </p:sp>
      <p:sp>
        <p:nvSpPr>
          <p:cNvPr id="102" name="Can 101"/>
          <p:cNvSpPr/>
          <p:nvPr/>
        </p:nvSpPr>
        <p:spPr>
          <a:xfrm>
            <a:off x="2116014" y="3886200"/>
            <a:ext cx="645830" cy="321378"/>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EDM</a:t>
            </a:r>
          </a:p>
        </p:txBody>
      </p:sp>
      <p:cxnSp>
        <p:nvCxnSpPr>
          <p:cNvPr id="103" name="Straight Arrow Connector 102"/>
          <p:cNvCxnSpPr>
            <a:stCxn id="104" idx="3"/>
            <a:endCxn id="114" idx="0"/>
          </p:cNvCxnSpPr>
          <p:nvPr/>
        </p:nvCxnSpPr>
        <p:spPr>
          <a:xfrm flipH="1">
            <a:off x="5075624" y="1125789"/>
            <a:ext cx="18355" cy="112073"/>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104" name="Can 103"/>
          <p:cNvSpPr/>
          <p:nvPr/>
        </p:nvSpPr>
        <p:spPr>
          <a:xfrm>
            <a:off x="4656524" y="875524"/>
            <a:ext cx="874909" cy="250265"/>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t"/>
          <a:lstStyle/>
          <a:p>
            <a:pPr algn="ctr"/>
            <a:r>
              <a:rPr lang="en-US" sz="800" kern="0" dirty="0">
                <a:solidFill>
                  <a:sysClr val="windowText" lastClr="000000"/>
                </a:solidFill>
                <a:latin typeface="Calibri" pitchFamily="34" charset="0"/>
                <a:cs typeface="Calibri" pitchFamily="34" charset="0"/>
              </a:rPr>
              <a:t>eQAR, KYC</a:t>
            </a:r>
          </a:p>
        </p:txBody>
      </p:sp>
      <p:sp>
        <p:nvSpPr>
          <p:cNvPr id="110" name="TextBox 44"/>
          <p:cNvSpPr txBox="1"/>
          <p:nvPr/>
        </p:nvSpPr>
        <p:spPr>
          <a:xfrm>
            <a:off x="3048000" y="1990725"/>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1F</a:t>
            </a:r>
          </a:p>
        </p:txBody>
      </p:sp>
      <p:grpSp>
        <p:nvGrpSpPr>
          <p:cNvPr id="150" name="Group 11285"/>
          <p:cNvGrpSpPr/>
          <p:nvPr/>
        </p:nvGrpSpPr>
        <p:grpSpPr>
          <a:xfrm>
            <a:off x="7824087" y="2209801"/>
            <a:ext cx="1081788" cy="709286"/>
            <a:chOff x="5342313" y="3884676"/>
            <a:chExt cx="1363287" cy="525778"/>
          </a:xfrm>
        </p:grpSpPr>
        <p:sp>
          <p:nvSpPr>
            <p:cNvPr id="89" name="Rectangle 88"/>
            <p:cNvSpPr/>
            <p:nvPr/>
          </p:nvSpPr>
          <p:spPr>
            <a:xfrm>
              <a:off x="5342313" y="3998976"/>
              <a:ext cx="1363286" cy="411478"/>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90" name="Rectangle 89"/>
            <p:cNvSpPr/>
            <p:nvPr/>
          </p:nvSpPr>
          <p:spPr>
            <a:xfrm>
              <a:off x="5342313" y="3884676"/>
              <a:ext cx="1363287" cy="114300"/>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Analytics</a:t>
              </a:r>
            </a:p>
          </p:txBody>
        </p:sp>
      </p:grpSp>
      <p:sp>
        <p:nvSpPr>
          <p:cNvPr id="111" name="TextBox 44"/>
          <p:cNvSpPr txBox="1"/>
          <p:nvPr/>
        </p:nvSpPr>
        <p:spPr>
          <a:xfrm>
            <a:off x="7824087" y="1990725"/>
            <a:ext cx="132445"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5A</a:t>
            </a:r>
          </a:p>
        </p:txBody>
      </p:sp>
      <p:sp>
        <p:nvSpPr>
          <p:cNvPr id="11" name="Rectangle 96"/>
          <p:cNvSpPr/>
          <p:nvPr/>
        </p:nvSpPr>
        <p:spPr>
          <a:xfrm>
            <a:off x="247263" y="962025"/>
            <a:ext cx="2725944" cy="3480424"/>
          </a:xfrm>
          <a:prstGeom prst="rect">
            <a:avLst/>
          </a:prstGeom>
          <a:ln w="25400">
            <a:solidFill>
              <a:srgbClr val="FF0000"/>
            </a:solidFill>
            <a:prstDash val="lgDashDot"/>
          </a:ln>
        </p:spPr>
        <p:txBody>
          <a:bodyPr wrap="square" rtlCol="0" anchor="ctr">
            <a:spAutoFit/>
          </a:bodyPr>
          <a:lstStyle/>
          <a:p>
            <a:pPr algn="ctr"/>
            <a:endParaRPr lang="en-US" sz="1200" dirty="0">
              <a:solidFill>
                <a:prstClr val="black"/>
              </a:solidFill>
              <a:latin typeface="Georgia"/>
            </a:endParaRPr>
          </a:p>
        </p:txBody>
      </p:sp>
      <p:sp>
        <p:nvSpPr>
          <p:cNvPr id="12" name="Flowchart: Process 99"/>
          <p:cNvSpPr/>
          <p:nvPr/>
        </p:nvSpPr>
        <p:spPr>
          <a:xfrm>
            <a:off x="213360" y="709059"/>
            <a:ext cx="1884122" cy="263253"/>
          </a:xfrm>
          <a:prstGeom prst="flowChartProcess">
            <a:avLst/>
          </a:prstGeom>
          <a:noFill/>
          <a:ln>
            <a:noFill/>
          </a:ln>
          <a:effectLst/>
        </p:spPr>
        <p:style>
          <a:lnRef idx="1">
            <a:schemeClr val="dk1"/>
          </a:lnRef>
          <a:fillRef idx="2">
            <a:schemeClr val="dk1"/>
          </a:fillRef>
          <a:effectRef idx="1">
            <a:schemeClr val="dk1"/>
          </a:effectRef>
          <a:fontRef idx="minor">
            <a:schemeClr val="dk1"/>
          </a:fontRef>
        </p:style>
        <p:txBody>
          <a:bodyPr rtlCol="0" anchor="ctr"/>
          <a:lstStyle/>
          <a:p>
            <a:r>
              <a:rPr lang="en-US" sz="800" b="1" kern="0" dirty="0">
                <a:solidFill>
                  <a:srgbClr val="FF0000"/>
                </a:solidFill>
                <a:cs typeface="Calibri" pitchFamily="34" charset="0"/>
              </a:rPr>
              <a:t>* DWH architecture is  addressed  in  the Data Track project</a:t>
            </a:r>
          </a:p>
        </p:txBody>
      </p:sp>
      <p:sp>
        <p:nvSpPr>
          <p:cNvPr id="100" name="Document 27"/>
          <p:cNvSpPr/>
          <p:nvPr/>
        </p:nvSpPr>
        <p:spPr>
          <a:xfrm>
            <a:off x="5871809" y="875524"/>
            <a:ext cx="650239" cy="250265"/>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700" kern="0" dirty="0">
                <a:solidFill>
                  <a:sysClr val="windowText" lastClr="000000"/>
                </a:solidFill>
                <a:latin typeface="Calibri" pitchFamily="34" charset="0"/>
                <a:cs typeface="Calibri" pitchFamily="34" charset="0"/>
              </a:rPr>
              <a:t>Raw Watch List Files</a:t>
            </a:r>
          </a:p>
        </p:txBody>
      </p:sp>
      <p:cxnSp>
        <p:nvCxnSpPr>
          <p:cNvPr id="112" name="Straight Arrow Connector 111"/>
          <p:cNvCxnSpPr>
            <a:stCxn id="100" idx="2"/>
            <a:endCxn id="118" idx="0"/>
          </p:cNvCxnSpPr>
          <p:nvPr/>
        </p:nvCxnSpPr>
        <p:spPr>
          <a:xfrm>
            <a:off x="6196929" y="1109244"/>
            <a:ext cx="4569" cy="128618"/>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91" name="Straight Arrow Connector 233"/>
          <p:cNvCxnSpPr>
            <a:stCxn id="143" idx="3"/>
            <a:endCxn id="89" idx="2"/>
          </p:cNvCxnSpPr>
          <p:nvPr/>
        </p:nvCxnSpPr>
        <p:spPr>
          <a:xfrm rot="16200000" flipH="1">
            <a:off x="7742590" y="2296695"/>
            <a:ext cx="210375" cy="1034407"/>
          </a:xfrm>
          <a:prstGeom prst="bentConnector3">
            <a:avLst>
              <a:gd name="adj1" fmla="val 294041"/>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8" name="Rectangle 147"/>
          <p:cNvSpPr/>
          <p:nvPr/>
        </p:nvSpPr>
        <p:spPr>
          <a:xfrm>
            <a:off x="3352800" y="3962400"/>
            <a:ext cx="685116" cy="215444"/>
          </a:xfrm>
          <a:prstGeom prst="rect">
            <a:avLst/>
          </a:prstGeom>
          <a:solidFill>
            <a:srgbClr val="FFA3A3"/>
          </a:solidFill>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dirty="0">
                <a:solidFill>
                  <a:prstClr val="black"/>
                </a:solidFill>
                <a:latin typeface="Calibri" panose="020F0502020204030204" pitchFamily="34" charset="0"/>
              </a:rPr>
              <a:t>RDC Flow </a:t>
            </a:r>
          </a:p>
        </p:txBody>
      </p:sp>
      <p:sp>
        <p:nvSpPr>
          <p:cNvPr id="95" name="Rectangle 94"/>
          <p:cNvSpPr/>
          <p:nvPr/>
        </p:nvSpPr>
        <p:spPr>
          <a:xfrm>
            <a:off x="1819435" y="1024251"/>
            <a:ext cx="1124372" cy="22140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Data Lake     </a:t>
            </a:r>
          </a:p>
        </p:txBody>
      </p:sp>
      <p:sp>
        <p:nvSpPr>
          <p:cNvPr id="96" name="Rectangle 95"/>
          <p:cNvSpPr/>
          <p:nvPr/>
        </p:nvSpPr>
        <p:spPr>
          <a:xfrm>
            <a:off x="1819435" y="1247511"/>
            <a:ext cx="1118132" cy="238389"/>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kern="0" dirty="0">
                <a:solidFill>
                  <a:sysClr val="windowText" lastClr="000000"/>
                </a:solidFill>
                <a:latin typeface="Calibri" pitchFamily="34" charset="0"/>
                <a:cs typeface="Calibri" pitchFamily="34" charset="0"/>
              </a:rPr>
              <a:t>Payment</a:t>
            </a:r>
          </a:p>
        </p:txBody>
      </p:sp>
      <p:cxnSp>
        <p:nvCxnSpPr>
          <p:cNvPr id="99" name="Straight Arrow Connector 233"/>
          <p:cNvCxnSpPr>
            <a:stCxn id="96" idx="3"/>
          </p:cNvCxnSpPr>
          <p:nvPr/>
        </p:nvCxnSpPr>
        <p:spPr>
          <a:xfrm>
            <a:off x="2937567" y="1366706"/>
            <a:ext cx="510060" cy="321521"/>
          </a:xfrm>
          <a:prstGeom prst="bentConnector3">
            <a:avLst>
              <a:gd name="adj1" fmla="val 50000"/>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01" name="TextBox 44"/>
          <p:cNvSpPr txBox="1"/>
          <p:nvPr/>
        </p:nvSpPr>
        <p:spPr>
          <a:xfrm>
            <a:off x="3048000" y="1109244"/>
            <a:ext cx="162377" cy="18615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1E</a:t>
            </a:r>
          </a:p>
        </p:txBody>
      </p:sp>
      <p:sp>
        <p:nvSpPr>
          <p:cNvPr id="113" name="Document 27"/>
          <p:cNvSpPr/>
          <p:nvPr/>
        </p:nvSpPr>
        <p:spPr>
          <a:xfrm>
            <a:off x="533400" y="1365957"/>
            <a:ext cx="838200" cy="644541"/>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800" kern="0" dirty="0">
                <a:solidFill>
                  <a:sysClr val="windowText" lastClr="000000"/>
                </a:solidFill>
                <a:latin typeface="Calibri" pitchFamily="34" charset="0"/>
                <a:cs typeface="Calibri" pitchFamily="34" charset="0"/>
              </a:rPr>
              <a:t>GPP,BESS,AMH Files  for Payments</a:t>
            </a:r>
          </a:p>
        </p:txBody>
      </p:sp>
      <p:cxnSp>
        <p:nvCxnSpPr>
          <p:cNvPr id="115" name="Straight Arrow Connector 233"/>
          <p:cNvCxnSpPr>
            <a:stCxn id="113" idx="3"/>
            <a:endCxn id="96" idx="1"/>
          </p:cNvCxnSpPr>
          <p:nvPr/>
        </p:nvCxnSpPr>
        <p:spPr>
          <a:xfrm flipV="1">
            <a:off x="1371600" y="1366706"/>
            <a:ext cx="447835" cy="321522"/>
          </a:xfrm>
          <a:prstGeom prst="bentConnector3">
            <a:avLst>
              <a:gd name="adj1" fmla="val 72460"/>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6" name="Straight Arrow Connector 233"/>
          <p:cNvCxnSpPr>
            <a:stCxn id="67" idx="3"/>
          </p:cNvCxnSpPr>
          <p:nvPr/>
        </p:nvCxnSpPr>
        <p:spPr>
          <a:xfrm flipV="1">
            <a:off x="1371599" y="2691804"/>
            <a:ext cx="475829" cy="227"/>
          </a:xfrm>
          <a:prstGeom prst="bentConnector3">
            <a:avLst>
              <a:gd name="adj1" fmla="val 50000"/>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4" name="Straight Arrow Connector 8"/>
          <p:cNvCxnSpPr>
            <a:stCxn id="117" idx="2"/>
          </p:cNvCxnSpPr>
          <p:nvPr/>
        </p:nvCxnSpPr>
        <p:spPr>
          <a:xfrm flipH="1">
            <a:off x="6196928" y="2901978"/>
            <a:ext cx="4570" cy="425986"/>
          </a:xfrm>
          <a:prstGeom prst="straightConnector1">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1" name="TextBox 120"/>
          <p:cNvSpPr txBox="1"/>
          <p:nvPr/>
        </p:nvSpPr>
        <p:spPr>
          <a:xfrm>
            <a:off x="3352800" y="871956"/>
            <a:ext cx="1145919" cy="271044"/>
          </a:xfrm>
          <a:prstGeom prst="rect">
            <a:avLst/>
          </a:prstGeom>
          <a:solidFill>
            <a:schemeClr val="accent2"/>
          </a:solidFill>
        </p:spPr>
        <p:txBody>
          <a:bodyPr wrap="square" lIns="0" tIns="0" rIns="0" bIns="0" rtlCol="0">
            <a:noAutofit/>
          </a:bodyPr>
          <a:lstStyle/>
          <a:p>
            <a:pPr indent="-274320">
              <a:spcAft>
                <a:spcPts val="900"/>
              </a:spcAft>
            </a:pPr>
            <a:r>
              <a:rPr lang="en-US" sz="800" b="1" dirty="0">
                <a:solidFill>
                  <a:prstClr val="white"/>
                </a:solidFill>
                <a:latin typeface="Georgia" pitchFamily="18" charset="0"/>
              </a:rPr>
              <a:t>SAS  Cloud  Based AML Platform</a:t>
            </a:r>
          </a:p>
        </p:txBody>
      </p:sp>
      <p:cxnSp>
        <p:nvCxnSpPr>
          <p:cNvPr id="119" name="Straight Arrow Connector 233"/>
          <p:cNvCxnSpPr>
            <a:stCxn id="132" idx="2"/>
            <a:endCxn id="102" idx="2"/>
          </p:cNvCxnSpPr>
          <p:nvPr/>
        </p:nvCxnSpPr>
        <p:spPr>
          <a:xfrm rot="10800000" flipV="1">
            <a:off x="2116014" y="3115911"/>
            <a:ext cx="12700" cy="930978"/>
          </a:xfrm>
          <a:prstGeom prst="bentConnector3">
            <a:avLst>
              <a:gd name="adj1" fmla="val 1800000"/>
            </a:avLst>
          </a:prstGeom>
          <a:ln w="31750">
            <a:solidFill>
              <a:schemeClr val="bg1">
                <a:lumMod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21" name="TextBox 44"/>
          <p:cNvSpPr txBox="1"/>
          <p:nvPr/>
        </p:nvSpPr>
        <p:spPr>
          <a:xfrm>
            <a:off x="1935105" y="3857396"/>
            <a:ext cx="162377" cy="18615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1D</a:t>
            </a:r>
          </a:p>
        </p:txBody>
      </p:sp>
      <p:cxnSp>
        <p:nvCxnSpPr>
          <p:cNvPr id="126" name="Elbow Connector 125"/>
          <p:cNvCxnSpPr>
            <a:stCxn id="143" idx="3"/>
          </p:cNvCxnSpPr>
          <p:nvPr/>
        </p:nvCxnSpPr>
        <p:spPr>
          <a:xfrm rot="5400000">
            <a:off x="6456410" y="2453800"/>
            <a:ext cx="619252" cy="1129076"/>
          </a:xfrm>
          <a:prstGeom prst="bentConnector2">
            <a:avLst/>
          </a:prstGeom>
          <a:ln w="317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Cloud Callout 42"/>
          <p:cNvSpPr/>
          <p:nvPr/>
        </p:nvSpPr>
        <p:spPr>
          <a:xfrm>
            <a:off x="7813050" y="815296"/>
            <a:ext cx="281203" cy="421660"/>
          </a:xfrm>
          <a:prstGeom prst="cloudCallout">
            <a:avLst>
              <a:gd name="adj1" fmla="val -20833"/>
              <a:gd name="adj2" fmla="val 6201"/>
            </a:avLst>
          </a:prstGeom>
        </p:spPr>
        <p:txBody>
          <a:bodyPr wrap="none" rtlCol="0" anchor="ctr">
            <a:spAutoFit/>
          </a:bodyPr>
          <a:lstStyle/>
          <a:p>
            <a:pPr algn="ctr"/>
            <a:endParaRPr lang="en-US" sz="1200" dirty="0">
              <a:solidFill>
                <a:srgbClr val="7F8FA9">
                  <a:lumMod val="75000"/>
                </a:srgbClr>
              </a:solidFill>
              <a:latin typeface="Georgia"/>
            </a:endParaRPr>
          </a:p>
        </p:txBody>
      </p:sp>
      <p:sp>
        <p:nvSpPr>
          <p:cNvPr id="50" name="Cloud 49"/>
          <p:cNvSpPr/>
          <p:nvPr/>
        </p:nvSpPr>
        <p:spPr>
          <a:xfrm>
            <a:off x="-914400" y="3768304"/>
            <a:ext cx="381000" cy="727496"/>
          </a:xfrm>
          <a:prstGeom prst="cloud">
            <a:avLst/>
          </a:prstGeom>
        </p:spPr>
        <p:txBody>
          <a:bodyPr wrap="none" rtlCol="0" anchor="ctr">
            <a:spAutoFit/>
          </a:bodyPr>
          <a:lstStyle/>
          <a:p>
            <a:pPr algn="ctr"/>
            <a:endParaRPr lang="en-US" sz="1200" dirty="0">
              <a:solidFill>
                <a:prstClr val="black"/>
              </a:solidFill>
              <a:latin typeface="Georgia"/>
            </a:endParaRPr>
          </a:p>
        </p:txBody>
      </p:sp>
      <p:cxnSp>
        <p:nvCxnSpPr>
          <p:cNvPr id="3" name="Straight Arrow Connector 121"/>
          <p:cNvCxnSpPr>
            <a:stCxn id="4" idx="1"/>
          </p:cNvCxnSpPr>
          <p:nvPr/>
        </p:nvCxnSpPr>
        <p:spPr>
          <a:xfrm flipH="1">
            <a:off x="2944065" y="4311878"/>
            <a:ext cx="408735"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4" name="Rectangle 132"/>
          <p:cNvSpPr/>
          <p:nvPr/>
        </p:nvSpPr>
        <p:spPr>
          <a:xfrm>
            <a:off x="3352800" y="4204156"/>
            <a:ext cx="685116" cy="215444"/>
          </a:xfrm>
          <a:prstGeom prst="rect">
            <a:avLst/>
          </a:prstGeom>
          <a:solidFill>
            <a:srgbClr val="FFA3A3"/>
          </a:solidFill>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dirty="0">
                <a:solidFill>
                  <a:prstClr val="black"/>
                </a:solidFill>
                <a:latin typeface="Calibri" panose="020F0502020204030204" pitchFamily="34" charset="0"/>
              </a:rPr>
              <a:t>KYC  </a:t>
            </a:r>
          </a:p>
        </p:txBody>
      </p:sp>
      <p:cxnSp>
        <p:nvCxnSpPr>
          <p:cNvPr id="5" name="Straight Arrow Connector 133"/>
          <p:cNvCxnSpPr>
            <a:endCxn id="148" idx="1"/>
          </p:cNvCxnSpPr>
          <p:nvPr/>
        </p:nvCxnSpPr>
        <p:spPr>
          <a:xfrm>
            <a:off x="2973207" y="4070122"/>
            <a:ext cx="379593"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6" name="TextBox 44"/>
          <p:cNvSpPr txBox="1"/>
          <p:nvPr/>
        </p:nvSpPr>
        <p:spPr>
          <a:xfrm>
            <a:off x="3041964" y="4267200"/>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1G</a:t>
            </a:r>
          </a:p>
        </p:txBody>
      </p:sp>
      <p:sp>
        <p:nvSpPr>
          <p:cNvPr id="7" name="TextBox 44"/>
          <p:cNvSpPr txBox="1"/>
          <p:nvPr/>
        </p:nvSpPr>
        <p:spPr>
          <a:xfrm>
            <a:off x="3041964" y="3962400"/>
            <a:ext cx="234636"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1H</a:t>
            </a:r>
          </a:p>
        </p:txBody>
      </p:sp>
      <p:sp>
        <p:nvSpPr>
          <p:cNvPr id="122" name="Rectangle 96"/>
          <p:cNvSpPr/>
          <p:nvPr/>
        </p:nvSpPr>
        <p:spPr>
          <a:xfrm>
            <a:off x="3210377" y="862976"/>
            <a:ext cx="5695497" cy="3087498"/>
          </a:xfrm>
          <a:prstGeom prst="rect">
            <a:avLst/>
          </a:prstGeom>
          <a:ln w="25400">
            <a:solidFill>
              <a:schemeClr val="bg2">
                <a:lumMod val="75000"/>
              </a:schemeClr>
            </a:solidFill>
            <a:prstDash val="lgDashDot"/>
          </a:ln>
        </p:spPr>
        <p:txBody>
          <a:bodyPr wrap="square" rtlCol="0" anchor="ctr">
            <a:spAutoFit/>
          </a:bodyPr>
          <a:lstStyle/>
          <a:p>
            <a:pPr algn="ctr"/>
            <a:endParaRPr lang="en-US" sz="1200" dirty="0">
              <a:solidFill>
                <a:prstClr val="black"/>
              </a:solidFill>
              <a:latin typeface="Georgia"/>
            </a:endParaRPr>
          </a:p>
        </p:txBody>
      </p:sp>
      <p:sp>
        <p:nvSpPr>
          <p:cNvPr id="133" name="Rectangle 132"/>
          <p:cNvSpPr/>
          <p:nvPr/>
        </p:nvSpPr>
        <p:spPr>
          <a:xfrm>
            <a:off x="7873092" y="2417607"/>
            <a:ext cx="962086"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dirty="0">
                <a:solidFill>
                  <a:prstClr val="black"/>
                </a:solidFill>
                <a:latin typeface="Calibri" panose="020F0502020204030204" pitchFamily="34" charset="0"/>
              </a:rPr>
              <a:t>Visual Analytics</a:t>
            </a:r>
          </a:p>
          <a:p>
            <a:pPr algn="ctr"/>
            <a:r>
              <a:rPr lang="en-US" sz="800" dirty="0" err="1">
                <a:solidFill>
                  <a:prstClr val="black"/>
                </a:solidFill>
                <a:latin typeface="Calibri" panose="020F0502020204030204" pitchFamily="34" charset="0"/>
              </a:rPr>
              <a:t>eMiner</a:t>
            </a:r>
            <a:endParaRPr lang="en-US" sz="800" dirty="0">
              <a:solidFill>
                <a:prstClr val="black"/>
              </a:solidFill>
              <a:latin typeface="Calibri" panose="020F0502020204030204" pitchFamily="34" charset="0"/>
            </a:endParaRPr>
          </a:p>
          <a:p>
            <a:pPr algn="ctr"/>
            <a:r>
              <a:rPr lang="en-US" sz="800" dirty="0" err="1">
                <a:solidFill>
                  <a:prstClr val="black"/>
                </a:solidFill>
                <a:latin typeface="Calibri" panose="020F0502020204030204" pitchFamily="34" charset="0"/>
              </a:rPr>
              <a:t>Solr</a:t>
            </a:r>
            <a:r>
              <a:rPr lang="en-US" sz="800" dirty="0">
                <a:solidFill>
                  <a:prstClr val="black"/>
                </a:solidFill>
                <a:latin typeface="Calibri" panose="020F0502020204030204" pitchFamily="34" charset="0"/>
              </a:rPr>
              <a:t> Search</a:t>
            </a:r>
          </a:p>
        </p:txBody>
      </p:sp>
      <p:grpSp>
        <p:nvGrpSpPr>
          <p:cNvPr id="152" name="Group 96"/>
          <p:cNvGrpSpPr/>
          <p:nvPr/>
        </p:nvGrpSpPr>
        <p:grpSpPr>
          <a:xfrm>
            <a:off x="3474437" y="3372799"/>
            <a:ext cx="5360741" cy="504698"/>
            <a:chOff x="3447627" y="1237862"/>
            <a:chExt cx="921223" cy="1842650"/>
          </a:xfrm>
        </p:grpSpPr>
        <p:sp>
          <p:nvSpPr>
            <p:cNvPr id="153" name="Rectangle 20"/>
            <p:cNvSpPr/>
            <p:nvPr/>
          </p:nvSpPr>
          <p:spPr>
            <a:xfrm>
              <a:off x="3447627" y="1464552"/>
              <a:ext cx="921223" cy="1615960"/>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54" name="Rectangle 21"/>
            <p:cNvSpPr/>
            <p:nvPr/>
          </p:nvSpPr>
          <p:spPr>
            <a:xfrm>
              <a:off x="3447627" y="1237862"/>
              <a:ext cx="921223" cy="483395"/>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Sanctions Tenant</a:t>
              </a:r>
            </a:p>
          </p:txBody>
        </p:sp>
      </p:grpSp>
      <p:cxnSp>
        <p:nvCxnSpPr>
          <p:cNvPr id="156" name="Straight Arrow Connector 121"/>
          <p:cNvCxnSpPr>
            <a:stCxn id="148" idx="3"/>
            <a:endCxn id="153" idx="2"/>
          </p:cNvCxnSpPr>
          <p:nvPr/>
        </p:nvCxnSpPr>
        <p:spPr>
          <a:xfrm flipV="1">
            <a:off x="4037916" y="3877497"/>
            <a:ext cx="2116892" cy="192625"/>
          </a:xfrm>
          <a:prstGeom prst="bentConnector2">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157" name="TextBox 44"/>
          <p:cNvSpPr txBox="1"/>
          <p:nvPr/>
        </p:nvSpPr>
        <p:spPr>
          <a:xfrm>
            <a:off x="5030139" y="3951397"/>
            <a:ext cx="132445"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4B</a:t>
            </a:r>
          </a:p>
        </p:txBody>
      </p:sp>
      <p:grpSp>
        <p:nvGrpSpPr>
          <p:cNvPr id="158" name="Group 96"/>
          <p:cNvGrpSpPr/>
          <p:nvPr/>
        </p:nvGrpSpPr>
        <p:grpSpPr>
          <a:xfrm>
            <a:off x="6968551" y="4014851"/>
            <a:ext cx="671192" cy="328549"/>
            <a:chOff x="3447627" y="1237862"/>
            <a:chExt cx="921223" cy="1842650"/>
          </a:xfrm>
        </p:grpSpPr>
        <p:sp>
          <p:nvSpPr>
            <p:cNvPr id="159" name="Rectangle 20"/>
            <p:cNvSpPr/>
            <p:nvPr/>
          </p:nvSpPr>
          <p:spPr>
            <a:xfrm>
              <a:off x="3447627" y="1464552"/>
              <a:ext cx="921223" cy="1615960"/>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60" name="Rectangle 21"/>
            <p:cNvSpPr/>
            <p:nvPr/>
          </p:nvSpPr>
          <p:spPr>
            <a:xfrm>
              <a:off x="3447627" y="1237862"/>
              <a:ext cx="921223" cy="1414097"/>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b="1" kern="0" dirty="0">
                  <a:solidFill>
                    <a:prstClr val="white"/>
                  </a:solidFill>
                  <a:latin typeface="Calibri" pitchFamily="34" charset="0"/>
                  <a:cs typeface="Calibri" pitchFamily="34" charset="0"/>
                </a:rPr>
                <a:t>Focal Point</a:t>
              </a:r>
            </a:p>
          </p:txBody>
        </p:sp>
      </p:grpSp>
      <p:cxnSp>
        <p:nvCxnSpPr>
          <p:cNvPr id="161" name="Straight Arrow Connector 121"/>
          <p:cNvCxnSpPr>
            <a:stCxn id="148" idx="3"/>
            <a:endCxn id="159" idx="1"/>
          </p:cNvCxnSpPr>
          <p:nvPr/>
        </p:nvCxnSpPr>
        <p:spPr>
          <a:xfrm>
            <a:off x="4037916" y="4070122"/>
            <a:ext cx="2930635" cy="129213"/>
          </a:xfrm>
          <a:prstGeom prst="bentConnector3">
            <a:avLst>
              <a:gd name="adj1" fmla="val 72287"/>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162" name="TextBox 44"/>
          <p:cNvSpPr txBox="1"/>
          <p:nvPr/>
        </p:nvSpPr>
        <p:spPr>
          <a:xfrm>
            <a:off x="6455825" y="4055061"/>
            <a:ext cx="132445"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4C</a:t>
            </a:r>
          </a:p>
        </p:txBody>
      </p:sp>
    </p:spTree>
    <p:extLst>
      <p:ext uri="{BB962C8B-B14F-4D97-AF65-F5344CB8AC3E}">
        <p14:creationId xmlns:p14="http://schemas.microsoft.com/office/powerpoint/2010/main" val="168276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332"/>
          </a:xfrm>
        </p:spPr>
        <p:txBody>
          <a:bodyPr/>
          <a:lstStyle/>
          <a:p>
            <a:r>
              <a:rPr lang="en-US" i="0" dirty="0">
                <a:solidFill>
                  <a:schemeClr val="bg1"/>
                </a:solidFill>
                <a:latin typeface="Calibri" panose="020F0502020204030204" pitchFamily="34" charset="0"/>
                <a:cs typeface="Calibri" panose="020F0502020204030204" pitchFamily="34" charset="0"/>
              </a:rPr>
              <a:t>RDC Screening and Ingestion</a:t>
            </a:r>
            <a:r>
              <a:rPr lang="en-US" sz="900" i="0" dirty="0">
                <a:solidFill>
                  <a:schemeClr val="bg1"/>
                </a:solidFill>
                <a:latin typeface="Calibri" panose="020F0502020204030204" pitchFamily="34" charset="0"/>
                <a:cs typeface="Calibri" panose="020F0502020204030204" pitchFamily="34" charset="0"/>
              </a:rPr>
              <a:t>(Current RDC process to be continued in future)</a:t>
            </a:r>
          </a:p>
        </p:txBody>
      </p:sp>
      <p:grpSp>
        <p:nvGrpSpPr>
          <p:cNvPr id="7" name="Group 6"/>
          <p:cNvGrpSpPr/>
          <p:nvPr/>
        </p:nvGrpSpPr>
        <p:grpSpPr>
          <a:xfrm>
            <a:off x="228600" y="4335673"/>
            <a:ext cx="2172587" cy="2369926"/>
            <a:chOff x="228600" y="4335673"/>
            <a:chExt cx="2172587" cy="2369926"/>
          </a:xfrm>
        </p:grpSpPr>
        <p:sp>
          <p:nvSpPr>
            <p:cNvPr id="49" name="Pentagon 48"/>
            <p:cNvSpPr/>
            <p:nvPr/>
          </p:nvSpPr>
          <p:spPr>
            <a:xfrm>
              <a:off x="228600" y="4335673"/>
              <a:ext cx="2172587" cy="381000"/>
            </a:xfrm>
            <a:prstGeom prst="homePlate">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dirty="0">
                  <a:latin typeface="Calibri" panose="020F0502020204030204" pitchFamily="34" charset="0"/>
                  <a:cs typeface="Calibri" panose="020F0502020204030204" pitchFamily="34" charset="0"/>
                </a:rPr>
                <a:t>Source Data(1)</a:t>
              </a:r>
            </a:p>
          </p:txBody>
        </p:sp>
        <p:sp>
          <p:nvSpPr>
            <p:cNvPr id="61" name="Flowchart: Process 60"/>
            <p:cNvSpPr/>
            <p:nvPr/>
          </p:nvSpPr>
          <p:spPr>
            <a:xfrm>
              <a:off x="228600" y="4742038"/>
              <a:ext cx="2172587" cy="1963561"/>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3838" indent="-223838">
                <a:spcAft>
                  <a:spcPts val="900"/>
                </a:spcAft>
                <a:buFont typeface="+mj-lt"/>
                <a:buAutoNum type="alphaLcPeriod"/>
              </a:pPr>
              <a:r>
                <a:rPr lang="en-US" sz="1000" kern="0" dirty="0">
                  <a:solidFill>
                    <a:sysClr val="windowText" lastClr="000000"/>
                  </a:solidFill>
                  <a:latin typeface="Calibri" pitchFamily="34" charset="0"/>
                  <a:cs typeface="Calibri" pitchFamily="34" charset="0"/>
                </a:rPr>
                <a:t>The Following is the Data available from source systems</a:t>
              </a:r>
            </a:p>
            <a:p>
              <a:pPr marL="171450" indent="-171450">
                <a:buFont typeface="Arial" panose="020B0604020202020204" pitchFamily="34" charset="0"/>
                <a:buChar char="•"/>
              </a:pPr>
              <a:r>
                <a:rPr lang="en-US" sz="1000" b="1" kern="0" dirty="0">
                  <a:solidFill>
                    <a:sysClr val="windowText" lastClr="000000"/>
                  </a:solidFill>
                  <a:latin typeface="Calibri" pitchFamily="34" charset="0"/>
                  <a:cs typeface="Calibri" pitchFamily="34" charset="0"/>
                </a:rPr>
                <a:t>CDL</a:t>
              </a:r>
              <a:r>
                <a:rPr lang="en-US" sz="1000" kern="0" dirty="0">
                  <a:solidFill>
                    <a:sysClr val="windowText" lastClr="000000"/>
                  </a:solidFill>
                  <a:latin typeface="Calibri" pitchFamily="34" charset="0"/>
                  <a:cs typeface="Calibri" pitchFamily="34" charset="0"/>
                </a:rPr>
                <a:t>-Inactive customers and Customer Name,address,DOB</a:t>
              </a:r>
            </a:p>
            <a:p>
              <a:pPr marL="171450" indent="-171450">
                <a:buFont typeface="Arial" panose="020B0604020202020204" pitchFamily="34" charset="0"/>
                <a:buChar char="•"/>
              </a:pPr>
              <a:r>
                <a:rPr lang="en-US" sz="1000" b="1" kern="0" dirty="0">
                  <a:solidFill>
                    <a:sysClr val="windowText" lastClr="000000"/>
                  </a:solidFill>
                  <a:latin typeface="Calibri" pitchFamily="34" charset="0"/>
                  <a:cs typeface="Calibri" pitchFamily="34" charset="0"/>
                </a:rPr>
                <a:t>T360</a:t>
              </a:r>
              <a:r>
                <a:rPr lang="en-US" sz="1000" kern="0" dirty="0">
                  <a:solidFill>
                    <a:sysClr val="windowText" lastClr="000000"/>
                  </a:solidFill>
                  <a:latin typeface="Calibri" pitchFamily="34" charset="0"/>
                  <a:cs typeface="Calibri" pitchFamily="34" charset="0"/>
                </a:rPr>
                <a:t>-Customer Name,address,DOB</a:t>
              </a:r>
            </a:p>
            <a:p>
              <a:pPr marL="171450" indent="-171450">
                <a:buFont typeface="Arial" panose="020B0604020202020204" pitchFamily="34" charset="0"/>
                <a:buChar char="•"/>
              </a:pPr>
              <a:r>
                <a:rPr lang="en-US" sz="1000" b="1" kern="0" dirty="0">
                  <a:solidFill>
                    <a:sysClr val="windowText" lastClr="000000"/>
                  </a:solidFill>
                  <a:latin typeface="Calibri" pitchFamily="34" charset="0"/>
                  <a:cs typeface="Calibri" pitchFamily="34" charset="0"/>
                </a:rPr>
                <a:t>OVS</a:t>
              </a:r>
              <a:r>
                <a:rPr lang="en-US" sz="1000" kern="0" dirty="0">
                  <a:solidFill>
                    <a:sysClr val="windowText" lastClr="000000"/>
                  </a:solidFill>
                  <a:latin typeface="Calibri" pitchFamily="34" charset="0"/>
                  <a:cs typeface="Calibri" pitchFamily="34" charset="0"/>
                </a:rPr>
                <a:t>-Customer Name, address</a:t>
              </a:r>
            </a:p>
            <a:p>
              <a:pPr marL="171450" indent="-171450">
                <a:buFont typeface="Arial" panose="020B0604020202020204" pitchFamily="34" charset="0"/>
                <a:buChar char="•"/>
              </a:pPr>
              <a:r>
                <a:rPr lang="en-US" sz="1000" b="1" kern="0" dirty="0">
                  <a:solidFill>
                    <a:sysClr val="windowText" lastClr="000000"/>
                  </a:solidFill>
                  <a:latin typeface="Calibri" pitchFamily="34" charset="0"/>
                  <a:cs typeface="Calibri" pitchFamily="34" charset="0"/>
                </a:rPr>
                <a:t>KYC</a:t>
              </a:r>
              <a:r>
                <a:rPr lang="en-US" sz="1000" kern="0" dirty="0">
                  <a:solidFill>
                    <a:sysClr val="windowText" lastClr="000000"/>
                  </a:solidFill>
                  <a:latin typeface="Calibri" pitchFamily="34" charset="0"/>
                  <a:cs typeface="Calibri" pitchFamily="34" charset="0"/>
                </a:rPr>
                <a:t>-Customer Name, address, DOB</a:t>
              </a:r>
            </a:p>
          </p:txBody>
        </p:sp>
      </p:grpSp>
      <p:grpSp>
        <p:nvGrpSpPr>
          <p:cNvPr id="9" name="Group 8"/>
          <p:cNvGrpSpPr/>
          <p:nvPr/>
        </p:nvGrpSpPr>
        <p:grpSpPr>
          <a:xfrm>
            <a:off x="2673926" y="4335673"/>
            <a:ext cx="1792560" cy="2369927"/>
            <a:chOff x="2425643" y="4335673"/>
            <a:chExt cx="1792560" cy="2369927"/>
          </a:xfrm>
        </p:grpSpPr>
        <p:sp>
          <p:nvSpPr>
            <p:cNvPr id="59" name="Chevron 58"/>
            <p:cNvSpPr/>
            <p:nvPr/>
          </p:nvSpPr>
          <p:spPr>
            <a:xfrm>
              <a:off x="2425643" y="4335673"/>
              <a:ext cx="1792559" cy="381000"/>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dirty="0">
                  <a:latin typeface="Calibri" panose="020F0502020204030204" pitchFamily="34" charset="0"/>
                  <a:cs typeface="Calibri" panose="020F0502020204030204" pitchFamily="34" charset="0"/>
                </a:rPr>
                <a:t>Regulatory Data Corp , RDC(2)</a:t>
              </a:r>
            </a:p>
          </p:txBody>
        </p:sp>
        <p:sp>
          <p:nvSpPr>
            <p:cNvPr id="62" name="Flowchart: Process 61"/>
            <p:cNvSpPr/>
            <p:nvPr/>
          </p:nvSpPr>
          <p:spPr>
            <a:xfrm>
              <a:off x="2425644" y="4742038"/>
              <a:ext cx="1792559" cy="1963562"/>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5425" indent="-225425">
                <a:buFont typeface="+mj-lt"/>
                <a:buAutoNum type="alphaLcPeriod"/>
              </a:pPr>
              <a:r>
                <a:rPr lang="en-US" sz="1000" kern="0" dirty="0">
                  <a:solidFill>
                    <a:sysClr val="windowText" lastClr="000000"/>
                  </a:solidFill>
                  <a:latin typeface="Calibri" pitchFamily="34" charset="0"/>
                  <a:cs typeface="Calibri" pitchFamily="34" charset="0"/>
                </a:rPr>
                <a:t>Generate RDC Request files-RDC RIP,RDC RIB  to be sent to RDC system for Screening</a:t>
              </a:r>
            </a:p>
            <a:p>
              <a:pPr marL="225425" indent="-225425">
                <a:buFont typeface="+mj-lt"/>
                <a:buAutoNum type="alphaLcPeriod"/>
              </a:pPr>
              <a:r>
                <a:rPr lang="en-US" sz="1000" kern="0" dirty="0">
                  <a:solidFill>
                    <a:sysClr val="windowText" lastClr="000000"/>
                  </a:solidFill>
                  <a:latin typeface="Calibri" pitchFamily="34" charset="0"/>
                  <a:cs typeface="Calibri" pitchFamily="34" charset="0"/>
                </a:rPr>
                <a:t>RDC provides the </a:t>
              </a:r>
              <a:r>
                <a:rPr lang="en-US" sz="1100" kern="0" dirty="0">
                  <a:solidFill>
                    <a:sysClr val="windowText" lastClr="000000"/>
                  </a:solidFill>
                  <a:latin typeface="Calibri" pitchFamily="34" charset="0"/>
                  <a:cs typeface="Calibri" pitchFamily="34" charset="0"/>
                </a:rPr>
                <a:t>Response files</a:t>
              </a:r>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RDC_RIB_FRX (Final response file</a:t>
              </a:r>
              <a:r>
                <a:rPr lang="en-US" sz="1000" kern="0" dirty="0">
                  <a:solidFill>
                    <a:sysClr val="windowText" lastClr="000000"/>
                  </a:solidFill>
                  <a:latin typeface="Calibri" pitchFamily="34" charset="0"/>
                  <a:cs typeface="Calibri" pitchFamily="34" charset="0"/>
                </a:rPr>
                <a:t>)</a:t>
              </a:r>
              <a:endParaRPr lang="en-US" sz="1000" dirty="0"/>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RDC_RIB_IRX (Initial response file)</a:t>
              </a:r>
              <a:endParaRPr lang="en-US" sz="1000" dirty="0"/>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RDC_RIB_ERX (Error response file)</a:t>
              </a:r>
            </a:p>
            <a:p>
              <a:pPr marL="171450" indent="-171450">
                <a:buFont typeface="Arial" panose="020B0604020202020204" pitchFamily="34" charset="0"/>
                <a:buChar char="•"/>
              </a:pPr>
              <a:r>
                <a:rPr lang="it-IT" sz="800" kern="0" dirty="0">
                  <a:solidFill>
                    <a:sysClr val="windowText" lastClr="000000"/>
                  </a:solidFill>
                  <a:latin typeface="Calibri" pitchFamily="34" charset="0"/>
                  <a:cs typeface="Calibri" pitchFamily="34" charset="0"/>
                </a:rPr>
                <a:t>RDC_RIB_PRX (Portfolio monitoring response file)</a:t>
              </a:r>
              <a:endParaRPr lang="en-US" sz="800" dirty="0"/>
            </a:p>
            <a:p>
              <a:pPr marL="171450" indent="-171450">
                <a:buFont typeface="Arial" panose="020B0604020202020204" pitchFamily="34" charset="0"/>
                <a:buChar char="•"/>
              </a:pPr>
              <a:r>
                <a:rPr lang="en-US" sz="800" kern="0" dirty="0">
                  <a:solidFill>
                    <a:sysClr val="windowText" lastClr="000000"/>
                  </a:solidFill>
                  <a:latin typeface="Calibri" pitchFamily="34" charset="0"/>
                  <a:cs typeface="Calibri" pitchFamily="34" charset="0"/>
                </a:rPr>
                <a:t>RDC_RIP_FRX (Inactive portfolio final response file)</a:t>
              </a:r>
            </a:p>
            <a:p>
              <a:endParaRPr lang="it-IT" sz="800" kern="0" dirty="0">
                <a:solidFill>
                  <a:sysClr val="windowText" lastClr="000000"/>
                </a:solidFill>
                <a:latin typeface="Calibri" pitchFamily="34" charset="0"/>
                <a:cs typeface="Calibri" pitchFamily="34" charset="0"/>
              </a:endParaRPr>
            </a:p>
            <a:p>
              <a:endParaRPr lang="en-US" sz="800" kern="0" dirty="0">
                <a:solidFill>
                  <a:sysClr val="windowText" lastClr="000000"/>
                </a:solidFill>
                <a:latin typeface="Calibri" pitchFamily="34" charset="0"/>
                <a:cs typeface="Calibri" pitchFamily="34" charset="0"/>
              </a:endParaRPr>
            </a:p>
            <a:p>
              <a:endParaRPr lang="en-US" sz="800" kern="0" dirty="0">
                <a:solidFill>
                  <a:sysClr val="windowText" lastClr="000000"/>
                </a:solidFill>
                <a:latin typeface="Calibri" pitchFamily="34" charset="0"/>
                <a:cs typeface="Calibri" pitchFamily="34" charset="0"/>
              </a:endParaRPr>
            </a:p>
            <a:p>
              <a:pPr>
                <a:spcAft>
                  <a:spcPts val="900"/>
                </a:spcAft>
              </a:pPr>
              <a:endParaRPr lang="en-US" sz="1000" kern="0" dirty="0">
                <a:solidFill>
                  <a:sysClr val="windowText" lastClr="000000"/>
                </a:solidFill>
                <a:latin typeface="Calibri" pitchFamily="34" charset="0"/>
                <a:cs typeface="Calibri" pitchFamily="34" charset="0"/>
              </a:endParaRPr>
            </a:p>
            <a:p>
              <a:pPr marL="225425" indent="-225425">
                <a:spcAft>
                  <a:spcPts val="900"/>
                </a:spcAft>
                <a:buFont typeface="+mj-lt"/>
                <a:buAutoNum type="alphaLcPeriod"/>
              </a:pPr>
              <a:endParaRPr lang="en-US" sz="1000" kern="0" dirty="0">
                <a:solidFill>
                  <a:sysClr val="windowText" lastClr="000000"/>
                </a:solidFill>
                <a:latin typeface="Calibri" pitchFamily="34" charset="0"/>
                <a:cs typeface="Calibri" pitchFamily="34" charset="0"/>
              </a:endParaRPr>
            </a:p>
          </p:txBody>
        </p:sp>
      </p:grpSp>
      <p:sp>
        <p:nvSpPr>
          <p:cNvPr id="68" name="Chevron 67"/>
          <p:cNvSpPr/>
          <p:nvPr/>
        </p:nvSpPr>
        <p:spPr>
          <a:xfrm>
            <a:off x="6638925" y="4352887"/>
            <a:ext cx="2276475" cy="381000"/>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dirty="0">
                <a:latin typeface="Calibri" panose="020F0502020204030204" pitchFamily="34" charset="0"/>
                <a:cs typeface="Calibri" panose="020F0502020204030204" pitchFamily="34" charset="0"/>
              </a:rPr>
              <a:t>Alert Ingestion(4)</a:t>
            </a:r>
          </a:p>
        </p:txBody>
      </p:sp>
      <p:sp>
        <p:nvSpPr>
          <p:cNvPr id="71" name="Flowchart: Process 70"/>
          <p:cNvSpPr/>
          <p:nvPr/>
        </p:nvSpPr>
        <p:spPr>
          <a:xfrm>
            <a:off x="6734888" y="4716652"/>
            <a:ext cx="2171853" cy="2096240"/>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5425" indent="-225425">
              <a:buFont typeface="+mj-lt"/>
              <a:buAutoNum type="alphaLcPeriod"/>
            </a:pPr>
            <a:r>
              <a:rPr lang="en-US" sz="900" kern="0" dirty="0">
                <a:solidFill>
                  <a:sysClr val="windowText" lastClr="000000"/>
                </a:solidFill>
                <a:latin typeface="Calibri" pitchFamily="34" charset="0"/>
                <a:cs typeface="Calibri" pitchFamily="34" charset="0"/>
              </a:rPr>
              <a:t>RDC Response files are inputted to SAS data integrator to load the data to CORE and create PREP data sets</a:t>
            </a:r>
          </a:p>
          <a:p>
            <a:pPr marL="225425" indent="-225425">
              <a:buFont typeface="+mj-lt"/>
              <a:buAutoNum type="alphaLcPeriod"/>
            </a:pPr>
            <a:r>
              <a:rPr lang="en-US" sz="900" kern="0" dirty="0">
                <a:solidFill>
                  <a:sysClr val="windowText" lastClr="000000"/>
                </a:solidFill>
                <a:latin typeface="Calibri" pitchFamily="34" charset="0"/>
                <a:cs typeface="Calibri" pitchFamily="34" charset="0"/>
              </a:rPr>
              <a:t>RDC scenario to be built and executed through AGP Process to ingest  alerts to sanctions instance</a:t>
            </a:r>
          </a:p>
          <a:p>
            <a:pPr marL="225425" indent="-225425">
              <a:buFont typeface="+mj-lt"/>
              <a:buAutoNum type="alphaLcPeriod"/>
            </a:pPr>
            <a:r>
              <a:rPr lang="en-US" sz="900" kern="0" dirty="0">
                <a:solidFill>
                  <a:sysClr val="windowText" lastClr="000000"/>
                </a:solidFill>
                <a:latin typeface="Calibri" pitchFamily="34" charset="0"/>
                <a:cs typeface="Calibri" pitchFamily="34" charset="0"/>
              </a:rPr>
              <a:t>Sanctions team works on the Alerts</a:t>
            </a:r>
          </a:p>
          <a:p>
            <a:pPr marL="225425" indent="-225425">
              <a:buFont typeface="+mj-lt"/>
              <a:buAutoNum type="alphaLcPeriod"/>
            </a:pPr>
            <a:r>
              <a:rPr lang="en-US" sz="900" kern="0" dirty="0">
                <a:solidFill>
                  <a:sysClr val="windowText" lastClr="000000"/>
                </a:solidFill>
                <a:latin typeface="Calibri" pitchFamily="34" charset="0"/>
                <a:cs typeface="Calibri" pitchFamily="34" charset="0"/>
              </a:rPr>
              <a:t>Sanctions team also creates Manual alerts in RCM</a:t>
            </a:r>
          </a:p>
          <a:p>
            <a:pPr marL="225425" indent="-225425">
              <a:buFont typeface="+mj-lt"/>
              <a:buAutoNum type="alphaLcPeriod"/>
            </a:pPr>
            <a:r>
              <a:rPr lang="en-US" sz="900" kern="0" dirty="0">
                <a:solidFill>
                  <a:sysClr val="windowText" lastClr="000000"/>
                </a:solidFill>
                <a:latin typeface="Calibri" pitchFamily="34" charset="0"/>
                <a:cs typeface="Calibri" pitchFamily="34" charset="0"/>
              </a:rPr>
              <a:t>RDC NN/PEP alerts are sent to Focal point .KYC team works on these alerts</a:t>
            </a:r>
          </a:p>
          <a:p>
            <a:pPr marL="225425" indent="-225425">
              <a:spcAft>
                <a:spcPts val="900"/>
              </a:spcAft>
              <a:buFont typeface="+mj-lt"/>
              <a:buAutoNum type="alphaLcPeriod"/>
            </a:pPr>
            <a:endParaRPr lang="en-US" sz="1000" kern="0" dirty="0">
              <a:solidFill>
                <a:sysClr val="windowText" lastClr="000000"/>
              </a:solidFill>
              <a:latin typeface="Calibri" pitchFamily="34" charset="0"/>
              <a:cs typeface="Calibri" pitchFamily="34" charset="0"/>
            </a:endParaRPr>
          </a:p>
        </p:txBody>
      </p:sp>
      <p:grpSp>
        <p:nvGrpSpPr>
          <p:cNvPr id="12" name="Group 2"/>
          <p:cNvGrpSpPr/>
          <p:nvPr/>
        </p:nvGrpSpPr>
        <p:grpSpPr>
          <a:xfrm>
            <a:off x="4739225" y="4335673"/>
            <a:ext cx="1792560" cy="2369927"/>
            <a:chOff x="4245427" y="4335673"/>
            <a:chExt cx="1792560" cy="2369927"/>
          </a:xfrm>
        </p:grpSpPr>
        <p:sp>
          <p:nvSpPr>
            <p:cNvPr id="133" name="Chevron 3"/>
            <p:cNvSpPr/>
            <p:nvPr/>
          </p:nvSpPr>
          <p:spPr>
            <a:xfrm>
              <a:off x="4245427" y="4335673"/>
              <a:ext cx="1792559" cy="381000"/>
            </a:xfrm>
            <a:prstGeom prst="chevron">
              <a:avLst/>
            </a:prstGeom>
            <a:solidFill>
              <a:srgbClr val="C00000"/>
            </a:solidFill>
            <a:ln w="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dirty="0">
                  <a:latin typeface="Calibri" panose="020F0502020204030204" pitchFamily="34" charset="0"/>
                  <a:cs typeface="Calibri" panose="020F0502020204030204" pitchFamily="34" charset="0"/>
                </a:rPr>
                <a:t>BO Report(3)</a:t>
              </a:r>
            </a:p>
          </p:txBody>
        </p:sp>
        <p:sp>
          <p:nvSpPr>
            <p:cNvPr id="134" name="Flowchart: Process 4"/>
            <p:cNvSpPr/>
            <p:nvPr/>
          </p:nvSpPr>
          <p:spPr>
            <a:xfrm>
              <a:off x="4245428" y="4742038"/>
              <a:ext cx="1792559" cy="1963562"/>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5425" indent="-225425">
                <a:buFont typeface="+mj-lt"/>
                <a:buAutoNum type="alphaLcPeriod"/>
              </a:pPr>
              <a:r>
                <a:rPr lang="it-IT" sz="1000" kern="0" dirty="0">
                  <a:solidFill>
                    <a:sysClr val="windowText" lastClr="000000"/>
                  </a:solidFill>
                  <a:latin typeface="Calibri" pitchFamily="34" charset="0"/>
                  <a:cs typeface="Calibri" pitchFamily="34" charset="0"/>
                </a:rPr>
                <a:t>Request Count and Repsonse Count are reconcilied in N-tier</a:t>
              </a:r>
            </a:p>
            <a:p>
              <a:pPr marL="225425" indent="-225425">
                <a:buFont typeface="+mj-lt"/>
                <a:buAutoNum type="alphaLcPeriod"/>
              </a:pPr>
              <a:r>
                <a:rPr lang="it-IT" sz="1000" kern="0" dirty="0">
                  <a:solidFill>
                    <a:sysClr val="windowText" lastClr="000000"/>
                  </a:solidFill>
                  <a:latin typeface="Calibri" pitchFamily="34" charset="0"/>
                  <a:cs typeface="Calibri" pitchFamily="34" charset="0"/>
                </a:rPr>
                <a:t>Following Recon Reports are generated for RDC</a:t>
              </a:r>
            </a:p>
            <a:p>
              <a:pPr marL="171450" indent="-171450">
                <a:buFont typeface="Arial" panose="020B0604020202020204" pitchFamily="34" charset="0"/>
                <a:buChar char="•"/>
              </a:pPr>
              <a:r>
                <a:rPr lang="it-IT" sz="1000" kern="0" dirty="0">
                  <a:solidFill>
                    <a:sysClr val="windowText" lastClr="000000"/>
                  </a:solidFill>
                  <a:latin typeface="Calibri" pitchFamily="34" charset="0"/>
                  <a:cs typeface="Calibri" pitchFamily="34" charset="0"/>
                </a:rPr>
                <a:t>RDC RIP Recon</a:t>
              </a:r>
            </a:p>
            <a:p>
              <a:pPr marL="171450" indent="-171450">
                <a:buFont typeface="Arial" panose="020B0604020202020204" pitchFamily="34" charset="0"/>
                <a:buChar char="•"/>
              </a:pPr>
              <a:r>
                <a:rPr lang="it-IT" sz="1000" kern="0" dirty="0">
                  <a:solidFill>
                    <a:sysClr val="windowText" lastClr="000000"/>
                  </a:solidFill>
                  <a:latin typeface="Calibri" pitchFamily="34" charset="0"/>
                  <a:cs typeface="Calibri" pitchFamily="34" charset="0"/>
                </a:rPr>
                <a:t>RDC RIB Recon</a:t>
              </a:r>
            </a:p>
            <a:p>
              <a:endParaRPr lang="en-US" sz="800" kern="0" dirty="0">
                <a:solidFill>
                  <a:sysClr val="windowText" lastClr="000000"/>
                </a:solidFill>
                <a:latin typeface="Calibri" pitchFamily="34" charset="0"/>
                <a:cs typeface="Calibri" pitchFamily="34" charset="0"/>
              </a:endParaRPr>
            </a:p>
            <a:p>
              <a:endParaRPr lang="en-US" sz="800" kern="0" dirty="0">
                <a:solidFill>
                  <a:sysClr val="windowText" lastClr="000000"/>
                </a:solidFill>
                <a:latin typeface="Calibri" pitchFamily="34" charset="0"/>
                <a:cs typeface="Calibri" pitchFamily="34" charset="0"/>
              </a:endParaRPr>
            </a:p>
            <a:p>
              <a:pPr>
                <a:spcAft>
                  <a:spcPts val="900"/>
                </a:spcAft>
              </a:pPr>
              <a:endParaRPr lang="en-US" sz="1000" kern="0" dirty="0">
                <a:solidFill>
                  <a:sysClr val="windowText" lastClr="000000"/>
                </a:solidFill>
                <a:latin typeface="Calibri" pitchFamily="34" charset="0"/>
                <a:cs typeface="Calibri" pitchFamily="34" charset="0"/>
              </a:endParaRPr>
            </a:p>
            <a:p>
              <a:pPr marL="225425" indent="-225425">
                <a:spcAft>
                  <a:spcPts val="900"/>
                </a:spcAft>
                <a:buFont typeface="+mj-lt"/>
                <a:buAutoNum type="alphaLcPeriod"/>
              </a:pPr>
              <a:endParaRPr lang="en-US" sz="1000" kern="0" dirty="0">
                <a:solidFill>
                  <a:sysClr val="windowText" lastClr="000000"/>
                </a:solidFill>
                <a:latin typeface="Calibri" pitchFamily="34" charset="0"/>
                <a:cs typeface="Calibri" pitchFamily="34" charset="0"/>
              </a:endParaRPr>
            </a:p>
          </p:txBody>
        </p:sp>
      </p:grpSp>
      <p:grpSp>
        <p:nvGrpSpPr>
          <p:cNvPr id="96" name="Group 10"/>
          <p:cNvGrpSpPr/>
          <p:nvPr/>
        </p:nvGrpSpPr>
        <p:grpSpPr>
          <a:xfrm>
            <a:off x="228600" y="762001"/>
            <a:ext cx="8686800" cy="3505200"/>
            <a:chOff x="228600" y="762001"/>
            <a:chExt cx="8610600" cy="3505200"/>
          </a:xfrm>
        </p:grpSpPr>
        <p:sp>
          <p:nvSpPr>
            <p:cNvPr id="97" name="TextBox 12"/>
            <p:cNvSpPr txBox="1"/>
            <p:nvPr/>
          </p:nvSpPr>
          <p:spPr>
            <a:xfrm>
              <a:off x="3814850" y="3382614"/>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98" name="TextBox 13"/>
            <p:cNvSpPr txBox="1"/>
            <p:nvPr/>
          </p:nvSpPr>
          <p:spPr>
            <a:xfrm>
              <a:off x="4836985" y="2392013"/>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99" name="Rectangle 14"/>
            <p:cNvSpPr/>
            <p:nvPr/>
          </p:nvSpPr>
          <p:spPr>
            <a:xfrm>
              <a:off x="228600" y="762001"/>
              <a:ext cx="8610600" cy="3505200"/>
            </a:xfrm>
            <a:prstGeom prst="rect">
              <a:avLst/>
            </a:prstGeom>
            <a:noFill/>
            <a:ln w="15875"/>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01" name="TextBox 15"/>
            <p:cNvSpPr txBox="1"/>
            <p:nvPr/>
          </p:nvSpPr>
          <p:spPr>
            <a:xfrm>
              <a:off x="3387418" y="2720268"/>
              <a:ext cx="234636" cy="152400"/>
            </a:xfrm>
            <a:prstGeom prst="rect">
              <a:avLst/>
            </a:prstGeom>
            <a:noFill/>
          </p:spPr>
          <p:txBody>
            <a:bodyPr wrap="square" lIns="0" tIns="0" rIns="0" bIns="0" rtlCol="0">
              <a:noAutofit/>
            </a:bodyPr>
            <a:lstStyle/>
            <a:p>
              <a:pPr indent="-274320">
                <a:spcAft>
                  <a:spcPts val="900"/>
                </a:spcAft>
              </a:pPr>
              <a:endParaRPr lang="en-US" sz="900" b="1" dirty="0">
                <a:solidFill>
                  <a:srgbClr val="FF0000"/>
                </a:solidFill>
                <a:latin typeface="Calibri" panose="020F0502020204030204" pitchFamily="34" charset="0"/>
                <a:cs typeface="Calibri" panose="020F0502020204030204" pitchFamily="34" charset="0"/>
              </a:endParaRPr>
            </a:p>
          </p:txBody>
        </p:sp>
        <p:sp>
          <p:nvSpPr>
            <p:cNvPr id="103" name="Rectangle 16"/>
            <p:cNvSpPr/>
            <p:nvPr/>
          </p:nvSpPr>
          <p:spPr>
            <a:xfrm>
              <a:off x="2818606" y="2381609"/>
              <a:ext cx="996244" cy="309802"/>
            </a:xfrm>
            <a:prstGeom prst="rect">
              <a:avLst/>
            </a:prstGeom>
          </p:spPr>
          <p:txBody>
            <a:bodyPr wrap="none" rtlCol="0" anchor="ctr">
              <a:spAutoFit/>
            </a:bodyPr>
            <a:lstStyle/>
            <a:p>
              <a:pPr algn="ctr"/>
              <a:endParaRPr lang="en-US" sz="1200" dirty="0">
                <a:latin typeface="+mj-lt"/>
              </a:endParaRPr>
            </a:p>
          </p:txBody>
        </p:sp>
        <p:sp>
          <p:nvSpPr>
            <p:cNvPr id="105" name="Right Arrow 17"/>
            <p:cNvSpPr/>
            <p:nvPr/>
          </p:nvSpPr>
          <p:spPr>
            <a:xfrm>
              <a:off x="1945654" y="2483078"/>
              <a:ext cx="872952" cy="107722"/>
            </a:xfrm>
            <a:prstGeom prst="rightArrow">
              <a:avLst/>
            </a:prstGeom>
          </p:spPr>
          <p:txBody>
            <a:bodyPr wrap="none" rtlCol="0" anchor="ctr">
              <a:spAutoFit/>
            </a:bodyPr>
            <a:lstStyle/>
            <a:p>
              <a:pPr algn="ctr"/>
              <a:endParaRPr lang="en-US" sz="1200" dirty="0">
                <a:latin typeface="+mj-lt"/>
              </a:endParaRPr>
            </a:p>
          </p:txBody>
        </p:sp>
        <p:sp>
          <p:nvSpPr>
            <p:cNvPr id="112" name="Documents"/>
            <p:cNvSpPr>
              <a:spLocks noEditPoints="1" noChangeArrowheads="1"/>
            </p:cNvSpPr>
            <p:nvPr/>
          </p:nvSpPr>
          <p:spPr bwMode="auto">
            <a:xfrm>
              <a:off x="2997987" y="1400781"/>
              <a:ext cx="931660" cy="867166"/>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800" kern="0" dirty="0">
                  <a:solidFill>
                    <a:sysClr val="windowText" lastClr="000000"/>
                  </a:solidFill>
                  <a:latin typeface="Calibri" pitchFamily="34" charset="0"/>
                  <a:cs typeface="Calibri" pitchFamily="34" charset="0"/>
                </a:rPr>
                <a:t>RDC Request Files(FTP Folder)</a:t>
              </a:r>
            </a:p>
          </p:txBody>
        </p:sp>
        <p:sp>
          <p:nvSpPr>
            <p:cNvPr id="113" name="Rectangle 19"/>
            <p:cNvSpPr/>
            <p:nvPr/>
          </p:nvSpPr>
          <p:spPr>
            <a:xfrm>
              <a:off x="4597926" y="2200303"/>
              <a:ext cx="1371600" cy="47014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14" name="Rectangle 20"/>
            <p:cNvSpPr/>
            <p:nvPr/>
          </p:nvSpPr>
          <p:spPr>
            <a:xfrm>
              <a:off x="4597926" y="2001268"/>
              <a:ext cx="1371074"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RDC system</a:t>
              </a:r>
            </a:p>
          </p:txBody>
        </p:sp>
        <p:sp>
          <p:nvSpPr>
            <p:cNvPr id="115" name="Flowchart: Process 21"/>
            <p:cNvSpPr/>
            <p:nvPr/>
          </p:nvSpPr>
          <p:spPr>
            <a:xfrm>
              <a:off x="4724163" y="2351322"/>
              <a:ext cx="1170395"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RDC Screening</a:t>
              </a:r>
            </a:p>
          </p:txBody>
        </p:sp>
        <p:sp>
          <p:nvSpPr>
            <p:cNvPr id="121" name="TextBox 22"/>
            <p:cNvSpPr txBox="1"/>
            <p:nvPr/>
          </p:nvSpPr>
          <p:spPr>
            <a:xfrm>
              <a:off x="1892549" y="1897802"/>
              <a:ext cx="224341" cy="159598"/>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1(a)</a:t>
              </a:r>
            </a:p>
          </p:txBody>
        </p:sp>
        <p:sp>
          <p:nvSpPr>
            <p:cNvPr id="122" name="TextBox 23"/>
            <p:cNvSpPr txBox="1"/>
            <p:nvPr/>
          </p:nvSpPr>
          <p:spPr>
            <a:xfrm>
              <a:off x="4231774" y="2150149"/>
              <a:ext cx="247467" cy="159598"/>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2(a)</a:t>
              </a:r>
            </a:p>
          </p:txBody>
        </p:sp>
        <p:sp>
          <p:nvSpPr>
            <p:cNvPr id="123" name="TextBox 24"/>
            <p:cNvSpPr txBox="1"/>
            <p:nvPr/>
          </p:nvSpPr>
          <p:spPr>
            <a:xfrm>
              <a:off x="5209936" y="1226511"/>
              <a:ext cx="158558" cy="145089"/>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3a</a:t>
              </a:r>
            </a:p>
          </p:txBody>
        </p:sp>
        <p:sp>
          <p:nvSpPr>
            <p:cNvPr id="124" name="TextBox 25"/>
            <p:cNvSpPr txBox="1"/>
            <p:nvPr/>
          </p:nvSpPr>
          <p:spPr>
            <a:xfrm>
              <a:off x="5030352" y="2900444"/>
              <a:ext cx="258864" cy="154753"/>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4(a)</a:t>
              </a:r>
            </a:p>
          </p:txBody>
        </p:sp>
        <p:sp>
          <p:nvSpPr>
            <p:cNvPr id="125" name="TextBox 26"/>
            <p:cNvSpPr txBox="1"/>
            <p:nvPr/>
          </p:nvSpPr>
          <p:spPr>
            <a:xfrm>
              <a:off x="7007660" y="2127561"/>
              <a:ext cx="225890" cy="159598"/>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2(b)</a:t>
              </a:r>
            </a:p>
          </p:txBody>
        </p:sp>
      </p:grpSp>
      <p:sp>
        <p:nvSpPr>
          <p:cNvPr id="129" name="Rectangle 128"/>
          <p:cNvSpPr/>
          <p:nvPr/>
        </p:nvSpPr>
        <p:spPr>
          <a:xfrm>
            <a:off x="390720" y="1095980"/>
            <a:ext cx="1117495" cy="304800"/>
          </a:xfrm>
          <a:prstGeom prst="rect">
            <a:avLst/>
          </a:prstGeom>
          <a:solidFill>
            <a:schemeClr val="accent4">
              <a:lumMod val="20000"/>
              <a:lumOff val="80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kern="0" dirty="0">
                <a:solidFill>
                  <a:schemeClr val="tx1"/>
                </a:solidFill>
                <a:latin typeface="Calibri" pitchFamily="34" charset="0"/>
                <a:cs typeface="Calibri" pitchFamily="34" charset="0"/>
              </a:rPr>
              <a:t>CDL(Central Directory Layer)</a:t>
            </a:r>
          </a:p>
        </p:txBody>
      </p:sp>
      <p:sp>
        <p:nvSpPr>
          <p:cNvPr id="130" name="Rectangle 129"/>
          <p:cNvSpPr/>
          <p:nvPr/>
        </p:nvSpPr>
        <p:spPr>
          <a:xfrm>
            <a:off x="390720" y="2340699"/>
            <a:ext cx="1117495" cy="329765"/>
          </a:xfrm>
          <a:prstGeom prst="rect">
            <a:avLst/>
          </a:prstGeom>
          <a:solidFill>
            <a:schemeClr val="accent4">
              <a:lumMod val="20000"/>
              <a:lumOff val="80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kern="0" dirty="0">
                <a:solidFill>
                  <a:schemeClr val="tx1"/>
                </a:solidFill>
                <a:latin typeface="Calibri" pitchFamily="34" charset="0"/>
                <a:cs typeface="Calibri" pitchFamily="34" charset="0"/>
              </a:rPr>
              <a:t>T360(Trade 360)</a:t>
            </a:r>
          </a:p>
        </p:txBody>
      </p:sp>
      <p:sp>
        <p:nvSpPr>
          <p:cNvPr id="135" name="Rectangle 134"/>
          <p:cNvSpPr/>
          <p:nvPr/>
        </p:nvSpPr>
        <p:spPr>
          <a:xfrm>
            <a:off x="384594" y="1676400"/>
            <a:ext cx="1117495" cy="304800"/>
          </a:xfrm>
          <a:prstGeom prst="rect">
            <a:avLst/>
          </a:prstGeom>
          <a:solidFill>
            <a:schemeClr val="accent4">
              <a:lumMod val="20000"/>
              <a:lumOff val="80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kern="0" dirty="0">
                <a:solidFill>
                  <a:schemeClr val="tx1"/>
                </a:solidFill>
                <a:latin typeface="Calibri" pitchFamily="34" charset="0"/>
                <a:cs typeface="Calibri" pitchFamily="34" charset="0"/>
              </a:rPr>
              <a:t>OVS(OverSeas system)</a:t>
            </a:r>
          </a:p>
        </p:txBody>
      </p:sp>
      <p:sp>
        <p:nvSpPr>
          <p:cNvPr id="136" name="Rectangle 135"/>
          <p:cNvSpPr/>
          <p:nvPr/>
        </p:nvSpPr>
        <p:spPr>
          <a:xfrm>
            <a:off x="1905000" y="919073"/>
            <a:ext cx="1117495" cy="376327"/>
          </a:xfrm>
          <a:prstGeom prst="rect">
            <a:avLst/>
          </a:prstGeom>
          <a:solidFill>
            <a:schemeClr val="accent4">
              <a:lumMod val="20000"/>
              <a:lumOff val="80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kern="0" dirty="0">
                <a:solidFill>
                  <a:schemeClr val="tx1"/>
                </a:solidFill>
                <a:latin typeface="Calibri" pitchFamily="34" charset="0"/>
                <a:cs typeface="Calibri" pitchFamily="34" charset="0"/>
              </a:rPr>
              <a:t>KYC(Know Your Customer)</a:t>
            </a:r>
          </a:p>
        </p:txBody>
      </p:sp>
      <p:sp>
        <p:nvSpPr>
          <p:cNvPr id="137" name="Can 136"/>
          <p:cNvSpPr/>
          <p:nvPr/>
        </p:nvSpPr>
        <p:spPr>
          <a:xfrm>
            <a:off x="2183730" y="1549894"/>
            <a:ext cx="559470" cy="557811"/>
          </a:xfrm>
          <a:prstGeom prst="can">
            <a:avLst>
              <a:gd name="adj" fmla="val 28325"/>
            </a:avLst>
          </a:prstGeom>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EDW</a:t>
            </a:r>
          </a:p>
        </p:txBody>
      </p:sp>
      <p:cxnSp>
        <p:nvCxnSpPr>
          <p:cNvPr id="138" name="Elbow Connector 137"/>
          <p:cNvCxnSpPr>
            <a:stCxn id="129" idx="3"/>
            <a:endCxn id="137" idx="2"/>
          </p:cNvCxnSpPr>
          <p:nvPr/>
        </p:nvCxnSpPr>
        <p:spPr>
          <a:xfrm>
            <a:off x="1508215" y="1248380"/>
            <a:ext cx="675515" cy="580420"/>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Elbow Connector 138"/>
          <p:cNvCxnSpPr>
            <a:stCxn id="136" idx="2"/>
            <a:endCxn id="137" idx="1"/>
          </p:cNvCxnSpPr>
          <p:nvPr/>
        </p:nvCxnSpPr>
        <p:spPr>
          <a:xfrm rot="5400000">
            <a:off x="2336360" y="1422506"/>
            <a:ext cx="254494" cy="283"/>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Elbow Connector 139"/>
          <p:cNvCxnSpPr>
            <a:stCxn id="135" idx="3"/>
            <a:endCxn id="137" idx="2"/>
          </p:cNvCxnSpPr>
          <p:nvPr/>
        </p:nvCxnSpPr>
        <p:spPr>
          <a:xfrm>
            <a:off x="1502089" y="1828800"/>
            <a:ext cx="681641" cy="12700"/>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Elbow Connector 142"/>
          <p:cNvCxnSpPr>
            <a:stCxn id="130" idx="3"/>
            <a:endCxn id="137" idx="2"/>
          </p:cNvCxnSpPr>
          <p:nvPr/>
        </p:nvCxnSpPr>
        <p:spPr>
          <a:xfrm flipV="1">
            <a:off x="1508215" y="1828800"/>
            <a:ext cx="675515" cy="676782"/>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a:stCxn id="112" idx="8"/>
            <a:endCxn id="102" idx="1"/>
          </p:cNvCxnSpPr>
          <p:nvPr/>
        </p:nvCxnSpPr>
        <p:spPr>
          <a:xfrm flipV="1">
            <a:off x="3962400" y="1400780"/>
            <a:ext cx="1744508"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6" name="Documents"/>
          <p:cNvSpPr>
            <a:spLocks noEditPoints="1" noChangeArrowheads="1"/>
          </p:cNvSpPr>
          <p:nvPr/>
        </p:nvSpPr>
        <p:spPr bwMode="auto">
          <a:xfrm>
            <a:off x="6418913" y="2098455"/>
            <a:ext cx="934058" cy="685800"/>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800" kern="0" dirty="0">
                <a:solidFill>
                  <a:sysClr val="windowText" lastClr="000000"/>
                </a:solidFill>
                <a:latin typeface="Calibri" pitchFamily="34" charset="0"/>
                <a:cs typeface="Calibri" pitchFamily="34" charset="0"/>
              </a:rPr>
              <a:t>RDC Response Files(FTP Folder)</a:t>
            </a:r>
          </a:p>
        </p:txBody>
      </p:sp>
      <p:pic>
        <p:nvPicPr>
          <p:cNvPr id="165" name="Picture 3" descr="C:\Users\n302405\AppData\Local\Microsoft\Windows\Temporary Internet Files\Content.IE5\00UQIMNX\Gnome-system-users.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492" y="3455801"/>
            <a:ext cx="508793" cy="508793"/>
          </a:xfrm>
          <a:prstGeom prst="rect">
            <a:avLst/>
          </a:prstGeom>
          <a:noFill/>
          <a:extLst>
            <a:ext uri="{909E8E84-426E-40DD-AFC4-6F175D3DCCD1}">
              <a14:hiddenFill xmlns:a14="http://schemas.microsoft.com/office/drawing/2010/main">
                <a:solidFill>
                  <a:srgbClr val="FFFFFF"/>
                </a:solidFill>
              </a14:hiddenFill>
            </a:ext>
          </a:extLst>
        </p:spPr>
      </p:pic>
      <p:sp>
        <p:nvSpPr>
          <p:cNvPr id="167" name="TextBox 166"/>
          <p:cNvSpPr txBox="1"/>
          <p:nvPr/>
        </p:nvSpPr>
        <p:spPr>
          <a:xfrm>
            <a:off x="7069492" y="3986324"/>
            <a:ext cx="526141" cy="239647"/>
          </a:xfrm>
          <a:prstGeom prst="rect">
            <a:avLst/>
          </a:prstGeom>
          <a:noFill/>
        </p:spPr>
        <p:txBody>
          <a:bodyPr wrap="square" lIns="0" tIns="0" rIns="0" bIns="0" rtlCol="0">
            <a:noAutofit/>
          </a:bodyPr>
          <a:lstStyle/>
          <a:p>
            <a:pPr indent="-274320">
              <a:spcAft>
                <a:spcPts val="900"/>
              </a:spcAft>
            </a:pPr>
            <a:r>
              <a:rPr lang="en-US" sz="800" kern="0" dirty="0">
                <a:latin typeface="Calibri" pitchFamily="34" charset="0"/>
                <a:cs typeface="Calibri" pitchFamily="34" charset="0"/>
              </a:rPr>
              <a:t>Sanctions team</a:t>
            </a:r>
          </a:p>
        </p:txBody>
      </p:sp>
      <p:pic>
        <p:nvPicPr>
          <p:cNvPr id="168" name="Picture 2" descr="C:\Users\n302405\AppData\Local\Microsoft\Windows\Temporary Internet Files\Content.IE5\EIC3JFRN\Icon-Document[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4565" y="1340637"/>
            <a:ext cx="745889" cy="745889"/>
          </a:xfrm>
          <a:prstGeom prst="rect">
            <a:avLst/>
          </a:prstGeom>
          <a:noFill/>
          <a:extLst>
            <a:ext uri="{909E8E84-426E-40DD-AFC4-6F175D3DCCD1}">
              <a14:hiddenFill xmlns:a14="http://schemas.microsoft.com/office/drawing/2010/main">
                <a:solidFill>
                  <a:srgbClr val="FFFFFF"/>
                </a:solidFill>
              </a14:hiddenFill>
            </a:ext>
          </a:extLst>
        </p:spPr>
      </p:pic>
      <p:sp>
        <p:nvSpPr>
          <p:cNvPr id="169" name="TextBox 168"/>
          <p:cNvSpPr txBox="1"/>
          <p:nvPr/>
        </p:nvSpPr>
        <p:spPr>
          <a:xfrm>
            <a:off x="8261635" y="1588152"/>
            <a:ext cx="480154" cy="226801"/>
          </a:xfrm>
          <a:prstGeom prst="rect">
            <a:avLst/>
          </a:prstGeom>
          <a:noFill/>
        </p:spPr>
        <p:txBody>
          <a:bodyPr wrap="square" lIns="0" tIns="0" rIns="0" bIns="0" rtlCol="0">
            <a:noAutofit/>
          </a:bodyPr>
          <a:lstStyle/>
          <a:p>
            <a:pPr indent="-274320">
              <a:spcAft>
                <a:spcPts val="900"/>
              </a:spcAft>
            </a:pPr>
            <a:r>
              <a:rPr lang="en-US" sz="800" kern="0" dirty="0">
                <a:latin typeface="Calibri" pitchFamily="34" charset="0"/>
                <a:cs typeface="Calibri" pitchFamily="34" charset="0"/>
              </a:rPr>
              <a:t>Recon Reports</a:t>
            </a:r>
          </a:p>
        </p:txBody>
      </p:sp>
      <p:sp>
        <p:nvSpPr>
          <p:cNvPr id="171" name="TextBox 170"/>
          <p:cNvSpPr txBox="1"/>
          <p:nvPr/>
        </p:nvSpPr>
        <p:spPr>
          <a:xfrm>
            <a:off x="6987670" y="1856179"/>
            <a:ext cx="159961" cy="145089"/>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3a</a:t>
            </a:r>
          </a:p>
        </p:txBody>
      </p:sp>
      <p:sp>
        <p:nvSpPr>
          <p:cNvPr id="172" name="TextBox 171"/>
          <p:cNvSpPr txBox="1"/>
          <p:nvPr/>
        </p:nvSpPr>
        <p:spPr>
          <a:xfrm>
            <a:off x="6258952" y="1076559"/>
            <a:ext cx="159961" cy="145089"/>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3b</a:t>
            </a:r>
          </a:p>
        </p:txBody>
      </p:sp>
      <p:cxnSp>
        <p:nvCxnSpPr>
          <p:cNvPr id="173" name="Elbow Connector 172"/>
          <p:cNvCxnSpPr>
            <a:stCxn id="146" idx="11"/>
            <a:endCxn id="86" idx="0"/>
          </p:cNvCxnSpPr>
          <p:nvPr/>
        </p:nvCxnSpPr>
        <p:spPr>
          <a:xfrm flipH="1">
            <a:off x="1044705" y="2441355"/>
            <a:ext cx="6308266" cy="570524"/>
          </a:xfrm>
          <a:prstGeom prst="bentConnector4">
            <a:avLst>
              <a:gd name="adj1" fmla="val -3624"/>
              <a:gd name="adj2" fmla="val 8005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p:cNvSpPr/>
          <p:nvPr/>
        </p:nvSpPr>
        <p:spPr>
          <a:xfrm>
            <a:off x="6750807" y="3475125"/>
            <a:ext cx="1069588" cy="47014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75" name="Rectangle 174"/>
          <p:cNvSpPr/>
          <p:nvPr/>
        </p:nvSpPr>
        <p:spPr>
          <a:xfrm>
            <a:off x="6750807" y="3055198"/>
            <a:ext cx="1078248" cy="405402"/>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Case Manager sanctions Instance</a:t>
            </a:r>
          </a:p>
        </p:txBody>
      </p:sp>
      <p:sp>
        <p:nvSpPr>
          <p:cNvPr id="182" name="TextBox 181"/>
          <p:cNvSpPr txBox="1"/>
          <p:nvPr/>
        </p:nvSpPr>
        <p:spPr>
          <a:xfrm>
            <a:off x="1855055" y="3901924"/>
            <a:ext cx="341135" cy="159597"/>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4(b)</a:t>
            </a:r>
          </a:p>
        </p:txBody>
      </p:sp>
      <p:sp>
        <p:nvSpPr>
          <p:cNvPr id="185" name="TextBox 184"/>
          <p:cNvSpPr txBox="1"/>
          <p:nvPr/>
        </p:nvSpPr>
        <p:spPr>
          <a:xfrm>
            <a:off x="8108596" y="2940529"/>
            <a:ext cx="242007" cy="159597"/>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4(e)</a:t>
            </a:r>
          </a:p>
        </p:txBody>
      </p:sp>
      <p:sp>
        <p:nvSpPr>
          <p:cNvPr id="85" name="Rectangle 84"/>
          <p:cNvSpPr/>
          <p:nvPr/>
        </p:nvSpPr>
        <p:spPr>
          <a:xfrm>
            <a:off x="279782" y="3244028"/>
            <a:ext cx="1529846" cy="61733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86" name="Rectangle 85"/>
          <p:cNvSpPr/>
          <p:nvPr/>
        </p:nvSpPr>
        <p:spPr>
          <a:xfrm>
            <a:off x="279782" y="3011879"/>
            <a:ext cx="1529846" cy="257883"/>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SAS Data Integrator</a:t>
            </a:r>
          </a:p>
        </p:txBody>
      </p:sp>
      <p:sp>
        <p:nvSpPr>
          <p:cNvPr id="87" name="Flowchart: Process 86"/>
          <p:cNvSpPr/>
          <p:nvPr/>
        </p:nvSpPr>
        <p:spPr>
          <a:xfrm>
            <a:off x="459313" y="3327260"/>
            <a:ext cx="1118938" cy="461665"/>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Load the RDC Response  into CORE database</a:t>
            </a:r>
          </a:p>
        </p:txBody>
      </p:sp>
      <p:sp>
        <p:nvSpPr>
          <p:cNvPr id="110" name="Can 109"/>
          <p:cNvSpPr/>
          <p:nvPr/>
        </p:nvSpPr>
        <p:spPr>
          <a:xfrm>
            <a:off x="2276450" y="3288386"/>
            <a:ext cx="874198" cy="539412"/>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SAS Core Database</a:t>
            </a:r>
          </a:p>
        </p:txBody>
      </p:sp>
      <p:sp>
        <p:nvSpPr>
          <p:cNvPr id="111" name="Can 110"/>
          <p:cNvSpPr/>
          <p:nvPr/>
        </p:nvSpPr>
        <p:spPr>
          <a:xfrm>
            <a:off x="5382724" y="3435735"/>
            <a:ext cx="874198" cy="539412"/>
          </a:xfrm>
          <a:prstGeom prst="can">
            <a:avLst>
              <a:gd name="adj" fmla="val 28325"/>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SAS KC Database</a:t>
            </a:r>
          </a:p>
        </p:txBody>
      </p:sp>
      <p:sp>
        <p:nvSpPr>
          <p:cNvPr id="116" name="Rectangle 115"/>
          <p:cNvSpPr/>
          <p:nvPr/>
        </p:nvSpPr>
        <p:spPr>
          <a:xfrm>
            <a:off x="3342059" y="3446288"/>
            <a:ext cx="1529846" cy="51830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17" name="Rectangle 116"/>
          <p:cNvSpPr/>
          <p:nvPr/>
        </p:nvSpPr>
        <p:spPr>
          <a:xfrm>
            <a:off x="3357670" y="3175901"/>
            <a:ext cx="1529846" cy="257883"/>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Alert Generation Process (AGP)</a:t>
            </a:r>
          </a:p>
        </p:txBody>
      </p:sp>
      <p:sp>
        <p:nvSpPr>
          <p:cNvPr id="119" name="Flowchart: Process 118"/>
          <p:cNvSpPr/>
          <p:nvPr/>
        </p:nvSpPr>
        <p:spPr>
          <a:xfrm>
            <a:off x="3444096" y="3471810"/>
            <a:ext cx="1384146" cy="461665"/>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Prep data set creation and Scenario execution for Sanctions Alerts</a:t>
            </a:r>
          </a:p>
        </p:txBody>
      </p:sp>
      <p:cxnSp>
        <p:nvCxnSpPr>
          <p:cNvPr id="31" name="Straight Arrow Connector 30"/>
          <p:cNvCxnSpPr>
            <a:stCxn id="85" idx="3"/>
            <a:endCxn id="110" idx="2"/>
          </p:cNvCxnSpPr>
          <p:nvPr/>
        </p:nvCxnSpPr>
        <p:spPr>
          <a:xfrm>
            <a:off x="1809628" y="3552696"/>
            <a:ext cx="466822" cy="5396"/>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a:off x="3124894" y="3547300"/>
            <a:ext cx="233411"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16" idx="3"/>
            <a:endCxn id="111" idx="2"/>
          </p:cNvCxnSpPr>
          <p:nvPr/>
        </p:nvCxnSpPr>
        <p:spPr>
          <a:xfrm>
            <a:off x="4871905" y="3705441"/>
            <a:ext cx="510819"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11" idx="4"/>
            <a:endCxn id="174" idx="1"/>
          </p:cNvCxnSpPr>
          <p:nvPr/>
        </p:nvCxnSpPr>
        <p:spPr>
          <a:xfrm>
            <a:off x="6256922" y="3705441"/>
            <a:ext cx="493885" cy="4756"/>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3"/>
          <p:cNvCxnSpPr/>
          <p:nvPr/>
        </p:nvCxnSpPr>
        <p:spPr>
          <a:xfrm flipH="1">
            <a:off x="6256922" y="3861364"/>
            <a:ext cx="570457"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411572" y="3382136"/>
            <a:ext cx="261155" cy="154753"/>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4(c)</a:t>
            </a:r>
          </a:p>
        </p:txBody>
      </p:sp>
      <p:sp>
        <p:nvSpPr>
          <p:cNvPr id="78" name="TextBox 77"/>
          <p:cNvSpPr txBox="1"/>
          <p:nvPr/>
        </p:nvSpPr>
        <p:spPr>
          <a:xfrm>
            <a:off x="6480082" y="3933475"/>
            <a:ext cx="261155" cy="154753"/>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4(d)</a:t>
            </a:r>
          </a:p>
        </p:txBody>
      </p:sp>
      <p:sp>
        <p:nvSpPr>
          <p:cNvPr id="6" name="TextBox 47"/>
          <p:cNvSpPr txBox="1"/>
          <p:nvPr/>
        </p:nvSpPr>
        <p:spPr>
          <a:xfrm>
            <a:off x="5346781" y="2936104"/>
            <a:ext cx="673019" cy="164022"/>
          </a:xfrm>
          <a:prstGeom prst="rect">
            <a:avLst/>
          </a:prstGeom>
          <a:noFill/>
        </p:spPr>
        <p:txBody>
          <a:bodyPr wrap="square" lIns="0" tIns="0" rIns="0" bIns="0" rtlCol="0">
            <a:noAutofit/>
          </a:bodyPr>
          <a:lstStyle>
            <a:defPPr>
              <a:defRPr lang="en-US"/>
            </a:defPPr>
            <a:lvl1pPr indent="-274320">
              <a:spcAft>
                <a:spcPts val="900"/>
              </a:spcAft>
              <a:defRPr sz="800" kern="0">
                <a:solidFill>
                  <a:sysClr val="windowText" lastClr="000000"/>
                </a:solidFill>
                <a:latin typeface="Calibri" pitchFamily="34" charset="0"/>
                <a:cs typeface="Calibri" pitchFamily="34" charset="0"/>
              </a:defRPr>
            </a:lvl1pPr>
          </a:lstStyle>
          <a:p>
            <a:r>
              <a:rPr lang="en-US" dirty="0"/>
              <a:t>Sanctions alerts</a:t>
            </a:r>
          </a:p>
        </p:txBody>
      </p:sp>
      <p:sp>
        <p:nvSpPr>
          <p:cNvPr id="80" name="Rectangle 79"/>
          <p:cNvSpPr/>
          <p:nvPr/>
        </p:nvSpPr>
        <p:spPr>
          <a:xfrm>
            <a:off x="7913725" y="3460814"/>
            <a:ext cx="993016" cy="47014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81" name="Rectangle 80"/>
          <p:cNvSpPr/>
          <p:nvPr/>
        </p:nvSpPr>
        <p:spPr>
          <a:xfrm>
            <a:off x="7905067" y="3179609"/>
            <a:ext cx="1010333"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Focal point</a:t>
            </a:r>
          </a:p>
        </p:txBody>
      </p:sp>
      <p:cxnSp>
        <p:nvCxnSpPr>
          <p:cNvPr id="10" name="Elbow Connector 49"/>
          <p:cNvCxnSpPr>
            <a:stCxn id="146" idx="11"/>
            <a:endCxn id="81" idx="0"/>
          </p:cNvCxnSpPr>
          <p:nvPr/>
        </p:nvCxnSpPr>
        <p:spPr>
          <a:xfrm>
            <a:off x="7352971" y="2441355"/>
            <a:ext cx="1057263" cy="738254"/>
          </a:xfrm>
          <a:prstGeom prst="bentConnector2">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84" name="Picture 3" descr="C:\Users\n302405\AppData\Local\Microsoft\Windows\Temporary Internet Files\Content.IE5\00UQIMNX\Gnome-system-users.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5836" y="3471810"/>
            <a:ext cx="508793" cy="508793"/>
          </a:xfrm>
          <a:prstGeom prst="rect">
            <a:avLst/>
          </a:prstGeom>
          <a:noFill/>
          <a:extLst>
            <a:ext uri="{909E8E84-426E-40DD-AFC4-6F175D3DCCD1}">
              <a14:hiddenFill xmlns:a14="http://schemas.microsoft.com/office/drawing/2010/main">
                <a:solidFill>
                  <a:srgbClr val="FFFFFF"/>
                </a:solidFill>
              </a14:hiddenFill>
            </a:ext>
          </a:extLst>
        </p:spPr>
      </p:pic>
      <p:sp>
        <p:nvSpPr>
          <p:cNvPr id="88" name="TextBox 87"/>
          <p:cNvSpPr txBox="1"/>
          <p:nvPr/>
        </p:nvSpPr>
        <p:spPr>
          <a:xfrm>
            <a:off x="8125623" y="3984369"/>
            <a:ext cx="526141" cy="239647"/>
          </a:xfrm>
          <a:prstGeom prst="rect">
            <a:avLst/>
          </a:prstGeom>
          <a:noFill/>
        </p:spPr>
        <p:txBody>
          <a:bodyPr wrap="square" lIns="0" tIns="0" rIns="0" bIns="0" rtlCol="0">
            <a:noAutofit/>
          </a:bodyPr>
          <a:lstStyle/>
          <a:p>
            <a:pPr indent="-274320">
              <a:spcAft>
                <a:spcPts val="900"/>
              </a:spcAft>
            </a:pPr>
            <a:r>
              <a:rPr lang="en-US" sz="800" kern="0" dirty="0">
                <a:latin typeface="Calibri" pitchFamily="34" charset="0"/>
                <a:cs typeface="Calibri" pitchFamily="34" charset="0"/>
              </a:rPr>
              <a:t>KYC team</a:t>
            </a:r>
          </a:p>
        </p:txBody>
      </p:sp>
      <p:sp>
        <p:nvSpPr>
          <p:cNvPr id="91" name="TextBox 90"/>
          <p:cNvSpPr txBox="1"/>
          <p:nvPr/>
        </p:nvSpPr>
        <p:spPr>
          <a:xfrm>
            <a:off x="8467044" y="2883263"/>
            <a:ext cx="439698" cy="182529"/>
          </a:xfrm>
          <a:prstGeom prst="rect">
            <a:avLst/>
          </a:prstGeom>
          <a:noFill/>
        </p:spPr>
        <p:txBody>
          <a:bodyPr wrap="square" lIns="0" tIns="0" rIns="0" bIns="0" rtlCol="0">
            <a:noAutofit/>
          </a:bodyPr>
          <a:lstStyle>
            <a:defPPr>
              <a:defRPr lang="en-US"/>
            </a:defPPr>
            <a:lvl1pPr indent="-274320">
              <a:spcAft>
                <a:spcPts val="900"/>
              </a:spcAft>
              <a:defRPr sz="800" kern="0">
                <a:solidFill>
                  <a:sysClr val="windowText" lastClr="000000"/>
                </a:solidFill>
                <a:latin typeface="Calibri" pitchFamily="34" charset="0"/>
                <a:cs typeface="Calibri" pitchFamily="34" charset="0"/>
              </a:defRPr>
            </a:lvl1pPr>
          </a:lstStyle>
          <a:p>
            <a:r>
              <a:rPr lang="en-US" dirty="0"/>
              <a:t>PEP/NN alerts</a:t>
            </a:r>
          </a:p>
        </p:txBody>
      </p:sp>
      <p:cxnSp>
        <p:nvCxnSpPr>
          <p:cNvPr id="17" name="Straight Arrow Connector 50"/>
          <p:cNvCxnSpPr>
            <a:stCxn id="137" idx="4"/>
            <a:endCxn id="112" idx="10"/>
          </p:cNvCxnSpPr>
          <p:nvPr/>
        </p:nvCxnSpPr>
        <p:spPr>
          <a:xfrm>
            <a:off x="2743200" y="1828800"/>
            <a:ext cx="279295" cy="5564"/>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51"/>
          <p:cNvCxnSpPr>
            <a:stCxn id="112" idx="4"/>
            <a:endCxn id="113" idx="1"/>
          </p:cNvCxnSpPr>
          <p:nvPr/>
        </p:nvCxnSpPr>
        <p:spPr>
          <a:xfrm>
            <a:off x="3816889" y="2269071"/>
            <a:ext cx="819704" cy="166304"/>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707038" y="1450700"/>
            <a:ext cx="1043768" cy="47802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02" name="Rectangle 101"/>
          <p:cNvSpPr/>
          <p:nvPr/>
        </p:nvSpPr>
        <p:spPr>
          <a:xfrm>
            <a:off x="5706908" y="1251665"/>
            <a:ext cx="1043367" cy="298230"/>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N-tier</a:t>
            </a:r>
          </a:p>
        </p:txBody>
      </p:sp>
      <p:sp>
        <p:nvSpPr>
          <p:cNvPr id="104" name="Flowchart: Process 103"/>
          <p:cNvSpPr/>
          <p:nvPr/>
        </p:nvSpPr>
        <p:spPr>
          <a:xfrm>
            <a:off x="5782280" y="1645408"/>
            <a:ext cx="890653"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Recon</a:t>
            </a:r>
          </a:p>
        </p:txBody>
      </p:sp>
      <p:cxnSp>
        <p:nvCxnSpPr>
          <p:cNvPr id="24" name="Elbow Connector 52"/>
          <p:cNvCxnSpPr>
            <a:stCxn id="102" idx="0"/>
            <a:endCxn id="168" idx="0"/>
          </p:cNvCxnSpPr>
          <p:nvPr/>
        </p:nvCxnSpPr>
        <p:spPr>
          <a:xfrm rot="16200000" flipH="1">
            <a:off x="7268565" y="211692"/>
            <a:ext cx="88972" cy="2168918"/>
          </a:xfrm>
          <a:prstGeom prst="bentConnector3">
            <a:avLst>
              <a:gd name="adj1" fmla="val -256935"/>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53"/>
          <p:cNvCxnSpPr>
            <a:stCxn id="146" idx="8"/>
            <a:endCxn id="100" idx="3"/>
          </p:cNvCxnSpPr>
          <p:nvPr/>
        </p:nvCxnSpPr>
        <p:spPr>
          <a:xfrm flipH="1" flipV="1">
            <a:off x="6750806" y="1689712"/>
            <a:ext cx="602165" cy="408743"/>
          </a:xfrm>
          <a:prstGeom prst="bentConnector3">
            <a:avLst>
              <a:gd name="adj1" fmla="val -37963"/>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54"/>
          <p:cNvCxnSpPr>
            <a:stCxn id="113" idx="3"/>
            <a:endCxn id="146" idx="10"/>
          </p:cNvCxnSpPr>
          <p:nvPr/>
        </p:nvCxnSpPr>
        <p:spPr>
          <a:xfrm>
            <a:off x="6020331" y="2435375"/>
            <a:ext cx="398582" cy="598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6078962" y="2207360"/>
            <a:ext cx="249657" cy="159598"/>
          </a:xfrm>
          <a:prstGeom prst="rect">
            <a:avLst/>
          </a:prstGeom>
          <a:noFill/>
        </p:spPr>
        <p:txBody>
          <a:bodyPr wrap="square" lIns="0" tIns="0" rIns="0" bIns="0" rtlCol="0">
            <a:noAutofit/>
          </a:bodyPr>
          <a:lstStyle/>
          <a:p>
            <a:pPr indent="-274320">
              <a:spcAft>
                <a:spcPts val="900"/>
              </a:spcAft>
            </a:pPr>
            <a:r>
              <a:rPr lang="en-US" sz="1000" b="1" dirty="0">
                <a:latin typeface="Calibri" panose="020F0502020204030204" pitchFamily="34" charset="0"/>
              </a:rPr>
              <a:t>2(b)</a:t>
            </a:r>
          </a:p>
        </p:txBody>
      </p:sp>
    </p:spTree>
    <p:extLst>
      <p:ext uri="{BB962C8B-B14F-4D97-AF65-F5344CB8AC3E}">
        <p14:creationId xmlns:p14="http://schemas.microsoft.com/office/powerpoint/2010/main" val="1689715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888"/>
          </a:xfrm>
        </p:spPr>
        <p:txBody>
          <a:bodyPr/>
          <a:lstStyle/>
          <a:p>
            <a:r>
              <a:rPr lang="en-US" i="0" dirty="0">
                <a:solidFill>
                  <a:schemeClr val="bg1"/>
                </a:solidFill>
                <a:latin typeface="Calibri" panose="020F0502020204030204" pitchFamily="34" charset="0"/>
                <a:cs typeface="Calibri" panose="020F0502020204030204" pitchFamily="34" charset="0"/>
              </a:rPr>
              <a:t>KYC Data Interface</a:t>
            </a:r>
          </a:p>
        </p:txBody>
      </p:sp>
      <p:grpSp>
        <p:nvGrpSpPr>
          <p:cNvPr id="30" name="Group 29"/>
          <p:cNvGrpSpPr/>
          <p:nvPr/>
        </p:nvGrpSpPr>
        <p:grpSpPr>
          <a:xfrm>
            <a:off x="228600" y="762001"/>
            <a:ext cx="8686800" cy="3505200"/>
            <a:chOff x="609600" y="762001"/>
            <a:chExt cx="8153400" cy="3505200"/>
          </a:xfrm>
        </p:grpSpPr>
        <p:sp>
          <p:nvSpPr>
            <p:cNvPr id="50" name="Rectangle 49"/>
            <p:cNvSpPr/>
            <p:nvPr/>
          </p:nvSpPr>
          <p:spPr>
            <a:xfrm>
              <a:off x="609600" y="762001"/>
              <a:ext cx="8153400" cy="3505200"/>
            </a:xfrm>
            <a:prstGeom prst="rect">
              <a:avLst/>
            </a:prstGeom>
            <a:noFill/>
            <a:ln w="15875"/>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grpSp>
          <p:nvGrpSpPr>
            <p:cNvPr id="25" name="Group 24"/>
            <p:cNvGrpSpPr/>
            <p:nvPr/>
          </p:nvGrpSpPr>
          <p:grpSpPr>
            <a:xfrm>
              <a:off x="838199" y="1143000"/>
              <a:ext cx="7707886" cy="2971800"/>
              <a:chOff x="316871" y="1033420"/>
              <a:chExt cx="8068067" cy="2971800"/>
            </a:xfrm>
          </p:grpSpPr>
          <p:sp>
            <p:nvSpPr>
              <p:cNvPr id="34" name="TextBox 33"/>
              <p:cNvSpPr txBox="1"/>
              <p:nvPr/>
            </p:nvSpPr>
            <p:spPr>
              <a:xfrm>
                <a:off x="3545596" y="2696814"/>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35" name="TextBox 34"/>
              <p:cNvSpPr txBox="1"/>
              <p:nvPr/>
            </p:nvSpPr>
            <p:spPr>
              <a:xfrm>
                <a:off x="4567731" y="1706213"/>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79" name="TextBox 78"/>
              <p:cNvSpPr txBox="1"/>
              <p:nvPr/>
            </p:nvSpPr>
            <p:spPr>
              <a:xfrm>
                <a:off x="4593896" y="2819400"/>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46" name="TextBox 45"/>
              <p:cNvSpPr txBox="1"/>
              <p:nvPr/>
            </p:nvSpPr>
            <p:spPr>
              <a:xfrm>
                <a:off x="3118164" y="2034468"/>
                <a:ext cx="234636" cy="152400"/>
              </a:xfrm>
              <a:prstGeom prst="rect">
                <a:avLst/>
              </a:prstGeom>
              <a:noFill/>
            </p:spPr>
            <p:txBody>
              <a:bodyPr wrap="square" lIns="0" tIns="0" rIns="0" bIns="0" rtlCol="0">
                <a:noAutofit/>
              </a:bodyPr>
              <a:lstStyle/>
              <a:p>
                <a:pPr indent="-274320">
                  <a:spcAft>
                    <a:spcPts val="900"/>
                  </a:spcAft>
                </a:pPr>
                <a:endParaRPr lang="en-US" sz="900" b="1" dirty="0">
                  <a:solidFill>
                    <a:srgbClr val="FF0000"/>
                  </a:solidFill>
                  <a:latin typeface="Calibri" panose="020F0502020204030204" pitchFamily="34" charset="0"/>
                  <a:cs typeface="Calibri" panose="020F0502020204030204" pitchFamily="34" charset="0"/>
                </a:endParaRPr>
              </a:p>
            </p:txBody>
          </p:sp>
          <p:sp>
            <p:nvSpPr>
              <p:cNvPr id="10" name="Rectangle 9"/>
              <p:cNvSpPr/>
              <p:nvPr/>
            </p:nvSpPr>
            <p:spPr>
              <a:xfrm>
                <a:off x="2549352" y="1695809"/>
                <a:ext cx="996244" cy="309802"/>
              </a:xfrm>
              <a:prstGeom prst="rect">
                <a:avLst/>
              </a:prstGeom>
            </p:spPr>
            <p:txBody>
              <a:bodyPr wrap="none" rtlCol="0" anchor="ctr">
                <a:spAutoFit/>
              </a:bodyPr>
              <a:lstStyle/>
              <a:p>
                <a:pPr algn="ctr"/>
                <a:endParaRPr lang="en-US" sz="1200" dirty="0">
                  <a:latin typeface="+mj-lt"/>
                </a:endParaRPr>
              </a:p>
            </p:txBody>
          </p:sp>
          <p:sp>
            <p:nvSpPr>
              <p:cNvPr id="26" name="Right Arrow 25"/>
              <p:cNvSpPr/>
              <p:nvPr/>
            </p:nvSpPr>
            <p:spPr>
              <a:xfrm>
                <a:off x="1676400" y="1797278"/>
                <a:ext cx="872952" cy="107722"/>
              </a:xfrm>
              <a:prstGeom prst="rightArrow">
                <a:avLst/>
              </a:prstGeom>
            </p:spPr>
            <p:txBody>
              <a:bodyPr wrap="none" rtlCol="0" anchor="ctr">
                <a:spAutoFit/>
              </a:bodyPr>
              <a:lstStyle/>
              <a:p>
                <a:pPr algn="ctr"/>
                <a:endParaRPr lang="en-US" sz="1200" dirty="0">
                  <a:latin typeface="+mj-lt"/>
                </a:endParaRPr>
              </a:p>
            </p:txBody>
          </p:sp>
          <p:sp>
            <p:nvSpPr>
              <p:cNvPr id="27" name="Right Arrow 26"/>
              <p:cNvSpPr/>
              <p:nvPr/>
            </p:nvSpPr>
            <p:spPr>
              <a:xfrm>
                <a:off x="1260318" y="2514600"/>
                <a:ext cx="644682" cy="45719"/>
              </a:xfrm>
              <a:prstGeom prst="rightArrow">
                <a:avLst/>
              </a:prstGeom>
            </p:spPr>
            <p:txBody>
              <a:bodyPr wrap="none" rtlCol="0" anchor="ctr">
                <a:spAutoFit/>
              </a:bodyPr>
              <a:lstStyle/>
              <a:p>
                <a:pPr algn="ctr"/>
                <a:endParaRPr lang="en-US" sz="1200" dirty="0">
                  <a:latin typeface="+mj-lt"/>
                </a:endParaRPr>
              </a:p>
            </p:txBody>
          </p:sp>
          <p:sp>
            <p:nvSpPr>
              <p:cNvPr id="57" name="Can 56"/>
              <p:cNvSpPr/>
              <p:nvPr/>
            </p:nvSpPr>
            <p:spPr>
              <a:xfrm>
                <a:off x="2606895" y="1262020"/>
                <a:ext cx="914400" cy="557811"/>
              </a:xfrm>
              <a:prstGeom prst="can">
                <a:avLst>
                  <a:gd name="adj" fmla="val 28325"/>
                </a:avLst>
              </a:prstGeom>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KYC Database</a:t>
                </a:r>
              </a:p>
            </p:txBody>
          </p:sp>
          <p:sp>
            <p:nvSpPr>
              <p:cNvPr id="53" name="Rectangle 52"/>
              <p:cNvSpPr/>
              <p:nvPr/>
            </p:nvSpPr>
            <p:spPr>
              <a:xfrm>
                <a:off x="316873" y="1325787"/>
                <a:ext cx="1588127" cy="43848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56" name="Rectangle 55"/>
              <p:cNvSpPr/>
              <p:nvPr/>
            </p:nvSpPr>
            <p:spPr>
              <a:xfrm>
                <a:off x="316871" y="1033420"/>
                <a:ext cx="1588129" cy="290635"/>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KYC Application Form</a:t>
                </a:r>
              </a:p>
            </p:txBody>
          </p:sp>
          <p:pic>
            <p:nvPicPr>
              <p:cNvPr id="73" name="Picture 2" descr="C:\Users\n302405\AppData\Local\Microsoft\Windows\Temporary Internet Files\Content.IE5\RDPPCXDY\primary-form-edit[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364049"/>
                <a:ext cx="471486" cy="338659"/>
              </a:xfrm>
              <a:prstGeom prst="rect">
                <a:avLst/>
              </a:prstGeom>
              <a:noFill/>
              <a:extLst>
                <a:ext uri="{909E8E84-426E-40DD-AFC4-6F175D3DCCD1}">
                  <a14:hiddenFill xmlns:a14="http://schemas.microsoft.com/office/drawing/2010/main">
                    <a:solidFill>
                      <a:srgbClr val="FFFFFF"/>
                    </a:solidFill>
                  </a14:hiddenFill>
                </a:ext>
              </a:extLst>
            </p:spPr>
          </p:pic>
          <p:sp>
            <p:nvSpPr>
              <p:cNvPr id="3" name="Snip and Round Single Corner Rectangle 2"/>
              <p:cNvSpPr/>
              <p:nvPr/>
            </p:nvSpPr>
            <p:spPr>
              <a:xfrm>
                <a:off x="2875603" y="2110668"/>
                <a:ext cx="615172" cy="251532"/>
              </a:xfrm>
              <a:prstGeom prst="snipRoundRect">
                <a:avLst/>
              </a:prstGeom>
            </p:spPr>
            <p:txBody>
              <a:bodyPr wrap="none" rtlCol="0" anchor="ctr">
                <a:spAutoFit/>
              </a:bodyPr>
              <a:lstStyle/>
              <a:p>
                <a:pPr algn="ctr"/>
                <a:endParaRPr lang="en-US" sz="1200" dirty="0">
                  <a:latin typeface="+mj-lt"/>
                </a:endParaRPr>
              </a:p>
            </p:txBody>
          </p:sp>
          <p:sp>
            <p:nvSpPr>
              <p:cNvPr id="4" name="Snip and Round Single Corner Rectangle 3"/>
              <p:cNvSpPr/>
              <p:nvPr/>
            </p:nvSpPr>
            <p:spPr>
              <a:xfrm>
                <a:off x="4038600" y="2438400"/>
                <a:ext cx="734848" cy="440413"/>
              </a:xfrm>
              <a:prstGeom prst="snipRoundRect">
                <a:avLst/>
              </a:prstGeom>
            </p:spPr>
            <p:txBody>
              <a:bodyPr wrap="none" rtlCol="0" anchor="ctr">
                <a:spAutoFit/>
              </a:bodyPr>
              <a:lstStyle/>
              <a:p>
                <a:pPr algn="ctr"/>
                <a:endParaRPr lang="en-US" sz="1200" dirty="0">
                  <a:latin typeface="+mj-lt"/>
                </a:endParaRPr>
              </a:p>
            </p:txBody>
          </p:sp>
          <p:sp>
            <p:nvSpPr>
              <p:cNvPr id="75" name="Rectangle 74"/>
              <p:cNvSpPr/>
              <p:nvPr/>
            </p:nvSpPr>
            <p:spPr>
              <a:xfrm>
                <a:off x="2014481" y="2641402"/>
                <a:ext cx="1371600" cy="474822"/>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76" name="Rectangle 75"/>
              <p:cNvSpPr/>
              <p:nvPr/>
            </p:nvSpPr>
            <p:spPr>
              <a:xfrm>
                <a:off x="2005580" y="2382714"/>
                <a:ext cx="1380501"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ETL</a:t>
                </a:r>
              </a:p>
            </p:txBody>
          </p:sp>
          <p:sp>
            <p:nvSpPr>
              <p:cNvPr id="77" name="Flowchart: Process 76"/>
              <p:cNvSpPr/>
              <p:nvPr/>
            </p:nvSpPr>
            <p:spPr>
              <a:xfrm>
                <a:off x="2129598" y="2758156"/>
                <a:ext cx="1170395"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Populate data to STG</a:t>
                </a:r>
              </a:p>
            </p:txBody>
          </p:sp>
          <p:sp>
            <p:nvSpPr>
              <p:cNvPr id="78" name="Can 77"/>
              <p:cNvSpPr/>
              <p:nvPr/>
            </p:nvSpPr>
            <p:spPr>
              <a:xfrm>
                <a:off x="3761927" y="2587867"/>
                <a:ext cx="914400" cy="557811"/>
              </a:xfrm>
              <a:prstGeom prst="can">
                <a:avLst>
                  <a:gd name="adj" fmla="val 28325"/>
                </a:avLst>
              </a:prstGeom>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SAS STG Database</a:t>
                </a:r>
              </a:p>
            </p:txBody>
          </p:sp>
          <p:sp>
            <p:nvSpPr>
              <p:cNvPr id="80" name="Can 79"/>
              <p:cNvSpPr/>
              <p:nvPr/>
            </p:nvSpPr>
            <p:spPr>
              <a:xfrm>
                <a:off x="7241937" y="2581847"/>
                <a:ext cx="914400" cy="557811"/>
              </a:xfrm>
              <a:prstGeom prst="can">
                <a:avLst>
                  <a:gd name="adj" fmla="val 28325"/>
                </a:avLst>
              </a:prstGeom>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SAS CORE Database</a:t>
                </a:r>
              </a:p>
            </p:txBody>
          </p:sp>
          <p:grpSp>
            <p:nvGrpSpPr>
              <p:cNvPr id="24" name="Group 23"/>
              <p:cNvGrpSpPr/>
              <p:nvPr/>
            </p:nvGrpSpPr>
            <p:grpSpPr>
              <a:xfrm>
                <a:off x="5069358" y="2481220"/>
                <a:ext cx="1371600" cy="608586"/>
                <a:chOff x="4383558" y="2481220"/>
                <a:chExt cx="1371600" cy="608586"/>
              </a:xfrm>
            </p:grpSpPr>
            <p:sp>
              <p:nvSpPr>
                <p:cNvPr id="81" name="Rectangle 80"/>
                <p:cNvSpPr/>
                <p:nvPr/>
              </p:nvSpPr>
              <p:spPr>
                <a:xfrm>
                  <a:off x="4383558" y="2619662"/>
                  <a:ext cx="1371600" cy="47014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82" name="Rectangle 81"/>
                <p:cNvSpPr/>
                <p:nvPr/>
              </p:nvSpPr>
              <p:spPr>
                <a:xfrm>
                  <a:off x="4383558" y="2481220"/>
                  <a:ext cx="1371074"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SAS Integrator</a:t>
                  </a:r>
                </a:p>
              </p:txBody>
            </p:sp>
            <p:sp>
              <p:nvSpPr>
                <p:cNvPr id="83" name="Flowchart: Process 82"/>
                <p:cNvSpPr/>
                <p:nvPr/>
              </p:nvSpPr>
              <p:spPr>
                <a:xfrm>
                  <a:off x="4507581" y="2804874"/>
                  <a:ext cx="1170395"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Populate data to CORE</a:t>
                  </a:r>
                </a:p>
              </p:txBody>
            </p:sp>
          </p:grpSp>
          <p:sp>
            <p:nvSpPr>
              <p:cNvPr id="86" name="Rectangle 85"/>
              <p:cNvSpPr/>
              <p:nvPr/>
            </p:nvSpPr>
            <p:spPr>
              <a:xfrm>
                <a:off x="7013338" y="3535076"/>
                <a:ext cx="1371600" cy="470144"/>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87" name="Rectangle 86"/>
              <p:cNvSpPr/>
              <p:nvPr/>
            </p:nvSpPr>
            <p:spPr>
              <a:xfrm>
                <a:off x="7013864" y="3369200"/>
                <a:ext cx="1371074"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Alert Generation Process</a:t>
                </a:r>
              </a:p>
            </p:txBody>
          </p:sp>
          <p:sp>
            <p:nvSpPr>
              <p:cNvPr id="88" name="Flowchart: Process 87"/>
              <p:cNvSpPr/>
              <p:nvPr/>
            </p:nvSpPr>
            <p:spPr>
              <a:xfrm>
                <a:off x="7128454" y="3720288"/>
                <a:ext cx="1170395"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Scenario Execution</a:t>
                </a:r>
              </a:p>
            </p:txBody>
          </p:sp>
          <p:cxnSp>
            <p:nvCxnSpPr>
              <p:cNvPr id="15" name="Straight Arrow Connector 14"/>
              <p:cNvCxnSpPr>
                <a:stCxn id="53" idx="3"/>
                <a:endCxn id="57" idx="2"/>
              </p:cNvCxnSpPr>
              <p:nvPr/>
            </p:nvCxnSpPr>
            <p:spPr>
              <a:xfrm flipV="1">
                <a:off x="1904999" y="1540926"/>
                <a:ext cx="701895" cy="4104"/>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78" idx="4"/>
                <a:endCxn id="81" idx="1"/>
              </p:cNvCxnSpPr>
              <p:nvPr/>
            </p:nvCxnSpPr>
            <p:spPr>
              <a:xfrm flipV="1">
                <a:off x="4676327" y="2854734"/>
                <a:ext cx="393031" cy="12039"/>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81" idx="3"/>
                <a:endCxn id="80" idx="2"/>
              </p:cNvCxnSpPr>
              <p:nvPr/>
            </p:nvCxnSpPr>
            <p:spPr>
              <a:xfrm>
                <a:off x="6440958" y="2854734"/>
                <a:ext cx="800979" cy="6019"/>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80" idx="3"/>
                <a:endCxn id="87" idx="0"/>
              </p:cNvCxnSpPr>
              <p:nvPr/>
            </p:nvCxnSpPr>
            <p:spPr>
              <a:xfrm>
                <a:off x="7699137" y="3139658"/>
                <a:ext cx="263" cy="229542"/>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59" name="Rectangle 58"/>
          <p:cNvSpPr/>
          <p:nvPr/>
        </p:nvSpPr>
        <p:spPr>
          <a:xfrm>
            <a:off x="228600" y="4343400"/>
            <a:ext cx="8686800"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Data from KYC view</a:t>
            </a:r>
          </a:p>
        </p:txBody>
      </p:sp>
      <p:sp>
        <p:nvSpPr>
          <p:cNvPr id="60" name="TextBox 59"/>
          <p:cNvSpPr txBox="1"/>
          <p:nvPr/>
        </p:nvSpPr>
        <p:spPr>
          <a:xfrm>
            <a:off x="228600" y="4650017"/>
            <a:ext cx="8686800" cy="1574095"/>
          </a:xfrm>
          <a:prstGeom prst="rect">
            <a:avLst/>
          </a:prstGeom>
          <a:noFill/>
          <a:ln>
            <a:solidFill>
              <a:schemeClr val="tx1"/>
            </a:solidFill>
          </a:ln>
        </p:spPr>
        <p:txBody>
          <a:bodyPr wrap="square" lIns="0" tIns="0" rIns="0" bIns="0" rtlCol="0">
            <a:noAutofit/>
          </a:bodyPr>
          <a:lstStyle/>
          <a:p>
            <a:pPr indent="-274320">
              <a:spcAft>
                <a:spcPts val="900"/>
              </a:spcAft>
            </a:pPr>
            <a:r>
              <a:rPr lang="en-US" sz="1200" kern="0" dirty="0">
                <a:solidFill>
                  <a:sysClr val="windowText" lastClr="000000"/>
                </a:solidFill>
                <a:latin typeface="Calibri" pitchFamily="34" charset="0"/>
                <a:cs typeface="Calibri" pitchFamily="34" charset="0"/>
              </a:rPr>
              <a:t>Following are the details required from KYC for scenarios and Investigation</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CIP Q11 – Is  US customer?</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CDD Q10 – NAICS code  </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CDD Q31 – Is Foreign Correspondent Bank?  </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Beneficial Owner and Control Party - passport country and Address</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Is PEP?</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MLRA Rating – </a:t>
            </a:r>
            <a:r>
              <a:rPr lang="en-US" sz="1200" kern="0" dirty="0">
                <a:solidFill>
                  <a:srgbClr val="FF0000"/>
                </a:solidFill>
                <a:latin typeface="Calibri" pitchFamily="34" charset="0"/>
                <a:cs typeface="Calibri" pitchFamily="34" charset="0"/>
              </a:rPr>
              <a:t>CDL is the new source</a:t>
            </a:r>
          </a:p>
          <a:p>
            <a:pPr marL="273050" indent="-160338">
              <a:buFont typeface="Arial" panose="020B0604020202020204" pitchFamily="34" charset="0"/>
              <a:buChar char="•"/>
            </a:pPr>
            <a:r>
              <a:rPr lang="en-US" sz="1200" kern="0" dirty="0">
                <a:solidFill>
                  <a:sysClr val="windowText" lastClr="000000"/>
                </a:solidFill>
                <a:latin typeface="Calibri" pitchFamily="34" charset="0"/>
                <a:cs typeface="Calibri" pitchFamily="34" charset="0"/>
              </a:rPr>
              <a:t>Adverse Media flag and AML concern flag</a:t>
            </a:r>
          </a:p>
        </p:txBody>
      </p:sp>
      <p:cxnSp>
        <p:nvCxnSpPr>
          <p:cNvPr id="41" name="Elbow Connector 40"/>
          <p:cNvCxnSpPr>
            <a:stCxn id="11273" idx="2"/>
            <a:endCxn id="11272" idx="1"/>
          </p:cNvCxnSpPr>
          <p:nvPr/>
        </p:nvCxnSpPr>
        <p:spPr>
          <a:xfrm rot="5400000">
            <a:off x="3613777" y="-613882"/>
            <a:ext cx="813789" cy="5851553"/>
          </a:xfrm>
          <a:prstGeom prst="bentConnector3">
            <a:avLst>
              <a:gd name="adj1" fmla="val 50000"/>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75" idx="3"/>
            <a:endCxn id="78" idx="2"/>
          </p:cNvCxnSpPr>
          <p:nvPr/>
        </p:nvCxnSpPr>
        <p:spPr>
          <a:xfrm flipV="1">
            <a:off x="3596172" y="2976353"/>
            <a:ext cx="382557" cy="1204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7" idx="4"/>
            <a:endCxn id="11271" idx="10"/>
          </p:cNvCxnSpPr>
          <p:nvPr/>
        </p:nvCxnSpPr>
        <p:spPr>
          <a:xfrm>
            <a:off x="3733800" y="1650506"/>
            <a:ext cx="777927" cy="4484"/>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271" name="Documents"/>
          <p:cNvSpPr>
            <a:spLocks noEditPoints="1" noChangeArrowheads="1"/>
          </p:cNvSpPr>
          <p:nvPr/>
        </p:nvSpPr>
        <p:spPr bwMode="auto">
          <a:xfrm>
            <a:off x="4511727" y="1219200"/>
            <a:ext cx="746073" cy="871580"/>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1000" kern="0" dirty="0">
                <a:solidFill>
                  <a:sysClr val="windowText" lastClr="000000"/>
                </a:solidFill>
                <a:latin typeface="Calibri" pitchFamily="34" charset="0"/>
                <a:cs typeface="Calibri" pitchFamily="34" charset="0"/>
              </a:rPr>
              <a:t>KYC Flat files</a:t>
            </a:r>
          </a:p>
        </p:txBody>
      </p:sp>
      <p:sp>
        <p:nvSpPr>
          <p:cNvPr id="11272" name="Can 83"/>
          <p:cNvSpPr/>
          <p:nvPr/>
        </p:nvSpPr>
        <p:spPr>
          <a:xfrm>
            <a:off x="629529" y="2718789"/>
            <a:ext cx="930729" cy="557811"/>
          </a:xfrm>
          <a:prstGeom prst="can">
            <a:avLst>
              <a:gd name="adj" fmla="val 28325"/>
            </a:avLst>
          </a:prstGeom>
          <a:ln>
            <a:solidFill>
              <a:schemeClr val="accent4"/>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kern="0" dirty="0">
                <a:solidFill>
                  <a:sysClr val="windowText" lastClr="000000"/>
                </a:solidFill>
                <a:latin typeface="Calibri" pitchFamily="34" charset="0"/>
                <a:cs typeface="Calibri" pitchFamily="34" charset="0"/>
              </a:rPr>
              <a:t>SAS Pre-Stage Database</a:t>
            </a:r>
          </a:p>
        </p:txBody>
      </p:sp>
      <p:sp>
        <p:nvSpPr>
          <p:cNvPr id="11273" name="Rectangle 84"/>
          <p:cNvSpPr/>
          <p:nvPr/>
        </p:nvSpPr>
        <p:spPr>
          <a:xfrm>
            <a:off x="6248400" y="1430178"/>
            <a:ext cx="1396093" cy="474822"/>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11274" name="Rectangle 90"/>
          <p:cNvSpPr/>
          <p:nvPr/>
        </p:nvSpPr>
        <p:spPr>
          <a:xfrm>
            <a:off x="6239340" y="1171490"/>
            <a:ext cx="1405153" cy="266679"/>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b="1" kern="0" dirty="0">
                <a:solidFill>
                  <a:schemeClr val="bg1"/>
                </a:solidFill>
                <a:latin typeface="Calibri" pitchFamily="34" charset="0"/>
                <a:cs typeface="Calibri" pitchFamily="34" charset="0"/>
              </a:rPr>
              <a:t>ETL</a:t>
            </a:r>
          </a:p>
        </p:txBody>
      </p:sp>
      <p:sp>
        <p:nvSpPr>
          <p:cNvPr id="11275" name="Flowchart: Process 92"/>
          <p:cNvSpPr/>
          <p:nvPr/>
        </p:nvSpPr>
        <p:spPr>
          <a:xfrm>
            <a:off x="6365572" y="1546932"/>
            <a:ext cx="1191295" cy="215444"/>
          </a:xfrm>
          <a:prstGeom prst="flowChartProcess">
            <a:avLst/>
          </a:prstGeom>
          <a:solidFill>
            <a:schemeClr val="bg1">
              <a:lumMod val="5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Populate data to STG</a:t>
            </a:r>
          </a:p>
        </p:txBody>
      </p:sp>
      <p:cxnSp>
        <p:nvCxnSpPr>
          <p:cNvPr id="11276" name="Straight Arrow Connector 93"/>
          <p:cNvCxnSpPr>
            <a:stCxn id="11271" idx="11"/>
            <a:endCxn id="11273" idx="1"/>
          </p:cNvCxnSpPr>
          <p:nvPr/>
        </p:nvCxnSpPr>
        <p:spPr>
          <a:xfrm>
            <a:off x="5257800" y="1654990"/>
            <a:ext cx="990600" cy="12599"/>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77" name="Straight Arrow Connector 94"/>
          <p:cNvCxnSpPr>
            <a:stCxn id="11272" idx="4"/>
            <a:endCxn id="75" idx="1"/>
          </p:cNvCxnSpPr>
          <p:nvPr/>
        </p:nvCxnSpPr>
        <p:spPr>
          <a:xfrm flipV="1">
            <a:off x="1560258" y="2988393"/>
            <a:ext cx="639821" cy="9302"/>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219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888"/>
          </a:xfrm>
        </p:spPr>
        <p:txBody>
          <a:bodyPr/>
          <a:lstStyle/>
          <a:p>
            <a:r>
              <a:rPr lang="en-US" i="0" dirty="0">
                <a:solidFill>
                  <a:schemeClr val="bg1"/>
                </a:solidFill>
                <a:latin typeface="Calibri" panose="020F0502020204030204" pitchFamily="34" charset="0"/>
                <a:cs typeface="Calibri" panose="020F0502020204030204" pitchFamily="34" charset="0"/>
              </a:rPr>
              <a:t>Alert Generation Process (AGP) Layout</a:t>
            </a:r>
          </a:p>
        </p:txBody>
      </p:sp>
      <p:sp>
        <p:nvSpPr>
          <p:cNvPr id="50" name="Rectangle 49"/>
          <p:cNvSpPr/>
          <p:nvPr/>
        </p:nvSpPr>
        <p:spPr>
          <a:xfrm>
            <a:off x="228600" y="762001"/>
            <a:ext cx="7162800" cy="3048000"/>
          </a:xfrm>
          <a:prstGeom prst="rect">
            <a:avLst/>
          </a:prstGeom>
          <a:noFill/>
          <a:ln w="15875"/>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62" name="Flowchart: Process 61"/>
          <p:cNvSpPr/>
          <p:nvPr/>
        </p:nvSpPr>
        <p:spPr>
          <a:xfrm>
            <a:off x="228600" y="4154988"/>
            <a:ext cx="8686800" cy="2474412"/>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8600" indent="-228600">
              <a:buFont typeface="+mj-lt"/>
              <a:buAutoNum type="alphaLcPeriod"/>
            </a:pPr>
            <a:r>
              <a:rPr lang="en-US" sz="900" kern="0" dirty="0">
                <a:solidFill>
                  <a:sysClr val="windowText" lastClr="000000"/>
                </a:solidFill>
                <a:latin typeface="Calibri" pitchFamily="34" charset="0"/>
                <a:cs typeface="Calibri" pitchFamily="34" charset="0"/>
              </a:rPr>
              <a:t>The alert generation process obtains  the next available run date from the alert generation calendar. FSK_Scenario table in KC decides whether scenario is to be executed daily or monthly by AGP process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Generate PREP Data. PREP data creation for different scenario can be run in parallel or one after other depending on database performance</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Builds SAS source code for each active header and scenario and Alert, TX data sets.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Combines daily alert files, risk files, and triggering transaction files from multiple headers into tables with alerts, risk, and triggering transactions for all headers.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Calculates  risk ranking for entities.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Excludes alerts based on specific scenario settings and investigation activity.</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Suppresses  entities (parties and accounts) in the whitelist.</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Associates the entity information from the Core dimension tables to the newly generated alerts.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Assign entities to Investigators.</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Disables the UI while the alerts are being loaded into the database.</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Loads the alerts into the Knowledge Center(KC).</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Update Alert Audit to KC.</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Loads risk factors that are associated with alerts into the Knowledge Center.</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Loads additional alert data from a scenario or risk factor into the Knowledge Center.</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Collects and loads information into the Knowledge Center for each transaction, profile that was involved in the generation of an alert.</a:t>
            </a:r>
          </a:p>
          <a:p>
            <a:pPr marL="228600" indent="-228600">
              <a:buFont typeface="+mj-lt"/>
              <a:buAutoNum type="alphaLcPeriod"/>
            </a:pPr>
            <a:r>
              <a:rPr lang="en-US" sz="900" kern="0" dirty="0">
                <a:solidFill>
                  <a:sysClr val="windowText" lastClr="000000"/>
                </a:solidFill>
                <a:latin typeface="Calibri" pitchFamily="34" charset="0"/>
                <a:cs typeface="Calibri" pitchFamily="34" charset="0"/>
              </a:rPr>
              <a:t>Loads the Entity Triage Data Mart and performs round robin routing of entities and displays results in Case Manager.</a:t>
            </a:r>
          </a:p>
        </p:txBody>
      </p:sp>
      <p:grpSp>
        <p:nvGrpSpPr>
          <p:cNvPr id="61" name="Group 60"/>
          <p:cNvGrpSpPr/>
          <p:nvPr/>
        </p:nvGrpSpPr>
        <p:grpSpPr>
          <a:xfrm>
            <a:off x="409281" y="1020680"/>
            <a:ext cx="6874776" cy="2547661"/>
            <a:chOff x="412263" y="1020680"/>
            <a:chExt cx="7005105" cy="2547661"/>
          </a:xfrm>
        </p:grpSpPr>
        <p:sp>
          <p:nvSpPr>
            <p:cNvPr id="34" name="TextBox 33"/>
            <p:cNvSpPr txBox="1"/>
            <p:nvPr/>
          </p:nvSpPr>
          <p:spPr>
            <a:xfrm>
              <a:off x="3545596" y="2696814"/>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35" name="TextBox 34"/>
            <p:cNvSpPr txBox="1"/>
            <p:nvPr/>
          </p:nvSpPr>
          <p:spPr>
            <a:xfrm>
              <a:off x="4567731" y="1706213"/>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79" name="TextBox 78"/>
            <p:cNvSpPr txBox="1"/>
            <p:nvPr/>
          </p:nvSpPr>
          <p:spPr>
            <a:xfrm>
              <a:off x="4593896" y="2819400"/>
              <a:ext cx="359104" cy="59413"/>
            </a:xfrm>
            <a:prstGeom prst="rect">
              <a:avLst/>
            </a:prstGeom>
            <a:noFill/>
          </p:spPr>
          <p:txBody>
            <a:bodyPr wrap="square" lIns="0" tIns="0" rIns="0" bIns="0" rtlCol="0">
              <a:noAutofit/>
            </a:bodyPr>
            <a:lstStyle/>
            <a:p>
              <a:pPr indent="-274320">
                <a:spcAft>
                  <a:spcPts val="900"/>
                </a:spcAft>
              </a:pPr>
              <a:endParaRPr lang="en-US" sz="1200" dirty="0">
                <a:latin typeface="Georgia" pitchFamily="18" charset="0"/>
              </a:endParaRPr>
            </a:p>
          </p:txBody>
        </p:sp>
        <p:sp>
          <p:nvSpPr>
            <p:cNvPr id="46" name="TextBox 45"/>
            <p:cNvSpPr txBox="1"/>
            <p:nvPr/>
          </p:nvSpPr>
          <p:spPr>
            <a:xfrm>
              <a:off x="3118164" y="2034468"/>
              <a:ext cx="234636" cy="152400"/>
            </a:xfrm>
            <a:prstGeom prst="rect">
              <a:avLst/>
            </a:prstGeom>
            <a:noFill/>
          </p:spPr>
          <p:txBody>
            <a:bodyPr wrap="square" lIns="0" tIns="0" rIns="0" bIns="0" rtlCol="0">
              <a:noAutofit/>
            </a:bodyPr>
            <a:lstStyle/>
            <a:p>
              <a:pPr indent="-274320">
                <a:spcAft>
                  <a:spcPts val="900"/>
                </a:spcAft>
              </a:pPr>
              <a:endParaRPr lang="en-US" sz="900" b="1" dirty="0">
                <a:solidFill>
                  <a:srgbClr val="FF0000"/>
                </a:solidFill>
                <a:latin typeface="Calibri" panose="020F0502020204030204" pitchFamily="34" charset="0"/>
                <a:cs typeface="Calibri" panose="020F0502020204030204" pitchFamily="34" charset="0"/>
              </a:endParaRPr>
            </a:p>
          </p:txBody>
        </p:sp>
        <p:sp>
          <p:nvSpPr>
            <p:cNvPr id="8" name="Rectangle 7"/>
            <p:cNvSpPr/>
            <p:nvPr/>
          </p:nvSpPr>
          <p:spPr>
            <a:xfrm>
              <a:off x="2743200" y="2971800"/>
              <a:ext cx="609600" cy="380999"/>
            </a:xfrm>
            <a:prstGeom prst="rect">
              <a:avLst/>
            </a:prstGeom>
          </p:spPr>
          <p:txBody>
            <a:bodyPr wrap="none" rtlCol="0" anchor="ctr">
              <a:spAutoFit/>
            </a:bodyPr>
            <a:lstStyle/>
            <a:p>
              <a:pPr algn="ctr"/>
              <a:endParaRPr lang="en-US" sz="1200" dirty="0">
                <a:latin typeface="+mj-lt"/>
              </a:endParaRPr>
            </a:p>
          </p:txBody>
        </p:sp>
        <p:sp>
          <p:nvSpPr>
            <p:cNvPr id="10" name="Rectangle 9"/>
            <p:cNvSpPr/>
            <p:nvPr/>
          </p:nvSpPr>
          <p:spPr>
            <a:xfrm>
              <a:off x="2549352" y="1695809"/>
              <a:ext cx="996244" cy="309802"/>
            </a:xfrm>
            <a:prstGeom prst="rect">
              <a:avLst/>
            </a:prstGeom>
          </p:spPr>
          <p:txBody>
            <a:bodyPr wrap="none" rtlCol="0" anchor="ctr">
              <a:spAutoFit/>
            </a:bodyPr>
            <a:lstStyle/>
            <a:p>
              <a:pPr algn="ctr"/>
              <a:endParaRPr lang="en-US" sz="1200" dirty="0">
                <a:latin typeface="+mj-lt"/>
              </a:endParaRPr>
            </a:p>
          </p:txBody>
        </p:sp>
        <p:sp>
          <p:nvSpPr>
            <p:cNvPr id="26" name="Right Arrow 25"/>
            <p:cNvSpPr/>
            <p:nvPr/>
          </p:nvSpPr>
          <p:spPr>
            <a:xfrm>
              <a:off x="1676400" y="1797278"/>
              <a:ext cx="872952" cy="107722"/>
            </a:xfrm>
            <a:prstGeom prst="rightArrow">
              <a:avLst/>
            </a:prstGeom>
          </p:spPr>
          <p:txBody>
            <a:bodyPr wrap="none" rtlCol="0" anchor="ctr">
              <a:spAutoFit/>
            </a:bodyPr>
            <a:lstStyle/>
            <a:p>
              <a:pPr algn="ctr"/>
              <a:endParaRPr lang="en-US" sz="1200" dirty="0">
                <a:latin typeface="+mj-lt"/>
              </a:endParaRPr>
            </a:p>
          </p:txBody>
        </p:sp>
        <p:sp>
          <p:nvSpPr>
            <p:cNvPr id="27" name="Right Arrow 26"/>
            <p:cNvSpPr/>
            <p:nvPr/>
          </p:nvSpPr>
          <p:spPr>
            <a:xfrm>
              <a:off x="1260318" y="2514600"/>
              <a:ext cx="644682" cy="45719"/>
            </a:xfrm>
            <a:prstGeom prst="rightArrow">
              <a:avLst/>
            </a:prstGeom>
          </p:spPr>
          <p:txBody>
            <a:bodyPr wrap="none" rtlCol="0" anchor="ctr">
              <a:spAutoFit/>
            </a:bodyPr>
            <a:lstStyle/>
            <a:p>
              <a:pPr algn="ctr"/>
              <a:endParaRPr lang="en-US" sz="1200" dirty="0">
                <a:latin typeface="+mj-lt"/>
              </a:endParaRPr>
            </a:p>
          </p:txBody>
        </p:sp>
        <p:sp>
          <p:nvSpPr>
            <p:cNvPr id="47" name="Flowchart: Process 46"/>
            <p:cNvSpPr/>
            <p:nvPr/>
          </p:nvSpPr>
          <p:spPr>
            <a:xfrm>
              <a:off x="412263" y="1143790"/>
              <a:ext cx="848055"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Get Run date</a:t>
              </a:r>
            </a:p>
          </p:txBody>
        </p:sp>
        <p:sp>
          <p:nvSpPr>
            <p:cNvPr id="64" name="Flowchart: Process 63"/>
            <p:cNvSpPr/>
            <p:nvPr/>
          </p:nvSpPr>
          <p:spPr>
            <a:xfrm>
              <a:off x="1600200" y="1020680"/>
              <a:ext cx="924254" cy="461665"/>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Scenario Execution-PREP data</a:t>
              </a:r>
            </a:p>
          </p:txBody>
        </p:sp>
        <p:sp>
          <p:nvSpPr>
            <p:cNvPr id="65" name="Flowchart: Process 64"/>
            <p:cNvSpPr/>
            <p:nvPr/>
          </p:nvSpPr>
          <p:spPr>
            <a:xfrm>
              <a:off x="2895600" y="1020680"/>
              <a:ext cx="977599" cy="461665"/>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Scenario Code Generation , Alerts creation</a:t>
              </a:r>
            </a:p>
          </p:txBody>
        </p:sp>
        <p:sp>
          <p:nvSpPr>
            <p:cNvPr id="38" name="Flowchart: Process 37"/>
            <p:cNvSpPr/>
            <p:nvPr/>
          </p:nvSpPr>
          <p:spPr>
            <a:xfrm>
              <a:off x="4114800" y="1143790"/>
              <a:ext cx="889997"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Combine Alerts</a:t>
              </a:r>
            </a:p>
          </p:txBody>
        </p:sp>
        <p:sp>
          <p:nvSpPr>
            <p:cNvPr id="39" name="Flowchart: Process 38"/>
            <p:cNvSpPr/>
            <p:nvPr/>
          </p:nvSpPr>
          <p:spPr>
            <a:xfrm>
              <a:off x="5334000" y="11437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Risk Ranking</a:t>
              </a:r>
            </a:p>
          </p:txBody>
        </p:sp>
        <p:sp>
          <p:nvSpPr>
            <p:cNvPr id="40" name="Flowchart: Process 39"/>
            <p:cNvSpPr/>
            <p:nvPr/>
          </p:nvSpPr>
          <p:spPr>
            <a:xfrm>
              <a:off x="6477000" y="11437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Suppression</a:t>
              </a:r>
            </a:p>
          </p:txBody>
        </p:sp>
        <p:sp>
          <p:nvSpPr>
            <p:cNvPr id="41" name="Flowchart: Process 40"/>
            <p:cNvSpPr/>
            <p:nvPr/>
          </p:nvSpPr>
          <p:spPr>
            <a:xfrm>
              <a:off x="415034" y="2094535"/>
              <a:ext cx="903853" cy="33855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White List Suppression</a:t>
              </a:r>
            </a:p>
          </p:txBody>
        </p:sp>
        <p:sp>
          <p:nvSpPr>
            <p:cNvPr id="42" name="Flowchart: Process 41"/>
            <p:cNvSpPr/>
            <p:nvPr/>
          </p:nvSpPr>
          <p:spPr>
            <a:xfrm>
              <a:off x="1645499" y="21560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Get Entity Info</a:t>
              </a:r>
            </a:p>
          </p:txBody>
        </p:sp>
        <p:sp>
          <p:nvSpPr>
            <p:cNvPr id="44" name="Flowchart: Process 43"/>
            <p:cNvSpPr/>
            <p:nvPr/>
          </p:nvSpPr>
          <p:spPr>
            <a:xfrm>
              <a:off x="2876204" y="21560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Route Entity</a:t>
              </a:r>
            </a:p>
          </p:txBody>
        </p:sp>
        <p:sp>
          <p:nvSpPr>
            <p:cNvPr id="45" name="Flowchart: Process 44"/>
            <p:cNvSpPr/>
            <p:nvPr/>
          </p:nvSpPr>
          <p:spPr>
            <a:xfrm>
              <a:off x="4115804" y="21560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Disable UI ability</a:t>
              </a:r>
            </a:p>
          </p:txBody>
        </p:sp>
        <p:sp>
          <p:nvSpPr>
            <p:cNvPr id="48" name="Flowchart: Process 47"/>
            <p:cNvSpPr/>
            <p:nvPr/>
          </p:nvSpPr>
          <p:spPr>
            <a:xfrm>
              <a:off x="5333999" y="2156090"/>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Load Alerts</a:t>
              </a:r>
            </a:p>
          </p:txBody>
        </p:sp>
        <p:sp>
          <p:nvSpPr>
            <p:cNvPr id="51" name="Flowchart: Process 50"/>
            <p:cNvSpPr/>
            <p:nvPr/>
          </p:nvSpPr>
          <p:spPr>
            <a:xfrm>
              <a:off x="6513515" y="2094535"/>
              <a:ext cx="903853" cy="33855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Update Alert History</a:t>
              </a:r>
            </a:p>
          </p:txBody>
        </p:sp>
        <p:sp>
          <p:nvSpPr>
            <p:cNvPr id="52" name="Flowchart: Process 51"/>
            <p:cNvSpPr/>
            <p:nvPr/>
          </p:nvSpPr>
          <p:spPr>
            <a:xfrm>
              <a:off x="415033" y="3208515"/>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Load Risk Factors</a:t>
              </a:r>
            </a:p>
          </p:txBody>
        </p:sp>
        <p:sp>
          <p:nvSpPr>
            <p:cNvPr id="53" name="Flowchart: Process 52"/>
            <p:cNvSpPr/>
            <p:nvPr/>
          </p:nvSpPr>
          <p:spPr>
            <a:xfrm>
              <a:off x="1676400" y="3146960"/>
              <a:ext cx="903853" cy="33855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Load Enhanced Alert Data</a:t>
              </a:r>
            </a:p>
          </p:txBody>
        </p:sp>
        <p:sp>
          <p:nvSpPr>
            <p:cNvPr id="54" name="Flowchart: Process 53"/>
            <p:cNvSpPr/>
            <p:nvPr/>
          </p:nvSpPr>
          <p:spPr>
            <a:xfrm>
              <a:off x="2969346" y="3085405"/>
              <a:ext cx="903853" cy="461665"/>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Replicate Info ,transactions , Profile</a:t>
              </a:r>
            </a:p>
          </p:txBody>
        </p:sp>
        <p:sp>
          <p:nvSpPr>
            <p:cNvPr id="55" name="Flowchart: Process 54"/>
            <p:cNvSpPr/>
            <p:nvPr/>
          </p:nvSpPr>
          <p:spPr>
            <a:xfrm>
              <a:off x="4197893" y="3146960"/>
              <a:ext cx="903853" cy="33855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Load Entity Data Mart</a:t>
              </a:r>
            </a:p>
          </p:txBody>
        </p:sp>
        <p:sp>
          <p:nvSpPr>
            <p:cNvPr id="56" name="Flowchart: Process 55"/>
            <p:cNvSpPr/>
            <p:nvPr/>
          </p:nvSpPr>
          <p:spPr>
            <a:xfrm>
              <a:off x="5468792" y="3208515"/>
              <a:ext cx="903853" cy="215444"/>
            </a:xfrm>
            <a:prstGeom prst="flowChartProcess">
              <a:avLst/>
            </a:prstGeom>
            <a:solidFill>
              <a:schemeClr val="accent4">
                <a:lumMod val="40000"/>
                <a:lumOff val="60000"/>
              </a:schemeClr>
            </a:solidFill>
          </p:spPr>
          <p:txBody>
            <a:bodyPr wrap="square" rtlCol="0" anchor="ctr">
              <a:spAutoFit/>
            </a:bodyPr>
            <a:lstStyle/>
            <a:p>
              <a:pPr algn="ctr"/>
              <a:r>
                <a:rPr lang="en-US" sz="800" kern="0" dirty="0">
                  <a:solidFill>
                    <a:sysClr val="windowText" lastClr="000000"/>
                  </a:solidFill>
                  <a:latin typeface="Calibri" pitchFamily="34" charset="0"/>
                  <a:cs typeface="Calibri" pitchFamily="34" charset="0"/>
                </a:rPr>
                <a:t>Case Manager</a:t>
              </a:r>
            </a:p>
          </p:txBody>
        </p:sp>
        <p:cxnSp>
          <p:nvCxnSpPr>
            <p:cNvPr id="5" name="Straight Arrow Connector 4"/>
            <p:cNvCxnSpPr>
              <a:stCxn id="47" idx="3"/>
              <a:endCxn id="64" idx="1"/>
            </p:cNvCxnSpPr>
            <p:nvPr/>
          </p:nvCxnSpPr>
          <p:spPr>
            <a:xfrm>
              <a:off x="1260318" y="1251512"/>
              <a:ext cx="339882"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2159" y="132209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a</a:t>
              </a:r>
              <a:endParaRPr lang="en-US" sz="1000" dirty="0">
                <a:latin typeface="Georgia" pitchFamily="18" charset="0"/>
              </a:endParaRPr>
            </a:p>
          </p:txBody>
        </p:sp>
        <p:cxnSp>
          <p:nvCxnSpPr>
            <p:cNvPr id="66" name="Straight Arrow Connector 65"/>
            <p:cNvCxnSpPr>
              <a:stCxn id="64" idx="3"/>
              <a:endCxn id="65" idx="1"/>
            </p:cNvCxnSpPr>
            <p:nvPr/>
          </p:nvCxnSpPr>
          <p:spPr>
            <a:xfrm>
              <a:off x="2524454" y="1251513"/>
              <a:ext cx="371146"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5" idx="3"/>
              <a:endCxn id="38" idx="1"/>
            </p:cNvCxnSpPr>
            <p:nvPr/>
          </p:nvCxnSpPr>
          <p:spPr>
            <a:xfrm flipV="1">
              <a:off x="3873199" y="1251512"/>
              <a:ext cx="241601"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3"/>
              <a:endCxn id="39" idx="1"/>
            </p:cNvCxnSpPr>
            <p:nvPr/>
          </p:nvCxnSpPr>
          <p:spPr>
            <a:xfrm>
              <a:off x="5004797" y="1251512"/>
              <a:ext cx="329203"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9" idx="3"/>
              <a:endCxn id="40" idx="1"/>
            </p:cNvCxnSpPr>
            <p:nvPr/>
          </p:nvCxnSpPr>
          <p:spPr>
            <a:xfrm>
              <a:off x="6237853" y="1251512"/>
              <a:ext cx="239147"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41" idx="3"/>
              <a:endCxn id="42" idx="1"/>
            </p:cNvCxnSpPr>
            <p:nvPr/>
          </p:nvCxnSpPr>
          <p:spPr>
            <a:xfrm>
              <a:off x="1318887" y="2263812"/>
              <a:ext cx="326612"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42" idx="3"/>
              <a:endCxn id="44" idx="1"/>
            </p:cNvCxnSpPr>
            <p:nvPr/>
          </p:nvCxnSpPr>
          <p:spPr>
            <a:xfrm>
              <a:off x="2549352" y="2263812"/>
              <a:ext cx="326852"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4" idx="3"/>
              <a:endCxn id="45" idx="1"/>
            </p:cNvCxnSpPr>
            <p:nvPr/>
          </p:nvCxnSpPr>
          <p:spPr>
            <a:xfrm>
              <a:off x="3780057" y="2263812"/>
              <a:ext cx="335747"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45" idx="3"/>
              <a:endCxn id="48" idx="1"/>
            </p:cNvCxnSpPr>
            <p:nvPr/>
          </p:nvCxnSpPr>
          <p:spPr>
            <a:xfrm>
              <a:off x="5019657" y="2263812"/>
              <a:ext cx="314342"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8" idx="3"/>
              <a:endCxn id="51" idx="1"/>
            </p:cNvCxnSpPr>
            <p:nvPr/>
          </p:nvCxnSpPr>
          <p:spPr>
            <a:xfrm>
              <a:off x="6237852" y="2263812"/>
              <a:ext cx="275663"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52" idx="3"/>
              <a:endCxn id="53" idx="1"/>
            </p:cNvCxnSpPr>
            <p:nvPr/>
          </p:nvCxnSpPr>
          <p:spPr>
            <a:xfrm>
              <a:off x="1318886" y="3316237"/>
              <a:ext cx="357514"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53" idx="3"/>
              <a:endCxn id="54" idx="1"/>
            </p:cNvCxnSpPr>
            <p:nvPr/>
          </p:nvCxnSpPr>
          <p:spPr>
            <a:xfrm>
              <a:off x="2580253" y="3316237"/>
              <a:ext cx="389093"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54" idx="3"/>
              <a:endCxn id="55" idx="1"/>
            </p:cNvCxnSpPr>
            <p:nvPr/>
          </p:nvCxnSpPr>
          <p:spPr>
            <a:xfrm flipV="1">
              <a:off x="3873199" y="3316237"/>
              <a:ext cx="324694" cy="1"/>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55" idx="3"/>
              <a:endCxn id="56" idx="1"/>
            </p:cNvCxnSpPr>
            <p:nvPr/>
          </p:nvCxnSpPr>
          <p:spPr>
            <a:xfrm>
              <a:off x="5101746" y="3316237"/>
              <a:ext cx="367046" cy="0"/>
            </a:xfrm>
            <a:prstGeom prst="straightConnector1">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2632441" y="1358444"/>
              <a:ext cx="76200" cy="151910"/>
            </a:xfrm>
            <a:prstGeom prst="rect">
              <a:avLst/>
            </a:prstGeom>
            <a:noFill/>
          </p:spPr>
          <p:txBody>
            <a:bodyPr wrap="none" lIns="0" tIns="0" rIns="0" bIns="0" rtlCol="0">
              <a:noAutofit/>
            </a:bodyPr>
            <a:lstStyle/>
            <a:p>
              <a:pPr indent="-274320">
                <a:spcAft>
                  <a:spcPts val="900"/>
                </a:spcAft>
              </a:pPr>
              <a:endParaRPr lang="en-US" sz="1200" dirty="0">
                <a:latin typeface="Georgia" pitchFamily="18" charset="0"/>
              </a:endParaRPr>
            </a:p>
          </p:txBody>
        </p:sp>
        <p:sp>
          <p:nvSpPr>
            <p:cNvPr id="86" name="TextBox 85"/>
            <p:cNvSpPr txBox="1"/>
            <p:nvPr/>
          </p:nvSpPr>
          <p:spPr>
            <a:xfrm>
              <a:off x="1544559" y="1476906"/>
              <a:ext cx="76200" cy="151910"/>
            </a:xfrm>
            <a:prstGeom prst="rect">
              <a:avLst/>
            </a:prstGeom>
            <a:noFill/>
          </p:spPr>
          <p:txBody>
            <a:bodyPr wrap="none" lIns="0" tIns="0" rIns="0" bIns="0" rtlCol="0">
              <a:noAutofit/>
            </a:bodyPr>
            <a:lstStyle/>
            <a:p>
              <a:pPr indent="-274320">
                <a:spcAft>
                  <a:spcPts val="900"/>
                </a:spcAft>
              </a:pPr>
              <a:endParaRPr lang="en-US" sz="1200" dirty="0">
                <a:latin typeface="Georgia" pitchFamily="18" charset="0"/>
              </a:endParaRPr>
            </a:p>
          </p:txBody>
        </p:sp>
        <p:sp>
          <p:nvSpPr>
            <p:cNvPr id="87" name="TextBox 86"/>
            <p:cNvSpPr txBox="1"/>
            <p:nvPr/>
          </p:nvSpPr>
          <p:spPr>
            <a:xfrm>
              <a:off x="2643302" y="132209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b</a:t>
              </a:r>
              <a:endParaRPr lang="en-US" sz="1000" dirty="0">
                <a:latin typeface="Georgia" pitchFamily="18" charset="0"/>
              </a:endParaRPr>
            </a:p>
          </p:txBody>
        </p:sp>
        <p:sp>
          <p:nvSpPr>
            <p:cNvPr id="88" name="TextBox 87"/>
            <p:cNvSpPr txBox="1"/>
            <p:nvPr/>
          </p:nvSpPr>
          <p:spPr>
            <a:xfrm>
              <a:off x="3966940" y="132209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c</a:t>
              </a:r>
              <a:endParaRPr lang="en-US" sz="1000" dirty="0">
                <a:latin typeface="Georgia" pitchFamily="18" charset="0"/>
              </a:endParaRPr>
            </a:p>
          </p:txBody>
        </p:sp>
        <p:sp>
          <p:nvSpPr>
            <p:cNvPr id="89" name="TextBox 88"/>
            <p:cNvSpPr txBox="1"/>
            <p:nvPr/>
          </p:nvSpPr>
          <p:spPr>
            <a:xfrm>
              <a:off x="5113398" y="132209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d</a:t>
              </a:r>
              <a:endParaRPr lang="en-US" sz="1000" dirty="0">
                <a:latin typeface="Georgia" pitchFamily="18" charset="0"/>
              </a:endParaRPr>
            </a:p>
          </p:txBody>
        </p:sp>
        <p:sp>
          <p:nvSpPr>
            <p:cNvPr id="90" name="TextBox 89"/>
            <p:cNvSpPr txBox="1"/>
            <p:nvPr/>
          </p:nvSpPr>
          <p:spPr>
            <a:xfrm>
              <a:off x="6305474" y="132209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e</a:t>
              </a:r>
              <a:endParaRPr lang="en-US" sz="1000" dirty="0">
                <a:latin typeface="Georgia" pitchFamily="18" charset="0"/>
              </a:endParaRPr>
            </a:p>
          </p:txBody>
        </p:sp>
        <p:sp>
          <p:nvSpPr>
            <p:cNvPr id="91" name="TextBox 90"/>
            <p:cNvSpPr txBox="1"/>
            <p:nvPr/>
          </p:nvSpPr>
          <p:spPr>
            <a:xfrm>
              <a:off x="685800" y="182880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f</a:t>
              </a:r>
              <a:endParaRPr lang="en-US" sz="1000" dirty="0">
                <a:latin typeface="Georgia" pitchFamily="18" charset="0"/>
              </a:endParaRPr>
            </a:p>
          </p:txBody>
        </p:sp>
        <p:sp>
          <p:nvSpPr>
            <p:cNvPr id="92" name="TextBox 91"/>
            <p:cNvSpPr txBox="1"/>
            <p:nvPr/>
          </p:nvSpPr>
          <p:spPr>
            <a:xfrm>
              <a:off x="1430259" y="234075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g</a:t>
              </a:r>
              <a:endParaRPr lang="en-US" sz="1000" dirty="0">
                <a:latin typeface="Georgia" pitchFamily="18" charset="0"/>
              </a:endParaRPr>
            </a:p>
          </p:txBody>
        </p:sp>
        <p:sp>
          <p:nvSpPr>
            <p:cNvPr id="93" name="TextBox 92"/>
            <p:cNvSpPr txBox="1"/>
            <p:nvPr/>
          </p:nvSpPr>
          <p:spPr>
            <a:xfrm>
              <a:off x="2681402" y="234075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h</a:t>
              </a:r>
              <a:endParaRPr lang="en-US" sz="1000" dirty="0">
                <a:latin typeface="Georgia" pitchFamily="18" charset="0"/>
              </a:endParaRPr>
            </a:p>
          </p:txBody>
        </p:sp>
        <p:sp>
          <p:nvSpPr>
            <p:cNvPr id="94" name="TextBox 93"/>
            <p:cNvSpPr txBox="1"/>
            <p:nvPr/>
          </p:nvSpPr>
          <p:spPr>
            <a:xfrm>
              <a:off x="3939609" y="234075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i</a:t>
              </a:r>
              <a:endParaRPr lang="en-US" sz="1000" dirty="0">
                <a:latin typeface="Georgia" pitchFamily="18" charset="0"/>
              </a:endParaRPr>
            </a:p>
          </p:txBody>
        </p:sp>
        <p:sp>
          <p:nvSpPr>
            <p:cNvPr id="95" name="TextBox 94"/>
            <p:cNvSpPr txBox="1"/>
            <p:nvPr/>
          </p:nvSpPr>
          <p:spPr>
            <a:xfrm>
              <a:off x="5182248" y="234075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j</a:t>
              </a:r>
              <a:endParaRPr lang="en-US" sz="1000" dirty="0">
                <a:latin typeface="Georgia" pitchFamily="18" charset="0"/>
              </a:endParaRPr>
            </a:p>
          </p:txBody>
        </p:sp>
        <p:sp>
          <p:nvSpPr>
            <p:cNvPr id="96" name="TextBox 95"/>
            <p:cNvSpPr txBox="1"/>
            <p:nvPr/>
          </p:nvSpPr>
          <p:spPr>
            <a:xfrm>
              <a:off x="6343574" y="234075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k</a:t>
              </a:r>
              <a:endParaRPr lang="en-US" sz="1000" dirty="0">
                <a:latin typeface="Georgia" pitchFamily="18" charset="0"/>
              </a:endParaRPr>
            </a:p>
          </p:txBody>
        </p:sp>
        <p:sp>
          <p:nvSpPr>
            <p:cNvPr id="97" name="TextBox 96"/>
            <p:cNvSpPr txBox="1"/>
            <p:nvPr/>
          </p:nvSpPr>
          <p:spPr>
            <a:xfrm>
              <a:off x="685800" y="2971800"/>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l</a:t>
              </a:r>
              <a:endParaRPr lang="en-US" sz="1000" dirty="0">
                <a:latin typeface="Georgia" pitchFamily="18" charset="0"/>
              </a:endParaRPr>
            </a:p>
          </p:txBody>
        </p:sp>
        <p:sp>
          <p:nvSpPr>
            <p:cNvPr id="98" name="TextBox 97"/>
            <p:cNvSpPr txBox="1"/>
            <p:nvPr/>
          </p:nvSpPr>
          <p:spPr>
            <a:xfrm>
              <a:off x="1430259" y="336542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m</a:t>
              </a:r>
              <a:endParaRPr lang="en-US" sz="1000" dirty="0">
                <a:latin typeface="Georgia" pitchFamily="18" charset="0"/>
              </a:endParaRPr>
            </a:p>
          </p:txBody>
        </p:sp>
        <p:sp>
          <p:nvSpPr>
            <p:cNvPr id="99" name="TextBox 98"/>
            <p:cNvSpPr txBox="1"/>
            <p:nvPr/>
          </p:nvSpPr>
          <p:spPr>
            <a:xfrm>
              <a:off x="2681402" y="336542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n</a:t>
              </a:r>
              <a:endParaRPr lang="en-US" sz="1000" dirty="0">
                <a:latin typeface="Georgia" pitchFamily="18" charset="0"/>
              </a:endParaRPr>
            </a:p>
          </p:txBody>
        </p:sp>
        <p:sp>
          <p:nvSpPr>
            <p:cNvPr id="100" name="TextBox 99"/>
            <p:cNvSpPr txBox="1"/>
            <p:nvPr/>
          </p:nvSpPr>
          <p:spPr>
            <a:xfrm>
              <a:off x="4005040" y="336542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o</a:t>
              </a:r>
              <a:endParaRPr lang="en-US" sz="1000" dirty="0">
                <a:latin typeface="Georgia" pitchFamily="18" charset="0"/>
              </a:endParaRPr>
            </a:p>
          </p:txBody>
        </p:sp>
        <p:sp>
          <p:nvSpPr>
            <p:cNvPr id="101" name="TextBox 100"/>
            <p:cNvSpPr txBox="1"/>
            <p:nvPr/>
          </p:nvSpPr>
          <p:spPr>
            <a:xfrm>
              <a:off x="4115804" y="3416431"/>
              <a:ext cx="76200" cy="151910"/>
            </a:xfrm>
            <a:prstGeom prst="rect">
              <a:avLst/>
            </a:prstGeom>
            <a:noFill/>
          </p:spPr>
          <p:txBody>
            <a:bodyPr wrap="none" lIns="0" tIns="0" rIns="0" bIns="0" rtlCol="0">
              <a:noAutofit/>
            </a:bodyPr>
            <a:lstStyle/>
            <a:p>
              <a:pPr indent="-274320">
                <a:spcAft>
                  <a:spcPts val="900"/>
                </a:spcAft>
              </a:pPr>
              <a:endParaRPr lang="en-US" sz="1200" dirty="0">
                <a:latin typeface="Georgia" pitchFamily="18" charset="0"/>
              </a:endParaRPr>
            </a:p>
          </p:txBody>
        </p:sp>
        <p:sp>
          <p:nvSpPr>
            <p:cNvPr id="102" name="TextBox 101"/>
            <p:cNvSpPr txBox="1"/>
            <p:nvPr/>
          </p:nvSpPr>
          <p:spPr>
            <a:xfrm>
              <a:off x="5233587" y="3365427"/>
              <a:ext cx="76200" cy="151910"/>
            </a:xfrm>
            <a:prstGeom prst="rect">
              <a:avLst/>
            </a:prstGeom>
            <a:noFill/>
          </p:spPr>
          <p:txBody>
            <a:bodyPr wrap="none" lIns="0" tIns="0" rIns="0" bIns="0" rtlCol="0">
              <a:noAutofit/>
            </a:bodyPr>
            <a:lstStyle/>
            <a:p>
              <a:pPr indent="-274320">
                <a:spcAft>
                  <a:spcPts val="900"/>
                </a:spcAft>
              </a:pPr>
              <a:r>
                <a:rPr lang="en-US" sz="1000" dirty="0">
                  <a:latin typeface="Calibri" panose="020F0502020204030204" pitchFamily="34" charset="0"/>
                </a:rPr>
                <a:t>p</a:t>
              </a:r>
              <a:endParaRPr lang="en-US" sz="1000" dirty="0">
                <a:latin typeface="Georgia" pitchFamily="18" charset="0"/>
              </a:endParaRPr>
            </a:p>
          </p:txBody>
        </p:sp>
        <p:cxnSp>
          <p:nvCxnSpPr>
            <p:cNvPr id="15" name="Elbow Connector 14"/>
            <p:cNvCxnSpPr>
              <a:stCxn id="40" idx="2"/>
              <a:endCxn id="41" idx="0"/>
            </p:cNvCxnSpPr>
            <p:nvPr/>
          </p:nvCxnSpPr>
          <p:spPr>
            <a:xfrm rot="5400000">
              <a:off x="3530294" y="-1304099"/>
              <a:ext cx="735301" cy="6061966"/>
            </a:xfrm>
            <a:prstGeom prst="bentConnector3">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51" idx="2"/>
              <a:endCxn id="52" idx="0"/>
            </p:cNvCxnSpPr>
            <p:nvPr/>
          </p:nvCxnSpPr>
          <p:spPr>
            <a:xfrm rot="5400000">
              <a:off x="3528488" y="-228439"/>
              <a:ext cx="775426" cy="6098482"/>
            </a:xfrm>
            <a:prstGeom prst="bentConnector3">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12" name="Rectangle 111"/>
          <p:cNvSpPr/>
          <p:nvPr/>
        </p:nvSpPr>
        <p:spPr>
          <a:xfrm>
            <a:off x="228600" y="3857919"/>
            <a:ext cx="8686800"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Alert Generation Process (AGP)</a:t>
            </a:r>
          </a:p>
        </p:txBody>
      </p:sp>
      <p:sp>
        <p:nvSpPr>
          <p:cNvPr id="113" name="Rectangle 112"/>
          <p:cNvSpPr/>
          <p:nvPr/>
        </p:nvSpPr>
        <p:spPr>
          <a:xfrm>
            <a:off x="7467600" y="838199"/>
            <a:ext cx="1442959"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Summary</a:t>
            </a:r>
          </a:p>
        </p:txBody>
      </p:sp>
      <p:sp>
        <p:nvSpPr>
          <p:cNvPr id="115" name="Flowchart: Process 114"/>
          <p:cNvSpPr/>
          <p:nvPr/>
        </p:nvSpPr>
        <p:spPr>
          <a:xfrm>
            <a:off x="7467600" y="1143790"/>
            <a:ext cx="1442959" cy="1289299"/>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900" kern="0" dirty="0">
                <a:solidFill>
                  <a:sysClr val="windowText" lastClr="000000"/>
                </a:solidFill>
                <a:latin typeface="Calibri" pitchFamily="34" charset="0"/>
                <a:cs typeface="Calibri" pitchFamily="34" charset="0"/>
              </a:rPr>
              <a:t>The alert generation process (AGP) is a series of modules that analyzes customers and transactions, detects suspicious activities, and makes results available to the Investigation user interface.</a:t>
            </a:r>
          </a:p>
        </p:txBody>
      </p:sp>
      <p:sp>
        <p:nvSpPr>
          <p:cNvPr id="116" name="Rectangle 115"/>
          <p:cNvSpPr/>
          <p:nvPr/>
        </p:nvSpPr>
        <p:spPr>
          <a:xfrm>
            <a:off x="7467600" y="2511521"/>
            <a:ext cx="1442959" cy="276999"/>
          </a:xfrm>
          <a:prstGeom prst="rect">
            <a:avLst/>
          </a:prstGeom>
          <a:solidFill>
            <a:srgbClr val="C00000"/>
          </a:solidFill>
          <a:ln w="19050">
            <a:solidFill>
              <a:srgbClr val="C00000"/>
            </a:solidFill>
          </a:ln>
        </p:spPr>
        <p:txBody>
          <a:bodyPr wrap="square" rtlCol="0" anchor="ctr">
            <a:spAutoFit/>
          </a:bodyPr>
          <a:lstStyle/>
          <a:p>
            <a:pPr algn="ctr"/>
            <a:r>
              <a:rPr lang="en-US" sz="1200" b="1" dirty="0">
                <a:solidFill>
                  <a:schemeClr val="bg1"/>
                </a:solidFill>
                <a:cs typeface="Calibri" pitchFamily="34" charset="0"/>
              </a:rPr>
              <a:t>Job Frequency</a:t>
            </a:r>
          </a:p>
        </p:txBody>
      </p:sp>
      <p:sp>
        <p:nvSpPr>
          <p:cNvPr id="117" name="Flowchart: Process 116"/>
          <p:cNvSpPr/>
          <p:nvPr/>
        </p:nvSpPr>
        <p:spPr>
          <a:xfrm>
            <a:off x="7467600" y="2807675"/>
            <a:ext cx="1442959" cy="1002325"/>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900" kern="0" dirty="0">
                <a:solidFill>
                  <a:sysClr val="windowText" lastClr="000000"/>
                </a:solidFill>
                <a:latin typeface="Calibri" pitchFamily="34" charset="0"/>
                <a:cs typeface="Calibri" pitchFamily="34" charset="0"/>
              </a:rPr>
              <a:t>AGP process  can run both, daily or month end, based on the defined scenario execution time.</a:t>
            </a:r>
          </a:p>
        </p:txBody>
      </p:sp>
    </p:spTree>
    <p:extLst>
      <p:ext uri="{BB962C8B-B14F-4D97-AF65-F5344CB8AC3E}">
        <p14:creationId xmlns:p14="http://schemas.microsoft.com/office/powerpoint/2010/main" val="3272225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52400"/>
            <a:ext cx="7620000" cy="369888"/>
          </a:xfrm>
        </p:spPr>
        <p:txBody>
          <a:bodyPr/>
          <a:lstStyle/>
          <a:p>
            <a:r>
              <a:rPr lang="en-US" i="0" dirty="0">
                <a:solidFill>
                  <a:schemeClr val="bg1"/>
                </a:solidFill>
                <a:latin typeface="Calibri" panose="020F0502020204030204" pitchFamily="34" charset="0"/>
                <a:cs typeface="Calibri" panose="020F0502020204030204" pitchFamily="34" charset="0"/>
              </a:rPr>
              <a:t>Data Quality</a:t>
            </a:r>
          </a:p>
        </p:txBody>
      </p:sp>
      <p:sp>
        <p:nvSpPr>
          <p:cNvPr id="61" name="Flowchart: Process 60"/>
          <p:cNvSpPr/>
          <p:nvPr/>
        </p:nvSpPr>
        <p:spPr>
          <a:xfrm>
            <a:off x="217516" y="4784984"/>
            <a:ext cx="4968986" cy="1768216"/>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8600" indent="-228600">
              <a:buFont typeface="+mj-lt"/>
              <a:buAutoNum type="arabicPeriod"/>
            </a:pPr>
            <a:r>
              <a:rPr lang="en-US" sz="900" kern="0" dirty="0">
                <a:solidFill>
                  <a:sysClr val="windowText" lastClr="000000"/>
                </a:solidFill>
                <a:latin typeface="Calibri" pitchFamily="34" charset="0"/>
                <a:cs typeface="Calibri" pitchFamily="34" charset="0"/>
              </a:rPr>
              <a:t>Begin the Data Quality process  for the list of Key Data Elements for which it has to undergo for  DQ  check process  based on  the business rules.</a:t>
            </a:r>
            <a:endParaRPr lang="en-US" sz="900" kern="0" dirty="0">
              <a:solidFill>
                <a:srgbClr val="FF0000"/>
              </a:solidFill>
              <a:latin typeface="Calibri" pitchFamily="34" charset="0"/>
              <a:cs typeface="Calibri" pitchFamily="34" charset="0"/>
            </a:endParaRP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Run the DQ business  rule  for  the Key Data Element from SAS Data Integrator .</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Execute the business rule  for KDE</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DQ Job executed and  DQ Jobs  execution completed .</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DQ  Job  results and error  are capture in the  Data Quality Repository database to display in Issue management console.</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Capture the DQ results from DQ repository data base  .</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Displays the DQ summary with  statistical report  for  the  particular batch.</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End user review s the data  Anomalies if the true exceptions are generated  and identified based on the review</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Resolve the data  Anomalies from  SAS-Issue Management console </a:t>
            </a:r>
          </a:p>
        </p:txBody>
      </p:sp>
      <p:sp>
        <p:nvSpPr>
          <p:cNvPr id="54" name="Rectangle 53"/>
          <p:cNvSpPr/>
          <p:nvPr/>
        </p:nvSpPr>
        <p:spPr>
          <a:xfrm>
            <a:off x="217516" y="1219201"/>
            <a:ext cx="8697884" cy="3276600"/>
          </a:xfrm>
          <a:prstGeom prst="rect">
            <a:avLst/>
          </a:prstGeom>
          <a:noFill/>
          <a:ln w="15875"/>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46" name="Rectangle 45"/>
          <p:cNvSpPr/>
          <p:nvPr/>
        </p:nvSpPr>
        <p:spPr>
          <a:xfrm>
            <a:off x="228598" y="778133"/>
            <a:ext cx="8686801" cy="384721"/>
          </a:xfrm>
          <a:prstGeom prst="rect">
            <a:avLst/>
          </a:prstGeom>
          <a:solidFill>
            <a:srgbClr val="C00000"/>
          </a:solidFill>
          <a:ln w="19050">
            <a:solidFill>
              <a:srgbClr val="C00000"/>
            </a:solidFill>
          </a:ln>
        </p:spPr>
        <p:txBody>
          <a:bodyPr wrap="square" rtlCol="0" anchor="ctr">
            <a:spAutoFit/>
          </a:bodyPr>
          <a:lstStyle/>
          <a:p>
            <a:r>
              <a:rPr lang="en-US" sz="1000" b="1" dirty="0">
                <a:solidFill>
                  <a:schemeClr val="bg1"/>
                </a:solidFill>
                <a:cs typeface="Calibri" pitchFamily="34" charset="0"/>
              </a:rPr>
              <a:t>Data Quality </a:t>
            </a:r>
            <a:r>
              <a:rPr lang="en-US" sz="800" b="1" dirty="0">
                <a:solidFill>
                  <a:schemeClr val="bg1"/>
                </a:solidFill>
                <a:cs typeface="Calibri" pitchFamily="34" charset="0"/>
              </a:rPr>
              <a:t>– </a:t>
            </a:r>
            <a:r>
              <a:rPr lang="en-US" sz="800" b="1" dirty="0">
                <a:solidFill>
                  <a:schemeClr val="bg1"/>
                </a:solidFill>
                <a:latin typeface="Calibri" panose="020F0502020204030204" pitchFamily="34" charset="0"/>
                <a:cs typeface="Arial" panose="020B0604020202020204" pitchFamily="34" charset="0"/>
              </a:rPr>
              <a:t>SAS Data Integrator(DI) and SAS Data Remediation</a:t>
            </a:r>
            <a:r>
              <a:rPr lang="en-US" sz="800" dirty="0">
                <a:solidFill>
                  <a:schemeClr val="bg1"/>
                </a:solidFill>
                <a:latin typeface="Calibri" panose="020F0502020204030204" pitchFamily="34" charset="0"/>
                <a:cs typeface="Arial" panose="020B0604020202020204" pitchFamily="34" charset="0"/>
              </a:rPr>
              <a:t> </a:t>
            </a:r>
            <a:r>
              <a:rPr lang="en-US" sz="900" dirty="0">
                <a:solidFill>
                  <a:schemeClr val="bg1"/>
                </a:solidFill>
                <a:latin typeface="Calibri" panose="020F0502020204030204" pitchFamily="34" charset="0"/>
                <a:cs typeface="Arial" panose="020B0604020202020204" pitchFamily="34" charset="0"/>
              </a:rPr>
              <a:t>tools are used to check Key Data Element(KDE) for data integrity at specific control points utilizing a set of business rules which are defined by Business and Data Stewards for NY AML Platform from Source system files to AML Platform. </a:t>
            </a:r>
            <a:endParaRPr lang="en-US" sz="1200" b="1" dirty="0">
              <a:solidFill>
                <a:schemeClr val="bg1"/>
              </a:solidFill>
              <a:latin typeface="Calibri" panose="020F0502020204030204" pitchFamily="34" charset="0"/>
              <a:cs typeface="Calibri" pitchFamily="34" charset="0"/>
            </a:endParaRPr>
          </a:p>
        </p:txBody>
      </p:sp>
      <p:sp>
        <p:nvSpPr>
          <p:cNvPr id="113" name="Flowchart: Process 112"/>
          <p:cNvSpPr/>
          <p:nvPr/>
        </p:nvSpPr>
        <p:spPr>
          <a:xfrm>
            <a:off x="1213658" y="1524000"/>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Begin DQ process for</a:t>
            </a:r>
          </a:p>
          <a:p>
            <a:pPr algn="ctr"/>
            <a:r>
              <a:rPr lang="en-US" sz="800" b="1" kern="0" dirty="0">
                <a:solidFill>
                  <a:sysClr val="windowText" lastClr="000000"/>
                </a:solidFill>
                <a:latin typeface="Calibri" pitchFamily="34" charset="0"/>
                <a:cs typeface="Calibri" pitchFamily="34" charset="0"/>
              </a:rPr>
              <a:t>Key Data Element(KDE)</a:t>
            </a:r>
          </a:p>
        </p:txBody>
      </p:sp>
      <p:sp>
        <p:nvSpPr>
          <p:cNvPr id="115" name="Flowchart: Process 114"/>
          <p:cNvSpPr/>
          <p:nvPr/>
        </p:nvSpPr>
        <p:spPr>
          <a:xfrm>
            <a:off x="4386066" y="1524000"/>
            <a:ext cx="1067249" cy="533400"/>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Execute the rule engine for KDE </a:t>
            </a:r>
          </a:p>
        </p:txBody>
      </p:sp>
      <p:sp>
        <p:nvSpPr>
          <p:cNvPr id="116" name="Flowchart: Process 115"/>
          <p:cNvSpPr/>
          <p:nvPr/>
        </p:nvSpPr>
        <p:spPr>
          <a:xfrm>
            <a:off x="5969499" y="1524000"/>
            <a:ext cx="1067249" cy="533400"/>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DQ Job Executed </a:t>
            </a:r>
          </a:p>
        </p:txBody>
      </p:sp>
      <p:cxnSp>
        <p:nvCxnSpPr>
          <p:cNvPr id="31" name="Straight Arrow Connector 233"/>
          <p:cNvCxnSpPr>
            <a:stCxn id="42" idx="2"/>
            <a:endCxn id="38" idx="0"/>
          </p:cNvCxnSpPr>
          <p:nvPr/>
        </p:nvCxnSpPr>
        <p:spPr>
          <a:xfrm rot="5400000">
            <a:off x="4793678" y="-988994"/>
            <a:ext cx="246482" cy="6339272"/>
          </a:xfrm>
          <a:prstGeom prst="bentConnector3">
            <a:avLst>
              <a:gd name="adj1" fmla="val 50000"/>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38" name="Flowchart: Process 37"/>
          <p:cNvSpPr/>
          <p:nvPr/>
        </p:nvSpPr>
        <p:spPr>
          <a:xfrm>
            <a:off x="1213658" y="2303883"/>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Capture the DQ data anomalies results and ETL batch will be “On Hold”</a:t>
            </a:r>
          </a:p>
        </p:txBody>
      </p:sp>
      <p:sp>
        <p:nvSpPr>
          <p:cNvPr id="42" name="Flowchart: Process 41"/>
          <p:cNvSpPr/>
          <p:nvPr/>
        </p:nvSpPr>
        <p:spPr>
          <a:xfrm>
            <a:off x="7552930" y="1524000"/>
            <a:ext cx="1067249" cy="533401"/>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DQ Error Import Facility</a:t>
            </a:r>
          </a:p>
        </p:txBody>
      </p:sp>
      <p:sp>
        <p:nvSpPr>
          <p:cNvPr id="50" name="Flowchart: Process 49"/>
          <p:cNvSpPr/>
          <p:nvPr/>
        </p:nvSpPr>
        <p:spPr>
          <a:xfrm>
            <a:off x="2802633" y="2312825"/>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Displays the DQ results on the SAS Data remediation portal</a:t>
            </a:r>
          </a:p>
        </p:txBody>
      </p:sp>
      <p:sp>
        <p:nvSpPr>
          <p:cNvPr id="51" name="Flowchart: Process 50"/>
          <p:cNvSpPr/>
          <p:nvPr/>
        </p:nvSpPr>
        <p:spPr>
          <a:xfrm>
            <a:off x="4386066" y="2312825"/>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Reviews Anomalies</a:t>
            </a:r>
          </a:p>
        </p:txBody>
      </p:sp>
      <p:sp>
        <p:nvSpPr>
          <p:cNvPr id="58" name="Flowchart: Process 57"/>
          <p:cNvSpPr/>
          <p:nvPr/>
        </p:nvSpPr>
        <p:spPr>
          <a:xfrm>
            <a:off x="5969499" y="2312825"/>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True Exception</a:t>
            </a:r>
          </a:p>
        </p:txBody>
      </p:sp>
      <p:sp>
        <p:nvSpPr>
          <p:cNvPr id="64" name="Flowchart: Process 63"/>
          <p:cNvSpPr/>
          <p:nvPr/>
        </p:nvSpPr>
        <p:spPr>
          <a:xfrm>
            <a:off x="7552930" y="2312825"/>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Resolve the Anomalies and ETL batch is “Off Hold”</a:t>
            </a:r>
          </a:p>
        </p:txBody>
      </p:sp>
      <p:sp>
        <p:nvSpPr>
          <p:cNvPr id="69" name="TextBox 44"/>
          <p:cNvSpPr txBox="1"/>
          <p:nvPr/>
        </p:nvSpPr>
        <p:spPr>
          <a:xfrm>
            <a:off x="2505269" y="15621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a:t>
            </a:r>
          </a:p>
        </p:txBody>
      </p:sp>
      <p:cxnSp>
        <p:nvCxnSpPr>
          <p:cNvPr id="62" name="Straight Arrow Connector 61"/>
          <p:cNvCxnSpPr>
            <a:stCxn id="38" idx="3"/>
            <a:endCxn id="50" idx="1"/>
          </p:cNvCxnSpPr>
          <p:nvPr/>
        </p:nvCxnSpPr>
        <p:spPr>
          <a:xfrm>
            <a:off x="2280907" y="2557171"/>
            <a:ext cx="521726" cy="8942"/>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65" name="Straight Arrow Connector 11264"/>
          <p:cNvCxnSpPr>
            <a:stCxn id="50" idx="3"/>
            <a:endCxn id="51" idx="1"/>
          </p:cNvCxnSpPr>
          <p:nvPr/>
        </p:nvCxnSpPr>
        <p:spPr>
          <a:xfrm>
            <a:off x="3869882" y="2566113"/>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68" name="Straight Arrow Connector 11267"/>
          <p:cNvCxnSpPr>
            <a:stCxn id="51" idx="3"/>
            <a:endCxn id="58" idx="1"/>
          </p:cNvCxnSpPr>
          <p:nvPr/>
        </p:nvCxnSpPr>
        <p:spPr>
          <a:xfrm>
            <a:off x="5453315" y="2566113"/>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70" name="Straight Arrow Connector 11269"/>
          <p:cNvCxnSpPr>
            <a:stCxn id="58" idx="3"/>
            <a:endCxn id="64" idx="1"/>
          </p:cNvCxnSpPr>
          <p:nvPr/>
        </p:nvCxnSpPr>
        <p:spPr>
          <a:xfrm>
            <a:off x="7036748" y="2566113"/>
            <a:ext cx="516182"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86" name="Straight Arrow Connector 11285"/>
          <p:cNvCxnSpPr>
            <a:stCxn id="113" idx="3"/>
            <a:endCxn id="81" idx="1"/>
          </p:cNvCxnSpPr>
          <p:nvPr/>
        </p:nvCxnSpPr>
        <p:spPr>
          <a:xfrm>
            <a:off x="2280907" y="1790700"/>
            <a:ext cx="521726"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88" name="Straight Arrow Connector 11287"/>
          <p:cNvCxnSpPr>
            <a:stCxn id="81" idx="3"/>
            <a:endCxn id="115" idx="1"/>
          </p:cNvCxnSpPr>
          <p:nvPr/>
        </p:nvCxnSpPr>
        <p:spPr>
          <a:xfrm>
            <a:off x="3869882" y="1790700"/>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90" name="Straight Arrow Connector 11289"/>
          <p:cNvCxnSpPr>
            <a:stCxn id="115" idx="3"/>
            <a:endCxn id="116" idx="1"/>
          </p:cNvCxnSpPr>
          <p:nvPr/>
        </p:nvCxnSpPr>
        <p:spPr>
          <a:xfrm>
            <a:off x="5453315" y="1790700"/>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92" name="Straight Arrow Connector 11291"/>
          <p:cNvCxnSpPr>
            <a:stCxn id="116" idx="3"/>
            <a:endCxn id="42" idx="1"/>
          </p:cNvCxnSpPr>
          <p:nvPr/>
        </p:nvCxnSpPr>
        <p:spPr>
          <a:xfrm>
            <a:off x="7036748" y="1790700"/>
            <a:ext cx="516182" cy="1"/>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119" name="TextBox 44"/>
          <p:cNvSpPr txBox="1"/>
          <p:nvPr/>
        </p:nvSpPr>
        <p:spPr>
          <a:xfrm>
            <a:off x="4090828" y="15621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2</a:t>
            </a:r>
          </a:p>
        </p:txBody>
      </p:sp>
      <p:sp>
        <p:nvSpPr>
          <p:cNvPr id="120" name="TextBox 44"/>
          <p:cNvSpPr txBox="1"/>
          <p:nvPr/>
        </p:nvSpPr>
        <p:spPr>
          <a:xfrm>
            <a:off x="5676387" y="15621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3</a:t>
            </a:r>
          </a:p>
        </p:txBody>
      </p:sp>
      <p:sp>
        <p:nvSpPr>
          <p:cNvPr id="121" name="TextBox 44"/>
          <p:cNvSpPr txBox="1"/>
          <p:nvPr/>
        </p:nvSpPr>
        <p:spPr>
          <a:xfrm>
            <a:off x="7261946" y="15621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4</a:t>
            </a:r>
          </a:p>
        </p:txBody>
      </p:sp>
      <p:sp>
        <p:nvSpPr>
          <p:cNvPr id="122" name="TextBox 44"/>
          <p:cNvSpPr txBox="1"/>
          <p:nvPr/>
        </p:nvSpPr>
        <p:spPr>
          <a:xfrm>
            <a:off x="8153400" y="208092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5</a:t>
            </a:r>
          </a:p>
        </p:txBody>
      </p:sp>
      <p:sp>
        <p:nvSpPr>
          <p:cNvPr id="123" name="TextBox 44"/>
          <p:cNvSpPr txBox="1"/>
          <p:nvPr/>
        </p:nvSpPr>
        <p:spPr>
          <a:xfrm>
            <a:off x="2505269" y="234272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6</a:t>
            </a:r>
          </a:p>
        </p:txBody>
      </p:sp>
      <p:sp>
        <p:nvSpPr>
          <p:cNvPr id="124" name="TextBox 44"/>
          <p:cNvSpPr txBox="1"/>
          <p:nvPr/>
        </p:nvSpPr>
        <p:spPr>
          <a:xfrm>
            <a:off x="4079452" y="2305396"/>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7</a:t>
            </a:r>
          </a:p>
        </p:txBody>
      </p:sp>
      <p:sp>
        <p:nvSpPr>
          <p:cNvPr id="125" name="TextBox 44"/>
          <p:cNvSpPr txBox="1"/>
          <p:nvPr/>
        </p:nvSpPr>
        <p:spPr>
          <a:xfrm>
            <a:off x="5653635" y="2305396"/>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8</a:t>
            </a:r>
          </a:p>
        </p:txBody>
      </p:sp>
      <p:sp>
        <p:nvSpPr>
          <p:cNvPr id="126" name="TextBox 44"/>
          <p:cNvSpPr txBox="1"/>
          <p:nvPr/>
        </p:nvSpPr>
        <p:spPr>
          <a:xfrm>
            <a:off x="7261946" y="234272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9</a:t>
            </a:r>
          </a:p>
        </p:txBody>
      </p:sp>
      <p:sp>
        <p:nvSpPr>
          <p:cNvPr id="37" name="Rectangle 36"/>
          <p:cNvSpPr/>
          <p:nvPr/>
        </p:nvSpPr>
        <p:spPr>
          <a:xfrm>
            <a:off x="217514" y="4534676"/>
            <a:ext cx="4968987" cy="230832"/>
          </a:xfrm>
          <a:prstGeom prst="rect">
            <a:avLst/>
          </a:prstGeom>
          <a:solidFill>
            <a:srgbClr val="C00000"/>
          </a:solidFill>
          <a:ln w="19050">
            <a:solidFill>
              <a:srgbClr val="C00000"/>
            </a:solidFill>
          </a:ln>
        </p:spPr>
        <p:txBody>
          <a:bodyPr wrap="square" rtlCol="0" anchor="ctr">
            <a:spAutoFit/>
          </a:bodyPr>
          <a:lstStyle/>
          <a:p>
            <a:pPr algn="ctr"/>
            <a:r>
              <a:rPr lang="en-US" sz="900" b="1" dirty="0">
                <a:solidFill>
                  <a:schemeClr val="bg1"/>
                </a:solidFill>
                <a:latin typeface="Calibri" panose="020F0502020204030204" pitchFamily="34" charset="0"/>
                <a:cs typeface="Calibri" panose="020F0502020204030204" pitchFamily="34" charset="0"/>
              </a:rPr>
              <a:t>Data Quality Management Process</a:t>
            </a:r>
          </a:p>
        </p:txBody>
      </p:sp>
      <p:sp>
        <p:nvSpPr>
          <p:cNvPr id="36" name="Flowchart: Process 35"/>
          <p:cNvSpPr/>
          <p:nvPr/>
        </p:nvSpPr>
        <p:spPr>
          <a:xfrm>
            <a:off x="335042" y="1524000"/>
            <a:ext cx="731758" cy="1286458"/>
          </a:xfrm>
          <a:prstGeom prst="flowChartProcess">
            <a:avLst/>
          </a:prstGeom>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chemeClr val="bg1"/>
                </a:solidFill>
                <a:latin typeface="Calibri" pitchFamily="34" charset="0"/>
                <a:cs typeface="Calibri" pitchFamily="34" charset="0"/>
              </a:rPr>
              <a:t>Data Quality Process Flow </a:t>
            </a:r>
          </a:p>
        </p:txBody>
      </p:sp>
      <p:sp>
        <p:nvSpPr>
          <p:cNvPr id="40" name="Flowchart: Process 39"/>
          <p:cNvSpPr/>
          <p:nvPr/>
        </p:nvSpPr>
        <p:spPr>
          <a:xfrm>
            <a:off x="335042" y="3065317"/>
            <a:ext cx="731758" cy="1278082"/>
          </a:xfrm>
          <a:prstGeom prst="flowChartProcess">
            <a:avLst/>
          </a:prstGeom>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chemeClr val="bg1"/>
                </a:solidFill>
                <a:latin typeface="Calibri" pitchFamily="34" charset="0"/>
                <a:cs typeface="Calibri" pitchFamily="34" charset="0"/>
              </a:rPr>
              <a:t>Data Recon</a:t>
            </a:r>
          </a:p>
          <a:p>
            <a:pPr algn="ctr"/>
            <a:r>
              <a:rPr lang="en-US" sz="800" b="1" kern="0" dirty="0">
                <a:solidFill>
                  <a:schemeClr val="bg1"/>
                </a:solidFill>
                <a:latin typeface="Calibri" pitchFamily="34" charset="0"/>
                <a:cs typeface="Calibri" pitchFamily="34" charset="0"/>
              </a:rPr>
              <a:t>Process Flow</a:t>
            </a:r>
          </a:p>
        </p:txBody>
      </p:sp>
      <p:sp>
        <p:nvSpPr>
          <p:cNvPr id="41" name="Flowchart: Process 40"/>
          <p:cNvSpPr/>
          <p:nvPr/>
        </p:nvSpPr>
        <p:spPr>
          <a:xfrm>
            <a:off x="1213658" y="3056942"/>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Begin Data reconciliation process</a:t>
            </a:r>
          </a:p>
        </p:txBody>
      </p:sp>
      <p:sp>
        <p:nvSpPr>
          <p:cNvPr id="43" name="Flowchart: Process 42"/>
          <p:cNvSpPr/>
          <p:nvPr/>
        </p:nvSpPr>
        <p:spPr>
          <a:xfrm>
            <a:off x="2802633" y="3055619"/>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Capture the results for reconciliation report- hop by hop</a:t>
            </a:r>
          </a:p>
        </p:txBody>
      </p:sp>
      <p:sp>
        <p:nvSpPr>
          <p:cNvPr id="44" name="Flowchart: Process 43"/>
          <p:cNvSpPr/>
          <p:nvPr/>
        </p:nvSpPr>
        <p:spPr>
          <a:xfrm>
            <a:off x="4386066" y="3055619"/>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Generate the exception report after the ETL batch is completed</a:t>
            </a:r>
          </a:p>
        </p:txBody>
      </p:sp>
      <p:sp>
        <p:nvSpPr>
          <p:cNvPr id="45" name="Flowchart: Process 44"/>
          <p:cNvSpPr/>
          <p:nvPr/>
        </p:nvSpPr>
        <p:spPr>
          <a:xfrm>
            <a:off x="5969499" y="3055619"/>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Business Data Stewards reviews the “Data Recon” exception report</a:t>
            </a:r>
          </a:p>
        </p:txBody>
      </p:sp>
      <p:sp>
        <p:nvSpPr>
          <p:cNvPr id="47" name="Flowchart: Process 46"/>
          <p:cNvSpPr/>
          <p:nvPr/>
        </p:nvSpPr>
        <p:spPr>
          <a:xfrm>
            <a:off x="7552930" y="3055619"/>
            <a:ext cx="1067249" cy="533399"/>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User identify if the valid Transactions or reference data are dropped</a:t>
            </a:r>
          </a:p>
        </p:txBody>
      </p:sp>
      <p:sp>
        <p:nvSpPr>
          <p:cNvPr id="48" name="Flowchart: Process 47"/>
          <p:cNvSpPr/>
          <p:nvPr/>
        </p:nvSpPr>
        <p:spPr>
          <a:xfrm>
            <a:off x="5305702" y="4804460"/>
            <a:ext cx="3624816" cy="1748740"/>
          </a:xfrm>
          <a:prstGeom prst="flowChartProcess">
            <a:avLst/>
          </a:prstGeom>
          <a:noFill/>
          <a:ln>
            <a:prstDash val="sysDash"/>
          </a:ln>
          <a:effectLst/>
        </p:spPr>
        <p:style>
          <a:lnRef idx="1">
            <a:schemeClr val="dk1"/>
          </a:lnRef>
          <a:fillRef idx="2">
            <a:schemeClr val="dk1"/>
          </a:fillRef>
          <a:effectRef idx="1">
            <a:schemeClr val="dk1"/>
          </a:effectRef>
          <a:fontRef idx="minor">
            <a:schemeClr val="dk1"/>
          </a:fontRef>
        </p:style>
        <p:txBody>
          <a:bodyPr rtlCol="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228600" indent="-228600">
              <a:buFont typeface="+mj-lt"/>
              <a:buAutoNum type="arabicPeriod"/>
            </a:pPr>
            <a:r>
              <a:rPr lang="en-US" sz="900" kern="0" dirty="0">
                <a:solidFill>
                  <a:sysClr val="windowText" lastClr="000000"/>
                </a:solidFill>
                <a:latin typeface="Calibri" pitchFamily="34" charset="0"/>
                <a:cs typeface="Calibri" pitchFamily="34" charset="0"/>
              </a:rPr>
              <a:t>Begin the Data Recon process  using the N-tier reconciliation tool.</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Capture the Data reconciliation results including all the Hops</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Generate the exception data recon report after the ETL batch is completed and platform is consumed.</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Business and Technology team reviews the “Data Recon” exception report for that particular business date batch.</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User identifies by looking at the exception reports there is the valid transactions are dropped or rejected</a:t>
            </a:r>
          </a:p>
          <a:p>
            <a:pPr marL="228600" indent="-228600">
              <a:buFont typeface="+mj-lt"/>
              <a:buAutoNum type="arabicPeriod"/>
            </a:pPr>
            <a:r>
              <a:rPr lang="en-US" sz="900" kern="0" dirty="0">
                <a:solidFill>
                  <a:sysClr val="windowText" lastClr="000000"/>
                </a:solidFill>
                <a:latin typeface="Calibri" pitchFamily="34" charset="0"/>
                <a:cs typeface="Calibri" pitchFamily="34" charset="0"/>
              </a:rPr>
              <a:t> Process the any dropped transactions into the next ETL batch and subsequent jobs are executed for platform to consume the dropped transactions.</a:t>
            </a:r>
          </a:p>
        </p:txBody>
      </p:sp>
      <p:sp>
        <p:nvSpPr>
          <p:cNvPr id="49" name="Rectangle 48"/>
          <p:cNvSpPr/>
          <p:nvPr/>
        </p:nvSpPr>
        <p:spPr>
          <a:xfrm>
            <a:off x="5305700" y="4554152"/>
            <a:ext cx="3624817" cy="230832"/>
          </a:xfrm>
          <a:prstGeom prst="rect">
            <a:avLst/>
          </a:prstGeom>
          <a:solidFill>
            <a:srgbClr val="C00000"/>
          </a:solidFill>
          <a:ln w="19050">
            <a:solidFill>
              <a:srgbClr val="C00000"/>
            </a:solidFill>
          </a:ln>
        </p:spPr>
        <p:txBody>
          <a:bodyPr wrap="square" rtlCol="0" anchor="ctr">
            <a:spAutoFit/>
          </a:bodyPr>
          <a:lstStyle/>
          <a:p>
            <a:pPr algn="ctr"/>
            <a:r>
              <a:rPr lang="en-US" sz="900" b="1" dirty="0">
                <a:solidFill>
                  <a:schemeClr val="bg1"/>
                </a:solidFill>
                <a:latin typeface="Calibri" panose="020F0502020204030204" pitchFamily="34" charset="0"/>
                <a:cs typeface="Calibri" panose="020F0502020204030204" pitchFamily="34" charset="0"/>
              </a:rPr>
              <a:t>Data Recon process flow</a:t>
            </a:r>
          </a:p>
        </p:txBody>
      </p:sp>
      <p:cxnSp>
        <p:nvCxnSpPr>
          <p:cNvPr id="52" name="Straight Arrow Connector 51"/>
          <p:cNvCxnSpPr>
            <a:stCxn id="41" idx="3"/>
            <a:endCxn id="43" idx="1"/>
          </p:cNvCxnSpPr>
          <p:nvPr/>
        </p:nvCxnSpPr>
        <p:spPr>
          <a:xfrm flipV="1">
            <a:off x="2280907" y="3322319"/>
            <a:ext cx="521726" cy="1323"/>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3" idx="3"/>
            <a:endCxn id="44" idx="1"/>
          </p:cNvCxnSpPr>
          <p:nvPr/>
        </p:nvCxnSpPr>
        <p:spPr>
          <a:xfrm>
            <a:off x="3869882" y="3322319"/>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4" idx="3"/>
            <a:endCxn id="45" idx="1"/>
          </p:cNvCxnSpPr>
          <p:nvPr/>
        </p:nvCxnSpPr>
        <p:spPr>
          <a:xfrm>
            <a:off x="5453315" y="3322319"/>
            <a:ext cx="516184"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45" idx="3"/>
            <a:endCxn id="47" idx="1"/>
          </p:cNvCxnSpPr>
          <p:nvPr/>
        </p:nvCxnSpPr>
        <p:spPr>
          <a:xfrm>
            <a:off x="7036748" y="3322319"/>
            <a:ext cx="516182" cy="0"/>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57" name="TextBox 44"/>
          <p:cNvSpPr txBox="1"/>
          <p:nvPr/>
        </p:nvSpPr>
        <p:spPr>
          <a:xfrm>
            <a:off x="2505269" y="30480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1</a:t>
            </a:r>
          </a:p>
        </p:txBody>
      </p:sp>
      <p:sp>
        <p:nvSpPr>
          <p:cNvPr id="59" name="TextBox 44"/>
          <p:cNvSpPr txBox="1"/>
          <p:nvPr/>
        </p:nvSpPr>
        <p:spPr>
          <a:xfrm>
            <a:off x="4090828" y="308402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2</a:t>
            </a:r>
          </a:p>
        </p:txBody>
      </p:sp>
      <p:sp>
        <p:nvSpPr>
          <p:cNvPr id="60" name="TextBox 44"/>
          <p:cNvSpPr txBox="1"/>
          <p:nvPr/>
        </p:nvSpPr>
        <p:spPr>
          <a:xfrm>
            <a:off x="5676387" y="3065317"/>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3</a:t>
            </a:r>
          </a:p>
        </p:txBody>
      </p:sp>
      <p:sp>
        <p:nvSpPr>
          <p:cNvPr id="63" name="TextBox 44"/>
          <p:cNvSpPr txBox="1"/>
          <p:nvPr/>
        </p:nvSpPr>
        <p:spPr>
          <a:xfrm>
            <a:off x="7261946" y="3077091"/>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4</a:t>
            </a:r>
          </a:p>
        </p:txBody>
      </p:sp>
      <p:cxnSp>
        <p:nvCxnSpPr>
          <p:cNvPr id="65" name="Straight Arrow Connector 233"/>
          <p:cNvCxnSpPr>
            <a:stCxn id="47" idx="2"/>
            <a:endCxn id="67" idx="0"/>
          </p:cNvCxnSpPr>
          <p:nvPr/>
        </p:nvCxnSpPr>
        <p:spPr>
          <a:xfrm rot="5400000">
            <a:off x="4793016" y="543285"/>
            <a:ext cx="247807" cy="6339272"/>
          </a:xfrm>
          <a:prstGeom prst="bentConnector3">
            <a:avLst>
              <a:gd name="adj1" fmla="val 50000"/>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67" name="Flowchart: Process 66"/>
          <p:cNvSpPr/>
          <p:nvPr/>
        </p:nvSpPr>
        <p:spPr>
          <a:xfrm>
            <a:off x="1213658" y="3836825"/>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Process the valid dropped transactions in the next ETL batch</a:t>
            </a:r>
          </a:p>
        </p:txBody>
      </p:sp>
      <p:sp>
        <p:nvSpPr>
          <p:cNvPr id="68" name="Flowchart: Process 67"/>
          <p:cNvSpPr/>
          <p:nvPr/>
        </p:nvSpPr>
        <p:spPr>
          <a:xfrm>
            <a:off x="2802633" y="3836824"/>
            <a:ext cx="1067249" cy="506575"/>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Jobs are executed and completed in the next batch.</a:t>
            </a:r>
          </a:p>
        </p:txBody>
      </p:sp>
      <p:cxnSp>
        <p:nvCxnSpPr>
          <p:cNvPr id="70" name="Straight Arrow Connector 69"/>
          <p:cNvCxnSpPr>
            <a:stCxn id="67" idx="3"/>
            <a:endCxn id="68" idx="1"/>
          </p:cNvCxnSpPr>
          <p:nvPr/>
        </p:nvCxnSpPr>
        <p:spPr>
          <a:xfrm flipV="1">
            <a:off x="2280907" y="4090112"/>
            <a:ext cx="521726" cy="1"/>
          </a:xfrm>
          <a:prstGeom prst="straightConnector1">
            <a:avLst/>
          </a:prstGeom>
          <a:ln w="31750">
            <a:solidFill>
              <a:schemeClr val="bg1">
                <a:lumMod val="50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71" name="TextBox 44"/>
          <p:cNvSpPr txBox="1"/>
          <p:nvPr/>
        </p:nvSpPr>
        <p:spPr>
          <a:xfrm>
            <a:off x="8153400" y="3628055"/>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5</a:t>
            </a:r>
          </a:p>
        </p:txBody>
      </p:sp>
      <p:sp>
        <p:nvSpPr>
          <p:cNvPr id="66" name="TextBox 44"/>
          <p:cNvSpPr txBox="1"/>
          <p:nvPr/>
        </p:nvSpPr>
        <p:spPr>
          <a:xfrm>
            <a:off x="2505269" y="3886200"/>
            <a:ext cx="66621" cy="15240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4320">
              <a:spcAft>
                <a:spcPts val="900"/>
              </a:spcAft>
            </a:pPr>
            <a:r>
              <a:rPr lang="en-US" sz="900" b="1" dirty="0">
                <a:solidFill>
                  <a:srgbClr val="FF0000"/>
                </a:solidFill>
                <a:latin typeface="Calibri" panose="020F0502020204030204" pitchFamily="34" charset="0"/>
                <a:cs typeface="Calibri" panose="020F0502020204030204" pitchFamily="34" charset="0"/>
              </a:rPr>
              <a:t>6</a:t>
            </a:r>
          </a:p>
        </p:txBody>
      </p:sp>
      <p:sp>
        <p:nvSpPr>
          <p:cNvPr id="81" name="Flowchart: Process 80"/>
          <p:cNvSpPr/>
          <p:nvPr/>
        </p:nvSpPr>
        <p:spPr>
          <a:xfrm>
            <a:off x="2802633" y="1524000"/>
            <a:ext cx="1067249" cy="533400"/>
          </a:xfrm>
          <a:prstGeom prst="flowChartProcess">
            <a:avLst/>
          </a:prstGeom>
          <a:solidFill>
            <a:schemeClr val="tx2">
              <a:lumMod val="20000"/>
              <a:lumOff val="8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800" b="1" kern="0" dirty="0">
                <a:solidFill>
                  <a:sysClr val="windowText" lastClr="000000"/>
                </a:solidFill>
                <a:latin typeface="Calibri" pitchFamily="34" charset="0"/>
                <a:cs typeface="Calibri" pitchFamily="34" charset="0"/>
              </a:rPr>
              <a:t>Run the Business  Rule for defined KDE from SAS DI engine</a:t>
            </a:r>
          </a:p>
        </p:txBody>
      </p:sp>
    </p:spTree>
    <p:extLst>
      <p:ext uri="{BB962C8B-B14F-4D97-AF65-F5344CB8AC3E}">
        <p14:creationId xmlns:p14="http://schemas.microsoft.com/office/powerpoint/2010/main" val="3281448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C7391013-398E-401C-A8A9-F80A252E2B05}"/>
              </a:ext>
            </a:extLst>
          </p:cNvPr>
          <p:cNvSpPr>
            <a:spLocks noGrp="1"/>
          </p:cNvSpPr>
          <p:nvPr>
            <p:ph type="title"/>
          </p:nvPr>
        </p:nvSpPr>
        <p:spPr>
          <a:xfrm>
            <a:off x="457200" y="152400"/>
            <a:ext cx="7620000" cy="369888"/>
          </a:xfrm>
        </p:spPr>
        <p:txBody>
          <a:bodyPr/>
          <a:lstStyle/>
          <a:p>
            <a:pPr algn="ctr" eaLnBrk="1" hangingPunct="1"/>
            <a:r>
              <a:rPr lang="en-US" i="0" dirty="0">
                <a:solidFill>
                  <a:schemeClr val="bg1"/>
                </a:solidFill>
                <a:latin typeface="+mn-lt"/>
              </a:rPr>
              <a:t>Data Quality Management</a:t>
            </a:r>
          </a:p>
        </p:txBody>
      </p:sp>
      <p:grpSp>
        <p:nvGrpSpPr>
          <p:cNvPr id="5" name="Group 4">
            <a:extLst>
              <a:ext uri="{FF2B5EF4-FFF2-40B4-BE49-F238E27FC236}">
                <a16:creationId xmlns:a16="http://schemas.microsoft.com/office/drawing/2014/main" id="{3E7483A0-68ED-480B-AAC4-C31B48999303}"/>
              </a:ext>
            </a:extLst>
          </p:cNvPr>
          <p:cNvGrpSpPr/>
          <p:nvPr/>
        </p:nvGrpSpPr>
        <p:grpSpPr>
          <a:xfrm>
            <a:off x="78840" y="1414236"/>
            <a:ext cx="8986320" cy="4420956"/>
            <a:chOff x="78840" y="1414236"/>
            <a:chExt cx="8986320" cy="4420956"/>
          </a:xfrm>
        </p:grpSpPr>
        <p:sp>
          <p:nvSpPr>
            <p:cNvPr id="8" name="Rectangle 7">
              <a:extLst>
                <a:ext uri="{FF2B5EF4-FFF2-40B4-BE49-F238E27FC236}">
                  <a16:creationId xmlns:a16="http://schemas.microsoft.com/office/drawing/2014/main" id="{11C95BBF-1784-4FA8-A142-2925ED4A54B7}"/>
                </a:ext>
              </a:extLst>
            </p:cNvPr>
            <p:cNvSpPr/>
            <p:nvPr/>
          </p:nvSpPr>
          <p:spPr>
            <a:xfrm>
              <a:off x="78840" y="1790179"/>
              <a:ext cx="1787663" cy="396017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200" b="1" kern="0" dirty="0">
                <a:solidFill>
                  <a:sysClr val="windowText" lastClr="000000"/>
                </a:solidFill>
                <a:latin typeface="Calibri" pitchFamily="34" charset="0"/>
                <a:cs typeface="Calibri" pitchFamily="34" charset="0"/>
              </a:endParaRPr>
            </a:p>
          </p:txBody>
        </p:sp>
        <p:sp>
          <p:nvSpPr>
            <p:cNvPr id="9" name="Rectangle 8">
              <a:extLst>
                <a:ext uri="{FF2B5EF4-FFF2-40B4-BE49-F238E27FC236}">
                  <a16:creationId xmlns:a16="http://schemas.microsoft.com/office/drawing/2014/main" id="{48AC1F45-05FD-4E16-9378-0D8D0536246B}"/>
                </a:ext>
              </a:extLst>
            </p:cNvPr>
            <p:cNvSpPr/>
            <p:nvPr/>
          </p:nvSpPr>
          <p:spPr>
            <a:xfrm>
              <a:off x="78840" y="1420291"/>
              <a:ext cx="1787663" cy="369888"/>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400" b="1" kern="0" dirty="0">
                  <a:solidFill>
                    <a:prstClr val="white"/>
                  </a:solidFill>
                  <a:latin typeface="Calibri" pitchFamily="34" charset="0"/>
                  <a:cs typeface="Calibri" pitchFamily="34" charset="0"/>
                </a:rPr>
                <a:t>Source Systems</a:t>
              </a:r>
            </a:p>
          </p:txBody>
        </p:sp>
        <p:sp>
          <p:nvSpPr>
            <p:cNvPr id="17" name="Flowchart: Multidocument 16">
              <a:extLst>
                <a:ext uri="{FF2B5EF4-FFF2-40B4-BE49-F238E27FC236}">
                  <a16:creationId xmlns:a16="http://schemas.microsoft.com/office/drawing/2014/main" id="{45C9FFE9-D9AC-4214-8347-39162EBD5631}"/>
                </a:ext>
              </a:extLst>
            </p:cNvPr>
            <p:cNvSpPr/>
            <p:nvPr/>
          </p:nvSpPr>
          <p:spPr>
            <a:xfrm>
              <a:off x="2945796" y="2447903"/>
              <a:ext cx="1323841" cy="2463462"/>
            </a:xfrm>
            <a:prstGeom prst="flowChartMulti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kern="0" dirty="0">
                  <a:solidFill>
                    <a:sysClr val="windowText" lastClr="000000"/>
                  </a:solidFill>
                  <a:latin typeface="Calibri" pitchFamily="34" charset="0"/>
                  <a:cs typeface="Calibri" pitchFamily="34" charset="0"/>
                </a:rPr>
                <a:t>DQ Metrics</a:t>
              </a:r>
            </a:p>
            <a:p>
              <a:pPr algn="ctr"/>
              <a:r>
                <a:rPr lang="en-US" sz="1400" b="1" kern="0" dirty="0">
                  <a:solidFill>
                    <a:sysClr val="windowText" lastClr="000000"/>
                  </a:solidFill>
                  <a:latin typeface="Calibri" pitchFamily="34" charset="0"/>
                  <a:cs typeface="Calibri" pitchFamily="34" charset="0"/>
                </a:rPr>
                <a:t>Flat Files</a:t>
              </a:r>
            </a:p>
          </p:txBody>
        </p:sp>
        <p:sp>
          <p:nvSpPr>
            <p:cNvPr id="18" name="Arrow: Pentagon 17">
              <a:extLst>
                <a:ext uri="{FF2B5EF4-FFF2-40B4-BE49-F238E27FC236}">
                  <a16:creationId xmlns:a16="http://schemas.microsoft.com/office/drawing/2014/main" id="{2B741DF1-2119-44F5-9D5E-2C137E0F1113}"/>
                </a:ext>
              </a:extLst>
            </p:cNvPr>
            <p:cNvSpPr/>
            <p:nvPr/>
          </p:nvSpPr>
          <p:spPr>
            <a:xfrm>
              <a:off x="2516448" y="2286350"/>
              <a:ext cx="591020" cy="3548842"/>
            </a:xfrm>
            <a:prstGeom prst="homePlate">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1"/>
                  </a:solidFill>
                </a:rPr>
                <a:t>Continuity, Conformity, and Completeness </a:t>
              </a:r>
              <a:r>
                <a:rPr lang="en-US" sz="1200" b="1" dirty="0">
                  <a:ln w="0"/>
                  <a:solidFill>
                    <a:schemeClr val="tx1"/>
                  </a:solidFill>
                  <a:effectLst>
                    <a:outerShdw blurRad="38100" dist="19050" dir="2700000" algn="tl" rotWithShape="0">
                      <a:schemeClr val="dk1">
                        <a:alpha val="40000"/>
                      </a:schemeClr>
                    </a:outerShdw>
                  </a:effectLst>
                </a:rPr>
                <a:t>Business Rules Implementations</a:t>
              </a:r>
            </a:p>
          </p:txBody>
        </p:sp>
        <p:sp>
          <p:nvSpPr>
            <p:cNvPr id="25" name="Rectangle: Rounded Corners 24">
              <a:extLst>
                <a:ext uri="{FF2B5EF4-FFF2-40B4-BE49-F238E27FC236}">
                  <a16:creationId xmlns:a16="http://schemas.microsoft.com/office/drawing/2014/main" id="{0C0B7FB9-D28C-43D8-B5E9-E7AE917096F5}"/>
                </a:ext>
              </a:extLst>
            </p:cNvPr>
            <p:cNvSpPr/>
            <p:nvPr/>
          </p:nvSpPr>
          <p:spPr>
            <a:xfrm>
              <a:off x="2123096" y="1431286"/>
              <a:ext cx="375007" cy="44039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b="1" dirty="0"/>
            </a:p>
            <a:p>
              <a:pPr algn="ctr"/>
              <a:r>
                <a:rPr lang="en-US" b="1" dirty="0"/>
                <a:t>DEVELOPER</a:t>
              </a:r>
            </a:p>
          </p:txBody>
        </p:sp>
        <p:sp>
          <p:nvSpPr>
            <p:cNvPr id="27" name="Rectangle: Rounded Corners 26">
              <a:extLst>
                <a:ext uri="{FF2B5EF4-FFF2-40B4-BE49-F238E27FC236}">
                  <a16:creationId xmlns:a16="http://schemas.microsoft.com/office/drawing/2014/main" id="{A36A0300-F609-4C97-83FE-74548B4A6F49}"/>
                </a:ext>
              </a:extLst>
            </p:cNvPr>
            <p:cNvSpPr/>
            <p:nvPr/>
          </p:nvSpPr>
          <p:spPr>
            <a:xfrm>
              <a:off x="4297010" y="1431286"/>
              <a:ext cx="375007" cy="44039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a:p>
              <a:pPr algn="ctr"/>
              <a:endParaRPr lang="en-US" b="1" dirty="0"/>
            </a:p>
            <a:p>
              <a:pPr algn="ctr"/>
              <a:endParaRPr lang="en-US" b="1" dirty="0"/>
            </a:p>
            <a:p>
              <a:pPr algn="ctr"/>
              <a:endParaRPr lang="en-US" b="1" dirty="0"/>
            </a:p>
            <a:p>
              <a:pPr algn="ctr"/>
              <a:r>
                <a:rPr lang="en-US" b="1" dirty="0"/>
                <a:t>POWERCENTER</a:t>
              </a:r>
            </a:p>
          </p:txBody>
        </p:sp>
        <p:sp>
          <p:nvSpPr>
            <p:cNvPr id="28" name="Flowchart: Magnetic Disk 27">
              <a:extLst>
                <a:ext uri="{FF2B5EF4-FFF2-40B4-BE49-F238E27FC236}">
                  <a16:creationId xmlns:a16="http://schemas.microsoft.com/office/drawing/2014/main" id="{28454C07-E350-47B9-A89B-DD58425CF0BB}"/>
                </a:ext>
              </a:extLst>
            </p:cNvPr>
            <p:cNvSpPr/>
            <p:nvPr/>
          </p:nvSpPr>
          <p:spPr>
            <a:xfrm>
              <a:off x="5141326" y="2328771"/>
              <a:ext cx="2072834" cy="2146305"/>
            </a:xfrm>
            <a:prstGeom prst="flowChartMagneticDisk">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Predefined Process 29">
              <a:extLst>
                <a:ext uri="{FF2B5EF4-FFF2-40B4-BE49-F238E27FC236}">
                  <a16:creationId xmlns:a16="http://schemas.microsoft.com/office/drawing/2014/main" id="{EE345C06-3C77-41D7-8BBE-9F1AD7B0D028}"/>
                </a:ext>
              </a:extLst>
            </p:cNvPr>
            <p:cNvSpPr/>
            <p:nvPr/>
          </p:nvSpPr>
          <p:spPr>
            <a:xfrm>
              <a:off x="5422374" y="3127111"/>
              <a:ext cx="1395661" cy="434192"/>
            </a:xfrm>
            <a:prstGeom prst="flowChartPredefinedProcess">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Dimension Load</a:t>
              </a:r>
            </a:p>
          </p:txBody>
        </p:sp>
        <p:sp>
          <p:nvSpPr>
            <p:cNvPr id="31" name="Flowchart: Internal Storage 30">
              <a:extLst>
                <a:ext uri="{FF2B5EF4-FFF2-40B4-BE49-F238E27FC236}">
                  <a16:creationId xmlns:a16="http://schemas.microsoft.com/office/drawing/2014/main" id="{9B6A6017-0718-43A5-A51A-C94EF1236345}"/>
                </a:ext>
              </a:extLst>
            </p:cNvPr>
            <p:cNvSpPr/>
            <p:nvPr/>
          </p:nvSpPr>
          <p:spPr>
            <a:xfrm>
              <a:off x="5396755" y="3690097"/>
              <a:ext cx="1395661" cy="643074"/>
            </a:xfrm>
            <a:prstGeom prst="flowChartInternalStorag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Fact &amp; Aggregation Load</a:t>
              </a:r>
            </a:p>
          </p:txBody>
        </p:sp>
        <p:sp>
          <p:nvSpPr>
            <p:cNvPr id="32" name="Flowchart: Multidocument 31">
              <a:extLst>
                <a:ext uri="{FF2B5EF4-FFF2-40B4-BE49-F238E27FC236}">
                  <a16:creationId xmlns:a16="http://schemas.microsoft.com/office/drawing/2014/main" id="{6012EDC1-BFAA-42FD-98AD-E3A43422A388}"/>
                </a:ext>
              </a:extLst>
            </p:cNvPr>
            <p:cNvSpPr/>
            <p:nvPr/>
          </p:nvSpPr>
          <p:spPr>
            <a:xfrm>
              <a:off x="7484726" y="2177592"/>
              <a:ext cx="1334436" cy="1268476"/>
            </a:xfrm>
            <a:prstGeom prst="flowChartMulti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kern="0" dirty="0">
                  <a:solidFill>
                    <a:sysClr val="windowText" lastClr="000000"/>
                  </a:solidFill>
                  <a:latin typeface="Calibri" pitchFamily="34" charset="0"/>
                  <a:cs typeface="Calibri" pitchFamily="34" charset="0"/>
                </a:rPr>
                <a:t>Output Flat files in Tableau Format</a:t>
              </a:r>
            </a:p>
          </p:txBody>
        </p:sp>
        <p:sp>
          <p:nvSpPr>
            <p:cNvPr id="33" name="Arrow: Right 32">
              <a:extLst>
                <a:ext uri="{FF2B5EF4-FFF2-40B4-BE49-F238E27FC236}">
                  <a16:creationId xmlns:a16="http://schemas.microsoft.com/office/drawing/2014/main" id="{E1237801-7602-49B0-AFB3-D1ED688B744D}"/>
                </a:ext>
              </a:extLst>
            </p:cNvPr>
            <p:cNvSpPr/>
            <p:nvPr/>
          </p:nvSpPr>
          <p:spPr>
            <a:xfrm>
              <a:off x="7183225" y="2658645"/>
              <a:ext cx="420028" cy="360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4ED05A73-E491-4DAA-8628-AA7569F3641E}"/>
                </a:ext>
              </a:extLst>
            </p:cNvPr>
            <p:cNvSpPr/>
            <p:nvPr/>
          </p:nvSpPr>
          <p:spPr>
            <a:xfrm>
              <a:off x="1877234" y="3229403"/>
              <a:ext cx="245862" cy="3056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7D660F7A-B3D7-4D54-9117-BC3AFA7A9433}"/>
                </a:ext>
              </a:extLst>
            </p:cNvPr>
            <p:cNvSpPr/>
            <p:nvPr/>
          </p:nvSpPr>
          <p:spPr>
            <a:xfrm>
              <a:off x="4093298" y="3191382"/>
              <a:ext cx="245862" cy="3056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3E654A1-4BBA-494C-A407-BFB536DC9AF1}"/>
                </a:ext>
              </a:extLst>
            </p:cNvPr>
            <p:cNvSpPr/>
            <p:nvPr/>
          </p:nvSpPr>
          <p:spPr>
            <a:xfrm>
              <a:off x="2034289" y="1427256"/>
              <a:ext cx="803217" cy="872114"/>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400" b="1" kern="0" dirty="0">
                <a:solidFill>
                  <a:prstClr val="white"/>
                </a:solidFill>
                <a:latin typeface="Calibri" pitchFamily="34" charset="0"/>
                <a:cs typeface="Calibri" pitchFamily="34" charset="0"/>
              </a:endParaRPr>
            </a:p>
          </p:txBody>
        </p:sp>
        <p:pic>
          <p:nvPicPr>
            <p:cNvPr id="38" name="Picture 37">
              <a:extLst>
                <a:ext uri="{FF2B5EF4-FFF2-40B4-BE49-F238E27FC236}">
                  <a16:creationId xmlns:a16="http://schemas.microsoft.com/office/drawing/2014/main" id="{F4522085-9720-4665-BD49-419963A327D8}"/>
                </a:ext>
              </a:extLst>
            </p:cNvPr>
            <p:cNvPicPr>
              <a:picLocks noChangeAspect="1"/>
            </p:cNvPicPr>
            <p:nvPr/>
          </p:nvPicPr>
          <p:blipFill>
            <a:blip r:embed="rId2"/>
            <a:stretch>
              <a:fillRect/>
            </a:stretch>
          </p:blipFill>
          <p:spPr>
            <a:xfrm>
              <a:off x="2123096" y="1501053"/>
              <a:ext cx="618432" cy="685211"/>
            </a:xfrm>
            <a:prstGeom prst="rect">
              <a:avLst/>
            </a:prstGeom>
          </p:spPr>
        </p:pic>
        <p:pic>
          <p:nvPicPr>
            <p:cNvPr id="41" name="Picture 40">
              <a:extLst>
                <a:ext uri="{FF2B5EF4-FFF2-40B4-BE49-F238E27FC236}">
                  <a16:creationId xmlns:a16="http://schemas.microsoft.com/office/drawing/2014/main" id="{1162DB4F-D72B-4C8B-B698-C16FB731B8E5}"/>
                </a:ext>
              </a:extLst>
            </p:cNvPr>
            <p:cNvPicPr>
              <a:picLocks noChangeAspect="1"/>
            </p:cNvPicPr>
            <p:nvPr/>
          </p:nvPicPr>
          <p:blipFill>
            <a:blip r:embed="rId3"/>
            <a:stretch>
              <a:fillRect/>
            </a:stretch>
          </p:blipFill>
          <p:spPr>
            <a:xfrm>
              <a:off x="5396755" y="2496790"/>
              <a:ext cx="1611177" cy="434192"/>
            </a:xfrm>
            <a:prstGeom prst="rect">
              <a:avLst/>
            </a:prstGeom>
          </p:spPr>
        </p:pic>
        <p:grpSp>
          <p:nvGrpSpPr>
            <p:cNvPr id="47" name="Group 46">
              <a:extLst>
                <a:ext uri="{FF2B5EF4-FFF2-40B4-BE49-F238E27FC236}">
                  <a16:creationId xmlns:a16="http://schemas.microsoft.com/office/drawing/2014/main" id="{9062432B-5FD7-470B-B835-A0F239B3042F}"/>
                </a:ext>
              </a:extLst>
            </p:cNvPr>
            <p:cNvGrpSpPr/>
            <p:nvPr/>
          </p:nvGrpSpPr>
          <p:grpSpPr>
            <a:xfrm>
              <a:off x="7329619" y="4290915"/>
              <a:ext cx="1735541" cy="1261961"/>
              <a:chOff x="7366295" y="4843019"/>
              <a:chExt cx="1735541" cy="1261961"/>
            </a:xfrm>
          </p:grpSpPr>
          <p:pic>
            <p:nvPicPr>
              <p:cNvPr id="43" name="Picture 42">
                <a:extLst>
                  <a:ext uri="{FF2B5EF4-FFF2-40B4-BE49-F238E27FC236}">
                    <a16:creationId xmlns:a16="http://schemas.microsoft.com/office/drawing/2014/main" id="{BCCC7284-2E19-492E-AF71-ECFB4740146C}"/>
                  </a:ext>
                </a:extLst>
              </p:cNvPr>
              <p:cNvPicPr>
                <a:picLocks noChangeAspect="1"/>
              </p:cNvPicPr>
              <p:nvPr/>
            </p:nvPicPr>
            <p:blipFill>
              <a:blip r:embed="rId4"/>
              <a:stretch>
                <a:fillRect/>
              </a:stretch>
            </p:blipFill>
            <p:spPr>
              <a:xfrm>
                <a:off x="7367362" y="4843019"/>
                <a:ext cx="875605" cy="575307"/>
              </a:xfrm>
              <a:prstGeom prst="rect">
                <a:avLst/>
              </a:prstGeom>
              <a:ln/>
            </p:spPr>
            <p:style>
              <a:lnRef idx="2">
                <a:schemeClr val="dk1"/>
              </a:lnRef>
              <a:fillRef idx="1">
                <a:schemeClr val="lt1"/>
              </a:fillRef>
              <a:effectRef idx="0">
                <a:schemeClr val="dk1"/>
              </a:effectRef>
              <a:fontRef idx="minor">
                <a:schemeClr val="dk1"/>
              </a:fontRef>
            </p:style>
          </p:pic>
          <p:pic>
            <p:nvPicPr>
              <p:cNvPr id="44" name="Picture 43">
                <a:extLst>
                  <a:ext uri="{FF2B5EF4-FFF2-40B4-BE49-F238E27FC236}">
                    <a16:creationId xmlns:a16="http://schemas.microsoft.com/office/drawing/2014/main" id="{F255A553-248D-443B-B68D-B39199DBBFA7}"/>
                  </a:ext>
                </a:extLst>
              </p:cNvPr>
              <p:cNvPicPr>
                <a:picLocks noChangeAspect="1"/>
              </p:cNvPicPr>
              <p:nvPr/>
            </p:nvPicPr>
            <p:blipFill>
              <a:blip r:embed="rId5"/>
              <a:stretch>
                <a:fillRect/>
              </a:stretch>
            </p:blipFill>
            <p:spPr>
              <a:xfrm>
                <a:off x="8274943" y="4864662"/>
                <a:ext cx="826706" cy="553664"/>
              </a:xfrm>
              <a:prstGeom prst="rect">
                <a:avLst/>
              </a:prstGeom>
              <a:ln/>
            </p:spPr>
            <p:style>
              <a:lnRef idx="2">
                <a:schemeClr val="dk1"/>
              </a:lnRef>
              <a:fillRef idx="1">
                <a:schemeClr val="lt1"/>
              </a:fillRef>
              <a:effectRef idx="0">
                <a:schemeClr val="dk1"/>
              </a:effectRef>
              <a:fontRef idx="minor">
                <a:schemeClr val="dk1"/>
              </a:fontRef>
            </p:style>
          </p:pic>
          <p:pic>
            <p:nvPicPr>
              <p:cNvPr id="45" name="Picture 44">
                <a:extLst>
                  <a:ext uri="{FF2B5EF4-FFF2-40B4-BE49-F238E27FC236}">
                    <a16:creationId xmlns:a16="http://schemas.microsoft.com/office/drawing/2014/main" id="{314C64A2-6724-4292-937C-34F5E8A194BB}"/>
                  </a:ext>
                </a:extLst>
              </p:cNvPr>
              <p:cNvPicPr>
                <a:picLocks noChangeAspect="1"/>
              </p:cNvPicPr>
              <p:nvPr/>
            </p:nvPicPr>
            <p:blipFill>
              <a:blip r:embed="rId6"/>
              <a:stretch>
                <a:fillRect/>
              </a:stretch>
            </p:blipFill>
            <p:spPr>
              <a:xfrm>
                <a:off x="7366295" y="5418673"/>
                <a:ext cx="866728" cy="686307"/>
              </a:xfrm>
              <a:prstGeom prst="rect">
                <a:avLst/>
              </a:prstGeom>
              <a:ln/>
            </p:spPr>
            <p:style>
              <a:lnRef idx="2">
                <a:schemeClr val="dk1"/>
              </a:lnRef>
              <a:fillRef idx="1">
                <a:schemeClr val="lt1"/>
              </a:fillRef>
              <a:effectRef idx="0">
                <a:schemeClr val="dk1"/>
              </a:effectRef>
              <a:fontRef idx="minor">
                <a:schemeClr val="dk1"/>
              </a:fontRef>
            </p:style>
          </p:pic>
          <p:pic>
            <p:nvPicPr>
              <p:cNvPr id="46" name="Picture 45">
                <a:extLst>
                  <a:ext uri="{FF2B5EF4-FFF2-40B4-BE49-F238E27FC236}">
                    <a16:creationId xmlns:a16="http://schemas.microsoft.com/office/drawing/2014/main" id="{3C5F53F0-F4F7-4219-B886-53C1DF42A3E2}"/>
                  </a:ext>
                </a:extLst>
              </p:cNvPr>
              <p:cNvPicPr>
                <a:picLocks noChangeAspect="1"/>
              </p:cNvPicPr>
              <p:nvPr/>
            </p:nvPicPr>
            <p:blipFill>
              <a:blip r:embed="rId7"/>
              <a:stretch>
                <a:fillRect/>
              </a:stretch>
            </p:blipFill>
            <p:spPr>
              <a:xfrm>
                <a:off x="8275130" y="5433292"/>
                <a:ext cx="826706" cy="671687"/>
              </a:xfrm>
              <a:prstGeom prst="rect">
                <a:avLst/>
              </a:prstGeom>
              <a:ln/>
            </p:spPr>
            <p:style>
              <a:lnRef idx="2">
                <a:schemeClr val="dk1"/>
              </a:lnRef>
              <a:fillRef idx="1">
                <a:schemeClr val="lt1"/>
              </a:fillRef>
              <a:effectRef idx="0">
                <a:schemeClr val="dk1"/>
              </a:effectRef>
              <a:fontRef idx="minor">
                <a:schemeClr val="dk1"/>
              </a:fontRef>
            </p:style>
          </p:pic>
        </p:grpSp>
        <p:sp>
          <p:nvSpPr>
            <p:cNvPr id="48" name="Arrow: Down 47">
              <a:extLst>
                <a:ext uri="{FF2B5EF4-FFF2-40B4-BE49-F238E27FC236}">
                  <a16:creationId xmlns:a16="http://schemas.microsoft.com/office/drawing/2014/main" id="{1FC886F9-E5CE-4182-8ADA-B53D1CDD98A2}"/>
                </a:ext>
              </a:extLst>
            </p:cNvPr>
            <p:cNvSpPr/>
            <p:nvPr/>
          </p:nvSpPr>
          <p:spPr>
            <a:xfrm>
              <a:off x="7869018" y="3363532"/>
              <a:ext cx="386499" cy="3236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Multidocument 48">
              <a:extLst>
                <a:ext uri="{FF2B5EF4-FFF2-40B4-BE49-F238E27FC236}">
                  <a16:creationId xmlns:a16="http://schemas.microsoft.com/office/drawing/2014/main" id="{AC634D33-BADD-4FED-BB3F-B41521A6BA07}"/>
                </a:ext>
              </a:extLst>
            </p:cNvPr>
            <p:cNvSpPr/>
            <p:nvPr/>
          </p:nvSpPr>
          <p:spPr>
            <a:xfrm>
              <a:off x="392621" y="1924219"/>
              <a:ext cx="1323841" cy="1226109"/>
            </a:xfrm>
            <a:prstGeom prst="flowChartMulti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kern="0" dirty="0">
                  <a:solidFill>
                    <a:sysClr val="windowText" lastClr="000000"/>
                  </a:solidFill>
                  <a:latin typeface="Calibri" pitchFamily="34" charset="0"/>
                  <a:cs typeface="Calibri" pitchFamily="34" charset="0"/>
                </a:rPr>
                <a:t>T-360, OVS, CDL</a:t>
              </a:r>
            </a:p>
          </p:txBody>
        </p:sp>
        <p:sp>
          <p:nvSpPr>
            <p:cNvPr id="50" name="Flowchart: Multidocument 49">
              <a:extLst>
                <a:ext uri="{FF2B5EF4-FFF2-40B4-BE49-F238E27FC236}">
                  <a16:creationId xmlns:a16="http://schemas.microsoft.com/office/drawing/2014/main" id="{BC5BB186-BEEF-4271-B91F-247568FAC510}"/>
                </a:ext>
              </a:extLst>
            </p:cNvPr>
            <p:cNvSpPr/>
            <p:nvPr/>
          </p:nvSpPr>
          <p:spPr>
            <a:xfrm>
              <a:off x="324838" y="3191382"/>
              <a:ext cx="1323841" cy="1226109"/>
            </a:xfrm>
            <a:prstGeom prst="flowChartMulti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kern="0" dirty="0">
                  <a:solidFill>
                    <a:sysClr val="windowText" lastClr="000000"/>
                  </a:solidFill>
                  <a:latin typeface="Calibri" pitchFamily="34" charset="0"/>
                  <a:cs typeface="Calibri" pitchFamily="34" charset="0"/>
                </a:rPr>
                <a:t>GPP, BESS, PEP+ / EPP/ AMH, KYC</a:t>
              </a:r>
            </a:p>
          </p:txBody>
        </p:sp>
        <p:sp>
          <p:nvSpPr>
            <p:cNvPr id="51" name="Flowchart: Multidocument 50">
              <a:extLst>
                <a:ext uri="{FF2B5EF4-FFF2-40B4-BE49-F238E27FC236}">
                  <a16:creationId xmlns:a16="http://schemas.microsoft.com/office/drawing/2014/main" id="{76FBD234-C5C3-4EF8-BDF8-8047B4D4A76B}"/>
                </a:ext>
              </a:extLst>
            </p:cNvPr>
            <p:cNvSpPr/>
            <p:nvPr/>
          </p:nvSpPr>
          <p:spPr>
            <a:xfrm>
              <a:off x="326441" y="4495006"/>
              <a:ext cx="1323841" cy="1226109"/>
            </a:xfrm>
            <a:prstGeom prst="flowChartMultidocument">
              <a:avLst/>
            </a:prstGeom>
            <a:solidFill>
              <a:srgbClr val="3AD8D8"/>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kern="0" dirty="0">
                  <a:solidFill>
                    <a:sysClr val="windowText" lastClr="000000"/>
                  </a:solidFill>
                  <a:latin typeface="Calibri" pitchFamily="34" charset="0"/>
                  <a:cs typeface="Calibri" pitchFamily="34" charset="0"/>
                </a:rPr>
                <a:t>Vision IP, BNY Mellon</a:t>
              </a:r>
            </a:p>
          </p:txBody>
        </p:sp>
        <p:sp>
          <p:nvSpPr>
            <p:cNvPr id="52" name="Explosion: 8 Points 51">
              <a:extLst>
                <a:ext uri="{FF2B5EF4-FFF2-40B4-BE49-F238E27FC236}">
                  <a16:creationId xmlns:a16="http://schemas.microsoft.com/office/drawing/2014/main" id="{4D4F8A3A-9870-4E6A-A7F3-6184419CDB2A}"/>
                </a:ext>
              </a:extLst>
            </p:cNvPr>
            <p:cNvSpPr/>
            <p:nvPr/>
          </p:nvSpPr>
          <p:spPr>
            <a:xfrm>
              <a:off x="763571" y="4495006"/>
              <a:ext cx="885108" cy="416359"/>
            </a:xfrm>
            <a:prstGeom prst="irregularSeal1">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New</a:t>
              </a:r>
            </a:p>
          </p:txBody>
        </p:sp>
        <p:sp>
          <p:nvSpPr>
            <p:cNvPr id="53" name="Rectangle 52">
              <a:extLst>
                <a:ext uri="{FF2B5EF4-FFF2-40B4-BE49-F238E27FC236}">
                  <a16:creationId xmlns:a16="http://schemas.microsoft.com/office/drawing/2014/main" id="{E991BC06-6784-42CD-AB32-6E7D6A481875}"/>
                </a:ext>
              </a:extLst>
            </p:cNvPr>
            <p:cNvSpPr/>
            <p:nvPr/>
          </p:nvSpPr>
          <p:spPr>
            <a:xfrm>
              <a:off x="7304295" y="3707939"/>
              <a:ext cx="1760678" cy="575307"/>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400" b="1" kern="0" dirty="0">
                <a:solidFill>
                  <a:prstClr val="white"/>
                </a:solidFill>
                <a:latin typeface="Calibri" pitchFamily="34" charset="0"/>
                <a:cs typeface="Calibri" pitchFamily="34" charset="0"/>
              </a:endParaRPr>
            </a:p>
          </p:txBody>
        </p:sp>
        <p:pic>
          <p:nvPicPr>
            <p:cNvPr id="54" name="Picture 53">
              <a:extLst>
                <a:ext uri="{FF2B5EF4-FFF2-40B4-BE49-F238E27FC236}">
                  <a16:creationId xmlns:a16="http://schemas.microsoft.com/office/drawing/2014/main" id="{8203FCCA-7341-488A-A3A5-C3CEBC7DA33A}"/>
                </a:ext>
              </a:extLst>
            </p:cNvPr>
            <p:cNvPicPr>
              <a:picLocks noChangeAspect="1"/>
            </p:cNvPicPr>
            <p:nvPr/>
          </p:nvPicPr>
          <p:blipFill>
            <a:blip r:embed="rId8"/>
            <a:stretch>
              <a:fillRect/>
            </a:stretch>
          </p:blipFill>
          <p:spPr>
            <a:xfrm>
              <a:off x="7469589" y="3809383"/>
              <a:ext cx="1485875" cy="423028"/>
            </a:xfrm>
            <a:prstGeom prst="rect">
              <a:avLst/>
            </a:prstGeom>
          </p:spPr>
        </p:pic>
        <p:sp>
          <p:nvSpPr>
            <p:cNvPr id="55" name="Flowchart: Connector 54">
              <a:extLst>
                <a:ext uri="{FF2B5EF4-FFF2-40B4-BE49-F238E27FC236}">
                  <a16:creationId xmlns:a16="http://schemas.microsoft.com/office/drawing/2014/main" id="{E9FFC606-F33E-4AA0-B5DA-F94F5A704F45}"/>
                </a:ext>
              </a:extLst>
            </p:cNvPr>
            <p:cNvSpPr/>
            <p:nvPr/>
          </p:nvSpPr>
          <p:spPr>
            <a:xfrm>
              <a:off x="1839706" y="3553592"/>
              <a:ext cx="271418" cy="353601"/>
            </a:xfrm>
            <a:prstGeom prst="flowChartConnector">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56" name="Flowchart: Connector 55">
              <a:extLst>
                <a:ext uri="{FF2B5EF4-FFF2-40B4-BE49-F238E27FC236}">
                  <a16:creationId xmlns:a16="http://schemas.microsoft.com/office/drawing/2014/main" id="{555012CC-093D-4D6D-B96E-D119024D8371}"/>
                </a:ext>
              </a:extLst>
            </p:cNvPr>
            <p:cNvSpPr/>
            <p:nvPr/>
          </p:nvSpPr>
          <p:spPr>
            <a:xfrm>
              <a:off x="4098089" y="3529462"/>
              <a:ext cx="271418" cy="353601"/>
            </a:xfrm>
            <a:prstGeom prst="flowChartConnector">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2" name="Picture 1">
              <a:extLst>
                <a:ext uri="{FF2B5EF4-FFF2-40B4-BE49-F238E27FC236}">
                  <a16:creationId xmlns:a16="http://schemas.microsoft.com/office/drawing/2014/main" id="{76205687-9DF3-4E92-8361-4BC8DA3C5283}"/>
                </a:ext>
              </a:extLst>
            </p:cNvPr>
            <p:cNvPicPr>
              <a:picLocks noChangeAspect="1"/>
            </p:cNvPicPr>
            <p:nvPr/>
          </p:nvPicPr>
          <p:blipFill>
            <a:blip r:embed="rId9"/>
            <a:stretch>
              <a:fillRect/>
            </a:stretch>
          </p:blipFill>
          <p:spPr>
            <a:xfrm>
              <a:off x="3074899" y="2930982"/>
              <a:ext cx="979459" cy="702257"/>
            </a:xfrm>
            <a:prstGeom prst="rect">
              <a:avLst/>
            </a:prstGeom>
          </p:spPr>
        </p:pic>
        <p:sp>
          <p:nvSpPr>
            <p:cNvPr id="26" name="Arrow: Pentagon 25">
              <a:extLst>
                <a:ext uri="{FF2B5EF4-FFF2-40B4-BE49-F238E27FC236}">
                  <a16:creationId xmlns:a16="http://schemas.microsoft.com/office/drawing/2014/main" id="{D78FD34E-9BE8-455C-BB01-0E214159B145}"/>
                </a:ext>
              </a:extLst>
            </p:cNvPr>
            <p:cNvSpPr/>
            <p:nvPr/>
          </p:nvSpPr>
          <p:spPr>
            <a:xfrm>
              <a:off x="4690362" y="1431286"/>
              <a:ext cx="615485" cy="4403906"/>
            </a:xfrm>
            <a:prstGeom prst="homePlate">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400" dirty="0">
                  <a:ln w="0"/>
                  <a:solidFill>
                    <a:schemeClr val="tx1"/>
                  </a:solidFill>
                  <a:effectLst>
                    <a:outerShdw blurRad="38100" dist="19050" dir="2700000" algn="tl" rotWithShape="0">
                      <a:schemeClr val="dk1">
                        <a:alpha val="40000"/>
                      </a:schemeClr>
                    </a:outerShdw>
                  </a:effectLst>
                </a:rPr>
                <a:t>Business Rules Integration</a:t>
              </a:r>
            </a:p>
          </p:txBody>
        </p:sp>
        <p:sp>
          <p:nvSpPr>
            <p:cNvPr id="39" name="Rectangle 38">
              <a:extLst>
                <a:ext uri="{FF2B5EF4-FFF2-40B4-BE49-F238E27FC236}">
                  <a16:creationId xmlns:a16="http://schemas.microsoft.com/office/drawing/2014/main" id="{D8BDFF10-F381-4A5A-9786-8108AD3BB920}"/>
                </a:ext>
              </a:extLst>
            </p:cNvPr>
            <p:cNvSpPr/>
            <p:nvPr/>
          </p:nvSpPr>
          <p:spPr>
            <a:xfrm>
              <a:off x="3940392" y="1414236"/>
              <a:ext cx="1303177" cy="872114"/>
            </a:xfrm>
            <a:prstGeom prst="rect">
              <a:avLst/>
            </a:prstGeom>
            <a:solidFill>
              <a:schemeClr val="tx1">
                <a:lumMod val="65000"/>
                <a:lumOff val="3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sz="1400" b="1" kern="0" dirty="0">
                <a:solidFill>
                  <a:prstClr val="white"/>
                </a:solidFill>
                <a:latin typeface="Calibri" pitchFamily="34" charset="0"/>
                <a:cs typeface="Calibri" pitchFamily="34" charset="0"/>
              </a:endParaRPr>
            </a:p>
          </p:txBody>
        </p:sp>
        <p:pic>
          <p:nvPicPr>
            <p:cNvPr id="40" name="Picture 39">
              <a:extLst>
                <a:ext uri="{FF2B5EF4-FFF2-40B4-BE49-F238E27FC236}">
                  <a16:creationId xmlns:a16="http://schemas.microsoft.com/office/drawing/2014/main" id="{EFB1D319-E869-4917-A997-055E4BF1F9FE}"/>
                </a:ext>
              </a:extLst>
            </p:cNvPr>
            <p:cNvPicPr>
              <a:picLocks noChangeAspect="1"/>
            </p:cNvPicPr>
            <p:nvPr/>
          </p:nvPicPr>
          <p:blipFill>
            <a:blip r:embed="rId10"/>
            <a:stretch>
              <a:fillRect/>
            </a:stretch>
          </p:blipFill>
          <p:spPr>
            <a:xfrm>
              <a:off x="4036475" y="1455603"/>
              <a:ext cx="1114278" cy="784585"/>
            </a:xfrm>
            <a:prstGeom prst="rect">
              <a:avLst/>
            </a:prstGeom>
          </p:spPr>
        </p:pic>
        <p:pic>
          <p:nvPicPr>
            <p:cNvPr id="4" name="Picture 3">
              <a:extLst>
                <a:ext uri="{FF2B5EF4-FFF2-40B4-BE49-F238E27FC236}">
                  <a16:creationId xmlns:a16="http://schemas.microsoft.com/office/drawing/2014/main" id="{F127C015-117E-4A73-AFBA-06AD57B50BA4}"/>
                </a:ext>
              </a:extLst>
            </p:cNvPr>
            <p:cNvPicPr>
              <a:picLocks noChangeAspect="1"/>
            </p:cNvPicPr>
            <p:nvPr/>
          </p:nvPicPr>
          <p:blipFill>
            <a:blip r:embed="rId11"/>
            <a:stretch>
              <a:fillRect/>
            </a:stretch>
          </p:blipFill>
          <p:spPr>
            <a:xfrm>
              <a:off x="3117704" y="4033988"/>
              <a:ext cx="845058" cy="497262"/>
            </a:xfrm>
            <a:prstGeom prst="rect">
              <a:avLst/>
            </a:prstGeom>
          </p:spPr>
        </p:pic>
      </p:grpSp>
    </p:spTree>
    <p:extLst>
      <p:ext uri="{BB962C8B-B14F-4D97-AF65-F5344CB8AC3E}">
        <p14:creationId xmlns:p14="http://schemas.microsoft.com/office/powerpoint/2010/main" val="664631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92F02CD-A996-4011-AF38-E10E2F0F04E2}"/>
              </a:ext>
            </a:extLst>
          </p:cNvPr>
          <p:cNvSpPr>
            <a:spLocks noGrp="1"/>
          </p:cNvSpPr>
          <p:nvPr>
            <p:ph type="title"/>
          </p:nvPr>
        </p:nvSpPr>
        <p:spPr>
          <a:xfrm>
            <a:off x="150829" y="7"/>
            <a:ext cx="9557215" cy="761994"/>
          </a:xfrm>
        </p:spPr>
        <p:txBody>
          <a:bodyPr/>
          <a:lstStyle/>
          <a:p>
            <a:r>
              <a:rPr lang="en-US" b="1" dirty="0">
                <a:solidFill>
                  <a:schemeClr val="bg1"/>
                </a:solidFill>
              </a:rPr>
              <a:t>Srinivasa Dasari</a:t>
            </a:r>
            <a:br>
              <a:rPr lang="en-US" b="1" dirty="0">
                <a:solidFill>
                  <a:schemeClr val="bg1"/>
                </a:solidFill>
              </a:rPr>
            </a:br>
            <a:r>
              <a:rPr lang="en-US" sz="1600" b="1" i="1" dirty="0">
                <a:solidFill>
                  <a:schemeClr val="bg1"/>
                </a:solidFill>
              </a:rPr>
              <a:t>Data Quality Lead</a:t>
            </a:r>
          </a:p>
        </p:txBody>
      </p:sp>
      <p:sp>
        <p:nvSpPr>
          <p:cNvPr id="6" name="Title 2">
            <a:extLst>
              <a:ext uri="{FF2B5EF4-FFF2-40B4-BE49-F238E27FC236}">
                <a16:creationId xmlns:a16="http://schemas.microsoft.com/office/drawing/2014/main" id="{CE86FD6B-9D38-4BC3-A8A8-59C14B4F953A}"/>
              </a:ext>
            </a:extLst>
          </p:cNvPr>
          <p:cNvSpPr txBox="1">
            <a:spLocks/>
          </p:cNvSpPr>
          <p:nvPr/>
        </p:nvSpPr>
        <p:spPr>
          <a:xfrm>
            <a:off x="-197966" y="1"/>
            <a:ext cx="9905999" cy="762000"/>
          </a:xfrm>
          <a:prstGeom prst="rect">
            <a:avLst/>
          </a:prstGeom>
        </p:spPr>
        <p:txBody>
          <a:bodyPr vert="horz" lIns="297397" tIns="33047" rIns="165220" bIns="33047" rtlCol="0" anchor="ctr">
            <a:noAutofit/>
          </a:bodyPr>
          <a:lstStyle/>
          <a:p>
            <a:pPr marL="0" marR="0" lvl="0" indent="0" algn="l" defTabSz="913936" rtl="0" eaLnBrk="1" fontAlgn="auto" latinLnBrk="0" hangingPunct="1">
              <a:lnSpc>
                <a:spcPct val="100000"/>
              </a:lnSpc>
              <a:spcBef>
                <a:spcPct val="0"/>
              </a:spcBef>
              <a:spcAft>
                <a:spcPts val="0"/>
              </a:spcAft>
              <a:buClrTx/>
              <a:buSzTx/>
              <a:buFontTx/>
              <a:buNone/>
              <a:tabLst/>
              <a:defRPr/>
            </a:pPr>
            <a:endParaRPr kumimoji="0" lang="en-US" sz="26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Rectangle 4">
            <a:extLst>
              <a:ext uri="{FF2B5EF4-FFF2-40B4-BE49-F238E27FC236}">
                <a16:creationId xmlns:a16="http://schemas.microsoft.com/office/drawing/2014/main" id="{F86E33AD-6752-4B68-AA9C-02E34A1A9072}"/>
              </a:ext>
            </a:extLst>
          </p:cNvPr>
          <p:cNvSpPr>
            <a:spLocks noChangeArrowheads="1"/>
          </p:cNvSpPr>
          <p:nvPr/>
        </p:nvSpPr>
        <p:spPr bwMode="auto">
          <a:xfrm>
            <a:off x="254381" y="2270345"/>
            <a:ext cx="3816350" cy="296768"/>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pPr>
            <a:r>
              <a:rPr lang="en-US" sz="1200" b="1" dirty="0">
                <a:latin typeface="Calibri" pitchFamily="34" charset="0"/>
                <a:cs typeface="Calibri" pitchFamily="34" charset="0"/>
              </a:rPr>
              <a:t>Education and Competencies</a:t>
            </a:r>
          </a:p>
        </p:txBody>
      </p:sp>
      <p:sp>
        <p:nvSpPr>
          <p:cNvPr id="8" name="Rectangle 5">
            <a:extLst>
              <a:ext uri="{FF2B5EF4-FFF2-40B4-BE49-F238E27FC236}">
                <a16:creationId xmlns:a16="http://schemas.microsoft.com/office/drawing/2014/main" id="{0B4CD481-746A-4A5D-A778-F821DAB7EC72}"/>
              </a:ext>
            </a:extLst>
          </p:cNvPr>
          <p:cNvSpPr>
            <a:spLocks noChangeArrowheads="1"/>
          </p:cNvSpPr>
          <p:nvPr/>
        </p:nvSpPr>
        <p:spPr bwMode="auto">
          <a:xfrm>
            <a:off x="259233" y="2569780"/>
            <a:ext cx="3810000" cy="3754820"/>
          </a:xfrm>
          <a:prstGeom prst="rect">
            <a:avLst/>
          </a:prstGeom>
          <a:solidFill>
            <a:schemeClr val="bg1"/>
          </a:solidFill>
          <a:ln w="9525">
            <a:solidFill>
              <a:schemeClr val="tx1"/>
            </a:solidFill>
            <a:miter lim="800000"/>
            <a:headEnd/>
            <a:tailEnd/>
          </a:ln>
        </p:spPr>
        <p:txBody>
          <a:bodyPr rIns="54000"/>
          <a:lstStyle/>
          <a:p>
            <a:pPr marL="228600" lvl="1" indent="-228600" fontAlgn="base">
              <a:spcBef>
                <a:spcPts val="100"/>
              </a:spcBef>
              <a:spcAft>
                <a:spcPts val="100"/>
              </a:spcAft>
              <a:buClr>
                <a:schemeClr val="accent2"/>
              </a:buClr>
              <a:defRPr/>
            </a:pPr>
            <a:r>
              <a:rPr lang="en-US" sz="1000" b="1" dirty="0">
                <a:latin typeface="Calibri" pitchFamily="34" charset="0"/>
              </a:rPr>
              <a:t>SRINIVASA RAO DASARI </a:t>
            </a:r>
            <a:r>
              <a:rPr lang="en-US" sz="1000" dirty="0">
                <a:latin typeface="Calibri" pitchFamily="34" charset="0"/>
              </a:rPr>
              <a:t>has 15 years of experience in the field Data Warehousing and Business Intelligence. He had been involved in: </a:t>
            </a:r>
          </a:p>
          <a:p>
            <a:pPr marL="192088" lvl="2" indent="-188913" algn="just" fontAlgn="base">
              <a:spcBef>
                <a:spcPts val="100"/>
              </a:spcBef>
              <a:spcAft>
                <a:spcPts val="100"/>
              </a:spcAft>
              <a:buClr>
                <a:schemeClr val="accent2"/>
              </a:buClr>
              <a:buFontTx/>
              <a:buChar char="•"/>
              <a:tabLst>
                <a:tab pos="622300" algn="l"/>
              </a:tabLst>
              <a:defRPr/>
            </a:pPr>
            <a:r>
              <a:rPr lang="en-US" sz="1000" dirty="0">
                <a:latin typeface="Calibri" pitchFamily="34" charset="0"/>
                <a:cs typeface="Calibri" pitchFamily="34" charset="0"/>
              </a:rPr>
              <a:t>Managing DWBI Projects as ETL Architect &amp; Project Lead</a:t>
            </a:r>
          </a:p>
          <a:p>
            <a:pPr marL="192088" lvl="2" indent="-188913" algn="just" fontAlgn="base">
              <a:spcBef>
                <a:spcPts val="100"/>
              </a:spcBef>
              <a:spcAft>
                <a:spcPts val="100"/>
              </a:spcAft>
              <a:buClr>
                <a:schemeClr val="accent2"/>
              </a:buClr>
              <a:buFontTx/>
              <a:buChar char="•"/>
              <a:tabLst>
                <a:tab pos="622300" algn="l"/>
              </a:tabLst>
              <a:defRPr/>
            </a:pPr>
            <a:r>
              <a:rPr lang="en-US" sz="1000" dirty="0">
                <a:latin typeface="Calibri" pitchFamily="34" charset="0"/>
                <a:cs typeface="Calibri" pitchFamily="34" charset="0"/>
              </a:rPr>
              <a:t>Responsible for the end-to-end development of the capability</a:t>
            </a:r>
          </a:p>
          <a:p>
            <a:pPr marL="192088" lvl="2" indent="-188913" algn="just" fontAlgn="base">
              <a:spcBef>
                <a:spcPts val="100"/>
              </a:spcBef>
              <a:spcAft>
                <a:spcPts val="100"/>
              </a:spcAft>
              <a:buClr>
                <a:schemeClr val="accent2"/>
              </a:buClr>
              <a:buFontTx/>
              <a:buChar char="•"/>
              <a:tabLst>
                <a:tab pos="622300" algn="l"/>
              </a:tabLst>
              <a:defRPr/>
            </a:pPr>
            <a:r>
              <a:rPr lang="en-US" sz="1000" dirty="0">
                <a:latin typeface="Calibri" pitchFamily="34" charset="0"/>
                <a:cs typeface="Calibri" pitchFamily="34" charset="0"/>
              </a:rPr>
              <a:t>Good experience on various domains like Banking, Insurance, Entertainment &amp; Media, Telecom, Retail and Utility.</a:t>
            </a:r>
          </a:p>
          <a:p>
            <a:pPr marL="192088" lvl="2" indent="-188913" algn="just" fontAlgn="base">
              <a:spcBef>
                <a:spcPts val="100"/>
              </a:spcBef>
              <a:spcAft>
                <a:spcPts val="100"/>
              </a:spcAft>
              <a:buClr>
                <a:schemeClr val="accent2"/>
              </a:buClr>
              <a:buFontTx/>
              <a:buChar char="•"/>
              <a:tabLst>
                <a:tab pos="622300" algn="l"/>
              </a:tabLst>
              <a:defRPr/>
            </a:pPr>
            <a:r>
              <a:rPr lang="en-US" sz="1000" dirty="0">
                <a:latin typeface="Calibri" pitchFamily="34" charset="0"/>
                <a:cs typeface="Calibri" pitchFamily="34" charset="0"/>
              </a:rPr>
              <a:t>Strong Experience in  Data Quality Process Consulting for large engagements operating on the distributed work environment and application outsourcing. </a:t>
            </a:r>
          </a:p>
          <a:p>
            <a:pPr marL="192088" lvl="2" indent="-188913" algn="just" fontAlgn="base">
              <a:spcBef>
                <a:spcPts val="100"/>
              </a:spcBef>
              <a:spcAft>
                <a:spcPts val="100"/>
              </a:spcAft>
              <a:buClr>
                <a:schemeClr val="accent2"/>
              </a:buClr>
              <a:buFontTx/>
              <a:buChar char="•"/>
              <a:tabLst>
                <a:tab pos="622300" algn="l"/>
              </a:tabLst>
              <a:defRPr/>
            </a:pPr>
            <a:r>
              <a:rPr lang="en-US" sz="1000" dirty="0">
                <a:latin typeface="Calibri" pitchFamily="34" charset="0"/>
                <a:cs typeface="Calibri" pitchFamily="34" charset="0"/>
              </a:rPr>
              <a:t>Expert in designing and developing Business Intelligence solutions in Data Quality using ETL tools like Informatica </a:t>
            </a:r>
            <a:r>
              <a:rPr lang="en-US" sz="1000" dirty="0" err="1">
                <a:latin typeface="Calibri" pitchFamily="34" charset="0"/>
                <a:cs typeface="Calibri" pitchFamily="34" charset="0"/>
              </a:rPr>
              <a:t>PowerCenter</a:t>
            </a:r>
            <a:r>
              <a:rPr lang="en-US" sz="1000" dirty="0">
                <a:latin typeface="Calibri" pitchFamily="34" charset="0"/>
                <a:cs typeface="Calibri" pitchFamily="34" charset="0"/>
              </a:rPr>
              <a:t>, IDQ, ILM, Power Exchange, IBM </a:t>
            </a:r>
            <a:r>
              <a:rPr lang="en-US" sz="1000" dirty="0" err="1">
                <a:latin typeface="Calibri" pitchFamily="34" charset="0"/>
                <a:cs typeface="Calibri" pitchFamily="34" charset="0"/>
              </a:rPr>
              <a:t>InfoSphere</a:t>
            </a:r>
            <a:r>
              <a:rPr lang="en-US" sz="1000" dirty="0">
                <a:latin typeface="Calibri" pitchFamily="34" charset="0"/>
                <a:cs typeface="Calibri" pitchFamily="34" charset="0"/>
              </a:rPr>
              <a:t> </a:t>
            </a:r>
            <a:r>
              <a:rPr lang="en-US" sz="1000" dirty="0" err="1">
                <a:latin typeface="Calibri" pitchFamily="34" charset="0"/>
                <a:cs typeface="Calibri" pitchFamily="34" charset="0"/>
              </a:rPr>
              <a:t>DataStage</a:t>
            </a:r>
            <a:r>
              <a:rPr lang="en-US" sz="1000" dirty="0">
                <a:latin typeface="Calibri" pitchFamily="34" charset="0"/>
                <a:cs typeface="Calibri" pitchFamily="34" charset="0"/>
              </a:rPr>
              <a:t> and </a:t>
            </a:r>
            <a:r>
              <a:rPr lang="en-US" sz="1000" dirty="0" err="1">
                <a:latin typeface="Calibri" pitchFamily="34" charset="0"/>
                <a:cs typeface="Calibri" pitchFamily="34" charset="0"/>
              </a:rPr>
              <a:t>QulalityStage</a:t>
            </a:r>
            <a:r>
              <a:rPr lang="en-US" sz="1000" dirty="0">
                <a:latin typeface="Calibri" pitchFamily="34" charset="0"/>
                <a:cs typeface="Calibri" pitchFamily="34" charset="0"/>
              </a:rPr>
              <a:t> 8.5 (Administrator, Designer, Director), </a:t>
            </a:r>
            <a:r>
              <a:rPr lang="en-US" sz="1000" dirty="0" err="1">
                <a:latin typeface="Calibri" pitchFamily="34" charset="0"/>
                <a:cs typeface="Calibri" pitchFamily="34" charset="0"/>
              </a:rPr>
              <a:t>Sql</a:t>
            </a:r>
            <a:r>
              <a:rPr lang="en-US" sz="1000" dirty="0">
                <a:latin typeface="Calibri" pitchFamily="34" charset="0"/>
                <a:cs typeface="Calibri" pitchFamily="34" charset="0"/>
              </a:rPr>
              <a:t> Server Integration Service, Oracle Warehouse Builder 4.0 &amp; Lotus notes Integration</a:t>
            </a:r>
          </a:p>
          <a:p>
            <a:pPr marL="192088" lvl="2" indent="-188913" algn="just">
              <a:spcBef>
                <a:spcPct val="40000"/>
              </a:spcBef>
              <a:tabLst>
                <a:tab pos="622300" algn="l"/>
              </a:tabLst>
            </a:pPr>
            <a:r>
              <a:rPr lang="en-US" sz="1000" b="1" u="sng" dirty="0">
                <a:latin typeface="Calibri" pitchFamily="34" charset="0"/>
                <a:cs typeface="Calibri" pitchFamily="34" charset="0"/>
              </a:rPr>
              <a:t>Education: </a:t>
            </a:r>
          </a:p>
          <a:p>
            <a:pPr marL="192088" lvl="2" indent="-188913" algn="just">
              <a:buFontTx/>
              <a:buChar char="•"/>
              <a:tabLst>
                <a:tab pos="622300" algn="l"/>
              </a:tabLst>
            </a:pPr>
            <a:r>
              <a:rPr lang="en-US" sz="1000" dirty="0">
                <a:latin typeface="Calibri" pitchFamily="34" charset="0"/>
                <a:cs typeface="Calibri" pitchFamily="34" charset="0"/>
              </a:rPr>
              <a:t>Master of Computer Applications</a:t>
            </a:r>
          </a:p>
          <a:p>
            <a:pPr marL="192088" lvl="2" indent="-188913" algn="just">
              <a:buFontTx/>
              <a:buChar char="•"/>
              <a:tabLst>
                <a:tab pos="622300" algn="l"/>
              </a:tabLst>
            </a:pPr>
            <a:r>
              <a:rPr lang="en-US" sz="1000" dirty="0">
                <a:latin typeface="Calibri" pitchFamily="34" charset="0"/>
                <a:cs typeface="Calibri" pitchFamily="34" charset="0"/>
              </a:rPr>
              <a:t>Master of Business Administration (HRM)</a:t>
            </a:r>
          </a:p>
          <a:p>
            <a:pPr marL="192088" lvl="2" indent="-188913" algn="just">
              <a:tabLst>
                <a:tab pos="622300" algn="l"/>
              </a:tabLst>
            </a:pPr>
            <a:r>
              <a:rPr lang="en-US" sz="1000" b="1" u="sng" dirty="0">
                <a:latin typeface="Calibri" pitchFamily="34" charset="0"/>
                <a:cs typeface="Calibri" pitchFamily="34" charset="0"/>
              </a:rPr>
              <a:t>Certificates</a:t>
            </a:r>
          </a:p>
          <a:p>
            <a:pPr marL="192088" lvl="2" indent="-188913" algn="just">
              <a:buFontTx/>
              <a:buChar char="•"/>
              <a:tabLst>
                <a:tab pos="622300" algn="l"/>
              </a:tabLst>
            </a:pPr>
            <a:r>
              <a:rPr lang="en-US" sz="1000" dirty="0">
                <a:latin typeface="Calibri" pitchFamily="34" charset="0"/>
                <a:cs typeface="Calibri" pitchFamily="34" charset="0"/>
              </a:rPr>
              <a:t>Certified Steward from Collibra Data Governance</a:t>
            </a:r>
          </a:p>
          <a:p>
            <a:pPr marL="192088" lvl="2" indent="-188913" algn="just">
              <a:buFontTx/>
              <a:buChar char="•"/>
              <a:tabLst>
                <a:tab pos="622300" algn="l"/>
              </a:tabLst>
            </a:pPr>
            <a:r>
              <a:rPr lang="en-US" sz="1000" dirty="0">
                <a:latin typeface="Calibri" pitchFamily="34" charset="0"/>
                <a:cs typeface="Calibri" pitchFamily="34" charset="0"/>
              </a:rPr>
              <a:t>Certified Community Manager from Collibra Data Governance</a:t>
            </a:r>
          </a:p>
          <a:p>
            <a:pPr marL="192088" lvl="2" indent="-188913" algn="just">
              <a:buFontTx/>
              <a:buChar char="•"/>
              <a:tabLst>
                <a:tab pos="622300" algn="l"/>
              </a:tabLst>
            </a:pPr>
            <a:r>
              <a:rPr lang="en-US" sz="1000" dirty="0">
                <a:latin typeface="Calibri" pitchFamily="34" charset="0"/>
                <a:cs typeface="Calibri" pitchFamily="34" charset="0"/>
              </a:rPr>
              <a:t>Certified Platform Administrator from Collibra Data Governance</a:t>
            </a:r>
          </a:p>
          <a:p>
            <a:pPr marL="192088" lvl="2" indent="-188913" algn="just">
              <a:buFontTx/>
              <a:buChar char="•"/>
              <a:tabLst>
                <a:tab pos="622300" algn="l"/>
              </a:tabLst>
            </a:pPr>
            <a:r>
              <a:rPr lang="en-US" sz="1000" dirty="0">
                <a:latin typeface="Calibri" pitchFamily="34" charset="0"/>
                <a:cs typeface="Calibri" pitchFamily="34" charset="0"/>
              </a:rPr>
              <a:t>Certified Developer from Collibra Data Governance</a:t>
            </a:r>
          </a:p>
          <a:p>
            <a:pPr marL="192088" lvl="2" indent="-188913" algn="just">
              <a:buFontTx/>
              <a:buChar char="•"/>
              <a:tabLst>
                <a:tab pos="622300" algn="l"/>
              </a:tabLst>
            </a:pPr>
            <a:r>
              <a:rPr lang="en-US" sz="1050" dirty="0">
                <a:latin typeface="Calibri" pitchFamily="34" charset="0"/>
                <a:cs typeface="Calibri" pitchFamily="34" charset="0"/>
              </a:rPr>
              <a:t>Certified Developer  </a:t>
            </a:r>
            <a:r>
              <a:rPr lang="en-US" sz="1050" dirty="0" err="1">
                <a:latin typeface="Calibri" pitchFamily="34" charset="0"/>
                <a:cs typeface="Calibri" pitchFamily="34" charset="0"/>
              </a:rPr>
              <a:t>Informatica</a:t>
            </a:r>
            <a:r>
              <a:rPr lang="en-US" sz="1050" dirty="0">
                <a:latin typeface="Calibri" pitchFamily="34" charset="0"/>
                <a:cs typeface="Calibri" pitchFamily="34" charset="0"/>
              </a:rPr>
              <a:t>  Power Center</a:t>
            </a:r>
          </a:p>
          <a:p>
            <a:pPr marL="3175" lvl="2" algn="just">
              <a:tabLst>
                <a:tab pos="622300" algn="l"/>
              </a:tabLst>
            </a:pPr>
            <a:endParaRPr lang="en-US" sz="1050" dirty="0">
              <a:latin typeface="Calibri" pitchFamily="34" charset="0"/>
              <a:cs typeface="Calibri" pitchFamily="34" charset="0"/>
            </a:endParaRPr>
          </a:p>
          <a:p>
            <a:pPr marL="192088" lvl="2" indent="-188913">
              <a:spcBef>
                <a:spcPct val="40000"/>
              </a:spcBef>
              <a:tabLst>
                <a:tab pos="622300" algn="l"/>
              </a:tabLst>
            </a:pPr>
            <a:endParaRPr lang="en-US" sz="1200" dirty="0">
              <a:latin typeface="Calibri" pitchFamily="34" charset="0"/>
              <a:cs typeface="Calibri" pitchFamily="34" charset="0"/>
            </a:endParaRPr>
          </a:p>
        </p:txBody>
      </p:sp>
      <p:sp>
        <p:nvSpPr>
          <p:cNvPr id="9" name="Rectangle 6">
            <a:extLst>
              <a:ext uri="{FF2B5EF4-FFF2-40B4-BE49-F238E27FC236}">
                <a16:creationId xmlns:a16="http://schemas.microsoft.com/office/drawing/2014/main" id="{830FE74A-5836-4B71-825C-8C6A0982B888}"/>
              </a:ext>
            </a:extLst>
          </p:cNvPr>
          <p:cNvSpPr>
            <a:spLocks noChangeArrowheads="1"/>
          </p:cNvSpPr>
          <p:nvPr/>
        </p:nvSpPr>
        <p:spPr bwMode="auto">
          <a:xfrm>
            <a:off x="1527698" y="1970690"/>
            <a:ext cx="1006475" cy="274320"/>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Practice	</a:t>
            </a:r>
          </a:p>
        </p:txBody>
      </p:sp>
      <p:sp>
        <p:nvSpPr>
          <p:cNvPr id="10" name="Rectangle 7">
            <a:extLst>
              <a:ext uri="{FF2B5EF4-FFF2-40B4-BE49-F238E27FC236}">
                <a16:creationId xmlns:a16="http://schemas.microsoft.com/office/drawing/2014/main" id="{9063A384-B46B-4A6B-8BA9-0C2467B01B00}"/>
              </a:ext>
            </a:extLst>
          </p:cNvPr>
          <p:cNvSpPr>
            <a:spLocks noChangeArrowheads="1"/>
          </p:cNvSpPr>
          <p:nvPr/>
        </p:nvSpPr>
        <p:spPr bwMode="auto">
          <a:xfrm>
            <a:off x="4142168" y="1387930"/>
            <a:ext cx="4897438" cy="4950906"/>
          </a:xfrm>
          <a:prstGeom prst="rect">
            <a:avLst/>
          </a:prstGeom>
          <a:solidFill>
            <a:schemeClr val="bg1"/>
          </a:solidFill>
          <a:ln w="9525">
            <a:solidFill>
              <a:schemeClr val="tx1"/>
            </a:solidFill>
            <a:miter lim="800000"/>
            <a:headEnd/>
            <a:tailEnd/>
          </a:ln>
        </p:spPr>
        <p:txBody>
          <a:bodyPr rIns="54000"/>
          <a:lstStyle/>
          <a:p>
            <a:pPr marL="117475" lvl="2" indent="-117475" algn="just">
              <a:buClr>
                <a:schemeClr val="accent2"/>
              </a:buClr>
              <a:buFont typeface="Arial" pitchFamily="34" charset="0"/>
              <a:buChar char="•"/>
              <a:tabLst>
                <a:tab pos="622300" algn="l"/>
              </a:tabLst>
              <a:defRPr/>
            </a:pPr>
            <a:endParaRPr lang="en-US" altLang="ja-JP" sz="1050" b="1" dirty="0">
              <a:solidFill>
                <a:prstClr val="black"/>
              </a:solidFill>
              <a:cs typeface="Arial" charset="0"/>
            </a:endParaRPr>
          </a:p>
          <a:p>
            <a:pPr marL="117475" lvl="2" indent="-117475" algn="just">
              <a:buClr>
                <a:schemeClr val="accent2"/>
              </a:buClr>
              <a:buFont typeface="Arial" pitchFamily="34" charset="0"/>
              <a:buChar char="•"/>
              <a:tabLst>
                <a:tab pos="622300" algn="l"/>
              </a:tabLst>
              <a:defRPr/>
            </a:pPr>
            <a:r>
              <a:rPr lang="en-US" altLang="ja-JP" sz="1050" b="1" dirty="0">
                <a:solidFill>
                  <a:prstClr val="black"/>
                </a:solidFill>
                <a:cs typeface="Arial" charset="0"/>
              </a:rPr>
              <a:t>Barclays DBM – Data Quality Lead – UK</a:t>
            </a:r>
          </a:p>
          <a:p>
            <a:pPr marL="117475" lvl="2" indent="-117475" algn="just">
              <a:buClr>
                <a:schemeClr val="accent2"/>
              </a:buClr>
              <a:tabLst>
                <a:tab pos="622300" algn="l"/>
              </a:tabLst>
              <a:defRPr/>
            </a:pPr>
            <a:r>
              <a:rPr lang="en-US" altLang="ja-JP" sz="1100" dirty="0">
                <a:latin typeface="Calibri" pitchFamily="34" charset="0"/>
                <a:cs typeface="Calibri" pitchFamily="34" charset="0"/>
              </a:rPr>
              <a:t>    Srinivasa is responsible for interacting with Business users and understand the data requirements and develop insights and translates them into data structures and data model requirements. He involved in implementing the Data Validation &amp; Reconciliation. He lead a team of 12 members from offshore Pune.</a:t>
            </a:r>
          </a:p>
          <a:p>
            <a:pPr marL="117475" lvl="2" indent="-117475" algn="just">
              <a:buClr>
                <a:schemeClr val="accent2"/>
              </a:buClr>
              <a:buFont typeface="Arial" pitchFamily="34" charset="0"/>
              <a:buChar char="•"/>
              <a:tabLst>
                <a:tab pos="622300" algn="l"/>
              </a:tabLst>
              <a:defRPr/>
            </a:pPr>
            <a:r>
              <a:rPr lang="en-US" altLang="ja-JP" sz="1050" b="1" dirty="0">
                <a:solidFill>
                  <a:prstClr val="black"/>
                </a:solidFill>
                <a:cs typeface="Arial" charset="0"/>
              </a:rPr>
              <a:t>BNY Mellon – Data Quality Lead – Chicago, USA</a:t>
            </a:r>
          </a:p>
          <a:p>
            <a:pPr marL="117475" lvl="2" indent="-117475" algn="just">
              <a:buClr>
                <a:schemeClr val="accent2"/>
              </a:buClr>
              <a:tabLst>
                <a:tab pos="622300" algn="l"/>
              </a:tabLst>
              <a:defRPr/>
            </a:pPr>
            <a:r>
              <a:rPr lang="en-US" altLang="ja-JP" sz="1100" dirty="0">
                <a:latin typeface="Calibri" pitchFamily="34" charset="0"/>
                <a:cs typeface="Calibri" pitchFamily="34" charset="0"/>
              </a:rPr>
              <a:t>	Srinivasa was responsible for understand the Business implications and create Business cases and develop Roadmap for Party/ Account Master Data Model/ Architecture integrated with the enterprise data ecosystem. He involved in DQ solution. Main focus on Data accuracy, Completeness, Validity, Integration &amp; Other Quality dimensions. Provide a picture of key gaps, their root cause and priority for resolution.  He led a team of 4 members from offshore Pune.</a:t>
            </a:r>
          </a:p>
          <a:p>
            <a:pPr marL="117475" lvl="2" indent="-117475" algn="just">
              <a:buClr>
                <a:schemeClr val="accent2"/>
              </a:buClr>
              <a:buFont typeface="Arial" pitchFamily="34" charset="0"/>
              <a:buChar char="•"/>
              <a:tabLst>
                <a:tab pos="622300" algn="l"/>
              </a:tabLst>
              <a:defRPr/>
            </a:pPr>
            <a:r>
              <a:rPr lang="en-US" altLang="ja-JP" sz="1050" b="1" dirty="0">
                <a:solidFill>
                  <a:prstClr val="black"/>
                </a:solidFill>
                <a:cs typeface="Arial" charset="0"/>
              </a:rPr>
              <a:t>Barclays ABSA – Data Quality Lead – Johannesburg, South Africa</a:t>
            </a:r>
          </a:p>
          <a:p>
            <a:pPr marL="117475" lvl="2" indent="-117475" algn="just">
              <a:buClr>
                <a:schemeClr val="accent2"/>
              </a:buClr>
              <a:tabLst>
                <a:tab pos="622300" algn="l"/>
              </a:tabLst>
              <a:defRPr/>
            </a:pPr>
            <a:r>
              <a:rPr lang="en-US" altLang="ja-JP" sz="1050" b="1" dirty="0">
                <a:solidFill>
                  <a:prstClr val="black"/>
                </a:solidFill>
                <a:latin typeface="Calibri" pitchFamily="34" charset="0"/>
                <a:cs typeface="Arial" charset="0"/>
              </a:rPr>
              <a:t>	</a:t>
            </a:r>
            <a:r>
              <a:rPr lang="en-US" altLang="ja-JP" sz="1100" dirty="0">
                <a:latin typeface="Calibri" pitchFamily="34" charset="0"/>
                <a:cs typeface="Calibri" pitchFamily="34" charset="0"/>
              </a:rPr>
              <a:t>Srinivasa was responsible Data Quality Project Lead, Onsite Johannesburg. </a:t>
            </a:r>
            <a:r>
              <a:rPr lang="en-US" sz="1100" dirty="0">
                <a:latin typeface="Calibri" pitchFamily="34" charset="0"/>
                <a:cs typeface="Calibri" pitchFamily="34" charset="0"/>
              </a:rPr>
              <a:t>He led a team of 6 members. He was involved in the  DQ solution design &amp; implementation. He involved in analysis of the requirement, defining DQ rules and executing the DQ engine for improving the data quality at different check points.</a:t>
            </a:r>
          </a:p>
          <a:p>
            <a:pPr marL="117475" lvl="2" indent="-117475" algn="just">
              <a:buClr>
                <a:schemeClr val="accent2"/>
              </a:buClr>
              <a:buFont typeface="Arial" pitchFamily="34" charset="0"/>
              <a:buChar char="•"/>
              <a:tabLst>
                <a:tab pos="622300" algn="l"/>
              </a:tabLst>
              <a:defRPr/>
            </a:pPr>
            <a:r>
              <a:rPr lang="en-US" altLang="ja-JP" sz="1050" b="1" dirty="0">
                <a:solidFill>
                  <a:prstClr val="black"/>
                </a:solidFill>
                <a:cs typeface="Arial" charset="0"/>
              </a:rPr>
              <a:t>CNA Insurance – ETL Lead -  Chicago, USA</a:t>
            </a:r>
          </a:p>
          <a:p>
            <a:pPr marL="117475" lvl="2" indent="-117475" algn="just">
              <a:buClr>
                <a:schemeClr val="accent2"/>
              </a:buClr>
              <a:tabLst>
                <a:tab pos="622300" algn="l"/>
              </a:tabLst>
              <a:defRPr/>
            </a:pPr>
            <a:r>
              <a:rPr lang="en-US" altLang="ja-JP" sz="1100" dirty="0">
                <a:latin typeface="Calibri" pitchFamily="34" charset="0"/>
                <a:cs typeface="Calibri" pitchFamily="34" charset="0"/>
              </a:rPr>
              <a:t>	Srinivasa was responsible as ETL lead for CNA Insurance ProMIS project.  As a SME he is lead the implementation and data migration of Professional Liabilities. Design all program specifications,  administer all request and analyze the issues and provide effective solutions. </a:t>
            </a:r>
          </a:p>
          <a:p>
            <a:pPr marL="117475" lvl="2" indent="-117475" algn="just">
              <a:buClr>
                <a:schemeClr val="accent2"/>
              </a:buClr>
              <a:buFont typeface="Arial" pitchFamily="34" charset="0"/>
              <a:buChar char="•"/>
              <a:tabLst>
                <a:tab pos="622300" algn="l"/>
              </a:tabLst>
              <a:defRPr/>
            </a:pPr>
            <a:r>
              <a:rPr lang="en-US" altLang="ja-JP" sz="1050" b="1" dirty="0">
                <a:solidFill>
                  <a:prstClr val="black"/>
                </a:solidFill>
                <a:cs typeface="Arial" charset="0"/>
              </a:rPr>
              <a:t>Fox Home Entertainment – Project Lead – Los Angeles, USA</a:t>
            </a:r>
          </a:p>
          <a:p>
            <a:pPr marL="192088" lvl="2" indent="-188913">
              <a:buClr>
                <a:schemeClr val="tx1"/>
              </a:buClr>
              <a:tabLst>
                <a:tab pos="622300" algn="l"/>
              </a:tabLst>
              <a:defRPr/>
            </a:pPr>
            <a:r>
              <a:rPr lang="en-US" sz="1100" dirty="0">
                <a:latin typeface="Calibri" pitchFamily="34" charset="0"/>
                <a:cs typeface="Calibri" pitchFamily="34" charset="0"/>
              </a:rPr>
              <a:t>	Srinivasa was responsible as Project Lead. He visited Client location and acquire the  System Knowledge and executed the project from offshore. He lead a team of 30 members. He involved in Change the Business &amp; Run the Business activities.</a:t>
            </a:r>
          </a:p>
        </p:txBody>
      </p:sp>
      <p:sp>
        <p:nvSpPr>
          <p:cNvPr id="11" name="Rectangle 8">
            <a:extLst>
              <a:ext uri="{FF2B5EF4-FFF2-40B4-BE49-F238E27FC236}">
                <a16:creationId xmlns:a16="http://schemas.microsoft.com/office/drawing/2014/main" id="{9111AB1F-293D-4AD7-976A-ED20805ABB8D}"/>
              </a:ext>
            </a:extLst>
          </p:cNvPr>
          <p:cNvSpPr>
            <a:spLocks noChangeArrowheads="1"/>
          </p:cNvSpPr>
          <p:nvPr/>
        </p:nvSpPr>
        <p:spPr bwMode="auto">
          <a:xfrm>
            <a:off x="1527698" y="1665890"/>
            <a:ext cx="1006475" cy="274320"/>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a:latin typeface="Calibri" pitchFamily="34" charset="0"/>
                <a:cs typeface="Calibri" pitchFamily="34" charset="0"/>
              </a:rPr>
              <a:t>Nationality</a:t>
            </a:r>
          </a:p>
        </p:txBody>
      </p:sp>
      <p:sp>
        <p:nvSpPr>
          <p:cNvPr id="12" name="Rectangle 10">
            <a:extLst>
              <a:ext uri="{FF2B5EF4-FFF2-40B4-BE49-F238E27FC236}">
                <a16:creationId xmlns:a16="http://schemas.microsoft.com/office/drawing/2014/main" id="{7316F989-5A31-40A3-993D-85BF2CE3AA54}"/>
              </a:ext>
            </a:extLst>
          </p:cNvPr>
          <p:cNvSpPr>
            <a:spLocks noChangeArrowheads="1"/>
          </p:cNvSpPr>
          <p:nvPr/>
        </p:nvSpPr>
        <p:spPr bwMode="auto">
          <a:xfrm>
            <a:off x="1527698" y="1056290"/>
            <a:ext cx="1006475" cy="274320"/>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Name</a:t>
            </a:r>
          </a:p>
        </p:txBody>
      </p:sp>
      <p:sp>
        <p:nvSpPr>
          <p:cNvPr id="13" name="Rectangle 11">
            <a:extLst>
              <a:ext uri="{FF2B5EF4-FFF2-40B4-BE49-F238E27FC236}">
                <a16:creationId xmlns:a16="http://schemas.microsoft.com/office/drawing/2014/main" id="{E66A3BF0-A26B-4B46-B443-4408F5A7370F}"/>
              </a:ext>
            </a:extLst>
          </p:cNvPr>
          <p:cNvSpPr>
            <a:spLocks noChangeArrowheads="1"/>
          </p:cNvSpPr>
          <p:nvPr/>
        </p:nvSpPr>
        <p:spPr bwMode="auto">
          <a:xfrm>
            <a:off x="2607873" y="1972902"/>
            <a:ext cx="1463040" cy="274320"/>
          </a:xfrm>
          <a:prstGeom prst="rect">
            <a:avLst/>
          </a:prstGeom>
          <a:solidFill>
            <a:schemeClr val="bg1"/>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I&amp;D Practice</a:t>
            </a:r>
          </a:p>
        </p:txBody>
      </p:sp>
      <p:sp>
        <p:nvSpPr>
          <p:cNvPr id="14" name="Rectangle 12">
            <a:extLst>
              <a:ext uri="{FF2B5EF4-FFF2-40B4-BE49-F238E27FC236}">
                <a16:creationId xmlns:a16="http://schemas.microsoft.com/office/drawing/2014/main" id="{37E73B45-ECBF-4664-8F39-BA941C19FF1A}"/>
              </a:ext>
            </a:extLst>
          </p:cNvPr>
          <p:cNvSpPr>
            <a:spLocks noChangeArrowheads="1"/>
          </p:cNvSpPr>
          <p:nvPr/>
        </p:nvSpPr>
        <p:spPr bwMode="auto">
          <a:xfrm>
            <a:off x="2607873" y="1667364"/>
            <a:ext cx="1463040" cy="274320"/>
          </a:xfrm>
          <a:prstGeom prst="rect">
            <a:avLst/>
          </a:prstGeom>
          <a:solidFill>
            <a:schemeClr val="bg1"/>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Indian</a:t>
            </a:r>
          </a:p>
        </p:txBody>
      </p:sp>
      <p:sp>
        <p:nvSpPr>
          <p:cNvPr id="15" name="Rectangle 14">
            <a:extLst>
              <a:ext uri="{FF2B5EF4-FFF2-40B4-BE49-F238E27FC236}">
                <a16:creationId xmlns:a16="http://schemas.microsoft.com/office/drawing/2014/main" id="{26276D9A-7B6D-4FDB-BEE2-86B28298EBFD}"/>
              </a:ext>
            </a:extLst>
          </p:cNvPr>
          <p:cNvSpPr>
            <a:spLocks noChangeArrowheads="1"/>
          </p:cNvSpPr>
          <p:nvPr/>
        </p:nvSpPr>
        <p:spPr bwMode="auto">
          <a:xfrm>
            <a:off x="2607873" y="1056290"/>
            <a:ext cx="1463040" cy="274320"/>
          </a:xfrm>
          <a:prstGeom prst="rect">
            <a:avLst/>
          </a:prstGeom>
          <a:solidFill>
            <a:schemeClr val="bg1"/>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Srinivasa </a:t>
            </a:r>
            <a:r>
              <a:rPr lang="en-US" sz="1200" b="1" dirty="0" err="1">
                <a:latin typeface="Calibri" pitchFamily="34" charset="0"/>
                <a:cs typeface="Calibri" pitchFamily="34" charset="0"/>
              </a:rPr>
              <a:t>Rao</a:t>
            </a:r>
            <a:r>
              <a:rPr lang="en-US" sz="1200" b="1" dirty="0">
                <a:latin typeface="Calibri" pitchFamily="34" charset="0"/>
                <a:cs typeface="Calibri" pitchFamily="34" charset="0"/>
              </a:rPr>
              <a:t> Dasari</a:t>
            </a:r>
          </a:p>
        </p:txBody>
      </p:sp>
      <p:sp>
        <p:nvSpPr>
          <p:cNvPr id="16" name="Rectangle 15">
            <a:extLst>
              <a:ext uri="{FF2B5EF4-FFF2-40B4-BE49-F238E27FC236}">
                <a16:creationId xmlns:a16="http://schemas.microsoft.com/office/drawing/2014/main" id="{1CE35DCE-2F74-467E-813A-F8A56273C424}"/>
              </a:ext>
            </a:extLst>
          </p:cNvPr>
          <p:cNvSpPr>
            <a:spLocks noChangeArrowheads="1"/>
          </p:cNvSpPr>
          <p:nvPr/>
        </p:nvSpPr>
        <p:spPr bwMode="auto">
          <a:xfrm>
            <a:off x="4142168" y="1110400"/>
            <a:ext cx="4897438" cy="287338"/>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pPr>
            <a:r>
              <a:rPr lang="en-US" sz="1200" b="1" dirty="0">
                <a:latin typeface="Calibri" pitchFamily="34" charset="0"/>
                <a:cs typeface="Calibri" pitchFamily="34" charset="0"/>
              </a:rPr>
              <a:t>Project Experience</a:t>
            </a:r>
          </a:p>
        </p:txBody>
      </p:sp>
      <p:sp>
        <p:nvSpPr>
          <p:cNvPr id="17" name="Rectangle 8">
            <a:extLst>
              <a:ext uri="{FF2B5EF4-FFF2-40B4-BE49-F238E27FC236}">
                <a16:creationId xmlns:a16="http://schemas.microsoft.com/office/drawing/2014/main" id="{F1012D1B-C86D-4537-B5C6-97D5A7232355}"/>
              </a:ext>
            </a:extLst>
          </p:cNvPr>
          <p:cNvSpPr>
            <a:spLocks noChangeArrowheads="1"/>
          </p:cNvSpPr>
          <p:nvPr/>
        </p:nvSpPr>
        <p:spPr bwMode="auto">
          <a:xfrm>
            <a:off x="1527698" y="1361090"/>
            <a:ext cx="1006475" cy="274320"/>
          </a:xfrm>
          <a:prstGeom prst="rect">
            <a:avLst/>
          </a:prstGeom>
          <a:solidFill>
            <a:srgbClr val="00B0F0"/>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Role	</a:t>
            </a:r>
          </a:p>
        </p:txBody>
      </p:sp>
      <p:sp>
        <p:nvSpPr>
          <p:cNvPr id="18" name="Rectangle 12">
            <a:extLst>
              <a:ext uri="{FF2B5EF4-FFF2-40B4-BE49-F238E27FC236}">
                <a16:creationId xmlns:a16="http://schemas.microsoft.com/office/drawing/2014/main" id="{3BB36A0E-908D-4253-B376-A1AD0466E2EE}"/>
              </a:ext>
            </a:extLst>
          </p:cNvPr>
          <p:cNvSpPr>
            <a:spLocks noChangeArrowheads="1"/>
          </p:cNvSpPr>
          <p:nvPr/>
        </p:nvSpPr>
        <p:spPr bwMode="auto">
          <a:xfrm>
            <a:off x="2607873" y="1361827"/>
            <a:ext cx="1463040" cy="274320"/>
          </a:xfrm>
          <a:prstGeom prst="rect">
            <a:avLst/>
          </a:prstGeom>
          <a:solidFill>
            <a:schemeClr val="bg1"/>
          </a:solidFill>
          <a:ln w="9525">
            <a:solidFill>
              <a:schemeClr val="tx1"/>
            </a:solidFill>
            <a:miter lim="800000"/>
            <a:headEnd/>
            <a:tailEnd/>
          </a:ln>
        </p:spPr>
        <p:txBody>
          <a:bodyPr wrap="none" lIns="90000" tIns="46800" rIns="90000" bIns="46800" anchor="ctr"/>
          <a:lstStyle/>
          <a:p>
            <a:pPr eaLnBrk="0" hangingPunct="0">
              <a:spcBef>
                <a:spcPct val="40000"/>
              </a:spcBef>
              <a:tabLst>
                <a:tab pos="6464300" algn="r"/>
              </a:tabLst>
              <a:defRPr/>
            </a:pPr>
            <a:r>
              <a:rPr lang="en-US" sz="1200" b="1" dirty="0">
                <a:latin typeface="Calibri" pitchFamily="34" charset="0"/>
                <a:cs typeface="Calibri" pitchFamily="34" charset="0"/>
              </a:rPr>
              <a:t>Data Quality Lead</a:t>
            </a:r>
          </a:p>
        </p:txBody>
      </p:sp>
      <p:pic>
        <p:nvPicPr>
          <p:cNvPr id="22" name="Picture 21">
            <a:extLst>
              <a:ext uri="{FF2B5EF4-FFF2-40B4-BE49-F238E27FC236}">
                <a16:creationId xmlns:a16="http://schemas.microsoft.com/office/drawing/2014/main" id="{813EF8A6-3CA7-4189-93EA-282F093560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1223" y="1049143"/>
            <a:ext cx="1006475" cy="1172533"/>
          </a:xfrm>
          <a:prstGeom prst="rect">
            <a:avLst/>
          </a:prstGeom>
        </p:spPr>
      </p:pic>
    </p:spTree>
    <p:extLst>
      <p:ext uri="{BB962C8B-B14F-4D97-AF65-F5344CB8AC3E}">
        <p14:creationId xmlns:p14="http://schemas.microsoft.com/office/powerpoint/2010/main" val="2307697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5"/>
          <p:cNvSpPr txBox="1">
            <a:spLocks noChangeArrowheads="1"/>
          </p:cNvSpPr>
          <p:nvPr/>
        </p:nvSpPr>
        <p:spPr bwMode="auto">
          <a:xfrm>
            <a:off x="2658357" y="2718890"/>
            <a:ext cx="3894843" cy="938710"/>
          </a:xfrm>
          <a:prstGeom prst="rect">
            <a:avLst/>
          </a:prstGeom>
          <a:noFill/>
          <a:ln w="12700">
            <a:noFill/>
            <a:miter lim="800000"/>
            <a:headEnd/>
            <a:tailEnd/>
          </a:ln>
          <a:effectLst>
            <a:prstShdw prst="shdw17" dist="17961" dir="2700000">
              <a:schemeClr val="accent1">
                <a:gamma/>
                <a:shade val="60000"/>
                <a:invGamma/>
              </a:schemeClr>
            </a:prstShdw>
          </a:effectLst>
        </p:spPr>
        <p:txBody>
          <a:bodyPr wrap="square" lIns="91430" tIns="45716" rIns="91430" bIns="45716">
            <a:spAutoFit/>
          </a:bodyPr>
          <a:lstStyle/>
          <a:p>
            <a:pPr>
              <a:defRPr/>
            </a:pPr>
            <a:r>
              <a:rPr lang="en-US" sz="5500" dirty="0">
                <a:solidFill>
                  <a:srgbClr val="00B0F0"/>
                </a:solidFill>
                <a:latin typeface="Monotype Corsiva" pitchFamily="66" charset="0"/>
              </a:rPr>
              <a:t>Thank You!</a:t>
            </a:r>
          </a:p>
        </p:txBody>
      </p:sp>
    </p:spTree>
    <p:extLst>
      <p:ext uri="{BB962C8B-B14F-4D97-AF65-F5344CB8AC3E}">
        <p14:creationId xmlns:p14="http://schemas.microsoft.com/office/powerpoint/2010/main" val="42888836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2F27FA532E1440BBB216045CCA2436" ma:contentTypeVersion="0" ma:contentTypeDescription="Create a new document." ma:contentTypeScope="" ma:versionID="3ba8609c7665c84a77543b3bac825d5f">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A9FC01-6108-4C10-935C-A22E44F3E4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534EC633-1627-4A60-A2BF-2426CB35E7A3}">
  <ds:schemaRefs>
    <ds:schemaRef ds:uri="http://schemas.microsoft.com/sharepoint/v3/contenttype/forms"/>
  </ds:schemaRefs>
</ds:datastoreItem>
</file>

<file path=customXml/itemProps3.xml><?xml version="1.0" encoding="utf-8"?>
<ds:datastoreItem xmlns:ds="http://schemas.openxmlformats.org/officeDocument/2006/customXml" ds:itemID="{AC8A0C4F-596F-49FD-B18B-0ACB1AC42ADE}">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23236</TotalTime>
  <Words>2685</Words>
  <Application>Microsoft Office PowerPoint</Application>
  <PresentationFormat>On-screen Show (4:3)</PresentationFormat>
  <Paragraphs>462</Paragraphs>
  <Slides>10</Slides>
  <Notes>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10</vt:i4>
      </vt:variant>
    </vt:vector>
  </HeadingPairs>
  <TitlesOfParts>
    <vt:vector size="21" baseType="lpstr">
      <vt:lpstr>ＭＳ Ｐゴシック</vt:lpstr>
      <vt:lpstr>Arial</vt:lpstr>
      <vt:lpstr>Arial Black</vt:lpstr>
      <vt:lpstr>Calibri</vt:lpstr>
      <vt:lpstr>Candara</vt:lpstr>
      <vt:lpstr>Georgia</vt:lpstr>
      <vt:lpstr>Monotype Corsiva</vt:lpstr>
      <vt:lpstr>Wingdings</vt:lpstr>
      <vt:lpstr>Wingdings 3</vt:lpstr>
      <vt:lpstr>Office Theme</vt:lpstr>
      <vt:lpstr>1_Office Theme</vt:lpstr>
      <vt:lpstr>PowerPoint Presentation</vt:lpstr>
      <vt:lpstr>Summary</vt:lpstr>
      <vt:lpstr>High Level Data Flow</vt:lpstr>
      <vt:lpstr>RDC Screening and Ingestion(Current RDC process to be continued in future)</vt:lpstr>
      <vt:lpstr>KYC Data Interface</vt:lpstr>
      <vt:lpstr>Alert Generation Process (AGP) Layout</vt:lpstr>
      <vt:lpstr>Data Quality</vt:lpstr>
      <vt:lpstr>Data Quality Management</vt:lpstr>
      <vt:lpstr>Srinivasa Dasari Data Quality Lead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P Thulaseedharan</dc:creator>
  <cp:lastModifiedBy>Namasivayam, Manivasagan</cp:lastModifiedBy>
  <cp:revision>756</cp:revision>
  <dcterms:created xsi:type="dcterms:W3CDTF">2014-04-28T11:21:39Z</dcterms:created>
  <dcterms:modified xsi:type="dcterms:W3CDTF">2019-01-10T03:35:30Z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0x010100AF2F27FA532E1440BBB216045CCA2436</vt:lpwstr>
  </property>
</Properties>
</file>