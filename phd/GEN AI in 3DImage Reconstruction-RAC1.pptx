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817" r:id="rId1"/>
  </p:sldMasterIdLst>
  <p:notesMasterIdLst>
    <p:notesMasterId r:id="rId16"/>
  </p:notesMasterIdLst>
  <p:sldIdLst>
    <p:sldId id="501" r:id="rId2"/>
    <p:sldId id="499" r:id="rId3"/>
    <p:sldId id="543" r:id="rId4"/>
    <p:sldId id="545" r:id="rId5"/>
    <p:sldId id="546" r:id="rId6"/>
    <p:sldId id="547" r:id="rId7"/>
    <p:sldId id="549" r:id="rId8"/>
    <p:sldId id="548" r:id="rId9"/>
    <p:sldId id="550" r:id="rId10"/>
    <p:sldId id="551" r:id="rId11"/>
    <p:sldId id="552" r:id="rId12"/>
    <p:sldId id="553" r:id="rId13"/>
    <p:sldId id="554" r:id="rId14"/>
    <p:sldId id="542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7DCC23-05EB-614C-BD60-BA70E7ABB529}" v="2" dt="2024-07-25T08:59:40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jitha P -Asst.Prof-CSE" userId="S::ranjitha.p@presidencyuniversity.in::ff8fab2c-d138-4ef6-8656-e3bca9f8cc15" providerId="AD" clId="Web-{CE7DCC23-05EB-614C-BD60-BA70E7ABB529}"/>
    <pc:docChg chg="addSld delSld">
      <pc:chgData name="Ranjitha P -Asst.Prof-CSE" userId="S::ranjitha.p@presidencyuniversity.in::ff8fab2c-d138-4ef6-8656-e3bca9f8cc15" providerId="AD" clId="Web-{CE7DCC23-05EB-614C-BD60-BA70E7ABB529}" dt="2024-07-25T08:59:40.304" v="1"/>
      <pc:docMkLst>
        <pc:docMk/>
      </pc:docMkLst>
      <pc:sldChg chg="new del">
        <pc:chgData name="Ranjitha P -Asst.Prof-CSE" userId="S::ranjitha.p@presidencyuniversity.in::ff8fab2c-d138-4ef6-8656-e3bca9f8cc15" providerId="AD" clId="Web-{CE7DCC23-05EB-614C-BD60-BA70E7ABB529}" dt="2024-07-25T08:59:40.304" v="1"/>
        <pc:sldMkLst>
          <pc:docMk/>
          <pc:sldMk cId="3050182016" sldId="5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478010F-4204-40FD-88FF-DBC580611317}" type="datetimeFigureOut">
              <a:rPr lang="en-US"/>
              <a:pPr>
                <a:defRPr/>
              </a:pPr>
              <a:t>8/1/2024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6EB261B-CF37-48FD-AD6F-F79A0F587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3190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559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1593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29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328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52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857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687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775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0086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5629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5663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B261B-CF37-48FD-AD6F-F79A0F5873E2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7089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08BFA3-761C-462B-9F4C-B65A59363929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EAA41F-A922-4686-BA3C-62BDFD285D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293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6605D5-5C15-46AB-B54E-2DC20CAEB2C7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A00F6B-167A-4933-A052-AD0F4B8522F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911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6B60D-F3FF-4CBE-A057-E6A8826E4DFF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873E4CF-5A47-4E84-8772-B72BDA4047F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3798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3640D6-C5C3-4FD9-AB4E-805A71E28DE2}" type="datetime1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1C271C-492A-4D5F-8B39-E78566C7DFC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90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D0464A-72B3-40FA-B468-042E88533EF8}" type="datetime1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6D9A12-4A4B-4C60-B6AC-97FBC4C17E0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3526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86B0F83-B4E5-4201-BCAA-167712B0229D}" type="datetime1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00706-9AEA-4952-BB6A-4906FEA364F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798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3831F1-9E91-420E-952D-1783D75FE7A8}" type="datetime1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E2A9EA-2E2A-4CA0-A201-F15078DE889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32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CA2564-3FF2-4990-A0FE-C63B52ADB42E}" type="datetime1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9F9833-046D-41FD-98BF-9DA9A329DB5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341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C0F6B0-36E0-4487-894D-438288AF9406}" type="datetime1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64BF3B-BAE6-45F4-894B-623F90330E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103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8F74CA1-0AEF-4453-A19E-40D2E65187DF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F1C36E-CD42-41C9-86B5-4AA82F65620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7857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C7C4AD-DDD7-4CA8-9AEC-20CEB3C9A547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80D9D-5719-4315-811B-7F05FDE2BB3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5132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47417B1-334F-42BF-B709-7958D0F9B176}" type="datetime1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Ranjitha P-20213CSE0014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12618B-365E-4D5F-A1C8-69B6CB29E19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6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9208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1400" dirty="0" smtClean="0"/>
              <a:t>Slide Number 1 </a:t>
            </a:r>
            <a:endParaRPr lang="en-US" altLang="en-US" sz="1400" dirty="0"/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518615" y="457200"/>
            <a:ext cx="10522424" cy="12760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Strategies for Generative AI in 3D Model Reconstruction from 2D Medical Images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1940" y="3125338"/>
            <a:ext cx="954206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Presenter’s Name :  N.MANIVASAGAN</a:t>
            </a:r>
            <a:endParaRPr lang="en-I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 :  Dr.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</a:t>
            </a:r>
            <a:r>
              <a:rPr lang="en-IN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.JAISINGH</a:t>
            </a:r>
            <a:endParaRPr lang="en-I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Department :  School of CSC </a:t>
            </a:r>
            <a:r>
              <a:rPr lang="en-IN" sz="200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IS</a:t>
            </a:r>
            <a:endParaRPr lang="en-IN" sz="2000" dirty="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IN" sz="2000" dirty="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Date : 01-Aug-2024</a:t>
            </a:r>
            <a:endParaRPr lang="en-I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348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Number 2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2" y="76200"/>
            <a:ext cx="2895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1241950"/>
            <a:ext cx="12255689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ZW" sz="2000" dirty="0" smtClean="0"/>
              <a:t>Medical </a:t>
            </a:r>
            <a:r>
              <a:rPr lang="en-ZW" sz="2000" dirty="0"/>
              <a:t>imaging has revolutionized healthcare by providing detailed insights into the human body. </a:t>
            </a:r>
            <a:endParaRPr lang="en-ZW" sz="2000" dirty="0" smtClean="0"/>
          </a:p>
          <a:p>
            <a:pPr marL="342900" lvl="0" indent="-34290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ZW" sz="2000" dirty="0" smtClean="0"/>
              <a:t>Techniques </a:t>
            </a:r>
            <a:r>
              <a:rPr lang="en-ZW" sz="2000" dirty="0"/>
              <a:t>such as MRI, CT, and X-ray scans produce 2D images that are crucial for </a:t>
            </a:r>
            <a:endParaRPr lang="en-ZW" sz="2000" dirty="0" smtClean="0"/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ZW" sz="2000" dirty="0" smtClean="0"/>
              <a:t>     diagnosis </a:t>
            </a:r>
            <a:r>
              <a:rPr lang="en-ZW" sz="2000" dirty="0"/>
              <a:t>and treatment planning. </a:t>
            </a:r>
            <a:endParaRPr lang="en-ZW" sz="2000" dirty="0" smtClean="0"/>
          </a:p>
          <a:p>
            <a:pPr marL="342900" lvl="0" indent="-34290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ZW" sz="2000" dirty="0" smtClean="0"/>
              <a:t>However</a:t>
            </a:r>
            <a:r>
              <a:rPr lang="en-ZW" sz="2000" dirty="0"/>
              <a:t>, the transition from 2D to 3D representations is essential for more </a:t>
            </a:r>
            <a:r>
              <a:rPr lang="en-ZW" sz="2000" dirty="0" smtClean="0"/>
              <a:t>comprehensive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ZW" sz="2000" dirty="0" smtClean="0"/>
              <a:t>      visualization </a:t>
            </a:r>
            <a:r>
              <a:rPr lang="en-ZW" sz="2000" dirty="0"/>
              <a:t>and analysis. </a:t>
            </a:r>
            <a:endParaRPr lang="en-ZW" sz="2000" dirty="0" smtClean="0"/>
          </a:p>
          <a:p>
            <a:pPr marL="342900" lvl="0" indent="-34290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ZW" sz="2000" dirty="0" smtClean="0"/>
              <a:t>Accurate </a:t>
            </a:r>
            <a:r>
              <a:rPr lang="en-ZW" sz="2000" dirty="0"/>
              <a:t>3D model reconstruction can significantly enhance surgical </a:t>
            </a:r>
            <a:r>
              <a:rPr lang="en-ZW" sz="2000" dirty="0" smtClean="0"/>
              <a:t>planning, disease understanding, </a:t>
            </a:r>
          </a:p>
          <a:p>
            <a:pPr lvl="0" algn="just" defTabSz="685800" eaLnBrk="1" fontAlgn="auto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</a:pPr>
            <a:r>
              <a:rPr lang="en-ZW" sz="2000" dirty="0" smtClean="0"/>
              <a:t>     and </a:t>
            </a:r>
            <a:r>
              <a:rPr lang="en-ZW" sz="2000" dirty="0"/>
              <a:t>personalized treatment</a:t>
            </a:r>
            <a:endParaRPr lang="en-I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 3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Limitations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791569"/>
            <a:ext cx="11546005" cy="5827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ZW" sz="2000" dirty="0"/>
              <a:t>Medical imaging plays a crucial role in </a:t>
            </a:r>
            <a:r>
              <a:rPr lang="en-ZW" sz="2000" dirty="0" smtClean="0"/>
              <a:t>diagnosis, </a:t>
            </a:r>
            <a:r>
              <a:rPr lang="en-ZW" sz="2000" dirty="0"/>
              <a:t>treatment planning, and </a:t>
            </a:r>
            <a:r>
              <a:rPr lang="en-ZW" sz="2000" dirty="0" smtClean="0"/>
              <a:t>patient </a:t>
            </a:r>
            <a:r>
              <a:rPr lang="en-ZW" sz="2000" dirty="0"/>
              <a:t>monitoring. </a:t>
            </a:r>
            <a:endParaRPr lang="en-ZW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Techniques </a:t>
            </a:r>
            <a:r>
              <a:rPr lang="en-ZW" sz="2000" dirty="0"/>
              <a:t>like MRI, CT, and X-ray provide two-dimensional (2D) representations of three-dimensional (3D) structures within the body.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The </a:t>
            </a:r>
            <a:r>
              <a:rPr lang="en-ZW" sz="2000" dirty="0"/>
              <a:t>ability to reconstruct accurate 3D models from these 2D images is often limited by factors such as image resolution, noise, and the inherent complexity of biological structures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Generative </a:t>
            </a:r>
            <a:r>
              <a:rPr lang="en-ZW" sz="2000" dirty="0"/>
              <a:t>Artificial Intelligence (AI), particularly Generative Adversarial Networks (GANs) and Variational Autoencoders (VAEs), has shown promise in enhancing image quality and generating realistic data.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This </a:t>
            </a:r>
            <a:r>
              <a:rPr lang="en-ZW" sz="2000" dirty="0"/>
              <a:t>research proposal aims to explore the potential of generative AI models to improve 3D reconstruction in medical imaging, transforming 2D images into accurate, multi-dimensional representations.</a:t>
            </a:r>
            <a:endParaRPr lang="en-IN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  <a:p>
            <a:r>
              <a:rPr lang="en-ZW" sz="2000" dirty="0" smtClean="0"/>
              <a:t>.</a:t>
            </a:r>
            <a:r>
              <a:rPr lang="en-US" sz="2000" dirty="0"/>
              <a:t> </a:t>
            </a:r>
            <a:endParaRPr lang="en-ZW" sz="2000" dirty="0" smtClean="0"/>
          </a:p>
        </p:txBody>
      </p:sp>
    </p:spTree>
    <p:extLst>
      <p:ext uri="{BB962C8B-B14F-4D97-AF65-F5344CB8AC3E}">
        <p14:creationId xmlns:p14="http://schemas.microsoft.com/office/powerpoint/2010/main" val="165681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4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723333"/>
            <a:ext cx="1146411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W" sz="2000" dirty="0"/>
              <a:t>Recent advancements in deep learning, particularly GANs and VAEs, have revolutionized image synthesis and enhancement</a:t>
            </a:r>
            <a:r>
              <a:rPr lang="en-ZW" sz="2000" dirty="0" smtClean="0"/>
              <a:t>.</a:t>
            </a:r>
          </a:p>
          <a:p>
            <a:r>
              <a:rPr lang="en-ZW" sz="2000" dirty="0" smtClean="0"/>
              <a:t>Studies </a:t>
            </a:r>
            <a:r>
              <a:rPr lang="en-ZW" sz="2000" dirty="0"/>
              <a:t>have demonstrated the ability of these models to generate high-quality images from low-resolution inputs, enhance image clarity, and even synthesize new data for augmentation. </a:t>
            </a:r>
            <a:endParaRPr lang="en-ZW" sz="2000" dirty="0" smtClean="0"/>
          </a:p>
          <a:p>
            <a:endParaRPr lang="en-ZW" sz="2000" dirty="0" smtClean="0"/>
          </a:p>
          <a:p>
            <a:r>
              <a:rPr lang="en-ZW" sz="2000" dirty="0" smtClean="0"/>
              <a:t>In </a:t>
            </a:r>
            <a:r>
              <a:rPr lang="en-ZW" sz="2000" dirty="0"/>
              <a:t>the medical field, these techniques have been used for </a:t>
            </a:r>
            <a:endParaRPr lang="en-ZW" sz="2000" dirty="0" smtClean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image </a:t>
            </a:r>
            <a:r>
              <a:rPr lang="en-ZW" sz="2000" dirty="0" err="1"/>
              <a:t>denoising</a:t>
            </a:r>
            <a:r>
              <a:rPr lang="en-ZW" sz="2000" dirty="0"/>
              <a:t>, </a:t>
            </a:r>
            <a:endParaRPr lang="en-ZW" sz="2000" dirty="0" smtClean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super-resolution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ZW" sz="2000" dirty="0" smtClean="0"/>
              <a:t>segmentation</a:t>
            </a:r>
            <a:r>
              <a:rPr lang="en-ZW" sz="2000" dirty="0"/>
              <a:t>. </a:t>
            </a:r>
            <a:endParaRPr lang="en-ZW" sz="2000" dirty="0" smtClean="0"/>
          </a:p>
          <a:p>
            <a:r>
              <a:rPr lang="en-ZW" sz="2000" dirty="0" smtClean="0"/>
              <a:t>However</a:t>
            </a:r>
            <a:r>
              <a:rPr lang="en-ZW" sz="2000" dirty="0"/>
              <a:t>, their application in reconstructing accurate 3D models from 2D images is still emerging.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</p:txBody>
      </p:sp>
    </p:spTree>
    <p:extLst>
      <p:ext uri="{BB962C8B-B14F-4D97-AF65-F5344CB8AC3E}">
        <p14:creationId xmlns:p14="http://schemas.microsoft.com/office/powerpoint/2010/main" val="133215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5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existing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2138" y="592158"/>
            <a:ext cx="11245756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3D Reconstruction in Medical Imaging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model reconstruction from 2D medical images (such as CT, MRI, and X-ray) is crucial for accurate      diagnosis, surgical planning, and treatment. Traditional methods often involve manual segmentation and interpolation,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Time-consuming and prone to errors.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of Generative AI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Generative AI, including Generative Adversarial Networks (GANs),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Variational Autoencoders (VAEs), and Neural Radiance Fields (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NeRF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has been increasingly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 </a:t>
            </a:r>
            <a:r>
              <a:rPr lang="en-US" dirty="0" smtClean="0"/>
              <a:t>  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to automate and improve the accuracy of 3D reconstructions from 2D images.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models learn to generate 3D structures by understanding the underlying anatomy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texture patterns in the 2D images.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 in Different Modalities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 Scans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Generative models have been used to reconstruct 3D volumes from a limited number of 2D CT    slices, improving resolution and reducing patient exposure to radiation.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MRI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 MRI, generative AI helps in reconstructing 3D structures from 2D slices and in synthesizing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dirty="0"/>
              <a:t> </a:t>
            </a:r>
            <a:r>
              <a:rPr lang="en-US" dirty="0" smtClean="0"/>
              <a:t>   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high-resolution images from low-resolution inputs.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X-rays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 orthopedic and dental imaging, GANs and VAEs have been utilized to reconstruct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3D bone structures from 2D X-ray images, aiding in fracture analysis and implant planning.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817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6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18866" y="122830"/>
            <a:ext cx="5390866" cy="627797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 from </a:t>
            </a: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63773" y="1085881"/>
            <a:ext cx="1146412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b="1" dirty="0"/>
              <a:t>Improved Accuracy</a:t>
            </a:r>
            <a:r>
              <a:rPr lang="en-US" dirty="0"/>
              <a:t>: </a:t>
            </a:r>
            <a:endParaRPr lang="en-US" dirty="0" smtClean="0"/>
          </a:p>
          <a:p>
            <a:pPr lvl="0"/>
            <a:r>
              <a:rPr lang="en-US" dirty="0" smtClean="0"/>
              <a:t>Generative </a:t>
            </a:r>
            <a:r>
              <a:rPr lang="en-US" dirty="0"/>
              <a:t>AI models have demonstrated superior performance in terms of accuracy and detail preservation in 3D reconstructions compared to traditional interpolation techniques</a:t>
            </a:r>
            <a:r>
              <a:rPr lang="en-US" dirty="0" smtClean="0"/>
              <a:t>.</a:t>
            </a:r>
          </a:p>
          <a:p>
            <a:r>
              <a:rPr lang="en-US" b="1" dirty="0"/>
              <a:t>Reduction in Data Requirements</a:t>
            </a:r>
            <a:r>
              <a:rPr lang="en-US" dirty="0"/>
              <a:t>: By leveraging data augmentation and transfer learning, these models can achieve high-quality reconstructions even with a limited number of training samples.</a:t>
            </a:r>
          </a:p>
          <a:p>
            <a:r>
              <a:rPr lang="en-US" b="1" dirty="0"/>
              <a:t>Real-time Processing</a:t>
            </a:r>
            <a:r>
              <a:rPr lang="en-US" dirty="0"/>
              <a:t>: Advances in model architectures and hardware acceleration have enabled real-time or near-real-time 3D reconstructions, which are essential for clinical applications</a:t>
            </a:r>
            <a:r>
              <a:rPr lang="en-US" dirty="0" smtClean="0"/>
              <a:t>.</a:t>
            </a:r>
          </a:p>
          <a:p>
            <a:pPr lvl="0"/>
            <a:r>
              <a:rPr lang="en-US" b="1" dirty="0"/>
              <a:t>Generalization Capabilities</a:t>
            </a:r>
            <a:r>
              <a:rPr lang="en-US" dirty="0"/>
              <a:t>: Some studies have shown that generative AI models trained on specific datasets can generalize well to other datasets, although this is highly dependent on the diversity of the training data.</a:t>
            </a:r>
          </a:p>
          <a:p>
            <a:endParaRPr lang="en-US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61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7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313899" y="109181"/>
            <a:ext cx="6250673" cy="54591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 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Literature</a:t>
            </a: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832512"/>
            <a:ext cx="11464119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b="1" dirty="0" smtClean="0"/>
              <a:t>Limited </a:t>
            </a:r>
            <a:r>
              <a:rPr lang="en-US" b="1" dirty="0"/>
              <a:t>Clinical Validation</a:t>
            </a:r>
            <a:r>
              <a:rPr lang="en-US" dirty="0"/>
              <a:t>: While many studies show promising results, there is a lack of extensive clinical validation to confirm the efficacy and safety of these generative models in real-world medical settings.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ZW" dirty="0" smtClean="0"/>
              <a:t> </a:t>
            </a:r>
            <a:r>
              <a:rPr lang="en-US" b="1" dirty="0"/>
              <a:t>Data Diversity</a:t>
            </a:r>
            <a:r>
              <a:rPr lang="en-US" dirty="0"/>
              <a:t>: Most models are trained on specific datasets, which may not represent the diversity of anatomical variations across different populations, leading to potential biases</a:t>
            </a:r>
            <a:r>
              <a:rPr lang="en-US" dirty="0" smtClean="0"/>
              <a:t>.</a:t>
            </a:r>
            <a:endParaRPr lang="en-ZW" dirty="0"/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b="1" dirty="0"/>
              <a:t>Interpretability and Transparency</a:t>
            </a:r>
            <a:r>
              <a:rPr lang="en-US" dirty="0"/>
              <a:t>: Generative AI models, especially GANs, are often seen as "black boxes," making it challenging to interpret the rationale behind certain reconstructions. This can be a barrier to clinical adoption where transparency is crucial</a:t>
            </a:r>
            <a:r>
              <a:rPr lang="en-US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Integration with Clinical Workflows</a:t>
            </a:r>
            <a:r>
              <a:rPr lang="en-US" dirty="0"/>
              <a:t>: There is a need for research on integrating these models into existing clinical workflows, ensuring they complement rather than disrupt standard practices.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Regulatory and Ethical Considerations</a:t>
            </a:r>
            <a:r>
              <a:rPr lang="en-US" dirty="0"/>
              <a:t>: The deployment of AI-driven medical technologies raises questions about data privacy, consent, and the ethical implications of automated decision-making in healthcare</a:t>
            </a:r>
            <a:r>
              <a:rPr lang="en-US" dirty="0" smtClean="0"/>
              <a:t>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ZW" sz="2000" dirty="0" smtClean="0"/>
          </a:p>
        </p:txBody>
      </p:sp>
    </p:spTree>
    <p:extLst>
      <p:ext uri="{BB962C8B-B14F-4D97-AF65-F5344CB8AC3E}">
        <p14:creationId xmlns:p14="http://schemas.microsoft.com/office/powerpoint/2010/main" val="2915928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8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Research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/>
              <a:t>Primary Objectives</a:t>
            </a:r>
          </a:p>
          <a:p>
            <a:endParaRPr lang="en-US" sz="2000" dirty="0"/>
          </a:p>
          <a:p>
            <a:r>
              <a:rPr lang="en-US" sz="2000" dirty="0" smtClean="0"/>
              <a:t>1. </a:t>
            </a:r>
            <a:r>
              <a:rPr lang="en-US" sz="2000" b="1" dirty="0" smtClean="0"/>
              <a:t>Develop </a:t>
            </a:r>
            <a:r>
              <a:rPr lang="en-US" sz="2000" b="1" dirty="0"/>
              <a:t>and Validate Generative AI Models: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/>
              <a:t> To design and validate generative AI models, such as GANs and VAEs, that can accurately reconstruct 3D anatomical structures from 2D medical images.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US" sz="2000"/>
              <a:t> </a:t>
            </a:r>
            <a:r>
              <a:rPr lang="en-ZW" sz="2000" smtClean="0"/>
              <a:t>To </a:t>
            </a:r>
            <a:r>
              <a:rPr lang="en-ZW" sz="2000" dirty="0"/>
              <a:t>evaluate the performance of these models in various medical imaging modalities (e.g., MRI, CT, X-ray</a:t>
            </a:r>
            <a:r>
              <a:rPr lang="en-ZW" sz="2000" dirty="0" smtClean="0"/>
              <a:t>)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r>
              <a:rPr lang="en-US" sz="2000" b="1" dirty="0" smtClean="0"/>
              <a:t>2.Assess </a:t>
            </a:r>
            <a:r>
              <a:rPr lang="en-US" sz="2000" b="1" dirty="0"/>
              <a:t>Clinical Applicability and Integration: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/>
              <a:t>To </a:t>
            </a:r>
            <a:r>
              <a:rPr lang="en-US" sz="2000" dirty="0"/>
              <a:t>assess the clinical applicability of the generative AI models in various medical fields, including radiology, orthopedics, and cardiology.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/>
              <a:t>To </a:t>
            </a:r>
            <a:r>
              <a:rPr lang="en-US" sz="2000" dirty="0"/>
              <a:t>develop strategies for integrating these models into existing clinical workflows, ensuring they enhance clinical decision-making processes without causing disruptions.</a:t>
            </a:r>
          </a:p>
        </p:txBody>
      </p:sp>
    </p:spTree>
    <p:extLst>
      <p:ext uri="{BB962C8B-B14F-4D97-AF65-F5344CB8AC3E}">
        <p14:creationId xmlns:p14="http://schemas.microsoft.com/office/powerpoint/2010/main" val="102026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9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Research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 smtClean="0"/>
              <a:t>Secondary Objectives</a:t>
            </a:r>
          </a:p>
          <a:p>
            <a:r>
              <a:rPr lang="en-US" sz="2000" dirty="0" smtClean="0"/>
              <a:t>1. </a:t>
            </a:r>
            <a:r>
              <a:rPr lang="en-US" sz="2000" b="1" dirty="0"/>
              <a:t>Enhance Model Interpretability and Transparency:</a:t>
            </a:r>
          </a:p>
          <a:p>
            <a:r>
              <a:rPr lang="en-US" sz="2000" dirty="0" smtClean="0"/>
              <a:t>      To </a:t>
            </a:r>
            <a:r>
              <a:rPr lang="en-US" sz="2000" dirty="0"/>
              <a:t>investigate methods for improving the interpretability of generative AI models, making it easier for clinicians to understand and trust the generated 3D reconstructions.</a:t>
            </a:r>
          </a:p>
          <a:p>
            <a:r>
              <a:rPr lang="en-US" sz="2000" dirty="0" smtClean="0"/>
              <a:t>      To </a:t>
            </a:r>
            <a:r>
              <a:rPr lang="en-US" sz="2000" dirty="0"/>
              <a:t>develop tools or frameworks that provide insights into the decision-making process of these AI models.</a:t>
            </a:r>
          </a:p>
          <a:p>
            <a:r>
              <a:rPr lang="en-US" sz="2000" b="1" dirty="0" smtClean="0"/>
              <a:t>2.Ensure </a:t>
            </a:r>
            <a:r>
              <a:rPr lang="en-US" sz="2000" b="1" dirty="0"/>
              <a:t>Data Diversity and Minimize </a:t>
            </a:r>
            <a:r>
              <a:rPr lang="en-US" sz="2000" b="1" dirty="0" smtClean="0"/>
              <a:t>Bias: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 </a:t>
            </a:r>
            <a:r>
              <a:rPr lang="en-US" sz="2000" dirty="0" smtClean="0"/>
              <a:t>To </a:t>
            </a:r>
            <a:r>
              <a:rPr lang="en-US" sz="2000" dirty="0"/>
              <a:t>curate and use diverse datasets for training and validating the models, ensuring the generalizability of the AI systems across different patient demographics and anatomical variations.</a:t>
            </a:r>
          </a:p>
          <a:p>
            <a:r>
              <a:rPr lang="en-US" sz="2000" dirty="0" smtClean="0"/>
              <a:t>     To </a:t>
            </a:r>
            <a:r>
              <a:rPr lang="en-US" sz="2000" dirty="0"/>
              <a:t>analyze and mitigate potential biases in the AI models that could impact their accuracy and reliability in specific populations.</a:t>
            </a:r>
          </a:p>
          <a:p>
            <a:r>
              <a:rPr lang="en-US" sz="2000" b="1" dirty="0"/>
              <a:t>3. Address Regulatory and Ethical Considerations:</a:t>
            </a:r>
          </a:p>
          <a:p>
            <a:r>
              <a:rPr lang="en-US" sz="2000" dirty="0" smtClean="0"/>
              <a:t>     To </a:t>
            </a:r>
            <a:r>
              <a:rPr lang="en-US" sz="2000" dirty="0"/>
              <a:t>explore the regulatory requirements and ethical considerations for deploying generative AI technologies in healthcare, including issues related to data privacy, consent, and the reliability of automated decision-making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239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10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436729" y="76200"/>
            <a:ext cx="5349922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14149"/>
            <a:ext cx="1146411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00B050"/>
                </a:solidFill>
              </a:rPr>
              <a:t>Research </a:t>
            </a:r>
            <a:r>
              <a:rPr lang="en-US" sz="2000" b="1" dirty="0">
                <a:solidFill>
                  <a:srgbClr val="00B050"/>
                </a:solidFill>
              </a:rPr>
              <a:t>Design and </a:t>
            </a:r>
            <a:r>
              <a:rPr lang="en-US" sz="2000" b="1" dirty="0" smtClean="0">
                <a:solidFill>
                  <a:srgbClr val="00B050"/>
                </a:solidFill>
              </a:rPr>
              <a:t>Approach</a:t>
            </a:r>
          </a:p>
          <a:p>
            <a:r>
              <a:rPr lang="en-US" sz="2000" b="1" dirty="0" smtClean="0"/>
              <a:t>1. Exploratory </a:t>
            </a:r>
            <a:r>
              <a:rPr lang="en-US" sz="2000" b="1" dirty="0"/>
              <a:t>and Experimental Design:</a:t>
            </a:r>
          </a:p>
          <a:p>
            <a:r>
              <a:rPr lang="en-US" sz="2000" dirty="0" smtClean="0"/>
              <a:t>The </a:t>
            </a:r>
            <a:r>
              <a:rPr lang="en-US" sz="2000" dirty="0"/>
              <a:t>research will use an exploratory design to investigate the capabilities and limitations of generative AI models in 3D reconstruction.</a:t>
            </a:r>
          </a:p>
          <a:p>
            <a:r>
              <a:rPr lang="en-US" sz="2000" dirty="0"/>
              <a:t> An experimental design will be employed to compare the performance of different AI models and techniques, with controlled experiments to assess accuracy, efficiency, and clinical applicability.</a:t>
            </a:r>
          </a:p>
          <a:p>
            <a:r>
              <a:rPr lang="en-US" sz="2000" dirty="0"/>
              <a:t>      </a:t>
            </a:r>
            <a:endParaRPr lang="en-US" sz="2000" dirty="0" smtClean="0"/>
          </a:p>
          <a:p>
            <a:r>
              <a:rPr lang="en-US" sz="2000" b="1" dirty="0" smtClean="0"/>
              <a:t>2. Comparative </a:t>
            </a:r>
            <a:r>
              <a:rPr lang="en-US" sz="2000" b="1" dirty="0"/>
              <a:t>Study: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A comparative approach will be used to evaluate generative AI models against traditional 3D reconstruction methods, such as manual segmentation and interpolation</a:t>
            </a:r>
            <a:r>
              <a:rPr lang="en-US" sz="2000" dirty="0" smtClean="0"/>
              <a:t>.</a:t>
            </a:r>
          </a:p>
          <a:p>
            <a:endParaRPr lang="en-US" sz="2000" dirty="0" smtClean="0"/>
          </a:p>
          <a:p>
            <a:r>
              <a:rPr lang="en-US" sz="2000" b="1" dirty="0" smtClean="0"/>
              <a:t>3. Iterative </a:t>
            </a:r>
            <a:r>
              <a:rPr lang="en-US" sz="2000" b="1" dirty="0"/>
              <a:t>Development and Testing:</a:t>
            </a:r>
          </a:p>
          <a:p>
            <a:r>
              <a:rPr lang="en-US" sz="2000" dirty="0"/>
              <a:t> The research will follow an iterative development cycle, including model training, testing, refinement, and validation to continuously improve model performance and address identified challenges.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27885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11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/>
              <a:t>1</a:t>
            </a:r>
            <a:r>
              <a:rPr lang="en-US" sz="2000" dirty="0"/>
              <a:t>. Data Collection Methods</a:t>
            </a:r>
          </a:p>
          <a:p>
            <a:r>
              <a:rPr lang="en-US" sz="2000" b="1" dirty="0"/>
              <a:t>Dataset Acquisition:</a:t>
            </a:r>
          </a:p>
          <a:p>
            <a:endParaRPr lang="en-US" sz="2000" dirty="0"/>
          </a:p>
          <a:p>
            <a:r>
              <a:rPr lang="en-US" sz="2000" dirty="0"/>
              <a:t>Medical Image Datasets: The study will utilize publicly available medical image datasets (e.g., CT, MRI, and X-ray images) and possibly private datasets from collaborating healthcare institutions, ensuring a wide range of anatomical regions and conditions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Clinical Data: Patient demographics, diagnostic reports, and clinical outcomes will be collected to correlate with the generated 3D models.</a:t>
            </a:r>
          </a:p>
          <a:p>
            <a:r>
              <a:rPr lang="en-US" sz="2000" b="1" dirty="0"/>
              <a:t>Data Annotation and Preprocessing:</a:t>
            </a:r>
          </a:p>
          <a:p>
            <a:endParaRPr lang="en-US" sz="2000" dirty="0"/>
          </a:p>
          <a:p>
            <a:r>
              <a:rPr lang="en-US" sz="2000" dirty="0"/>
              <a:t>Segmentation and Labeling: Ground truth annotations for anatomical structures will be collected or created for a subset of the data to serve as a reference for model training and evaluation.</a:t>
            </a:r>
          </a:p>
          <a:p>
            <a:r>
              <a:rPr lang="en-US" sz="2000" dirty="0"/>
              <a:t>Data Augmentation: Techniques such as rotation, scaling, and noise addition will be applied to augment the dataset and improve model robustness.</a:t>
            </a:r>
          </a:p>
        </p:txBody>
      </p:sp>
    </p:spTree>
    <p:extLst>
      <p:ext uri="{BB962C8B-B14F-4D97-AF65-F5344CB8AC3E}">
        <p14:creationId xmlns:p14="http://schemas.microsoft.com/office/powerpoint/2010/main" val="4169166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12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899" y="627797"/>
            <a:ext cx="1146411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Data </a:t>
            </a:r>
            <a:r>
              <a:rPr lang="en-US" dirty="0"/>
              <a:t>Analysis Techniques</a:t>
            </a:r>
          </a:p>
          <a:p>
            <a:endParaRPr lang="en-US" dirty="0" smtClean="0"/>
          </a:p>
          <a:p>
            <a:r>
              <a:rPr lang="en-US" dirty="0" smtClean="0"/>
              <a:t>1.Model </a:t>
            </a:r>
            <a:r>
              <a:rPr lang="en-US" dirty="0"/>
              <a:t>Evaluation Metrics:</a:t>
            </a:r>
          </a:p>
          <a:p>
            <a:endParaRPr lang="en-US" dirty="0"/>
          </a:p>
          <a:p>
            <a:r>
              <a:rPr lang="en-US" b="1" dirty="0"/>
              <a:t>Quantitative Metrics</a:t>
            </a:r>
            <a:r>
              <a:rPr lang="en-US" dirty="0"/>
              <a:t>: Accuracy, Dice coefficient, Intersection over Union (</a:t>
            </a:r>
            <a:r>
              <a:rPr lang="en-US" dirty="0" err="1"/>
              <a:t>IoU</a:t>
            </a:r>
            <a:r>
              <a:rPr lang="en-US" dirty="0"/>
              <a:t>), Mean Squared Error (MSE), and Peak Signal-to-Noise Ratio (PSNR) will be used to quantitatively assess the reconstruction quality.</a:t>
            </a:r>
          </a:p>
          <a:p>
            <a:r>
              <a:rPr lang="en-US" b="1" dirty="0"/>
              <a:t>Qualitative Analysis</a:t>
            </a:r>
            <a:r>
              <a:rPr lang="en-US" dirty="0"/>
              <a:t>: Visual inspection and expert review will be conducted to assess the anatomical plausibility and clinical utility of the reconstructed 3D models.</a:t>
            </a:r>
          </a:p>
          <a:p>
            <a:endParaRPr lang="en-US" b="1" dirty="0" smtClean="0"/>
          </a:p>
          <a:p>
            <a:r>
              <a:rPr lang="en-US" dirty="0" smtClean="0"/>
              <a:t>2.Comparative </a:t>
            </a:r>
            <a:r>
              <a:rPr lang="en-US" dirty="0"/>
              <a:t>Analysis:</a:t>
            </a:r>
          </a:p>
          <a:p>
            <a:r>
              <a:rPr lang="en-US" dirty="0" smtClean="0"/>
              <a:t>Performance </a:t>
            </a:r>
            <a:r>
              <a:rPr lang="en-US" dirty="0"/>
              <a:t>comparisons between different generative AI models (e.g., GANs, VAEs, </a:t>
            </a:r>
            <a:r>
              <a:rPr lang="en-US" dirty="0" err="1"/>
              <a:t>NeRF</a:t>
            </a:r>
            <a:r>
              <a:rPr lang="en-US" dirty="0"/>
              <a:t>) and traditional methods will be conducted to identify strengths and weaknesses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3.Statistical </a:t>
            </a:r>
            <a:r>
              <a:rPr lang="en-US" dirty="0"/>
              <a:t>Analysis:</a:t>
            </a:r>
          </a:p>
          <a:p>
            <a:r>
              <a:rPr lang="en-US" dirty="0" smtClean="0"/>
              <a:t>Statistical </a:t>
            </a:r>
            <a:r>
              <a:rPr lang="en-US" dirty="0"/>
              <a:t>tests will be applied to determine the significance of differences in performance metrics across different models and datasets.</a:t>
            </a:r>
          </a:p>
        </p:txBody>
      </p:sp>
    </p:spTree>
    <p:extLst>
      <p:ext uri="{BB962C8B-B14F-4D97-AF65-F5344CB8AC3E}">
        <p14:creationId xmlns:p14="http://schemas.microsoft.com/office/powerpoint/2010/main" val="400775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</a:t>
            </a:r>
            <a:r>
              <a:rPr lang="en-US" altLang="en-US" sz="1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13 </a:t>
            </a:r>
            <a:endParaRPr lang="en-US" altLang="en-US" sz="1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"/>
          <p:cNvSpPr txBox="1">
            <a:spLocks noChangeArrowheads="1"/>
          </p:cNvSpPr>
          <p:nvPr/>
        </p:nvSpPr>
        <p:spPr bwMode="auto">
          <a:xfrm>
            <a:off x="879711" y="76200"/>
            <a:ext cx="4906939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000" tIns="46800" rIns="90000" bIns="46800" anchor="ctr"/>
          <a:lstStyle>
            <a:defPPr>
              <a:defRPr lang="en-GB"/>
            </a:defPPr>
            <a:lvl1pPr algn="ctr" eaLnBrk="0" hangingPunct="0"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4000">
                <a:solidFill>
                  <a:srgbClr val="000000"/>
                </a:solidFill>
              </a:defRPr>
            </a:lvl1pPr>
          </a:lstStyle>
          <a:p>
            <a:pPr defTabSz="457200">
              <a:defRPr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r>
              <a:rPr lang="en-US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Instruments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defRPr/>
            </a:pPr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343400" cy="365125"/>
          </a:xfrm>
        </p:spPr>
        <p:txBody>
          <a:bodyPr/>
          <a:lstStyle/>
          <a:p>
            <a:pPr>
              <a:defRPr/>
            </a:pPr>
            <a:r>
              <a:rPr lang="en-US" sz="1400"/>
              <a:t>Section Name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478240" y="609600"/>
            <a:ext cx="1146411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Software and Libraries:</a:t>
            </a:r>
            <a:endParaRPr lang="en-US" b="1" dirty="0" smtClean="0"/>
          </a:p>
          <a:p>
            <a:r>
              <a:rPr lang="en-US" dirty="0" smtClean="0"/>
              <a:t>Deep </a:t>
            </a:r>
            <a:r>
              <a:rPr lang="en-US" dirty="0"/>
              <a:t>Learning Frameworks: </a:t>
            </a:r>
            <a:endParaRPr lang="en-US" dirty="0" smtClean="0"/>
          </a:p>
          <a:p>
            <a:r>
              <a:rPr lang="en-US" dirty="0" err="1" smtClean="0"/>
              <a:t>PyTorch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/>
              <a:t>TensorFlow</a:t>
            </a:r>
            <a:r>
              <a:rPr lang="en-US" dirty="0"/>
              <a:t> will be used for implementing and training generative AI models.</a:t>
            </a:r>
          </a:p>
          <a:p>
            <a:r>
              <a:rPr lang="en-US" dirty="0"/>
              <a:t>Image Processing Tools: Tools like </a:t>
            </a:r>
            <a:r>
              <a:rPr lang="en-US" dirty="0" err="1"/>
              <a:t>SimpleITK</a:t>
            </a:r>
            <a:r>
              <a:rPr lang="en-US" dirty="0"/>
              <a:t>, </a:t>
            </a:r>
            <a:r>
              <a:rPr lang="en-US" dirty="0" err="1"/>
              <a:t>OpenCV</a:t>
            </a:r>
            <a:r>
              <a:rPr lang="en-US" dirty="0"/>
              <a:t>, and ITK-SNAP for image preprocessing, segmentation, and visualization</a:t>
            </a:r>
            <a:r>
              <a:rPr lang="en-US" dirty="0" smtClean="0"/>
              <a:t>.</a:t>
            </a:r>
          </a:p>
          <a:p>
            <a:r>
              <a:rPr lang="en-US" b="1" dirty="0"/>
              <a:t>Data Management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dirty="0" smtClean="0"/>
              <a:t>Databases </a:t>
            </a:r>
            <a:r>
              <a:rPr lang="en-US" dirty="0"/>
              <a:t>such as SQL or </a:t>
            </a:r>
            <a:r>
              <a:rPr lang="en-US" dirty="0" err="1"/>
              <a:t>NoSQL</a:t>
            </a:r>
            <a:r>
              <a:rPr lang="en-US" dirty="0"/>
              <a:t> systems for managing large datasets, along with tools like Apache Spark for big data processing.</a:t>
            </a:r>
          </a:p>
          <a:p>
            <a:r>
              <a:rPr lang="en-US" dirty="0"/>
              <a:t>Computational Resources:</a:t>
            </a:r>
          </a:p>
          <a:p>
            <a:r>
              <a:rPr lang="en-US" dirty="0" smtClean="0"/>
              <a:t>High-Performance </a:t>
            </a:r>
            <a:r>
              <a:rPr lang="en-US" dirty="0"/>
              <a:t>Computing (HPC) Clusters: For training large models on high-resolution datasets.</a:t>
            </a:r>
          </a:p>
          <a:p>
            <a:r>
              <a:rPr lang="en-US" dirty="0"/>
              <a:t>GPUs: Utilized for accelerating deep learning model training and inference.</a:t>
            </a:r>
          </a:p>
          <a:p>
            <a:r>
              <a:rPr lang="en-US" b="1" dirty="0"/>
              <a:t>Clinical Validation Tools</a:t>
            </a:r>
            <a:r>
              <a:rPr lang="en-US" dirty="0"/>
              <a:t>: Instruments for expert assessment of 3D models, possibly including 3D printing for physical model validation.</a:t>
            </a:r>
            <a:endParaRPr lang="en-US" dirty="0" smtClean="0"/>
          </a:p>
          <a:p>
            <a:r>
              <a:rPr lang="en-US" dirty="0"/>
              <a:t>Data </a:t>
            </a:r>
            <a:r>
              <a:rPr lang="en-US" dirty="0" err="1"/>
              <a:t>Anonymization</a:t>
            </a:r>
            <a:r>
              <a:rPr lang="en-US" dirty="0"/>
              <a:t> Software: Tools to ensure patient data privacy and compliance with data protection regulations.</a:t>
            </a:r>
          </a:p>
          <a:p>
            <a:r>
              <a:rPr lang="en-US" b="1" dirty="0"/>
              <a:t>Documentation and Reporting Tools</a:t>
            </a:r>
            <a:r>
              <a:rPr lang="en-US" dirty="0"/>
              <a:t>: Systems to maintain detailed records of experiments, model parameters, and results for transparency and reproducibility.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ff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6649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</a:t>
            </a:r>
            <a:r>
              <a:rPr lang="en-US" altLang="en-US" dirty="0" smtClean="0"/>
              <a:t>Number 14 </a:t>
            </a:r>
            <a:endParaRPr lang="en-US" altLang="en-US" dirty="0"/>
          </a:p>
        </p:txBody>
      </p:sp>
      <p:sp>
        <p:nvSpPr>
          <p:cNvPr id="6" name="Text Box 1"/>
          <p:cNvSpPr txBox="1">
            <a:spLocks noChangeArrowheads="1"/>
          </p:cNvSpPr>
          <p:nvPr/>
        </p:nvSpPr>
        <p:spPr bwMode="auto">
          <a:xfrm>
            <a:off x="4133849" y="2590800"/>
            <a:ext cx="3924301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defTabSz="457200">
              <a:lnSpc>
                <a:spcPct val="90000"/>
              </a:lnSpc>
              <a:buClr>
                <a:srgbClr val="000000"/>
              </a:buClr>
              <a:buSzPct val="10000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000" b="1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2pPr>
            <a:lvl3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3pPr>
            <a:lvl4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4pPr>
            <a:lvl5pPr>
              <a:lnSpc>
                <a:spcPct val="90000"/>
              </a:lnSpc>
              <a:defRPr sz="4400">
                <a:latin typeface="Calibri Light" panose="020F0302020204030204" pitchFamily="34" charset="0"/>
              </a:defRPr>
            </a:lvl5pPr>
            <a:lvl6pPr marL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6pPr>
            <a:lvl7pPr marL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7pPr>
            <a:lvl8pPr marL="13716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8pPr>
            <a:lvl9pPr marL="18288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latin typeface="Calibri Light" panose="020F0302020204030204" pitchFamily="34" charset="0"/>
              </a:defRPr>
            </a:lvl9pPr>
          </a:lstStyle>
          <a:p>
            <a:pPr algn="ctr"/>
            <a:r>
              <a:rPr lang="en-IN"/>
              <a:t>Thank You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267200" cy="365125"/>
          </a:xfrm>
        </p:spPr>
        <p:txBody>
          <a:bodyPr/>
          <a:lstStyle/>
          <a:p>
            <a:pPr>
              <a:defRPr/>
            </a:pPr>
            <a:r>
              <a:rPr lang="en-US"/>
              <a:t>Section Name </a:t>
            </a:r>
          </a:p>
        </p:txBody>
      </p:sp>
    </p:spTree>
    <p:extLst>
      <p:ext uri="{BB962C8B-B14F-4D97-AF65-F5344CB8AC3E}">
        <p14:creationId xmlns:p14="http://schemas.microsoft.com/office/powerpoint/2010/main" val="27751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182</TotalTime>
  <Words>1743</Words>
  <Application>Microsoft Office PowerPoint</Application>
  <PresentationFormat>Widescreen</PresentationFormat>
  <Paragraphs>187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Techniques</dc:title>
  <dc:creator>admin</dc:creator>
  <cp:lastModifiedBy>user</cp:lastModifiedBy>
  <cp:revision>40</cp:revision>
  <dcterms:created xsi:type="dcterms:W3CDTF">2007-08-28T09:12:38Z</dcterms:created>
  <dcterms:modified xsi:type="dcterms:W3CDTF">2024-08-01T01:37:11Z</dcterms:modified>
</cp:coreProperties>
</file>