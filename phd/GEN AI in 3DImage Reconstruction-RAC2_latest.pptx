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817" r:id="rId1"/>
  </p:sldMasterIdLst>
  <p:notesMasterIdLst>
    <p:notesMasterId r:id="rId16"/>
  </p:notesMasterIdLst>
  <p:sldIdLst>
    <p:sldId id="501" r:id="rId2"/>
    <p:sldId id="499" r:id="rId3"/>
    <p:sldId id="543" r:id="rId4"/>
    <p:sldId id="555" r:id="rId5"/>
    <p:sldId id="545" r:id="rId6"/>
    <p:sldId id="546" r:id="rId7"/>
    <p:sldId id="547" r:id="rId8"/>
    <p:sldId id="549" r:id="rId9"/>
    <p:sldId id="548" r:id="rId10"/>
    <p:sldId id="550" r:id="rId11"/>
    <p:sldId id="553" r:id="rId12"/>
    <p:sldId id="556" r:id="rId13"/>
    <p:sldId id="554" r:id="rId14"/>
    <p:sldId id="542" r:id="rId1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9F4BE1-6BBB-49D1-AAB3-C12AF29B4F1D}" v="280" dt="2025-05-09T13:03:16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jitha P -Asst.Prof-CSE" userId="S::ranjitha.p@presidencyuniversity.in::ff8fab2c-d138-4ef6-8656-e3bca9f8cc15" providerId="AD" clId="Web-{CE7DCC23-05EB-614C-BD60-BA70E7ABB529}"/>
    <pc:docChg chg="addSld delSld">
      <pc:chgData name="Ranjitha P -Asst.Prof-CSE" userId="S::ranjitha.p@presidencyuniversity.in::ff8fab2c-d138-4ef6-8656-e3bca9f8cc15" providerId="AD" clId="Web-{CE7DCC23-05EB-614C-BD60-BA70E7ABB529}" dt="2024-07-25T08:59:40.304" v="1"/>
      <pc:docMkLst>
        <pc:docMk/>
      </pc:docMkLst>
      <pc:sldChg chg="new del">
        <pc:chgData name="Ranjitha P -Asst.Prof-CSE" userId="S::ranjitha.p@presidencyuniversity.in::ff8fab2c-d138-4ef6-8656-e3bca9f8cc15" providerId="AD" clId="Web-{CE7DCC23-05EB-614C-BD60-BA70E7ABB529}" dt="2024-07-25T08:59:40.304" v="1"/>
        <pc:sldMkLst>
          <pc:docMk/>
          <pc:sldMk cId="3050182016" sldId="542"/>
        </pc:sldMkLst>
      </pc:sldChg>
    </pc:docChg>
  </pc:docChgLst>
  <pc:docChgLst>
    <pc:chgData name="Namasivayam, Manivasagan" userId="e21825c3-4acc-4579-b7bd-4299043c722e" providerId="ADAL" clId="{1F9F4BE1-6BBB-49D1-AAB3-C12AF29B4F1D}"/>
    <pc:docChg chg="undo custSel addSld delSld modSld">
      <pc:chgData name="Namasivayam, Manivasagan" userId="e21825c3-4acc-4579-b7bd-4299043c722e" providerId="ADAL" clId="{1F9F4BE1-6BBB-49D1-AAB3-C12AF29B4F1D}" dt="2025-05-09T13:41:39.075" v="3527" actId="6549"/>
      <pc:docMkLst>
        <pc:docMk/>
      </pc:docMkLst>
      <pc:sldChg chg="modSp mod">
        <pc:chgData name="Namasivayam, Manivasagan" userId="e21825c3-4acc-4579-b7bd-4299043c722e" providerId="ADAL" clId="{1F9F4BE1-6BBB-49D1-AAB3-C12AF29B4F1D}" dt="2025-05-09T13:00:28.377" v="2593" actId="1035"/>
        <pc:sldMkLst>
          <pc:docMk/>
          <pc:sldMk cId="0" sldId="499"/>
        </pc:sldMkLst>
        <pc:spChg chg="mod">
          <ac:chgData name="Namasivayam, Manivasagan" userId="e21825c3-4acc-4579-b7bd-4299043c722e" providerId="ADAL" clId="{1F9F4BE1-6BBB-49D1-AAB3-C12AF29B4F1D}" dt="2025-05-09T13:00:28.377" v="2593" actId="1035"/>
          <ac:spMkLst>
            <pc:docMk/>
            <pc:sldMk cId="0" sldId="499"/>
            <ac:spMk id="6" creationId="{00000000-0000-0000-0000-000000000000}"/>
          </ac:spMkLst>
        </pc:spChg>
      </pc:sldChg>
      <pc:sldChg chg="modSp mod">
        <pc:chgData name="Namasivayam, Manivasagan" userId="e21825c3-4acc-4579-b7bd-4299043c722e" providerId="ADAL" clId="{1F9F4BE1-6BBB-49D1-AAB3-C12AF29B4F1D}" dt="2025-05-08T10:39:17.405" v="380" actId="6549"/>
        <pc:sldMkLst>
          <pc:docMk/>
          <pc:sldMk cId="3714348815" sldId="501"/>
        </pc:sldMkLst>
        <pc:spChg chg="mod">
          <ac:chgData name="Namasivayam, Manivasagan" userId="e21825c3-4acc-4579-b7bd-4299043c722e" providerId="ADAL" clId="{1F9F4BE1-6BBB-49D1-AAB3-C12AF29B4F1D}" dt="2025-05-08T10:39:17.405" v="380" actId="6549"/>
          <ac:spMkLst>
            <pc:docMk/>
            <pc:sldMk cId="3714348815" sldId="501"/>
            <ac:spMk id="6" creationId="{00000000-0000-0000-0000-000000000000}"/>
          </ac:spMkLst>
        </pc:spChg>
      </pc:sldChg>
      <pc:sldChg chg="modSp mod">
        <pc:chgData name="Namasivayam, Manivasagan" userId="e21825c3-4acc-4579-b7bd-4299043c722e" providerId="ADAL" clId="{1F9F4BE1-6BBB-49D1-AAB3-C12AF29B4F1D}" dt="2025-05-08T10:55:14.149" v="679" actId="313"/>
        <pc:sldMkLst>
          <pc:docMk/>
          <pc:sldMk cId="1656814782" sldId="543"/>
        </pc:sldMkLst>
        <pc:spChg chg="mod">
          <ac:chgData name="Namasivayam, Manivasagan" userId="e21825c3-4acc-4579-b7bd-4299043c722e" providerId="ADAL" clId="{1F9F4BE1-6BBB-49D1-AAB3-C12AF29B4F1D}" dt="2025-05-08T10:40:15.439" v="443" actId="14100"/>
          <ac:spMkLst>
            <pc:docMk/>
            <pc:sldMk cId="1656814782" sldId="543"/>
            <ac:spMk id="5" creationId="{00000000-0000-0000-0000-000000000000}"/>
          </ac:spMkLst>
        </pc:spChg>
        <pc:spChg chg="mod">
          <ac:chgData name="Namasivayam, Manivasagan" userId="e21825c3-4acc-4579-b7bd-4299043c722e" providerId="ADAL" clId="{1F9F4BE1-6BBB-49D1-AAB3-C12AF29B4F1D}" dt="2025-05-08T10:55:14.149" v="679" actId="313"/>
          <ac:spMkLst>
            <pc:docMk/>
            <pc:sldMk cId="1656814782" sldId="543"/>
            <ac:spMk id="6" creationId="{00000000-0000-0000-0000-000000000000}"/>
          </ac:spMkLst>
        </pc:spChg>
      </pc:sldChg>
      <pc:sldChg chg="modSp mod">
        <pc:chgData name="Namasivayam, Manivasagan" userId="e21825c3-4acc-4579-b7bd-4299043c722e" providerId="ADAL" clId="{1F9F4BE1-6BBB-49D1-AAB3-C12AF29B4F1D}" dt="2025-05-09T13:24:16.849" v="3170" actId="1035"/>
        <pc:sldMkLst>
          <pc:docMk/>
          <pc:sldMk cId="1332150498" sldId="545"/>
        </pc:sldMkLst>
        <pc:spChg chg="mod">
          <ac:chgData name="Namasivayam, Manivasagan" userId="e21825c3-4acc-4579-b7bd-4299043c722e" providerId="ADAL" clId="{1F9F4BE1-6BBB-49D1-AAB3-C12AF29B4F1D}" dt="2025-05-09T13:24:16.849" v="3170" actId="1035"/>
          <ac:spMkLst>
            <pc:docMk/>
            <pc:sldMk cId="1332150498" sldId="545"/>
            <ac:spMk id="5" creationId="{00000000-0000-0000-0000-000000000000}"/>
          </ac:spMkLst>
        </pc:spChg>
        <pc:spChg chg="mod">
          <ac:chgData name="Namasivayam, Manivasagan" userId="e21825c3-4acc-4579-b7bd-4299043c722e" providerId="ADAL" clId="{1F9F4BE1-6BBB-49D1-AAB3-C12AF29B4F1D}" dt="2025-05-09T13:24:10.412" v="3165" actId="1035"/>
          <ac:spMkLst>
            <pc:docMk/>
            <pc:sldMk cId="1332150498" sldId="545"/>
            <ac:spMk id="6" creationId="{00000000-0000-0000-0000-000000000000}"/>
          </ac:spMkLst>
        </pc:spChg>
      </pc:sldChg>
      <pc:sldChg chg="addSp delSp modSp mod">
        <pc:chgData name="Namasivayam, Manivasagan" userId="e21825c3-4acc-4579-b7bd-4299043c722e" providerId="ADAL" clId="{1F9F4BE1-6BBB-49D1-AAB3-C12AF29B4F1D}" dt="2025-05-09T13:41:39.075" v="3527" actId="6549"/>
        <pc:sldMkLst>
          <pc:docMk/>
          <pc:sldMk cId="1965817503" sldId="546"/>
        </pc:sldMkLst>
        <pc:spChg chg="add del mod">
          <ac:chgData name="Namasivayam, Manivasagan" userId="e21825c3-4acc-4579-b7bd-4299043c722e" providerId="ADAL" clId="{1F9F4BE1-6BBB-49D1-AAB3-C12AF29B4F1D}" dt="2025-05-09T13:41:39.075" v="3527" actId="6549"/>
          <ac:spMkLst>
            <pc:docMk/>
            <pc:sldMk cId="1965817503" sldId="546"/>
            <ac:spMk id="2" creationId="{00000000-0000-0000-0000-000000000000}"/>
          </ac:spMkLst>
        </pc:spChg>
        <pc:spChg chg="mod">
          <ac:chgData name="Namasivayam, Manivasagan" userId="e21825c3-4acc-4579-b7bd-4299043c722e" providerId="ADAL" clId="{1F9F4BE1-6BBB-49D1-AAB3-C12AF29B4F1D}" dt="2025-05-09T13:29:15.036" v="3264" actId="1037"/>
          <ac:spMkLst>
            <pc:docMk/>
            <pc:sldMk cId="1965817503" sldId="546"/>
            <ac:spMk id="5" creationId="{00000000-0000-0000-0000-000000000000}"/>
          </ac:spMkLst>
        </pc:spChg>
      </pc:sldChg>
      <pc:sldChg chg="modSp mod">
        <pc:chgData name="Namasivayam, Manivasagan" userId="e21825c3-4acc-4579-b7bd-4299043c722e" providerId="ADAL" clId="{1F9F4BE1-6BBB-49D1-AAB3-C12AF29B4F1D}" dt="2025-05-09T13:05:53.274" v="2660" actId="207"/>
        <pc:sldMkLst>
          <pc:docMk/>
          <pc:sldMk cId="1304619700" sldId="547"/>
        </pc:sldMkLst>
        <pc:spChg chg="mod">
          <ac:chgData name="Namasivayam, Manivasagan" userId="e21825c3-4acc-4579-b7bd-4299043c722e" providerId="ADAL" clId="{1F9F4BE1-6BBB-49D1-AAB3-C12AF29B4F1D}" dt="2025-05-09T13:03:39.308" v="2656" actId="20577"/>
          <ac:spMkLst>
            <pc:docMk/>
            <pc:sldMk cId="1304619700" sldId="547"/>
            <ac:spMk id="5" creationId="{00000000-0000-0000-0000-000000000000}"/>
          </ac:spMkLst>
        </pc:spChg>
        <pc:spChg chg="mod">
          <ac:chgData name="Namasivayam, Manivasagan" userId="e21825c3-4acc-4579-b7bd-4299043c722e" providerId="ADAL" clId="{1F9F4BE1-6BBB-49D1-AAB3-C12AF29B4F1D}" dt="2025-05-09T13:05:53.274" v="2660" actId="207"/>
          <ac:spMkLst>
            <pc:docMk/>
            <pc:sldMk cId="1304619700" sldId="547"/>
            <ac:spMk id="7" creationId="{00000000-0000-0000-0000-000000000000}"/>
          </ac:spMkLst>
        </pc:spChg>
      </pc:sldChg>
      <pc:sldChg chg="modSp add del mod">
        <pc:chgData name="Namasivayam, Manivasagan" userId="e21825c3-4acc-4579-b7bd-4299043c722e" providerId="ADAL" clId="{1F9F4BE1-6BBB-49D1-AAB3-C12AF29B4F1D}" dt="2025-05-09T12:41:39.532" v="2493" actId="5793"/>
        <pc:sldMkLst>
          <pc:docMk/>
          <pc:sldMk cId="1020263049" sldId="548"/>
        </pc:sldMkLst>
        <pc:spChg chg="mod">
          <ac:chgData name="Namasivayam, Manivasagan" userId="e21825c3-4acc-4579-b7bd-4299043c722e" providerId="ADAL" clId="{1F9F4BE1-6BBB-49D1-AAB3-C12AF29B4F1D}" dt="2025-05-09T12:41:39.532" v="2493" actId="5793"/>
          <ac:spMkLst>
            <pc:docMk/>
            <pc:sldMk cId="1020263049" sldId="548"/>
            <ac:spMk id="6" creationId="{00000000-0000-0000-0000-000000000000}"/>
          </ac:spMkLst>
        </pc:spChg>
      </pc:sldChg>
      <pc:sldChg chg="modSp mod">
        <pc:chgData name="Namasivayam, Manivasagan" userId="e21825c3-4acc-4579-b7bd-4299043c722e" providerId="ADAL" clId="{1F9F4BE1-6BBB-49D1-AAB3-C12AF29B4F1D}" dt="2025-05-09T13:28:59.248" v="3238" actId="1037"/>
        <pc:sldMkLst>
          <pc:docMk/>
          <pc:sldMk cId="2915928096" sldId="549"/>
        </pc:sldMkLst>
        <pc:spChg chg="mod">
          <ac:chgData name="Namasivayam, Manivasagan" userId="e21825c3-4acc-4579-b7bd-4299043c722e" providerId="ADAL" clId="{1F9F4BE1-6BBB-49D1-AAB3-C12AF29B4F1D}" dt="2025-05-09T13:28:59.248" v="3238" actId="1037"/>
          <ac:spMkLst>
            <pc:docMk/>
            <pc:sldMk cId="2915928096" sldId="549"/>
            <ac:spMk id="5" creationId="{00000000-0000-0000-0000-000000000000}"/>
          </ac:spMkLst>
        </pc:spChg>
        <pc:spChg chg="mod">
          <ac:chgData name="Namasivayam, Manivasagan" userId="e21825c3-4acc-4579-b7bd-4299043c722e" providerId="ADAL" clId="{1F9F4BE1-6BBB-49D1-AAB3-C12AF29B4F1D}" dt="2025-05-09T13:11:53.299" v="2672" actId="13926"/>
          <ac:spMkLst>
            <pc:docMk/>
            <pc:sldMk cId="2915928096" sldId="549"/>
            <ac:spMk id="6" creationId="{00000000-0000-0000-0000-000000000000}"/>
          </ac:spMkLst>
        </pc:spChg>
      </pc:sldChg>
      <pc:sldChg chg="modSp add del mod">
        <pc:chgData name="Namasivayam, Manivasagan" userId="e21825c3-4acc-4579-b7bd-4299043c722e" providerId="ADAL" clId="{1F9F4BE1-6BBB-49D1-AAB3-C12AF29B4F1D}" dt="2025-05-09T12:43:14.972" v="2505" actId="20577"/>
        <pc:sldMkLst>
          <pc:docMk/>
          <pc:sldMk cId="2323999797" sldId="550"/>
        </pc:sldMkLst>
        <pc:spChg chg="mod">
          <ac:chgData name="Namasivayam, Manivasagan" userId="e21825c3-4acc-4579-b7bd-4299043c722e" providerId="ADAL" clId="{1F9F4BE1-6BBB-49D1-AAB3-C12AF29B4F1D}" dt="2025-05-09T12:43:14.972" v="2505" actId="20577"/>
          <ac:spMkLst>
            <pc:docMk/>
            <pc:sldMk cId="2323999797" sldId="550"/>
            <ac:spMk id="6" creationId="{00000000-0000-0000-0000-000000000000}"/>
          </ac:spMkLst>
        </pc:spChg>
      </pc:sldChg>
      <pc:sldChg chg="del">
        <pc:chgData name="Namasivayam, Manivasagan" userId="e21825c3-4acc-4579-b7bd-4299043c722e" providerId="ADAL" clId="{1F9F4BE1-6BBB-49D1-AAB3-C12AF29B4F1D}" dt="2025-05-08T12:49:25.115" v="1748" actId="47"/>
        <pc:sldMkLst>
          <pc:docMk/>
          <pc:sldMk cId="3627885544" sldId="551"/>
        </pc:sldMkLst>
      </pc:sldChg>
      <pc:sldChg chg="del">
        <pc:chgData name="Namasivayam, Manivasagan" userId="e21825c3-4acc-4579-b7bd-4299043c722e" providerId="ADAL" clId="{1F9F4BE1-6BBB-49D1-AAB3-C12AF29B4F1D}" dt="2025-05-08T12:49:25.115" v="1748" actId="47"/>
        <pc:sldMkLst>
          <pc:docMk/>
          <pc:sldMk cId="4169166278" sldId="552"/>
        </pc:sldMkLst>
      </pc:sldChg>
      <pc:sldChg chg="add">
        <pc:chgData name="Namasivayam, Manivasagan" userId="e21825c3-4acc-4579-b7bd-4299043c722e" providerId="ADAL" clId="{1F9F4BE1-6BBB-49D1-AAB3-C12AF29B4F1D}" dt="2025-05-09T12:13:10.389" v="1754"/>
        <pc:sldMkLst>
          <pc:docMk/>
          <pc:sldMk cId="2098207426" sldId="553"/>
        </pc:sldMkLst>
      </pc:sldChg>
      <pc:sldChg chg="del">
        <pc:chgData name="Namasivayam, Manivasagan" userId="e21825c3-4acc-4579-b7bd-4299043c722e" providerId="ADAL" clId="{1F9F4BE1-6BBB-49D1-AAB3-C12AF29B4F1D}" dt="2025-05-09T12:13:04.975" v="1753" actId="2696"/>
        <pc:sldMkLst>
          <pc:docMk/>
          <pc:sldMk cId="4007754843" sldId="553"/>
        </pc:sldMkLst>
      </pc:sldChg>
      <pc:sldChg chg="addSp modSp add mod">
        <pc:chgData name="Namasivayam, Manivasagan" userId="e21825c3-4acc-4579-b7bd-4299043c722e" providerId="ADAL" clId="{1F9F4BE1-6BBB-49D1-AAB3-C12AF29B4F1D}" dt="2025-05-09T04:09:48.791" v="1751" actId="20577"/>
        <pc:sldMkLst>
          <pc:docMk/>
          <pc:sldMk cId="1066233569" sldId="555"/>
        </pc:sldMkLst>
        <pc:spChg chg="mod">
          <ac:chgData name="Namasivayam, Manivasagan" userId="e21825c3-4acc-4579-b7bd-4299043c722e" providerId="ADAL" clId="{1F9F4BE1-6BBB-49D1-AAB3-C12AF29B4F1D}" dt="2025-05-08T11:00:58.634" v="839" actId="14100"/>
          <ac:spMkLst>
            <pc:docMk/>
            <pc:sldMk cId="1066233569" sldId="555"/>
            <ac:spMk id="5" creationId="{ADE82E92-481D-20D0-8BA3-5AF8B1AEFD97}"/>
          </ac:spMkLst>
        </pc:spChg>
        <pc:spChg chg="mod">
          <ac:chgData name="Namasivayam, Manivasagan" userId="e21825c3-4acc-4579-b7bd-4299043c722e" providerId="ADAL" clId="{1F9F4BE1-6BBB-49D1-AAB3-C12AF29B4F1D}" dt="2025-05-09T04:09:48.791" v="1751" actId="20577"/>
          <ac:spMkLst>
            <pc:docMk/>
            <pc:sldMk cId="1066233569" sldId="555"/>
            <ac:spMk id="6" creationId="{B5DF197B-A0A8-00EB-3A22-1ACAF636D1BA}"/>
          </ac:spMkLst>
        </pc:spChg>
        <pc:picChg chg="add mod">
          <ac:chgData name="Namasivayam, Manivasagan" userId="e21825c3-4acc-4579-b7bd-4299043c722e" providerId="ADAL" clId="{1F9F4BE1-6BBB-49D1-AAB3-C12AF29B4F1D}" dt="2025-05-08T11:17:30.761" v="1409" actId="1035"/>
          <ac:picMkLst>
            <pc:docMk/>
            <pc:sldMk cId="1066233569" sldId="555"/>
            <ac:picMk id="3" creationId="{6778F577-3D06-3DAC-3440-1DA7ECE0F02D}"/>
          </ac:picMkLst>
        </pc:picChg>
      </pc:sldChg>
      <pc:sldChg chg="addSp modSp add mod">
        <pc:chgData name="Namasivayam, Manivasagan" userId="e21825c3-4acc-4579-b7bd-4299043c722e" providerId="ADAL" clId="{1F9F4BE1-6BBB-49D1-AAB3-C12AF29B4F1D}" dt="2025-05-09T13:38:56.964" v="3494" actId="1036"/>
        <pc:sldMkLst>
          <pc:docMk/>
          <pc:sldMk cId="2752373420" sldId="556"/>
        </pc:sldMkLst>
        <pc:spChg chg="mod">
          <ac:chgData name="Namasivayam, Manivasagan" userId="e21825c3-4acc-4579-b7bd-4299043c722e" providerId="ADAL" clId="{1F9F4BE1-6BBB-49D1-AAB3-C12AF29B4F1D}" dt="2025-05-09T12:19:46.516" v="1838" actId="20577"/>
          <ac:spMkLst>
            <pc:docMk/>
            <pc:sldMk cId="2752373420" sldId="556"/>
            <ac:spMk id="5" creationId="{6804A925-59B6-0EC9-C82C-55EC423F7620}"/>
          </ac:spMkLst>
        </pc:spChg>
        <pc:spChg chg="mod">
          <ac:chgData name="Namasivayam, Manivasagan" userId="e21825c3-4acc-4579-b7bd-4299043c722e" providerId="ADAL" clId="{1F9F4BE1-6BBB-49D1-AAB3-C12AF29B4F1D}" dt="2025-05-09T13:38:56.964" v="3494" actId="1036"/>
          <ac:spMkLst>
            <pc:docMk/>
            <pc:sldMk cId="2752373420" sldId="556"/>
            <ac:spMk id="6" creationId="{66D15E19-60F7-F0FD-0A82-1B6B09783AC6}"/>
          </ac:spMkLst>
        </pc:spChg>
        <pc:graphicFrameChg chg="add mod modGraphic">
          <ac:chgData name="Namasivayam, Manivasagan" userId="e21825c3-4acc-4579-b7bd-4299043c722e" providerId="ADAL" clId="{1F9F4BE1-6BBB-49D1-AAB3-C12AF29B4F1D}" dt="2025-05-09T13:37:23.871" v="3464" actId="1037"/>
          <ac:graphicFrameMkLst>
            <pc:docMk/>
            <pc:sldMk cId="2752373420" sldId="556"/>
            <ac:graphicFrameMk id="2" creationId="{D64D33B8-1A5B-1CE7-9E7B-37E8878DA9C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478010F-4204-40FD-88FF-DBC580611317}" type="datetimeFigureOut">
              <a:rPr lang="en-US"/>
              <a:pPr>
                <a:defRPr/>
              </a:pPr>
              <a:t>5/9/2025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6EB261B-CF37-48FD-AD6F-F79A0F5873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53190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6559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1593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180E4-6304-6FDA-EF4B-D0DFB6002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91AF3-72BE-D305-6B9F-B18E70AD6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65906-4B66-9988-511A-0DB088968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0B61B-3F5E-8A7A-661B-3ED957804B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8870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229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3284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152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857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5687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7757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4009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BB887-1EBF-2DAD-89D8-8603E56CB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51E5D-3034-42AB-7F70-693ADC124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87C7F-E667-611B-4703-CF9485565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CFB8E-F46F-E4D4-648A-1FF05B063A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8081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7089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08BFA3-761C-462B-9F4C-B65A59363929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AA41F-A922-4686-BA3C-62BDFD285D9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293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6605D5-5C15-46AB-B54E-2DC20CAEB2C7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A00F6B-167A-4933-A052-AD0F4B8522F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5911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6B60D-F3FF-4CBE-A057-E6A8826E4DFF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73E4CF-5A47-4E84-8772-B72BDA4047F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3798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3640D6-C5C3-4FD9-AB4E-805A71E28DE2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1C271C-492A-4D5F-8B39-E78566C7DFC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590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D0464A-72B3-40FA-B468-042E88533EF8}" type="datetime1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6D9A12-4A4B-4C60-B6AC-97FBC4C17E0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3526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6B0F83-B4E5-4201-BCAA-167712B0229D}" type="datetime1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D00706-9AEA-4952-BB6A-4906FEA364F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9798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3831F1-9E91-420E-952D-1783D75FE7A8}" type="datetime1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E2A9EA-2E2A-4CA0-A201-F15078DE88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3320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CA2564-3FF2-4990-A0FE-C63B52ADB42E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9F9833-046D-41FD-98BF-9DA9A329DB5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3414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C0F6B0-36E0-4487-894D-438288AF9406}" type="datetime1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4BF3B-BAE6-45F4-894B-623F90330EE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1037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F74CA1-0AEF-4453-A19E-40D2E65187DF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F1C36E-CD42-41C9-86B5-4AA82F65620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785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C7C4AD-DDD7-4CA8-9AEC-20CEB3C9A547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B80D9D-5719-4315-811B-7F05FDE2BB3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5132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47417B1-334F-42BF-B709-7958D0F9B176}" type="datetime1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512618B-365E-4D5F-A1C8-69B6CB29E19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6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9208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1400" dirty="0"/>
              <a:t>Slide Number 1 </a:t>
            </a: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518615" y="457200"/>
            <a:ext cx="10522424" cy="127606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Strategies for Generative AI in 3D Model Reconstruction from 2D Medical Images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1940" y="3125338"/>
            <a:ext cx="954206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rPr lang="en-I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Presenter’s Name :  N.MANIVASAGAN</a:t>
            </a:r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rPr lang="en-I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 Name :  Dr.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I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.JAISINGH</a:t>
            </a:r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rPr lang="en-I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Department :  School of Information Science</a:t>
            </a:r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rPr lang="en-I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Date : 10-May-2025</a:t>
            </a:r>
          </a:p>
        </p:txBody>
      </p:sp>
    </p:spTree>
    <p:extLst>
      <p:ext uri="{BB962C8B-B14F-4D97-AF65-F5344CB8AC3E}">
        <p14:creationId xmlns:p14="http://schemas.microsoft.com/office/powerpoint/2010/main" val="3714348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Number 2 </a:t>
            </a: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2" y="76200"/>
            <a:ext cx="2895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867479"/>
            <a:ext cx="12255689" cy="717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ZW" sz="2000" dirty="0"/>
              <a:t>Medical imaging such as MRI, CT, and X-ray scans produce 2D images that plays vital role in </a:t>
            </a:r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rPr lang="en-ZW" sz="2000" dirty="0"/>
              <a:t>      diagnosis and treatment planning. </a:t>
            </a:r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rPr lang="en-ZW" sz="2000" b="1" dirty="0">
                <a:solidFill>
                  <a:srgbClr val="FF0000"/>
                </a:solidFill>
              </a:rPr>
              <a:t>Limitations/ Drawbacks of 2D Medical Images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Medical imaging procedures including MRI (Magnetic Resonance Imaging), CT (Computed Tomography</a:t>
            </a:r>
          </a:p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are having drawbacks such as radiation 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exposure, availability, and cost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rPr lang="en-ZW" sz="2000" dirty="0"/>
              <a:t>3D Medical image conversion advantages/Benefits</a:t>
            </a:r>
          </a:p>
          <a:p>
            <a:pPr marL="285750" indent="-28575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kern="0" dirty="0">
                <a:effectLst/>
                <a:latin typeface="STIX-Regular"/>
                <a:ea typeface="Aptos" panose="020B0004020202020204" pitchFamily="34" charset="0"/>
                <a:cs typeface="STIX-Regular"/>
              </a:rPr>
              <a:t>3D reconstruction from Medical images is an alternative way of achieving 3D models</a:t>
            </a:r>
            <a:r>
              <a:rPr lang="en-US" sz="1800" b="1" kern="0" dirty="0">
                <a:effectLst/>
                <a:latin typeface="STIX-Regular"/>
                <a:ea typeface="Aptos" panose="020B0004020202020204" pitchFamily="34" charset="0"/>
                <a:cs typeface="STIX-Regular"/>
              </a:rPr>
              <a:t> </a:t>
            </a:r>
            <a:r>
              <a:rPr lang="en-US" sz="1800" kern="0" dirty="0">
                <a:effectLst/>
                <a:latin typeface="STIX-Regular"/>
                <a:ea typeface="Aptos" panose="020B0004020202020204" pitchFamily="34" charset="0"/>
                <a:cs typeface="STIX-Regular"/>
              </a:rPr>
              <a:t>with significantly </a:t>
            </a:r>
          </a:p>
          <a:p>
            <a:pPr marL="285750" indent="-28575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b="1" kern="0" dirty="0">
                <a:effectLst/>
                <a:latin typeface="STIX-Regular"/>
                <a:ea typeface="Aptos" panose="020B0004020202020204" pitchFamily="34" charset="0"/>
                <a:cs typeface="STIX-Regular"/>
              </a:rPr>
              <a:t>low radiation exposure to the patient</a:t>
            </a:r>
          </a:p>
          <a:p>
            <a:pPr marL="285750" indent="-28575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b="1" kern="0" dirty="0">
                <a:latin typeface="STIX-Regular"/>
                <a:ea typeface="Aptos" panose="020B0004020202020204" pitchFamily="34" charset="0"/>
                <a:cs typeface="Times New Roman" panose="02020603050405020304" pitchFamily="18" charset="0"/>
              </a:rPr>
              <a:t>Less cost</a:t>
            </a:r>
          </a:p>
          <a:p>
            <a:pPr marL="285750" indent="-28575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b="1" kern="0" dirty="0">
                <a:effectLst/>
                <a:latin typeface="STIX-Regular"/>
                <a:ea typeface="Aptos" panose="020B0004020202020204" pitchFamily="34" charset="0"/>
                <a:cs typeface="Times New Roman" panose="02020603050405020304" pitchFamily="18" charset="0"/>
              </a:rPr>
              <a:t>No need to be the patient available for </a:t>
            </a:r>
            <a:r>
              <a:rPr lang="en-US" sz="1800" b="1" kern="0" dirty="0" err="1">
                <a:effectLst/>
                <a:latin typeface="STIX-Regular"/>
                <a:ea typeface="Aptos" panose="020B0004020202020204" pitchFamily="34" charset="0"/>
                <a:cs typeface="Times New Roman" panose="02020603050405020304" pitchFamily="18" charset="0"/>
              </a:rPr>
              <a:t>everytime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endParaRPr lang="en-ZW" sz="2000" dirty="0"/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endParaRPr lang="en-ZW" sz="2000" b="1" dirty="0"/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endParaRPr lang="en-ZW" sz="2000" b="1" dirty="0"/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endParaRPr lang="en-ZW" sz="2000" dirty="0"/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endParaRPr lang="en-ZW" sz="2000" dirty="0"/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endParaRPr lang="en-ZW" sz="2000" dirty="0"/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endParaRPr lang="en-ZW" sz="2000" dirty="0"/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endParaRPr lang="en-ZW" sz="2000" dirty="0"/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endParaRPr lang="en-ZW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Number  3 </a:t>
            </a: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1" y="76200"/>
            <a:ext cx="569526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involving in 3D Reconstruction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791569"/>
            <a:ext cx="11546005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0" u="none" strike="noStrike" baseline="0" dirty="0">
                <a:latin typeface="MyriadPro-Bold"/>
              </a:rPr>
              <a:t>Imaging Requirements of 3D Reconstruction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b="1" i="1" u="none" strike="noStrike" baseline="0" dirty="0">
                <a:latin typeface="STIX-Italic"/>
              </a:rPr>
              <a:t>Acquisition of X-ray images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-Regular"/>
              </a:rPr>
              <a:t>3D reconstruction from 2D X-ray images can be performed using single X-ray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STIX-Regular"/>
              </a:rPr>
              <a:t>		images , two X-ray images or more X-ray images for several anatomical regions such as </a:t>
            </a:r>
          </a:p>
          <a:p>
            <a:pPr algn="l"/>
            <a:r>
              <a:rPr lang="en-US" dirty="0">
                <a:solidFill>
                  <a:srgbClr val="000000"/>
                </a:solidFill>
                <a:latin typeface="STIX-Regular"/>
              </a:rPr>
              <a:t>		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-Regular"/>
              </a:rPr>
              <a:t>femur, tibia, fibula, pelvis and spine.</a:t>
            </a:r>
            <a:endParaRPr lang="en-ZW" sz="2000" dirty="0"/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b="1" i="1" u="none" strike="noStrike" baseline="0" dirty="0">
                <a:latin typeface="STIX-Italic"/>
              </a:rPr>
              <a:t>Image Enhancement: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-Regular"/>
              </a:rPr>
              <a:t> X-ray images' are low in intensity, poor in contrast. The quality of the X-ray image can be improved by applying image enhancement  to improve the assessment. Many approaches for improving the quality of X-ray images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STIX-Regular"/>
              </a:rPr>
              <a:t>have been proposed such as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STIX-Regular"/>
              </a:rPr>
              <a:t>Histogram Equalization(HE)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STIX-Regular"/>
              </a:rPr>
              <a:t>A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-Regular"/>
              </a:rPr>
              <a:t>daptive </a:t>
            </a:r>
            <a:r>
              <a:rPr lang="en-US" dirty="0">
                <a:solidFill>
                  <a:srgbClr val="000000"/>
                </a:solidFill>
                <a:latin typeface="STIX-Regular"/>
              </a:rPr>
              <a:t>H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-Regular"/>
              </a:rPr>
              <a:t>istogram </a:t>
            </a:r>
            <a:r>
              <a:rPr lang="en-US" dirty="0">
                <a:solidFill>
                  <a:srgbClr val="000000"/>
                </a:solidFill>
                <a:latin typeface="STIX-Regular"/>
              </a:rPr>
              <a:t>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-Regular"/>
              </a:rPr>
              <a:t>qualization (AHE)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STIX-Regular"/>
              </a:rPr>
              <a:t>wavelet transform coefficients</a:t>
            </a:r>
            <a:r>
              <a:rPr lang="en-US" sz="1800" b="0" i="0" u="none" strike="noStrike" baseline="0" dirty="0">
                <a:latin typeface="STIX-Regular"/>
              </a:rPr>
              <a:t> (WT) also techniques used to suppress mixed noise both Gaussian and impulsive noise while keeping the image structures (edges)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sz="1800" b="1" i="1" u="none" strike="noStrike" baseline="0" dirty="0">
                <a:latin typeface="STIX-Italic"/>
              </a:rPr>
              <a:t>Immobilisation</a:t>
            </a:r>
            <a:r>
              <a:rPr lang="fr-FR" b="1" i="1" dirty="0">
                <a:latin typeface="STIX-Italic"/>
              </a:rPr>
              <a:t> </a:t>
            </a:r>
            <a:r>
              <a:rPr lang="fr-FR" sz="1800" b="1" i="1" u="none" strike="noStrike" baseline="0" dirty="0" err="1">
                <a:latin typeface="STIX-Italic"/>
              </a:rPr>
              <a:t>during</a:t>
            </a:r>
            <a:r>
              <a:rPr lang="fr-FR" sz="1800" b="1" i="1" u="none" strike="noStrike" baseline="0" dirty="0">
                <a:latin typeface="STIX-Italic"/>
              </a:rPr>
              <a:t> image acquisition: </a:t>
            </a:r>
            <a:r>
              <a:rPr lang="fr-FR" sz="1800" i="0" u="none" strike="noStrike" baseline="0" dirty="0">
                <a:latin typeface="STIX-Regular"/>
              </a:rPr>
              <a:t>Immobilisation</a:t>
            </a:r>
            <a:r>
              <a:rPr lang="fr-FR" sz="1800" b="1" i="0" u="none" strike="noStrike" baseline="0" dirty="0">
                <a:latin typeface="STIX-Regular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-Regular"/>
              </a:rPr>
              <a:t>means fixing a body part to reduce or eliminate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STIX-Regular"/>
              </a:rPr>
              <a:t>the motion of a patient during the image acquisition process . During image acquisition, it is necessary to sustain the rigid relationship between the original anatomy and the acquisition device</a:t>
            </a:r>
            <a:endParaRPr lang="en-ZW" sz="2000" b="1" dirty="0"/>
          </a:p>
          <a:p>
            <a:endParaRPr lang="en-ZW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ZW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ZW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ZW" sz="2000" dirty="0"/>
          </a:p>
        </p:txBody>
      </p:sp>
    </p:spTree>
    <p:extLst>
      <p:ext uri="{BB962C8B-B14F-4D97-AF65-F5344CB8AC3E}">
        <p14:creationId xmlns:p14="http://schemas.microsoft.com/office/powerpoint/2010/main" val="1656814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7685F-437E-0BDD-2AE9-6672045BD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>
            <a:extLst>
              <a:ext uri="{FF2B5EF4-FFF2-40B4-BE49-F238E27FC236}">
                <a16:creationId xmlns:a16="http://schemas.microsoft.com/office/drawing/2014/main" id="{1540CA74-2572-8599-78B5-501C3CDA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Number  3 </a:t>
            </a:r>
          </a:p>
        </p:txBody>
      </p:sp>
      <p:sp>
        <p:nvSpPr>
          <p:cNvPr id="5" name="Text Box 1">
            <a:extLst>
              <a:ext uri="{FF2B5EF4-FFF2-40B4-BE49-F238E27FC236}">
                <a16:creationId xmlns:a16="http://schemas.microsoft.com/office/drawing/2014/main" id="{ADE82E92-481D-20D0-8BA3-5AF8B1AEF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710" y="76200"/>
            <a:ext cx="7079924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Categorization of 3D Reconstruction methods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094D8-E8E8-0180-B973-212815E8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DF197B-A0A8-00EB-3A22-1ACAF636D1BA}"/>
              </a:ext>
            </a:extLst>
          </p:cNvPr>
          <p:cNvSpPr/>
          <p:nvPr/>
        </p:nvSpPr>
        <p:spPr>
          <a:xfrm>
            <a:off x="313899" y="791569"/>
            <a:ext cx="11546005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latin typeface="MyriadPro-BoldSemiCn"/>
              </a:rPr>
              <a:t>1. Based on the Information </a:t>
            </a:r>
            <a:r>
              <a:rPr lang="en-US" sz="1800" b="1" i="0" u="none" strike="noStrike" baseline="0" dirty="0" err="1">
                <a:latin typeface="MyriadPro-BoldSemiCn"/>
              </a:rPr>
              <a:t>Utilised</a:t>
            </a:r>
            <a:r>
              <a:rPr lang="en-US" sz="1800" b="1" i="0" u="none" strike="noStrike" baseline="0" dirty="0">
                <a:latin typeface="MyriadPro-BoldSemiCn"/>
              </a:rPr>
              <a:t> for Reconstruction</a:t>
            </a:r>
            <a:r>
              <a:rPr lang="en-US" b="1" i="1" dirty="0">
                <a:latin typeface="STIX-Italic"/>
              </a:rPr>
              <a:t>  : </a:t>
            </a:r>
            <a:r>
              <a:rPr lang="en-US" i="1" dirty="0">
                <a:latin typeface="STIX-Italic"/>
              </a:rPr>
              <a:t>example Intensity based</a:t>
            </a:r>
          </a:p>
          <a:p>
            <a:pPr algn="l"/>
            <a:r>
              <a:rPr lang="en-US" sz="1800" b="1" i="1" u="none" strike="noStrike" baseline="0" dirty="0">
                <a:latin typeface="STIX-Italic"/>
              </a:rPr>
              <a:t>2. Bas</a:t>
            </a:r>
            <a:r>
              <a:rPr lang="en-US" sz="1800" b="1" i="0" u="none" strike="noStrike" baseline="0" dirty="0">
                <a:latin typeface="MyriadPro-BoldSemiCn"/>
              </a:rPr>
              <a:t>ed on the Type of Model Used -</a:t>
            </a:r>
            <a:r>
              <a:rPr lang="en-US" sz="1800" b="0" i="1" u="none" strike="noStrike" baseline="0" dirty="0">
                <a:latin typeface="STIX-Italic"/>
              </a:rPr>
              <a:t>Statistical shape modelling: </a:t>
            </a:r>
            <a:r>
              <a:rPr lang="en-US" sz="1800" b="0" i="0" u="none" strike="noStrike" baseline="0" dirty="0">
                <a:latin typeface="STIX-Regular"/>
              </a:rPr>
              <a:t>3D Model built by </a:t>
            </a:r>
            <a:r>
              <a:rPr lang="en-US" sz="1800" b="0" i="0" u="none" strike="noStrike" baseline="0" dirty="0" err="1">
                <a:latin typeface="STIX-Regular"/>
              </a:rPr>
              <a:t>statisticallyanalyzing</a:t>
            </a:r>
            <a:r>
              <a:rPr lang="en-US" sz="1800" b="0" i="0" u="none" strike="noStrike" baseline="0" dirty="0">
                <a:latin typeface="STIX-Regular"/>
              </a:rPr>
              <a:t> a set of shapes is       known as a SSM</a:t>
            </a:r>
            <a:endParaRPr lang="en-ZW" sz="2000" dirty="0"/>
          </a:p>
          <a:p>
            <a:pPr algn="l"/>
            <a:r>
              <a:rPr lang="en-US" sz="1800" b="1" i="0" u="none" strike="noStrike" baseline="0" dirty="0">
                <a:latin typeface="MyriadPro-BoldSemiCn"/>
              </a:rPr>
              <a:t>3. Based on the Method of Model Deformation-</a:t>
            </a:r>
            <a:r>
              <a:rPr lang="en-US" sz="1800" b="0" i="0" u="none" strike="noStrike" baseline="0" dirty="0">
                <a:latin typeface="STIX-Regular"/>
              </a:rPr>
              <a:t>Deformation techniques apply an adaptable deformation to a template model </a:t>
            </a:r>
            <a:r>
              <a:rPr lang="en-US" sz="1800" b="0" i="0" u="none" strike="noStrike" baseline="0">
                <a:latin typeface="STIX-Regular"/>
              </a:rPr>
              <a:t>without taking into </a:t>
            </a:r>
            <a:r>
              <a:rPr lang="en-US" sz="1800" b="0" i="0" u="none" strike="noStrike" baseline="0" dirty="0">
                <a:latin typeface="STIX-Regular"/>
              </a:rPr>
              <a:t>account any statistical data. A geometric approach called free-form deformation (FFD)</a:t>
            </a:r>
            <a:endParaRPr lang="en-US" sz="1800" b="1" i="0" u="none" strike="noStrike" baseline="0" dirty="0">
              <a:latin typeface="MyriadPro-BoldSemiCn"/>
            </a:endParaRPr>
          </a:p>
          <a:p>
            <a:r>
              <a:rPr lang="en-US" sz="1800" b="1" i="0" u="none" strike="noStrike" baseline="0" dirty="0">
                <a:latin typeface="MyriadPro-BoldSemiCn"/>
              </a:rPr>
              <a:t>4. Based on the Architecture Used-</a:t>
            </a:r>
            <a:r>
              <a:rPr lang="en-US" sz="1800" i="0" u="none" strike="noStrike" baseline="0" dirty="0">
                <a:latin typeface="MyriadPro-BoldSemiCn"/>
              </a:rPr>
              <a:t>Ex CNN and Genetic algorithm</a:t>
            </a:r>
          </a:p>
          <a:p>
            <a:r>
              <a:rPr lang="en-US" sz="1800" b="1" i="0" u="none" strike="noStrike" baseline="0" dirty="0">
                <a:latin typeface="MyriadPro-BoldSemiCn"/>
              </a:rPr>
              <a:t>5. Hybrid Methods</a:t>
            </a:r>
          </a:p>
          <a:p>
            <a:r>
              <a:rPr lang="en-US" sz="1800" b="1" i="0" u="none" strike="noStrike" baseline="0" dirty="0">
                <a:latin typeface="MyriadPro-BoldSemiCn"/>
              </a:rPr>
              <a:t>6. Based on the Anatomical Knowledge Used for Reconstruction</a:t>
            </a:r>
            <a:endParaRPr lang="en-ZW" sz="2000" dirty="0"/>
          </a:p>
          <a:p>
            <a:endParaRPr lang="en-US" sz="1800" b="1" i="0" u="none" strike="noStrike" baseline="0" dirty="0">
              <a:latin typeface="MyriadPro-BoldSemiCn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ZW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ZW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78F577-3D06-3DAC-3440-1DA7ECE0F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88" y="3021879"/>
            <a:ext cx="11262601" cy="418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33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Number 4 </a:t>
            </a: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1" y="32655"/>
            <a:ext cx="4906939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583984"/>
            <a:ext cx="1146411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ZW" sz="2000" dirty="0"/>
              <a:t>Reviewed around 70 articles and 30 journals</a:t>
            </a:r>
          </a:p>
          <a:p>
            <a:r>
              <a:rPr lang="en-ZW" sz="2000" dirty="0"/>
              <a:t>Recent advancements in deep learning, particularly </a:t>
            </a:r>
            <a:r>
              <a:rPr lang="en-ZW" sz="2000" dirty="0">
                <a:solidFill>
                  <a:srgbClr val="FF0000"/>
                </a:solidFill>
              </a:rPr>
              <a:t>GANs</a:t>
            </a:r>
            <a:r>
              <a:rPr lang="en-ZW" sz="2000" dirty="0"/>
              <a:t> and </a:t>
            </a:r>
            <a:r>
              <a:rPr lang="en-ZW" sz="2000" dirty="0">
                <a:solidFill>
                  <a:srgbClr val="FF0000"/>
                </a:solidFill>
              </a:rPr>
              <a:t>VAE</a:t>
            </a:r>
            <a:r>
              <a:rPr lang="en-ZW" sz="2000" dirty="0"/>
              <a:t>s, have revolutionized image synthesis and enhancement.</a:t>
            </a:r>
          </a:p>
          <a:p>
            <a:endParaRPr lang="en-ZW" sz="2000" dirty="0"/>
          </a:p>
          <a:p>
            <a:r>
              <a:rPr lang="en-ZW" sz="2000" dirty="0"/>
              <a:t>2. Studies have demonstrated the ability of these models to generate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ZW" sz="2000" dirty="0"/>
              <a:t> 	high-quality images from low-resolution inputs,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ZW" sz="2000" dirty="0"/>
              <a:t>	enhance image clarity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ZW" sz="2000" dirty="0"/>
              <a:t>	synthesize new data for augmentation. </a:t>
            </a:r>
          </a:p>
          <a:p>
            <a:endParaRPr lang="en-ZW" sz="2000" dirty="0"/>
          </a:p>
          <a:p>
            <a:r>
              <a:rPr lang="en-ZW" sz="2000" dirty="0"/>
              <a:t>3. In the medical field, these techniques have been used for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ZW" sz="2000" dirty="0"/>
              <a:t>image de noising,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ZW" sz="2000" dirty="0"/>
              <a:t>super-resolution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ZW" sz="2000" dirty="0"/>
              <a:t>segmentation. </a:t>
            </a:r>
          </a:p>
          <a:p>
            <a:endParaRPr lang="en-ZW" sz="2000" dirty="0"/>
          </a:p>
          <a:p>
            <a:r>
              <a:rPr lang="en-ZW" sz="2000" dirty="0"/>
              <a:t>However, their application in reconstructing accurate 3D models from 2D images is still emerging.</a:t>
            </a:r>
          </a:p>
          <a:p>
            <a:endParaRPr lang="en-ZW" sz="2000" dirty="0"/>
          </a:p>
          <a:p>
            <a:endParaRPr lang="en-ZW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ZW" sz="2000" dirty="0"/>
          </a:p>
        </p:txBody>
      </p:sp>
    </p:spTree>
    <p:extLst>
      <p:ext uri="{BB962C8B-B14F-4D97-AF65-F5344CB8AC3E}">
        <p14:creationId xmlns:p14="http://schemas.microsoft.com/office/powerpoint/2010/main" val="1332150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Number 5 </a:t>
            </a: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1193073" y="76200"/>
            <a:ext cx="7210697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Review: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existing research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87383" y="643817"/>
            <a:ext cx="11340511" cy="5099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b="1" kern="0" dirty="0">
                <a:solidFill>
                  <a:srgbClr val="42424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1.Diffusion Models</a:t>
            </a:r>
            <a:endParaRPr lang="en-US" b="1" kern="0" dirty="0">
              <a:solidFill>
                <a:srgbClr val="424242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en-US" b="1" kern="0" dirty="0">
                <a:solidFill>
                  <a:srgbClr val="42424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Gen-3Diffusion</a:t>
            </a:r>
            <a:r>
              <a:rPr lang="en-US" kern="0" dirty="0">
                <a:solidFill>
                  <a:srgbClr val="42424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: This approach combines 2D foundation models with 3D generative models using diffusion-based techniques. 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en-US" kern="0" dirty="0">
                <a:solidFill>
                  <a:srgbClr val="42424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synergy between 2D and 3D diffusion steps ensures 3D consistency and leverages strong prior information about 3D shapes </a:t>
            </a:r>
          </a:p>
          <a:p>
            <a:pPr marL="742950" lvl="1" indent="-28575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b="1" kern="0" dirty="0">
                <a:solidFill>
                  <a:srgbClr val="42424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2. Depth Estimation and Point Cloud Generation</a:t>
            </a:r>
            <a:r>
              <a:rPr lang="en-US" kern="0" dirty="0">
                <a:solidFill>
                  <a:srgbClr val="42424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kern="100" dirty="0">
              <a:solidFill>
                <a:srgbClr val="424242"/>
              </a:solidFill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en-US" b="1" kern="0" dirty="0">
                <a:solidFill>
                  <a:srgbClr val="42424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Pre-trained Depth Estimation Models</a:t>
            </a:r>
            <a:r>
              <a:rPr lang="en-US" kern="0" dirty="0">
                <a:solidFill>
                  <a:srgbClr val="42424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: Techniques like those demonstrated by the 3D-Reconstruction </a:t>
            </a:r>
            <a:r>
              <a:rPr lang="en-US" kern="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project use pre-trained models to predict depth maps from 2D images</a:t>
            </a:r>
            <a:r>
              <a:rPr lang="en-US" kern="0" dirty="0">
                <a:solidFill>
                  <a:srgbClr val="424242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 These depth maps are then converted into 3D point clouds, which are refined and used to reconstruct 3D meshes </a:t>
            </a:r>
            <a:endParaRPr lang="en-US" kern="100" dirty="0">
              <a:solidFill>
                <a:srgbClr val="424242"/>
              </a:solidFill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b="1" i="0"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3</a:t>
            </a:r>
            <a:r>
              <a:rPr lang="en-US" b="1" i="0" dirty="0"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. Neural Rendering:</a:t>
            </a:r>
          </a:p>
          <a:p>
            <a:pPr lvl="1"/>
            <a:r>
              <a:rPr lang="en-US" b="0" i="0" dirty="0"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Advanced Neural Networks: Neural rendering techniques utilize </a:t>
            </a:r>
            <a:r>
              <a:rPr lang="en-US" b="0" i="0" dirty="0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deep learning algorithms</a:t>
            </a:r>
            <a:r>
              <a:rPr lang="en-US" b="0" i="0" dirty="0"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 to transform 2D images into detailed and realistic 3D models. This involves depth estimation algorithms and neural networks to generate high-quality 3D representations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endParaRPr lang="en-US" kern="100" dirty="0">
              <a:solidFill>
                <a:srgbClr val="424242"/>
              </a:solidFill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81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Number 6 </a:t>
            </a: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18866" y="122830"/>
            <a:ext cx="5390866" cy="62779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from previous studies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63773" y="1150194"/>
            <a:ext cx="1146412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b="1" dirty="0"/>
              <a:t>1. Improved Accuracy</a:t>
            </a:r>
            <a:r>
              <a:rPr lang="en-US" dirty="0"/>
              <a:t>: </a:t>
            </a:r>
          </a:p>
          <a:p>
            <a:pPr lvl="0"/>
            <a:r>
              <a:rPr lang="en-US" dirty="0"/>
              <a:t>Generative AI models have promised </a:t>
            </a:r>
            <a:r>
              <a:rPr lang="en-US" dirty="0">
                <a:solidFill>
                  <a:srgbClr val="FF0000"/>
                </a:solidFill>
              </a:rPr>
              <a:t>superior performance in terms of accuracy </a:t>
            </a:r>
            <a:r>
              <a:rPr lang="en-US" dirty="0"/>
              <a:t>and detail preservation in 3D reconstructions compared to traditional interpolation techniques.</a:t>
            </a:r>
          </a:p>
          <a:p>
            <a:endParaRPr lang="en-US" b="1" dirty="0"/>
          </a:p>
          <a:p>
            <a:r>
              <a:rPr lang="en-US" b="1" dirty="0"/>
              <a:t>2. Reduction in Data Requirements</a:t>
            </a:r>
            <a:r>
              <a:rPr lang="en-US" dirty="0"/>
              <a:t>: By leveraging data augmentation and transfer learning, these models can achieve high-quality reconstructions even with a </a:t>
            </a:r>
            <a:r>
              <a:rPr lang="en-US" dirty="0">
                <a:solidFill>
                  <a:srgbClr val="FF0000"/>
                </a:solidFill>
              </a:rPr>
              <a:t>limited number of training samples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3. Real-time Processing</a:t>
            </a:r>
            <a:r>
              <a:rPr lang="en-US" dirty="0"/>
              <a:t>: Advances in model architectures and hardware acceleration have enabled real-time or </a:t>
            </a:r>
            <a:r>
              <a:rPr lang="en-US" dirty="0">
                <a:solidFill>
                  <a:srgbClr val="FF0000"/>
                </a:solidFill>
              </a:rPr>
              <a:t>near-real-time 3D reconstructions</a:t>
            </a:r>
            <a:r>
              <a:rPr lang="en-US" dirty="0"/>
              <a:t>, which are essential for clinical applications.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4. Generalization Capabilities</a:t>
            </a:r>
            <a:r>
              <a:rPr lang="en-US" dirty="0"/>
              <a:t>: Some studies have shown that generative AI </a:t>
            </a:r>
            <a:r>
              <a:rPr lang="en-US" dirty="0">
                <a:solidFill>
                  <a:srgbClr val="FF0000"/>
                </a:solidFill>
              </a:rPr>
              <a:t>models trained on specific datasets </a:t>
            </a:r>
            <a:r>
              <a:rPr lang="en-US" dirty="0"/>
              <a:t>can generalize well to other datasets, although this is highly dependent on the diversity of the training data.</a:t>
            </a:r>
          </a:p>
          <a:p>
            <a:endParaRPr lang="en-US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619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Number 7 </a:t>
            </a: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44721" y="136525"/>
            <a:ext cx="5225143" cy="54591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Gaps in the Literature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832512"/>
            <a:ext cx="1146411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b="1" dirty="0"/>
              <a:t>Limited Clinical Validation</a:t>
            </a:r>
            <a:r>
              <a:rPr lang="en-US" dirty="0"/>
              <a:t>: While many studies show promising results, there is a lack of extensive clinical validation to confirm the efficacy and safety of these generative models in real-world medical settings.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endParaRPr lang="en-ZW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ZW" dirty="0"/>
              <a:t> </a:t>
            </a:r>
            <a:r>
              <a:rPr lang="en-US" b="1" dirty="0"/>
              <a:t>Data Diversity</a:t>
            </a:r>
            <a:r>
              <a:rPr lang="en-US" dirty="0"/>
              <a:t>: Most models are </a:t>
            </a:r>
            <a:r>
              <a:rPr lang="en-US" dirty="0">
                <a:highlight>
                  <a:srgbClr val="00FF00"/>
                </a:highlight>
              </a:rPr>
              <a:t>trained on specific datasets</a:t>
            </a:r>
            <a:r>
              <a:rPr lang="en-US" dirty="0"/>
              <a:t>, which may not represent the diversity of anatomical variations across different populations, leading to potential biases.</a:t>
            </a:r>
            <a:endParaRPr lang="en-ZW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b="1" dirty="0"/>
              <a:t>Interpretability and Transparency</a:t>
            </a:r>
            <a:r>
              <a:rPr lang="en-US" dirty="0"/>
              <a:t>: Generative AI models, especially GANs, are often seen as </a:t>
            </a:r>
            <a:r>
              <a:rPr lang="en-US" dirty="0">
                <a:highlight>
                  <a:srgbClr val="00FF00"/>
                </a:highlight>
              </a:rPr>
              <a:t>"black boxes,"</a:t>
            </a:r>
            <a:r>
              <a:rPr lang="en-US" dirty="0"/>
              <a:t> making it challenging to interpret the rationale behind certain reconstructions. This can be a barrier to clinical adoption where transparency is crucial.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Integration with Clinical Workflows</a:t>
            </a:r>
            <a:r>
              <a:rPr lang="en-US" dirty="0"/>
              <a:t>: There is a need for research on integrating these models into existing clinical workflows, ensuring they complement rather than disrupt standard practices.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Regulatory and Ethical Considerations</a:t>
            </a:r>
            <a:r>
              <a:rPr lang="en-US" dirty="0"/>
              <a:t>: The deployment of AI-driven medical technologies raises questions about </a:t>
            </a:r>
            <a:r>
              <a:rPr lang="en-US" dirty="0">
                <a:highlight>
                  <a:srgbClr val="00FF00"/>
                </a:highlight>
              </a:rPr>
              <a:t>data privacy,</a:t>
            </a:r>
            <a:r>
              <a:rPr lang="en-US" dirty="0"/>
              <a:t> consent, and the ethical implications of automated decision-making in healthcare.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ZW" sz="2000" dirty="0"/>
          </a:p>
        </p:txBody>
      </p:sp>
    </p:spTree>
    <p:extLst>
      <p:ext uri="{BB962C8B-B14F-4D97-AF65-F5344CB8AC3E}">
        <p14:creationId xmlns:p14="http://schemas.microsoft.com/office/powerpoint/2010/main" val="2915928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Number 8 </a:t>
            </a: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1" y="76200"/>
            <a:ext cx="4906939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Research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627797"/>
            <a:ext cx="1146411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Primary Objectives</a:t>
            </a:r>
          </a:p>
          <a:p>
            <a:endParaRPr lang="en-US" sz="2000" dirty="0"/>
          </a:p>
          <a:p>
            <a:r>
              <a:rPr lang="en-US" sz="2000" dirty="0"/>
              <a:t>1. </a:t>
            </a:r>
            <a:r>
              <a:rPr lang="en-US" sz="2000" b="1" dirty="0"/>
              <a:t>Develop and Validate Generative AI Models: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 To design and validate generative AI models, such as GANs and VAEs, that can accurately reconstruct 3D anatomical structures from 2D medical images.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en-ZW" sz="2000" dirty="0"/>
              <a:t>To evaluate the performance of these models in various medical imaging modalities (e.g., MRI, CT, X-ray)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2.Assess Clinical Applicability and Integration: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To assess the clinical applicability of the generative AI models in various medical fields, including radiology, orthopedics, and cardiology.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To develop strategies for integrating these models into existing clinical workflows, ensuring they enhance clinical decision-making processes without causing disruptions.</a:t>
            </a:r>
          </a:p>
        </p:txBody>
      </p:sp>
    </p:spTree>
    <p:extLst>
      <p:ext uri="{BB962C8B-B14F-4D97-AF65-F5344CB8AC3E}">
        <p14:creationId xmlns:p14="http://schemas.microsoft.com/office/powerpoint/2010/main" val="1020263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Number 9 </a:t>
            </a: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1" y="76200"/>
            <a:ext cx="4906939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Research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627797"/>
            <a:ext cx="1146411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Secondary Objectives</a:t>
            </a:r>
          </a:p>
          <a:p>
            <a:r>
              <a:rPr lang="en-US" sz="2000" dirty="0"/>
              <a:t>1. </a:t>
            </a:r>
            <a:r>
              <a:rPr lang="en-US" sz="2000" b="1" dirty="0"/>
              <a:t>Enhance Model Interpretability and Transparency:</a:t>
            </a:r>
          </a:p>
          <a:p>
            <a:r>
              <a:rPr lang="en-US" sz="2000" dirty="0"/>
              <a:t>      To investigate methods for improving the interpretability of generative AI models, making it easier     for clinicians to understand and trust the generated 3D reconstructions.</a:t>
            </a:r>
          </a:p>
          <a:p>
            <a:r>
              <a:rPr lang="en-US" sz="2000" dirty="0"/>
              <a:t>      To develop tools or frameworks that provide insights into the decision-making process of these AI models.</a:t>
            </a:r>
          </a:p>
          <a:p>
            <a:endParaRPr lang="en-US" sz="2000" b="1" dirty="0"/>
          </a:p>
          <a:p>
            <a:r>
              <a:rPr lang="en-US" sz="2000" b="1" dirty="0"/>
              <a:t>2.Ensure Data Diversity and Minimize Bias: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     </a:t>
            </a:r>
            <a:r>
              <a:rPr lang="en-US" sz="2000" dirty="0"/>
              <a:t>To curate and use diverse datasets for training and validating the models, ensuring the generalizability of the AI systems across different patient demographics and anatomical variations.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     To analyze and mitigate potential biases in the AI models</a:t>
            </a:r>
          </a:p>
          <a:p>
            <a:endParaRPr lang="en-US" sz="2000" b="1" dirty="0"/>
          </a:p>
          <a:p>
            <a:r>
              <a:rPr lang="en-US" sz="2000" b="1" dirty="0"/>
              <a:t>3. Ethical Considerations: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/>
              <a:t>    To </a:t>
            </a:r>
            <a:r>
              <a:rPr lang="en-US" sz="2000" dirty="0"/>
              <a:t>explore the ethical considerations for deploying generative AI technologies in healthcare, </a:t>
            </a:r>
          </a:p>
        </p:txBody>
      </p:sp>
    </p:spTree>
    <p:extLst>
      <p:ext uri="{BB962C8B-B14F-4D97-AF65-F5344CB8AC3E}">
        <p14:creationId xmlns:p14="http://schemas.microsoft.com/office/powerpoint/2010/main" val="2323999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Number 12 </a:t>
            </a: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1" y="76200"/>
            <a:ext cx="4906939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627797"/>
            <a:ext cx="1146411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Data Analysis Techniques</a:t>
            </a:r>
          </a:p>
          <a:p>
            <a:endParaRPr lang="en-US" dirty="0"/>
          </a:p>
          <a:p>
            <a:r>
              <a:rPr lang="en-US" dirty="0"/>
              <a:t>1.Model Evaluation Metrics:</a:t>
            </a:r>
          </a:p>
          <a:p>
            <a:endParaRPr lang="en-US" dirty="0"/>
          </a:p>
          <a:p>
            <a:r>
              <a:rPr lang="en-US" b="1" dirty="0"/>
              <a:t>Quantitative Metrics</a:t>
            </a:r>
            <a:r>
              <a:rPr lang="en-US" dirty="0"/>
              <a:t>: Accuracy, Dice coefficient, Intersection over Union (</a:t>
            </a:r>
            <a:r>
              <a:rPr lang="en-US" dirty="0" err="1"/>
              <a:t>IoU</a:t>
            </a:r>
            <a:r>
              <a:rPr lang="en-US" dirty="0"/>
              <a:t>), Mean Squared Error (MSE), and Peak Signal-to-Noise Ratio (PSNR) will be used to quantitatively assess the reconstruction quality.</a:t>
            </a:r>
          </a:p>
          <a:p>
            <a:r>
              <a:rPr lang="en-US" b="1" dirty="0"/>
              <a:t>Qualitative Analysis</a:t>
            </a:r>
            <a:r>
              <a:rPr lang="en-US" dirty="0"/>
              <a:t>: Visual inspection and expert review will be conducted to assess the anatomical plausibility and clinical utility of the reconstructed 3D models.</a:t>
            </a:r>
          </a:p>
          <a:p>
            <a:endParaRPr lang="en-US" b="1" dirty="0"/>
          </a:p>
          <a:p>
            <a:r>
              <a:rPr lang="en-US" dirty="0"/>
              <a:t>2.Comparative Analysis:</a:t>
            </a:r>
          </a:p>
          <a:p>
            <a:r>
              <a:rPr lang="en-US" dirty="0"/>
              <a:t>Performance comparisons between different generative AI models (e.g., GANs, VAEs, </a:t>
            </a:r>
            <a:r>
              <a:rPr lang="en-US" dirty="0" err="1"/>
              <a:t>NeRF</a:t>
            </a:r>
            <a:r>
              <a:rPr lang="en-US" dirty="0"/>
              <a:t>) and traditional methods will be conducted to identify strengths and weaknesses.</a:t>
            </a:r>
          </a:p>
          <a:p>
            <a:endParaRPr lang="en-US" dirty="0"/>
          </a:p>
          <a:p>
            <a:r>
              <a:rPr lang="en-US" dirty="0"/>
              <a:t>3.Statistical Analysis:</a:t>
            </a:r>
          </a:p>
          <a:p>
            <a:r>
              <a:rPr lang="en-US" dirty="0"/>
              <a:t>Statistical tests will be applied to determine the significance of differences in performance metrics across different models and datasets.</a:t>
            </a:r>
          </a:p>
        </p:txBody>
      </p:sp>
    </p:spTree>
    <p:extLst>
      <p:ext uri="{BB962C8B-B14F-4D97-AF65-F5344CB8AC3E}">
        <p14:creationId xmlns:p14="http://schemas.microsoft.com/office/powerpoint/2010/main" val="2098207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5C82B-399D-8843-86F2-F76DEA1E9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>
            <a:extLst>
              <a:ext uri="{FF2B5EF4-FFF2-40B4-BE49-F238E27FC236}">
                <a16:creationId xmlns:a16="http://schemas.microsoft.com/office/drawing/2014/main" id="{3DCE0A85-E86E-9C0F-146A-A9D8DE80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Number 12 </a:t>
            </a:r>
          </a:p>
        </p:txBody>
      </p:sp>
      <p:sp>
        <p:nvSpPr>
          <p:cNvPr id="5" name="Text Box 1">
            <a:extLst>
              <a:ext uri="{FF2B5EF4-FFF2-40B4-BE49-F238E27FC236}">
                <a16:creationId xmlns:a16="http://schemas.microsoft.com/office/drawing/2014/main" id="{6804A925-59B6-0EC9-C82C-55EC423F7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711" y="76200"/>
            <a:ext cx="4906939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Achievements: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0DBE0-233E-C16E-14F9-86C65B55E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D15E19-60F7-F0FD-0A82-1B6B09783AC6}"/>
              </a:ext>
            </a:extLst>
          </p:cNvPr>
          <p:cNvSpPr/>
          <p:nvPr/>
        </p:nvSpPr>
        <p:spPr>
          <a:xfrm>
            <a:off x="313899" y="148817"/>
            <a:ext cx="1146411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1. Completed the Coursework of all 4 papers suggested in the First DC meeting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2.Seminar/Conference :</a:t>
            </a:r>
          </a:p>
          <a:p>
            <a:r>
              <a:rPr lang="en-US" dirty="0"/>
              <a:t> Attended “Next Generation Digital Security in </a:t>
            </a:r>
            <a:r>
              <a:rPr lang="en-US" dirty="0" err="1"/>
              <a:t>Defence</a:t>
            </a:r>
            <a:r>
              <a:rPr lang="en-US" dirty="0"/>
              <a:t> with QUANTUM ARTIFICIAL INTELLIGENCE and    DECENTRALIZED BLOCKCHAIN SOLUTIONS” on 23</a:t>
            </a:r>
            <a:r>
              <a:rPr lang="en-US" baseline="30000" dirty="0"/>
              <a:t>rd</a:t>
            </a:r>
            <a:r>
              <a:rPr lang="en-US" dirty="0"/>
              <a:t> Jan and 24</a:t>
            </a:r>
            <a:r>
              <a:rPr lang="en-US" baseline="30000" dirty="0"/>
              <a:t>th</a:t>
            </a:r>
            <a:r>
              <a:rPr lang="en-US" dirty="0"/>
              <a:t> Jan 2025 conducted by Presidency University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4D33B8-1A5B-1CE7-9E7B-37E8878DA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078364"/>
              </p:ext>
            </p:extLst>
          </p:nvPr>
        </p:nvGraphicFramePr>
        <p:xfrm>
          <a:off x="722811" y="1158240"/>
          <a:ext cx="925721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71">
                  <a:extLst>
                    <a:ext uri="{9D8B030D-6E8A-4147-A177-3AD203B41FA5}">
                      <a16:colId xmlns:a16="http://schemas.microsoft.com/office/drawing/2014/main" val="462883176"/>
                    </a:ext>
                  </a:extLst>
                </a:gridCol>
                <a:gridCol w="1080902">
                  <a:extLst>
                    <a:ext uri="{9D8B030D-6E8A-4147-A177-3AD203B41FA5}">
                      <a16:colId xmlns:a16="http://schemas.microsoft.com/office/drawing/2014/main" val="1896517421"/>
                    </a:ext>
                  </a:extLst>
                </a:gridCol>
                <a:gridCol w="3155689">
                  <a:extLst>
                    <a:ext uri="{9D8B030D-6E8A-4147-A177-3AD203B41FA5}">
                      <a16:colId xmlns:a16="http://schemas.microsoft.com/office/drawing/2014/main" val="1330842038"/>
                    </a:ext>
                  </a:extLst>
                </a:gridCol>
                <a:gridCol w="1457757">
                  <a:extLst>
                    <a:ext uri="{9D8B030D-6E8A-4147-A177-3AD203B41FA5}">
                      <a16:colId xmlns:a16="http://schemas.microsoft.com/office/drawing/2014/main" val="3851271434"/>
                    </a:ext>
                  </a:extLst>
                </a:gridCol>
                <a:gridCol w="1335824">
                  <a:extLst>
                    <a:ext uri="{9D8B030D-6E8A-4147-A177-3AD203B41FA5}">
                      <a16:colId xmlns:a16="http://schemas.microsoft.com/office/drawing/2014/main" val="3938892274"/>
                    </a:ext>
                  </a:extLst>
                </a:gridCol>
                <a:gridCol w="1421367">
                  <a:extLst>
                    <a:ext uri="{9D8B030D-6E8A-4147-A177-3AD203B41FA5}">
                      <a16:colId xmlns:a16="http://schemas.microsoft.com/office/drawing/2014/main" val="1700174187"/>
                    </a:ext>
                  </a:extLst>
                </a:gridCol>
              </a:tblGrid>
              <a:tr h="353865"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dirty="0" err="1"/>
                        <a:t>S.No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Course 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Subject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Status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Credits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Grade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128402"/>
                  </a:ext>
                </a:extLst>
              </a:tr>
              <a:tr h="657178">
                <a:tc>
                  <a:txBody>
                    <a:bodyPr/>
                    <a:lstStyle/>
                    <a:p>
                      <a:r>
                        <a:rPr lang="en-IN" dirty="0"/>
                        <a:t>     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RES802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Research Methodology and Publication Ethics for Computer Science and Engineering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Completed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B+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153397"/>
                  </a:ext>
                </a:extLst>
              </a:tr>
              <a:tr h="353865">
                <a:tc>
                  <a:txBody>
                    <a:bodyPr/>
                    <a:lstStyle/>
                    <a:p>
                      <a:r>
                        <a:rPr lang="en-IN" dirty="0"/>
                        <a:t>     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CSE898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Machine Learning Algorithms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Completed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46162"/>
                  </a:ext>
                </a:extLst>
              </a:tr>
              <a:tr h="353865">
                <a:tc>
                  <a:txBody>
                    <a:bodyPr/>
                    <a:lstStyle/>
                    <a:p>
                      <a:r>
                        <a:rPr lang="en-IN" dirty="0"/>
                        <a:t>     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CSC868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Deep Learning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Completed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728711"/>
                  </a:ext>
                </a:extLst>
              </a:tr>
              <a:tr h="353865">
                <a:tc>
                  <a:txBody>
                    <a:bodyPr/>
                    <a:lstStyle/>
                    <a:p>
                      <a:r>
                        <a:rPr lang="en-IN" dirty="0"/>
                        <a:t>     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CSE5020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Medical Image Processing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Completed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770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373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Number 13 </a:t>
            </a: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1" y="76200"/>
            <a:ext cx="4906939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Instruments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478240" y="609600"/>
            <a:ext cx="1146411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Software and Libraries:</a:t>
            </a:r>
          </a:p>
          <a:p>
            <a:r>
              <a:rPr lang="en-US" dirty="0"/>
              <a:t>Deep Learning Frameworks: </a:t>
            </a:r>
          </a:p>
          <a:p>
            <a:r>
              <a:rPr lang="en-US" dirty="0" err="1"/>
              <a:t>PyTorch</a:t>
            </a:r>
            <a:r>
              <a:rPr lang="en-US" dirty="0"/>
              <a:t> and </a:t>
            </a:r>
            <a:r>
              <a:rPr lang="en-US" dirty="0" err="1"/>
              <a:t>TensorFlow</a:t>
            </a:r>
            <a:r>
              <a:rPr lang="en-US" dirty="0"/>
              <a:t> will be used for implementing and training generative AI models.</a:t>
            </a:r>
          </a:p>
          <a:p>
            <a:r>
              <a:rPr lang="en-US" dirty="0"/>
              <a:t>Image Processing Tools: Tools like </a:t>
            </a:r>
            <a:r>
              <a:rPr lang="en-US" dirty="0" err="1"/>
              <a:t>SimpleITK</a:t>
            </a:r>
            <a:r>
              <a:rPr lang="en-US" dirty="0"/>
              <a:t>, </a:t>
            </a:r>
            <a:r>
              <a:rPr lang="en-US" dirty="0" err="1"/>
              <a:t>OpenCV</a:t>
            </a:r>
            <a:r>
              <a:rPr lang="en-US" dirty="0"/>
              <a:t>, and ITK-SNAP for image preprocessing, segmentation, and visualization.</a:t>
            </a:r>
          </a:p>
          <a:p>
            <a:r>
              <a:rPr lang="en-US" b="1" dirty="0"/>
              <a:t>Data Management</a:t>
            </a:r>
            <a:r>
              <a:rPr lang="en-US" dirty="0"/>
              <a:t>: </a:t>
            </a:r>
          </a:p>
          <a:p>
            <a:r>
              <a:rPr lang="en-US" dirty="0"/>
              <a:t>Databases such as SQL or </a:t>
            </a:r>
            <a:r>
              <a:rPr lang="en-US" dirty="0" err="1"/>
              <a:t>NoSQL</a:t>
            </a:r>
            <a:r>
              <a:rPr lang="en-US" dirty="0"/>
              <a:t> systems for managing large datasets, along with tools like Apache Spark for big data processing.</a:t>
            </a:r>
          </a:p>
          <a:p>
            <a:r>
              <a:rPr lang="en-US" dirty="0"/>
              <a:t>Computational Resources:</a:t>
            </a:r>
          </a:p>
          <a:p>
            <a:r>
              <a:rPr lang="en-US" dirty="0"/>
              <a:t>High-Performance Computing (HPC) Clusters: For training large models on high-resolution datasets.</a:t>
            </a:r>
          </a:p>
          <a:p>
            <a:r>
              <a:rPr lang="en-US" dirty="0"/>
              <a:t>GPUs: Utilized for accelerating deep learning model training and inference.</a:t>
            </a:r>
          </a:p>
          <a:p>
            <a:r>
              <a:rPr lang="en-US" b="1" dirty="0"/>
              <a:t>Clinical Validation Tools</a:t>
            </a:r>
            <a:r>
              <a:rPr lang="en-US" dirty="0"/>
              <a:t>: Instruments for expert assessment of 3D models, possibly including 3D printing for physical model validation.</a:t>
            </a:r>
          </a:p>
          <a:p>
            <a:r>
              <a:rPr lang="en-US" dirty="0"/>
              <a:t>Data </a:t>
            </a:r>
            <a:r>
              <a:rPr lang="en-US" dirty="0" err="1"/>
              <a:t>Anonymization</a:t>
            </a:r>
            <a:r>
              <a:rPr lang="en-US" dirty="0"/>
              <a:t> Software: Tools to ensure patient data privacy and compliance with data protection regulations.</a:t>
            </a:r>
          </a:p>
          <a:p>
            <a:r>
              <a:rPr lang="en-US" b="1" dirty="0"/>
              <a:t>Documentation and Reporting Tools</a:t>
            </a:r>
            <a:r>
              <a:rPr lang="en-US" dirty="0"/>
              <a:t>: Systems to maintain detailed records of experiments, model parameters, and results for transparency and reproducibility.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493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Number 14 </a:t>
            </a:r>
          </a:p>
        </p:txBody>
      </p:sp>
      <p:sp>
        <p:nvSpPr>
          <p:cNvPr id="6" name="Text Box 1"/>
          <p:cNvSpPr txBox="1">
            <a:spLocks noChangeArrowheads="1"/>
          </p:cNvSpPr>
          <p:nvPr/>
        </p:nvSpPr>
        <p:spPr bwMode="auto">
          <a:xfrm>
            <a:off x="4133849" y="2590800"/>
            <a:ext cx="3924301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defTabSz="457200">
              <a:lnSpc>
                <a:spcPct val="90000"/>
              </a:lnSpc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 b="1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2pPr>
            <a:lvl3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3pPr>
            <a:lvl4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4pPr>
            <a:lvl5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IN"/>
              <a:t>Thank You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67200" cy="365125"/>
          </a:xfrm>
        </p:spPr>
        <p:txBody>
          <a:bodyPr/>
          <a:lstStyle/>
          <a:p>
            <a:pPr>
              <a:defRPr/>
            </a:pPr>
            <a:r>
              <a:rPr lang="en-US"/>
              <a:t>Section Name </a:t>
            </a:r>
          </a:p>
        </p:txBody>
      </p:sp>
    </p:spTree>
    <p:extLst>
      <p:ext uri="{BB962C8B-B14F-4D97-AF65-F5344CB8AC3E}">
        <p14:creationId xmlns:p14="http://schemas.microsoft.com/office/powerpoint/2010/main" val="277518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690</TotalTime>
  <Words>1704</Words>
  <Application>Microsoft Office PowerPoint</Application>
  <PresentationFormat>Widescreen</PresentationFormat>
  <Paragraphs>240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MyriadPro-Bold</vt:lpstr>
      <vt:lpstr>MyriadPro-BoldSemiCn</vt:lpstr>
      <vt:lpstr>STIX-Italic</vt:lpstr>
      <vt:lpstr>STIX-Regular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Techniques</dc:title>
  <dc:creator>admin</dc:creator>
  <cp:lastModifiedBy>Namasivayam, Manivasagan</cp:lastModifiedBy>
  <cp:revision>40</cp:revision>
  <dcterms:created xsi:type="dcterms:W3CDTF">2007-08-28T09:12:38Z</dcterms:created>
  <dcterms:modified xsi:type="dcterms:W3CDTF">2025-05-09T13:41:43Z</dcterms:modified>
</cp:coreProperties>
</file>