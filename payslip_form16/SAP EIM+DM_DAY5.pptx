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s/slide24.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5.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 id="327" r:id="rId37"/>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1" d="100"/>
          <a:sy n="61" d="100"/>
        </p:scale>
        <p:origin x="788"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95527" y="213436"/>
            <a:ext cx="9600945" cy="60579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0" i="0">
                <a:solidFill>
                  <a:srgbClr val="006FAC"/>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0" i="0">
                <a:solidFill>
                  <a:srgbClr val="006FAC"/>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0" i="0">
                <a:solidFill>
                  <a:srgbClr val="006FAC"/>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CECEC"/>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11548871" y="213486"/>
            <a:ext cx="423672" cy="434213"/>
          </a:xfrm>
          <a:prstGeom prst="rect">
            <a:avLst/>
          </a:prstGeom>
        </p:spPr>
      </p:pic>
      <p:sp>
        <p:nvSpPr>
          <p:cNvPr id="2" name="Holder 2"/>
          <p:cNvSpPr>
            <a:spLocks noGrp="1"/>
          </p:cNvSpPr>
          <p:nvPr>
            <p:ph type="title"/>
          </p:nvPr>
        </p:nvSpPr>
        <p:spPr>
          <a:xfrm>
            <a:off x="1054100" y="-17576"/>
            <a:ext cx="10083800" cy="1764030"/>
          </a:xfrm>
          <a:prstGeom prst="rect">
            <a:avLst/>
          </a:prstGeom>
        </p:spPr>
        <p:txBody>
          <a:bodyPr wrap="square" lIns="0" tIns="0" rIns="0" bIns="0">
            <a:spAutoFit/>
          </a:bodyPr>
          <a:lstStyle>
            <a:lvl1pPr>
              <a:defRPr sz="3800" b="0" i="0">
                <a:solidFill>
                  <a:srgbClr val="006FAC"/>
                </a:solidFill>
                <a:latin typeface="Verdana"/>
                <a:cs typeface="Verdana"/>
              </a:defRPr>
            </a:lvl1pPr>
          </a:lstStyle>
          <a:p>
            <a:endParaRPr/>
          </a:p>
        </p:txBody>
      </p:sp>
      <p:sp>
        <p:nvSpPr>
          <p:cNvPr id="3" name="Holder 3"/>
          <p:cNvSpPr>
            <a:spLocks noGrp="1"/>
          </p:cNvSpPr>
          <p:nvPr>
            <p:ph type="body" idx="1"/>
          </p:nvPr>
        </p:nvSpPr>
        <p:spPr>
          <a:xfrm>
            <a:off x="736193" y="1938654"/>
            <a:ext cx="10087610" cy="2411095"/>
          </a:xfrm>
          <a:prstGeom prst="rect">
            <a:avLst/>
          </a:prstGeom>
        </p:spPr>
        <p:txBody>
          <a:bodyPr wrap="square" lIns="0" tIns="0" rIns="0" bIns="0">
            <a:spAutoFit/>
          </a:bodyPr>
          <a:lstStyle>
            <a:lvl1pPr>
              <a:defRPr sz="18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1/5/2022</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548871" y="213486"/>
            <a:ext cx="423672" cy="43421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5126735" y="0"/>
            <a:ext cx="7065263" cy="6857999"/>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408431" y="6100571"/>
            <a:ext cx="2286000" cy="512064"/>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5"/>
          <p:cNvSpPr txBox="1">
            <a:spLocks/>
          </p:cNvSpPr>
          <p:nvPr/>
        </p:nvSpPr>
        <p:spPr>
          <a:xfrm>
            <a:off x="1235454" y="2618963"/>
            <a:ext cx="4479545" cy="603114"/>
          </a:xfrm>
          <a:prstGeom prst="rect">
            <a:avLst/>
          </a:prstGeom>
        </p:spPr>
        <p:txBody>
          <a:bodyPr vert="horz" wrap="square" lIns="0" tIns="12065" rIns="0" bIns="0" rtlCol="0">
            <a:spAutoFit/>
          </a:bodyPr>
          <a:lstStyle>
            <a:lvl1pPr>
              <a:defRPr sz="3800" b="0" i="0">
                <a:solidFill>
                  <a:srgbClr val="006FAC"/>
                </a:solidFill>
                <a:latin typeface="Verdana"/>
                <a:ea typeface="+mj-ea"/>
                <a:cs typeface="Verdana"/>
              </a:defRPr>
            </a:lvl1pPr>
          </a:lstStyle>
          <a:p>
            <a:pPr marL="12700" marR="5080" indent="1047115">
              <a:lnSpc>
                <a:spcPct val="119700"/>
              </a:lnSpc>
              <a:spcBef>
                <a:spcPts val="95"/>
              </a:spcBef>
            </a:pPr>
            <a:r>
              <a:rPr lang="en-IN" sz="3200" b="1" kern="0" spc="50" dirty="0" smtClean="0">
                <a:latin typeface="Arial"/>
                <a:cs typeface="Arial"/>
              </a:rPr>
              <a:t>T</a:t>
            </a:r>
            <a:r>
              <a:rPr lang="en-IN" sz="3200" b="1" kern="0" dirty="0" smtClean="0">
                <a:latin typeface="Arial"/>
                <a:cs typeface="Arial"/>
              </a:rPr>
              <a:t>R</a:t>
            </a:r>
            <a:r>
              <a:rPr lang="en-IN" sz="3200" b="1" kern="0" spc="60" dirty="0" smtClean="0">
                <a:latin typeface="Arial"/>
                <a:cs typeface="Arial"/>
              </a:rPr>
              <a:t>AI</a:t>
            </a:r>
            <a:r>
              <a:rPr lang="en-IN" sz="3200" b="1" kern="0" spc="80" dirty="0" smtClean="0">
                <a:latin typeface="Arial"/>
                <a:cs typeface="Arial"/>
              </a:rPr>
              <a:t>N</a:t>
            </a:r>
            <a:r>
              <a:rPr lang="en-IN" sz="3200" b="1" kern="0" spc="95" dirty="0" smtClean="0">
                <a:latin typeface="Arial"/>
                <a:cs typeface="Arial"/>
              </a:rPr>
              <a:t>ING</a:t>
            </a:r>
            <a:r>
              <a:rPr lang="en-IN" sz="3200" b="1" kern="0" spc="-130" dirty="0" smtClean="0">
                <a:latin typeface="Arial"/>
                <a:cs typeface="Arial"/>
              </a:rPr>
              <a:t> </a:t>
            </a:r>
            <a:r>
              <a:rPr lang="en-IN" sz="3200" b="1" kern="0" spc="-50" dirty="0" smtClean="0">
                <a:latin typeface="Arial"/>
                <a:cs typeface="Arial"/>
              </a:rPr>
              <a:t>D</a:t>
            </a:r>
            <a:r>
              <a:rPr lang="en-IN" sz="3200" b="1" kern="0" spc="-200" dirty="0" smtClean="0">
                <a:latin typeface="Arial"/>
                <a:cs typeface="Arial"/>
              </a:rPr>
              <a:t>A</a:t>
            </a:r>
            <a:r>
              <a:rPr lang="en-IN" sz="3200" b="1" kern="0" spc="-135" dirty="0" smtClean="0">
                <a:latin typeface="Arial"/>
                <a:cs typeface="Arial"/>
              </a:rPr>
              <a:t>Y</a:t>
            </a:r>
            <a:r>
              <a:rPr lang="en-IN" sz="3200" b="1" kern="0" spc="-120" dirty="0" smtClean="0">
                <a:latin typeface="Arial"/>
                <a:cs typeface="Arial"/>
              </a:rPr>
              <a:t> </a:t>
            </a:r>
            <a:r>
              <a:rPr lang="en-IN" sz="3200" b="1" kern="0" spc="125" dirty="0">
                <a:latin typeface="Arial"/>
                <a:cs typeface="Arial"/>
              </a:rPr>
              <a:t>5</a:t>
            </a:r>
            <a:endParaRPr lang="en-IN" sz="3200" kern="0" dirty="0">
              <a:latin typeface="Arial"/>
              <a:cs typeface="Arial"/>
            </a:endParaRPr>
          </a:p>
        </p:txBody>
      </p:sp>
    </p:spTree>
    <p:extLst>
      <p:ext uri="{BB962C8B-B14F-4D97-AF65-F5344CB8AC3E}">
        <p14:creationId xmlns:p14="http://schemas.microsoft.com/office/powerpoint/2010/main" val="1189785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1950" y="335026"/>
            <a:ext cx="2997326" cy="689932"/>
          </a:xfrm>
          <a:prstGeom prst="rect">
            <a:avLst/>
          </a:prstGeom>
        </p:spPr>
        <p:txBody>
          <a:bodyPr vert="horz" wrap="square" lIns="0" tIns="12700" rIns="0" bIns="0" rtlCol="0">
            <a:spAutoFit/>
          </a:bodyPr>
          <a:lstStyle/>
          <a:p>
            <a:pPr marL="12700">
              <a:lnSpc>
                <a:spcPct val="100000"/>
              </a:lnSpc>
              <a:spcBef>
                <a:spcPts val="100"/>
              </a:spcBef>
            </a:pPr>
            <a:r>
              <a:rPr sz="4400" b="1" dirty="0"/>
              <a:t>AGENDA</a:t>
            </a:r>
          </a:p>
        </p:txBody>
      </p:sp>
      <p:sp>
        <p:nvSpPr>
          <p:cNvPr id="3" name="object 3"/>
          <p:cNvSpPr txBox="1"/>
          <p:nvPr/>
        </p:nvSpPr>
        <p:spPr>
          <a:xfrm>
            <a:off x="933093" y="1298854"/>
            <a:ext cx="8087081" cy="2530116"/>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31100"/>
              </a:lnSpc>
              <a:spcBef>
                <a:spcPts val="600"/>
              </a:spcBef>
              <a:spcAft>
                <a:spcPts val="600"/>
              </a:spcAft>
              <a:buClrTx/>
              <a:buSzTx/>
              <a:buFontTx/>
              <a:buNone/>
              <a:tabLst/>
              <a:defRPr/>
            </a:pPr>
            <a:r>
              <a:rPr kumimoji="0" lang="en-US" b="0" i="0" u="none" strike="noStrike" kern="1200" cap="none" spc="-5" normalizeH="0" baseline="0" noProof="0" dirty="0" smtClean="0">
                <a:ln>
                  <a:noFill/>
                </a:ln>
                <a:solidFill>
                  <a:prstClr val="black"/>
                </a:solidFill>
                <a:effectLst/>
                <a:uLnTx/>
                <a:uFillTx/>
                <a:latin typeface="Verdana"/>
                <a:cs typeface="Verdana"/>
              </a:rPr>
              <a:t>Migration Cockpit</a:t>
            </a:r>
            <a:r>
              <a:rPr kumimoji="0" lang="en-US" b="0" i="0" u="none" strike="noStrike" kern="1200" cap="none" spc="-5" normalizeH="0" noProof="0" dirty="0" smtClean="0">
                <a:ln>
                  <a:noFill/>
                </a:ln>
                <a:solidFill>
                  <a:prstClr val="black"/>
                </a:solidFill>
                <a:effectLst/>
                <a:uLnTx/>
                <a:uFillTx/>
                <a:latin typeface="Verdana"/>
                <a:cs typeface="Verdana"/>
              </a:rPr>
              <a:t> </a:t>
            </a:r>
            <a:r>
              <a:rPr kumimoji="0" lang="en-US" b="0" i="0" u="none" strike="noStrike" kern="1200" cap="none" spc="-5" normalizeH="0" baseline="0" noProof="0" dirty="0" smtClean="0">
                <a:ln>
                  <a:noFill/>
                </a:ln>
                <a:solidFill>
                  <a:prstClr val="black"/>
                </a:solidFill>
                <a:effectLst/>
                <a:uLnTx/>
                <a:uFillTx/>
                <a:latin typeface="Verdana"/>
                <a:cs typeface="Verdana"/>
              </a:rPr>
              <a:t>Introduction</a:t>
            </a:r>
            <a:endParaRPr kumimoji="0" b="0" i="0" u="none" strike="noStrike" kern="1200" cap="none" spc="0" normalizeH="0" baseline="0" noProof="0" dirty="0">
              <a:ln>
                <a:noFill/>
              </a:ln>
              <a:solidFill>
                <a:prstClr val="black"/>
              </a:solidFill>
              <a:effectLst/>
              <a:uLnTx/>
              <a:uFillTx/>
              <a:latin typeface="Verdana"/>
              <a:cs typeface="Verdana"/>
            </a:endParaRPr>
          </a:p>
          <a:p>
            <a:pPr marL="12700" marR="0" lvl="0" indent="0" algn="l" defTabSz="914400" rtl="0" eaLnBrk="1" fontAlgn="auto" latinLnBrk="0" hangingPunct="1">
              <a:lnSpc>
                <a:spcPct val="100000"/>
              </a:lnSpc>
              <a:spcBef>
                <a:spcPts val="600"/>
              </a:spcBef>
              <a:spcAft>
                <a:spcPts val="600"/>
              </a:spcAft>
              <a:buClrTx/>
              <a:buSzTx/>
              <a:buFontTx/>
              <a:buNone/>
              <a:tabLst/>
              <a:defRPr/>
            </a:pPr>
            <a:r>
              <a:rPr kumimoji="0" lang="en-US" b="0" i="0" u="none" strike="noStrike" kern="1200" cap="none" spc="-5" normalizeH="0" baseline="0" noProof="0" dirty="0" smtClean="0">
                <a:ln>
                  <a:noFill/>
                </a:ln>
                <a:solidFill>
                  <a:prstClr val="black"/>
                </a:solidFill>
                <a:effectLst/>
                <a:uLnTx/>
                <a:uFillTx/>
                <a:latin typeface="Verdana"/>
                <a:cs typeface="Verdana"/>
              </a:rPr>
              <a:t>Migration Objects</a:t>
            </a:r>
            <a:endParaRPr lang="en-US" dirty="0">
              <a:solidFill>
                <a:prstClr val="black"/>
              </a:solidFill>
              <a:latin typeface="Verdana"/>
              <a:cs typeface="Verdana"/>
            </a:endParaRPr>
          </a:p>
          <a:p>
            <a:pPr marL="12700" marR="0" lvl="0" indent="0" algn="l" defTabSz="914400" rtl="0" eaLnBrk="1" fontAlgn="auto" latinLnBrk="0" hangingPunct="1">
              <a:lnSpc>
                <a:spcPct val="100000"/>
              </a:lnSpc>
              <a:spcBef>
                <a:spcPts val="600"/>
              </a:spcBef>
              <a:spcAft>
                <a:spcPts val="600"/>
              </a:spcAft>
              <a:buClrTx/>
              <a:buSzTx/>
              <a:buFontTx/>
              <a:buNone/>
              <a:tabLst/>
              <a:defRPr/>
            </a:pPr>
            <a:r>
              <a:rPr kumimoji="0" lang="en-US" b="0" i="0" u="none" strike="noStrike" kern="1200" cap="none" spc="-15" normalizeH="0" baseline="0" noProof="0" dirty="0" smtClean="0">
                <a:ln>
                  <a:noFill/>
                </a:ln>
                <a:solidFill>
                  <a:prstClr val="black"/>
                </a:solidFill>
                <a:effectLst/>
                <a:uLnTx/>
                <a:uFillTx/>
                <a:latin typeface="Verdana"/>
                <a:cs typeface="Verdana"/>
              </a:rPr>
              <a:t>Migration </a:t>
            </a:r>
            <a:r>
              <a:rPr kumimoji="0" lang="en-US" b="0" i="0" u="none" strike="noStrike" kern="1200" cap="none" spc="-15" normalizeH="0" baseline="0" noProof="0" dirty="0">
                <a:ln>
                  <a:noFill/>
                </a:ln>
                <a:solidFill>
                  <a:prstClr val="black"/>
                </a:solidFill>
                <a:effectLst/>
                <a:uLnTx/>
                <a:uFillTx/>
                <a:latin typeface="Verdana"/>
                <a:cs typeface="Verdana"/>
              </a:rPr>
              <a:t>Using </a:t>
            </a:r>
            <a:r>
              <a:rPr kumimoji="0" lang="en-US" b="0" i="0" u="none" strike="noStrike" kern="1200" cap="none" spc="-15" normalizeH="0" baseline="0" noProof="0" dirty="0" smtClean="0">
                <a:ln>
                  <a:noFill/>
                </a:ln>
                <a:solidFill>
                  <a:prstClr val="black"/>
                </a:solidFill>
                <a:effectLst/>
                <a:uLnTx/>
                <a:uFillTx/>
                <a:latin typeface="Verdana"/>
                <a:cs typeface="Verdana"/>
              </a:rPr>
              <a:t>Templates</a:t>
            </a:r>
          </a:p>
          <a:p>
            <a:pPr marL="12700" marR="0" lvl="0" indent="0" algn="l" defTabSz="914400" rtl="0" eaLnBrk="1" fontAlgn="auto" latinLnBrk="0" hangingPunct="1">
              <a:lnSpc>
                <a:spcPct val="100000"/>
              </a:lnSpc>
              <a:spcBef>
                <a:spcPts val="600"/>
              </a:spcBef>
              <a:spcAft>
                <a:spcPts val="600"/>
              </a:spcAft>
              <a:buClrTx/>
              <a:buSzTx/>
              <a:buFontTx/>
              <a:buNone/>
              <a:tabLst/>
              <a:defRPr/>
            </a:pPr>
            <a:r>
              <a:rPr lang="en-US" spc="-15" dirty="0" smtClean="0">
                <a:solidFill>
                  <a:prstClr val="black"/>
                </a:solidFill>
                <a:latin typeface="Verdana"/>
                <a:cs typeface="Verdana"/>
              </a:rPr>
              <a:t>Migration </a:t>
            </a:r>
            <a:r>
              <a:rPr lang="en-US" spc="-15" dirty="0">
                <a:solidFill>
                  <a:prstClr val="black"/>
                </a:solidFill>
                <a:latin typeface="Verdana"/>
                <a:cs typeface="Verdana"/>
              </a:rPr>
              <a:t>Using </a:t>
            </a:r>
            <a:r>
              <a:rPr lang="en-US" spc="-15" dirty="0" smtClean="0">
                <a:solidFill>
                  <a:prstClr val="black"/>
                </a:solidFill>
                <a:latin typeface="Verdana"/>
                <a:cs typeface="Verdana"/>
              </a:rPr>
              <a:t>Tables</a:t>
            </a:r>
            <a:endParaRPr lang="en-US" spc="-15" dirty="0">
              <a:solidFill>
                <a:prstClr val="black"/>
              </a:solidFill>
              <a:latin typeface="Verdana"/>
              <a:cs typeface="Verdana"/>
            </a:endParaRPr>
          </a:p>
          <a:p>
            <a:pPr marL="12700" marR="0" lvl="0" indent="0" algn="l" defTabSz="914400" rtl="0" eaLnBrk="1" fontAlgn="auto" latinLnBrk="0" hangingPunct="1">
              <a:lnSpc>
                <a:spcPct val="100000"/>
              </a:lnSpc>
              <a:spcBef>
                <a:spcPts val="600"/>
              </a:spcBef>
              <a:spcAft>
                <a:spcPts val="600"/>
              </a:spcAft>
              <a:buClrTx/>
              <a:buSzTx/>
              <a:buFontTx/>
              <a:buNone/>
              <a:tabLst/>
              <a:defRPr/>
            </a:pPr>
            <a:r>
              <a:rPr kumimoji="0" lang="en-US" b="0" i="0" u="none" strike="noStrike" kern="1200" cap="none" spc="-10" normalizeH="0" baseline="0" noProof="0" dirty="0" smtClean="0">
                <a:ln>
                  <a:noFill/>
                </a:ln>
                <a:solidFill>
                  <a:prstClr val="black"/>
                </a:solidFill>
                <a:effectLst/>
                <a:uLnTx/>
                <a:uFillTx/>
                <a:latin typeface="Verdana"/>
                <a:cs typeface="Verdana"/>
              </a:rPr>
              <a:t>Migration </a:t>
            </a:r>
            <a:r>
              <a:rPr kumimoji="0" lang="en-US" b="0" i="0" u="none" strike="noStrike" kern="1200" cap="none" spc="-10" normalizeH="0" baseline="0" noProof="0" dirty="0">
                <a:ln>
                  <a:noFill/>
                </a:ln>
                <a:solidFill>
                  <a:prstClr val="black"/>
                </a:solidFill>
                <a:effectLst/>
                <a:uLnTx/>
                <a:uFillTx/>
                <a:latin typeface="Verdana"/>
                <a:cs typeface="Verdana"/>
              </a:rPr>
              <a:t>Object </a:t>
            </a:r>
            <a:r>
              <a:rPr kumimoji="0" lang="en-US" b="0" i="0" u="none" strike="noStrike" kern="1200" cap="none" spc="-10" normalizeH="0" baseline="0" noProof="0" dirty="0" smtClean="0">
                <a:ln>
                  <a:noFill/>
                </a:ln>
                <a:solidFill>
                  <a:prstClr val="black"/>
                </a:solidFill>
                <a:effectLst/>
                <a:uLnTx/>
                <a:uFillTx/>
                <a:latin typeface="Verdana"/>
                <a:cs typeface="Verdana"/>
              </a:rPr>
              <a:t>Modeler</a:t>
            </a:r>
          </a:p>
          <a:p>
            <a:pPr marL="12700" marR="0" lvl="0" indent="0" algn="l" defTabSz="914400" rtl="0" eaLnBrk="1" fontAlgn="auto" latinLnBrk="0" hangingPunct="1">
              <a:lnSpc>
                <a:spcPct val="100000"/>
              </a:lnSpc>
              <a:spcBef>
                <a:spcPts val="600"/>
              </a:spcBef>
              <a:spcAft>
                <a:spcPts val="600"/>
              </a:spcAft>
              <a:buClrTx/>
              <a:buSzTx/>
              <a:buFontTx/>
              <a:buNone/>
              <a:tabLst/>
              <a:defRPr/>
            </a:pPr>
            <a:r>
              <a:rPr kumimoji="0" b="0" i="0" u="none" strike="noStrike" kern="1200" cap="none" spc="-10" normalizeH="0" baseline="0" noProof="0" dirty="0" smtClean="0">
                <a:ln>
                  <a:noFill/>
                </a:ln>
                <a:solidFill>
                  <a:prstClr val="black"/>
                </a:solidFill>
                <a:effectLst/>
                <a:uLnTx/>
                <a:uFillTx/>
                <a:latin typeface="Verdana"/>
                <a:cs typeface="Verdana"/>
              </a:rPr>
              <a:t>Questions</a:t>
            </a:r>
            <a:endParaRPr kumimoji="0" b="0" i="0" u="none" strike="noStrike" kern="1200" cap="none" spc="0" normalizeH="0" baseline="0" noProof="0" dirty="0">
              <a:ln>
                <a:noFill/>
              </a:ln>
              <a:solidFill>
                <a:prstClr val="black"/>
              </a:solidFill>
              <a:effectLst/>
              <a:uLnTx/>
              <a:uFillTx/>
              <a:latin typeface="Verdana"/>
              <a:cs typeface="Verdana"/>
            </a:endParaRPr>
          </a:p>
        </p:txBody>
      </p:sp>
    </p:spTree>
    <p:extLst>
      <p:ext uri="{BB962C8B-B14F-4D97-AF65-F5344CB8AC3E}">
        <p14:creationId xmlns:p14="http://schemas.microsoft.com/office/powerpoint/2010/main" val="2504557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5876" y="2164791"/>
            <a:ext cx="7877174" cy="1490793"/>
          </a:xfrm>
          <a:prstGeom prst="rect">
            <a:avLst/>
          </a:prstGeom>
        </p:spPr>
        <p:txBody>
          <a:bodyPr vert="horz" wrap="square" lIns="0" tIns="13335" rIns="0" bIns="0" rtlCol="0">
            <a:spAutoFit/>
          </a:bodyPr>
          <a:lstStyle/>
          <a:p>
            <a:pPr marL="12700">
              <a:lnSpc>
                <a:spcPct val="100000"/>
              </a:lnSpc>
              <a:spcBef>
                <a:spcPts val="105"/>
              </a:spcBef>
            </a:pPr>
            <a:r>
              <a:rPr lang="en-US" sz="3200" b="1" dirty="0">
                <a:latin typeface="Verdana"/>
                <a:cs typeface="Verdana"/>
              </a:rPr>
              <a:t>Introduction to </a:t>
            </a:r>
            <a:br>
              <a:rPr lang="en-US" sz="3200" b="1" dirty="0">
                <a:latin typeface="Verdana"/>
                <a:cs typeface="Verdana"/>
              </a:rPr>
            </a:br>
            <a:r>
              <a:rPr lang="en-US" sz="3200" b="1" dirty="0">
                <a:latin typeface="Verdana"/>
                <a:cs typeface="Verdana"/>
              </a:rPr>
              <a:t>S4 HANA Legacy Transfer Migration Cockpit</a:t>
            </a:r>
            <a:endParaRPr sz="3200" dirty="0">
              <a:latin typeface="Verdana"/>
              <a:cs typeface="Verdana"/>
            </a:endParaRPr>
          </a:p>
        </p:txBody>
      </p:sp>
    </p:spTree>
    <p:extLst>
      <p:ext uri="{BB962C8B-B14F-4D97-AF65-F5344CB8AC3E}">
        <p14:creationId xmlns:p14="http://schemas.microsoft.com/office/powerpoint/2010/main" val="2225757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1F60-D4B8-42C6-8FFD-EE0D7ECDE672}"/>
              </a:ext>
            </a:extLst>
          </p:cNvPr>
          <p:cNvSpPr>
            <a:spLocks noGrp="1"/>
          </p:cNvSpPr>
          <p:nvPr>
            <p:ph type="title"/>
          </p:nvPr>
        </p:nvSpPr>
        <p:spPr>
          <a:xfrm>
            <a:off x="1057147" y="866901"/>
            <a:ext cx="10077704" cy="492443"/>
          </a:xfrm>
        </p:spPr>
        <p:txBody>
          <a:bodyPr/>
          <a:lstStyle/>
          <a:p>
            <a:r>
              <a:rPr lang="en-US" sz="3200" b="1" dirty="0">
                <a:solidFill>
                  <a:srgbClr val="0070C0"/>
                </a:solidFill>
              </a:rPr>
              <a:t>S/4HANA Migration Cockpit-Purpose</a:t>
            </a:r>
            <a:endParaRPr lang="en-US" sz="3200" dirty="0">
              <a:solidFill>
                <a:srgbClr val="0070C0"/>
              </a:solidFill>
            </a:endParaRPr>
          </a:p>
        </p:txBody>
      </p:sp>
      <p:sp>
        <p:nvSpPr>
          <p:cNvPr id="3" name="Content Placeholder 2">
            <a:extLst>
              <a:ext uri="{FF2B5EF4-FFF2-40B4-BE49-F238E27FC236}">
                <a16:creationId xmlns:a16="http://schemas.microsoft.com/office/drawing/2014/main" id="{89948974-5BA2-4BB8-8594-6A570EEC1117}"/>
              </a:ext>
            </a:extLst>
          </p:cNvPr>
          <p:cNvSpPr>
            <a:spLocks noGrp="1"/>
          </p:cNvSpPr>
          <p:nvPr>
            <p:ph idx="1"/>
          </p:nvPr>
        </p:nvSpPr>
        <p:spPr>
          <a:xfrm>
            <a:off x="1057147" y="2510154"/>
            <a:ext cx="10077704" cy="1661993"/>
          </a:xfrm>
        </p:spPr>
        <p:txBody>
          <a:bodyPr/>
          <a:lstStyle/>
          <a:p>
            <a:r>
              <a:rPr lang="en-US" dirty="0"/>
              <a:t>S/4 HANA migration cockpit is the migration tool which was initially designed for S/4HANA on-premise &amp; cloud edition.</a:t>
            </a:r>
          </a:p>
          <a:p>
            <a:endParaRPr lang="en-US" dirty="0"/>
          </a:p>
          <a:p>
            <a:r>
              <a:rPr lang="en-US" dirty="0"/>
              <a:t> S/4 HANA Migration Cockpit is browser based (WordPro) interface. No additional setup or activation is required once we setup SAP S/4HANA system.</a:t>
            </a:r>
          </a:p>
          <a:p>
            <a:endParaRPr lang="en-US" dirty="0"/>
          </a:p>
        </p:txBody>
      </p:sp>
    </p:spTree>
    <p:extLst>
      <p:ext uri="{BB962C8B-B14F-4D97-AF65-F5344CB8AC3E}">
        <p14:creationId xmlns:p14="http://schemas.microsoft.com/office/powerpoint/2010/main" val="2602335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1547-BA69-4785-9BF8-505F4022842D}"/>
              </a:ext>
            </a:extLst>
          </p:cNvPr>
          <p:cNvSpPr>
            <a:spLocks noGrp="1"/>
          </p:cNvSpPr>
          <p:nvPr>
            <p:ph type="title"/>
          </p:nvPr>
        </p:nvSpPr>
        <p:spPr>
          <a:xfrm>
            <a:off x="1057148" y="495426"/>
            <a:ext cx="10077704" cy="492443"/>
          </a:xfrm>
        </p:spPr>
        <p:txBody>
          <a:bodyPr/>
          <a:lstStyle/>
          <a:p>
            <a:r>
              <a:rPr lang="en-US" sz="3200" b="1" dirty="0">
                <a:solidFill>
                  <a:srgbClr val="0070C0"/>
                </a:solidFill>
              </a:rPr>
              <a:t>Key Features of Migration Cockpit</a:t>
            </a:r>
            <a:endParaRPr lang="en-US" sz="3200" dirty="0">
              <a:solidFill>
                <a:srgbClr val="0070C0"/>
              </a:solidFill>
            </a:endParaRPr>
          </a:p>
        </p:txBody>
      </p:sp>
      <p:sp>
        <p:nvSpPr>
          <p:cNvPr id="3" name="Content Placeholder 2">
            <a:extLst>
              <a:ext uri="{FF2B5EF4-FFF2-40B4-BE49-F238E27FC236}">
                <a16:creationId xmlns:a16="http://schemas.microsoft.com/office/drawing/2014/main" id="{742B4694-6245-4C11-9462-73C70EEEB753}"/>
              </a:ext>
            </a:extLst>
          </p:cNvPr>
          <p:cNvSpPr>
            <a:spLocks noGrp="1"/>
          </p:cNvSpPr>
          <p:nvPr>
            <p:ph idx="1"/>
          </p:nvPr>
        </p:nvSpPr>
        <p:spPr>
          <a:xfrm>
            <a:off x="1057148" y="1628776"/>
            <a:ext cx="8596668" cy="4460212"/>
          </a:xfrm>
        </p:spPr>
        <p:txBody>
          <a:bodyPr>
            <a:normAutofit/>
          </a:bodyPr>
          <a:lstStyle/>
          <a:p>
            <a:r>
              <a:rPr lang="en-US" dirty="0"/>
              <a:t>This tool is embedded and delivered with S/4HANA system.</a:t>
            </a:r>
          </a:p>
          <a:p>
            <a:r>
              <a:rPr lang="en-US" dirty="0"/>
              <a:t>No programming is required by the customer.</a:t>
            </a:r>
          </a:p>
          <a:p>
            <a:r>
              <a:rPr lang="en-US" dirty="0"/>
              <a:t>As the name suggests, this tool is used for migrating data from SAP or Non   SAP system to S/4HANA.</a:t>
            </a:r>
          </a:p>
          <a:p>
            <a:r>
              <a:rPr lang="en-US" dirty="0"/>
              <a:t>This tool has predefined migration object which contains the mapping for all master and transactional data. It reduces migration cost and time.</a:t>
            </a:r>
          </a:p>
          <a:p>
            <a:r>
              <a:rPr lang="en-US" dirty="0"/>
              <a:t> Migration activities are predefined and easy to use.</a:t>
            </a:r>
          </a:p>
          <a:p>
            <a:endParaRPr lang="en-US" dirty="0"/>
          </a:p>
          <a:p>
            <a:pPr marL="0" indent="0">
              <a:buNone/>
            </a:pPr>
            <a:r>
              <a:rPr lang="en-US" sz="2400" b="1" dirty="0"/>
              <a:t>Advantages:</a:t>
            </a:r>
          </a:p>
          <a:p>
            <a:r>
              <a:rPr lang="en-US" dirty="0"/>
              <a:t>faster overall process (export/import), less clicks</a:t>
            </a:r>
          </a:p>
          <a:p>
            <a:r>
              <a:rPr lang="en-US" dirty="0"/>
              <a:t>Performance</a:t>
            </a:r>
          </a:p>
          <a:p>
            <a:r>
              <a:rPr lang="en-US" dirty="0"/>
              <a:t>Use Database Tools to Extract and Transform</a:t>
            </a:r>
          </a:p>
        </p:txBody>
      </p:sp>
    </p:spTree>
    <p:extLst>
      <p:ext uri="{BB962C8B-B14F-4D97-AF65-F5344CB8AC3E}">
        <p14:creationId xmlns:p14="http://schemas.microsoft.com/office/powerpoint/2010/main" val="1101944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6EF40-A282-4EEF-8788-7D466DB17D7B}"/>
              </a:ext>
            </a:extLst>
          </p:cNvPr>
          <p:cNvSpPr>
            <a:spLocks noGrp="1"/>
          </p:cNvSpPr>
          <p:nvPr>
            <p:ph type="title"/>
          </p:nvPr>
        </p:nvSpPr>
        <p:spPr>
          <a:xfrm>
            <a:off x="1057147" y="190626"/>
            <a:ext cx="10077704" cy="800219"/>
          </a:xfrm>
        </p:spPr>
        <p:txBody>
          <a:bodyPr/>
          <a:lstStyle/>
          <a:p>
            <a:r>
              <a:rPr lang="en-US" sz="3200" b="1" dirty="0"/>
              <a:t>SAP S/4HANA Migration Cockpit –Overview</a:t>
            </a:r>
            <a:r>
              <a:rPr lang="en-US" b="1" dirty="0"/>
              <a:t/>
            </a:r>
            <a:br>
              <a:rPr lang="en-US" b="1" dirty="0"/>
            </a:br>
            <a:r>
              <a:rPr lang="en-US" sz="2000" dirty="0"/>
              <a:t>Cloud 1808 / On-Premise 1809</a:t>
            </a:r>
          </a:p>
        </p:txBody>
      </p:sp>
      <p:pic>
        <p:nvPicPr>
          <p:cNvPr id="4" name="Picture 3">
            <a:extLst>
              <a:ext uri="{FF2B5EF4-FFF2-40B4-BE49-F238E27FC236}">
                <a16:creationId xmlns:a16="http://schemas.microsoft.com/office/drawing/2014/main" id="{E45364EA-2C8E-4B4B-A622-885A049B6B35}"/>
              </a:ext>
            </a:extLst>
          </p:cNvPr>
          <p:cNvPicPr>
            <a:picLocks noChangeAspect="1"/>
          </p:cNvPicPr>
          <p:nvPr/>
        </p:nvPicPr>
        <p:blipFill>
          <a:blip r:embed="rId2"/>
          <a:stretch>
            <a:fillRect/>
          </a:stretch>
        </p:blipFill>
        <p:spPr>
          <a:xfrm>
            <a:off x="883826" y="1514475"/>
            <a:ext cx="10770922" cy="4849932"/>
          </a:xfrm>
          <a:prstGeom prst="rect">
            <a:avLst/>
          </a:prstGeom>
        </p:spPr>
      </p:pic>
    </p:spTree>
    <p:extLst>
      <p:ext uri="{BB962C8B-B14F-4D97-AF65-F5344CB8AC3E}">
        <p14:creationId xmlns:p14="http://schemas.microsoft.com/office/powerpoint/2010/main" val="2433970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9B72F-E61F-4361-B5AB-2B1199493176}"/>
              </a:ext>
            </a:extLst>
          </p:cNvPr>
          <p:cNvSpPr>
            <a:spLocks noGrp="1"/>
          </p:cNvSpPr>
          <p:nvPr>
            <p:ph type="title"/>
          </p:nvPr>
        </p:nvSpPr>
        <p:spPr>
          <a:xfrm>
            <a:off x="1057147" y="190626"/>
            <a:ext cx="10077704" cy="984885"/>
          </a:xfrm>
        </p:spPr>
        <p:txBody>
          <a:bodyPr/>
          <a:lstStyle/>
          <a:p>
            <a:r>
              <a:rPr lang="en-US" sz="3200" b="1" dirty="0"/>
              <a:t>SAP S/4HANA Migration Cockpit –Migration Approaches</a:t>
            </a:r>
            <a:endParaRPr lang="en-US" sz="3200" dirty="0"/>
          </a:p>
        </p:txBody>
      </p:sp>
      <p:sp>
        <p:nvSpPr>
          <p:cNvPr id="3" name="Text Placeholder 2">
            <a:extLst>
              <a:ext uri="{FF2B5EF4-FFF2-40B4-BE49-F238E27FC236}">
                <a16:creationId xmlns:a16="http://schemas.microsoft.com/office/drawing/2014/main" id="{BD6536C0-3F9D-4D26-A9FB-A36AABD55D88}"/>
              </a:ext>
            </a:extLst>
          </p:cNvPr>
          <p:cNvSpPr>
            <a:spLocks noGrp="1"/>
          </p:cNvSpPr>
          <p:nvPr>
            <p:ph type="body" idx="1"/>
          </p:nvPr>
        </p:nvSpPr>
        <p:spPr>
          <a:xfrm>
            <a:off x="1990597" y="1595754"/>
            <a:ext cx="10077704" cy="5262979"/>
          </a:xfrm>
        </p:spPr>
        <p:txBody>
          <a:bodyPr/>
          <a:lstStyle/>
          <a:p>
            <a:r>
              <a:rPr lang="en-US" b="1" dirty="0"/>
              <a:t>Transfer Data Using Files</a:t>
            </a:r>
            <a:endParaRPr lang="en-US" dirty="0"/>
          </a:p>
          <a:p>
            <a:pPr marL="285750" indent="-285750">
              <a:buFont typeface="Arial" panose="020B0604020202020204" pitchFamily="34" charset="0"/>
              <a:buChar char="•"/>
            </a:pPr>
            <a:r>
              <a:rPr lang="en-US" dirty="0"/>
              <a:t>Download template file for relevant migration object</a:t>
            </a:r>
          </a:p>
          <a:p>
            <a:pPr marL="285750" indent="-285750">
              <a:buFont typeface="Arial" panose="020B0604020202020204" pitchFamily="34" charset="0"/>
              <a:buChar char="•"/>
            </a:pPr>
            <a:r>
              <a:rPr lang="en-US" dirty="0"/>
              <a:t>Populate file with relevant business data</a:t>
            </a:r>
          </a:p>
          <a:p>
            <a:pPr marL="285750" indent="-285750">
              <a:buFont typeface="Arial" panose="020B0604020202020204" pitchFamily="34" charset="0"/>
              <a:buChar char="•"/>
            </a:pPr>
            <a:r>
              <a:rPr lang="en-US" dirty="0"/>
              <a:t>Upload file to the SAP S/4HANA migration cockpit</a:t>
            </a:r>
          </a:p>
          <a:p>
            <a:endParaRPr lang="en-US" dirty="0"/>
          </a:p>
          <a:p>
            <a:endParaRPr lang="en-US" dirty="0"/>
          </a:p>
          <a:p>
            <a:r>
              <a:rPr lang="en-US" b="1" dirty="0"/>
              <a:t>Transfer Data Using Staging Tables</a:t>
            </a:r>
            <a:endParaRPr lang="en-US" dirty="0"/>
          </a:p>
          <a:p>
            <a:pPr marL="285750" indent="-285750">
              <a:buFont typeface="Arial" panose="020B0604020202020204" pitchFamily="34" charset="0"/>
              <a:buChar char="•"/>
            </a:pPr>
            <a:r>
              <a:rPr lang="en-US" dirty="0"/>
              <a:t>Staging tables are created automatically (in an SAP HANA DB schema)</a:t>
            </a:r>
          </a:p>
          <a:p>
            <a:pPr marL="285750" indent="-285750">
              <a:buFont typeface="Arial" panose="020B0604020202020204" pitchFamily="34" charset="0"/>
              <a:buChar char="•"/>
            </a:pPr>
            <a:r>
              <a:rPr lang="en-US" dirty="0"/>
              <a:t>Populate staging tables with business data</a:t>
            </a:r>
          </a:p>
          <a:p>
            <a:pPr marL="285750" indent="-285750">
              <a:buFont typeface="Arial" panose="020B0604020202020204" pitchFamily="34" charset="0"/>
              <a:buChar char="•"/>
            </a:pPr>
            <a:r>
              <a:rPr lang="en-US" dirty="0"/>
              <a:t>Transfer data from staging tables to target SAP S/4HANA system</a:t>
            </a:r>
          </a:p>
          <a:p>
            <a:endParaRPr lang="en-US" dirty="0"/>
          </a:p>
          <a:p>
            <a:endParaRPr lang="en-US" dirty="0"/>
          </a:p>
          <a:p>
            <a:endParaRPr lang="en-US" dirty="0"/>
          </a:p>
          <a:p>
            <a:r>
              <a:rPr lang="en-US" b="1" dirty="0"/>
              <a:t>Transfer Data Directly from SAP Source System (planned)</a:t>
            </a:r>
            <a:endParaRPr lang="en-US" dirty="0"/>
          </a:p>
          <a:p>
            <a:pPr marL="285750" indent="-285750">
              <a:buFont typeface="Arial" panose="020B0604020202020204" pitchFamily="34" charset="0"/>
              <a:buChar char="•"/>
            </a:pPr>
            <a:r>
              <a:rPr lang="en-US" dirty="0"/>
              <a:t>Access source system database directly (ABAP-based SAP source systems only)</a:t>
            </a:r>
          </a:p>
          <a:p>
            <a:pPr marL="285750" indent="-285750">
              <a:buFont typeface="Arial" panose="020B0604020202020204" pitchFamily="34" charset="0"/>
              <a:buChar char="•"/>
            </a:pPr>
            <a:r>
              <a:rPr lang="en-US" dirty="0"/>
              <a:t>Transfer data from SAP source system to target SAP S/4HANA system</a:t>
            </a:r>
          </a:p>
          <a:p>
            <a:pPr marL="285750" indent="-285750">
              <a:buFont typeface="Arial" panose="020B0604020202020204" pitchFamily="34" charset="0"/>
              <a:buChar char="•"/>
            </a:pPr>
            <a:r>
              <a:rPr lang="en-US" dirty="0"/>
              <a:t>Supports data migration scenarios from other applications, </a:t>
            </a:r>
          </a:p>
          <a:p>
            <a:pPr marL="285750" indent="-285750">
              <a:buFont typeface="Arial" panose="020B0604020202020204" pitchFamily="34" charset="0"/>
              <a:buChar char="•"/>
            </a:pPr>
            <a:r>
              <a:rPr lang="en-US" dirty="0"/>
              <a:t>e.g. from SAP Apparel and Footwear (AFS) to S/4 Fashion and Vertical Business</a:t>
            </a:r>
          </a:p>
          <a:p>
            <a:endParaRPr lang="en-US" dirty="0"/>
          </a:p>
        </p:txBody>
      </p:sp>
      <p:pic>
        <p:nvPicPr>
          <p:cNvPr id="6" name="Picture 5">
            <a:extLst>
              <a:ext uri="{FF2B5EF4-FFF2-40B4-BE49-F238E27FC236}">
                <a16:creationId xmlns:a16="http://schemas.microsoft.com/office/drawing/2014/main" id="{A65A4378-8644-481E-B146-92A8D2054F8D}"/>
              </a:ext>
            </a:extLst>
          </p:cNvPr>
          <p:cNvPicPr>
            <a:picLocks noChangeAspect="1"/>
          </p:cNvPicPr>
          <p:nvPr/>
        </p:nvPicPr>
        <p:blipFill>
          <a:blip r:embed="rId2"/>
          <a:stretch>
            <a:fillRect/>
          </a:stretch>
        </p:blipFill>
        <p:spPr>
          <a:xfrm>
            <a:off x="218947" y="1700530"/>
            <a:ext cx="1076453" cy="874618"/>
          </a:xfrm>
          <a:prstGeom prst="rect">
            <a:avLst/>
          </a:prstGeom>
        </p:spPr>
      </p:pic>
      <p:pic>
        <p:nvPicPr>
          <p:cNvPr id="7" name="Picture 6">
            <a:extLst>
              <a:ext uri="{FF2B5EF4-FFF2-40B4-BE49-F238E27FC236}">
                <a16:creationId xmlns:a16="http://schemas.microsoft.com/office/drawing/2014/main" id="{FDD9DECC-A367-40DC-95E6-8853766EEE68}"/>
              </a:ext>
            </a:extLst>
          </p:cNvPr>
          <p:cNvPicPr>
            <a:picLocks noChangeAspect="1"/>
          </p:cNvPicPr>
          <p:nvPr/>
        </p:nvPicPr>
        <p:blipFill>
          <a:blip r:embed="rId3"/>
          <a:stretch>
            <a:fillRect/>
          </a:stretch>
        </p:blipFill>
        <p:spPr>
          <a:xfrm>
            <a:off x="209422" y="3386111"/>
            <a:ext cx="1085978" cy="833079"/>
          </a:xfrm>
          <a:prstGeom prst="rect">
            <a:avLst/>
          </a:prstGeom>
        </p:spPr>
      </p:pic>
      <p:pic>
        <p:nvPicPr>
          <p:cNvPr id="8" name="Picture 7">
            <a:extLst>
              <a:ext uri="{FF2B5EF4-FFF2-40B4-BE49-F238E27FC236}">
                <a16:creationId xmlns:a16="http://schemas.microsoft.com/office/drawing/2014/main" id="{EBE78BDA-1950-4B1C-A6A9-0B885EF7FA88}"/>
              </a:ext>
            </a:extLst>
          </p:cNvPr>
          <p:cNvPicPr>
            <a:picLocks noChangeAspect="1"/>
          </p:cNvPicPr>
          <p:nvPr/>
        </p:nvPicPr>
        <p:blipFill>
          <a:blip r:embed="rId4"/>
          <a:stretch>
            <a:fillRect/>
          </a:stretch>
        </p:blipFill>
        <p:spPr>
          <a:xfrm>
            <a:off x="199897" y="5337816"/>
            <a:ext cx="1095503" cy="928796"/>
          </a:xfrm>
          <a:prstGeom prst="rect">
            <a:avLst/>
          </a:prstGeom>
        </p:spPr>
      </p:pic>
      <p:pic>
        <p:nvPicPr>
          <p:cNvPr id="9" name="Picture 8">
            <a:extLst>
              <a:ext uri="{FF2B5EF4-FFF2-40B4-BE49-F238E27FC236}">
                <a16:creationId xmlns:a16="http://schemas.microsoft.com/office/drawing/2014/main" id="{DF6C52B3-ECFF-46A7-8830-C86D6C535961}"/>
              </a:ext>
            </a:extLst>
          </p:cNvPr>
          <p:cNvPicPr>
            <a:picLocks noChangeAspect="1"/>
          </p:cNvPicPr>
          <p:nvPr/>
        </p:nvPicPr>
        <p:blipFill>
          <a:blip r:embed="rId5"/>
          <a:stretch>
            <a:fillRect/>
          </a:stretch>
        </p:blipFill>
        <p:spPr>
          <a:xfrm>
            <a:off x="8958262" y="1462404"/>
            <a:ext cx="2790825" cy="1247775"/>
          </a:xfrm>
          <a:prstGeom prst="rect">
            <a:avLst/>
          </a:prstGeom>
        </p:spPr>
      </p:pic>
      <p:pic>
        <p:nvPicPr>
          <p:cNvPr id="10" name="Picture 9">
            <a:extLst>
              <a:ext uri="{FF2B5EF4-FFF2-40B4-BE49-F238E27FC236}">
                <a16:creationId xmlns:a16="http://schemas.microsoft.com/office/drawing/2014/main" id="{C56291BA-DB56-4279-BBC6-A8485BAAD80E}"/>
              </a:ext>
            </a:extLst>
          </p:cNvPr>
          <p:cNvPicPr>
            <a:picLocks noChangeAspect="1"/>
          </p:cNvPicPr>
          <p:nvPr/>
        </p:nvPicPr>
        <p:blipFill>
          <a:blip r:embed="rId6"/>
          <a:stretch>
            <a:fillRect/>
          </a:stretch>
        </p:blipFill>
        <p:spPr>
          <a:xfrm>
            <a:off x="8958262" y="3233711"/>
            <a:ext cx="3071813" cy="1433794"/>
          </a:xfrm>
          <a:prstGeom prst="rect">
            <a:avLst/>
          </a:prstGeom>
        </p:spPr>
      </p:pic>
      <p:pic>
        <p:nvPicPr>
          <p:cNvPr id="11" name="Picture 10">
            <a:extLst>
              <a:ext uri="{FF2B5EF4-FFF2-40B4-BE49-F238E27FC236}">
                <a16:creationId xmlns:a16="http://schemas.microsoft.com/office/drawing/2014/main" id="{DECC42A6-4247-4FB0-B8F8-D875561FFF72}"/>
              </a:ext>
            </a:extLst>
          </p:cNvPr>
          <p:cNvPicPr>
            <a:picLocks noChangeAspect="1"/>
          </p:cNvPicPr>
          <p:nvPr/>
        </p:nvPicPr>
        <p:blipFill>
          <a:blip r:embed="rId7"/>
          <a:stretch>
            <a:fillRect/>
          </a:stretch>
        </p:blipFill>
        <p:spPr>
          <a:xfrm>
            <a:off x="10894281" y="5271771"/>
            <a:ext cx="981075" cy="971550"/>
          </a:xfrm>
          <a:prstGeom prst="rect">
            <a:avLst/>
          </a:prstGeom>
        </p:spPr>
      </p:pic>
    </p:spTree>
    <p:extLst>
      <p:ext uri="{BB962C8B-B14F-4D97-AF65-F5344CB8AC3E}">
        <p14:creationId xmlns:p14="http://schemas.microsoft.com/office/powerpoint/2010/main" val="3702473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6CD62-CE57-4000-9543-61D9CC08F4DB}"/>
              </a:ext>
            </a:extLst>
          </p:cNvPr>
          <p:cNvSpPr>
            <a:spLocks noGrp="1"/>
          </p:cNvSpPr>
          <p:nvPr>
            <p:ph type="title"/>
          </p:nvPr>
        </p:nvSpPr>
        <p:spPr>
          <a:xfrm>
            <a:off x="1057147" y="190626"/>
            <a:ext cx="10077704" cy="1354217"/>
          </a:xfrm>
        </p:spPr>
        <p:txBody>
          <a:bodyPr/>
          <a:lstStyle/>
          <a:p>
            <a:r>
              <a:rPr lang="en-US" sz="3200" b="1" dirty="0"/>
              <a:t>SAP S/4HANA Migration Cockpit –File Upload –on-Premise  </a:t>
            </a:r>
            <a:r>
              <a:rPr lang="en-US" b="1" dirty="0"/>
              <a:t/>
            </a:r>
            <a:br>
              <a:rPr lang="en-US" b="1" dirty="0"/>
            </a:br>
            <a:r>
              <a:rPr lang="en-US" sz="2400" dirty="0"/>
              <a:t>Enhancements</a:t>
            </a:r>
          </a:p>
        </p:txBody>
      </p:sp>
      <p:sp>
        <p:nvSpPr>
          <p:cNvPr id="3" name="Text Placeholder 2">
            <a:extLst>
              <a:ext uri="{FF2B5EF4-FFF2-40B4-BE49-F238E27FC236}">
                <a16:creationId xmlns:a16="http://schemas.microsoft.com/office/drawing/2014/main" id="{FD28B9F0-284C-4138-947D-7FF6D0824C3C}"/>
              </a:ext>
            </a:extLst>
          </p:cNvPr>
          <p:cNvSpPr>
            <a:spLocks noGrp="1"/>
          </p:cNvSpPr>
          <p:nvPr>
            <p:ph type="body" idx="1"/>
          </p:nvPr>
        </p:nvSpPr>
        <p:spPr>
          <a:xfrm>
            <a:off x="1057147" y="1595754"/>
            <a:ext cx="10077704" cy="2769989"/>
          </a:xfrm>
        </p:spPr>
        <p:txBody>
          <a:bodyPr/>
          <a:lstStyle/>
          <a:p>
            <a:endParaRPr lang="en-US" dirty="0"/>
          </a:p>
          <a:p>
            <a:pPr marL="285750" indent="-285750">
              <a:buFont typeface="Arial" panose="020B0604020202020204" pitchFamily="34" charset="0"/>
              <a:buChar char="•"/>
            </a:pPr>
            <a:r>
              <a:rPr lang="en-US" dirty="0"/>
              <a:t>Default size limit for each uploaded XML 100 MB.</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the file exceeds this limit, the message ‘File size too large’ is displayed.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you need to upload larger files, there are two options:</a:t>
            </a:r>
          </a:p>
          <a:p>
            <a:pPr lvl="1"/>
            <a:r>
              <a:rPr lang="en-US" dirty="0"/>
              <a:t>-You can change a system parameter (</a:t>
            </a:r>
            <a:r>
              <a:rPr lang="en-US" dirty="0" err="1"/>
              <a:t>icm</a:t>
            </a:r>
            <a:r>
              <a:rPr lang="en-US" dirty="0"/>
              <a:t>/HTTP/</a:t>
            </a:r>
            <a:r>
              <a:rPr lang="en-US" dirty="0" err="1"/>
              <a:t>max_request_size_KB</a:t>
            </a:r>
            <a:r>
              <a:rPr lang="en-US" dirty="0"/>
              <a:t>​) to increase the size limit for each uploaded XML file to 160MB.</a:t>
            </a:r>
          </a:p>
          <a:p>
            <a:pPr lvl="1"/>
            <a:r>
              <a:rPr lang="en-US" dirty="0"/>
              <a:t>-You can zip several files together. Note that the combined size of all the XML files you want to add to the zip file must not exceed 160MB.</a:t>
            </a:r>
            <a:r>
              <a:rPr lang="en-US" b="1" dirty="0"/>
              <a:t>Limit for zip file is still 160 MB with adjusted system parameter.</a:t>
            </a:r>
            <a:endParaRPr lang="en-US" dirty="0"/>
          </a:p>
        </p:txBody>
      </p:sp>
    </p:spTree>
    <p:extLst>
      <p:ext uri="{BB962C8B-B14F-4D97-AF65-F5344CB8AC3E}">
        <p14:creationId xmlns:p14="http://schemas.microsoft.com/office/powerpoint/2010/main" val="2973648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E28CB1-40E3-481A-BD38-3A0F4FEFBF2A}"/>
              </a:ext>
            </a:extLst>
          </p:cNvPr>
          <p:cNvSpPr>
            <a:spLocks noGrp="1"/>
          </p:cNvSpPr>
          <p:nvPr>
            <p:ph idx="1"/>
          </p:nvPr>
        </p:nvSpPr>
        <p:spPr>
          <a:xfrm>
            <a:off x="1076325" y="304800"/>
            <a:ext cx="8988252" cy="1969770"/>
          </a:xfrm>
        </p:spPr>
        <p:txBody>
          <a:bodyPr/>
          <a:lstStyle/>
          <a:p>
            <a:pPr marL="0" indent="0">
              <a:buNone/>
            </a:pPr>
            <a:r>
              <a:rPr lang="en-US" sz="2000" b="1" dirty="0">
                <a:latin typeface="Verdana" panose="020B0604030504040204" pitchFamily="34" charset="0"/>
                <a:ea typeface="Verdana" panose="020B0604030504040204" pitchFamily="34" charset="0"/>
              </a:rPr>
              <a:t>Cockpit tool Access:</a:t>
            </a:r>
          </a:p>
          <a:p>
            <a:pPr marL="0" indent="0">
              <a:buNone/>
            </a:pPr>
            <a:endParaRPr lang="en-US" sz="2400" b="1" dirty="0">
              <a:latin typeface="Verdana" panose="020B0604030504040204" pitchFamily="34" charset="0"/>
              <a:ea typeface="Verdana" panose="020B0604030504040204" pitchFamily="34" charset="0"/>
            </a:endParaRPr>
          </a:p>
          <a:p>
            <a:pPr marL="0" indent="0">
              <a:buNone/>
            </a:pPr>
            <a:r>
              <a:rPr lang="en-US" sz="1500" dirty="0">
                <a:latin typeface="Verdana" panose="020B0604030504040204" pitchFamily="34" charset="0"/>
                <a:ea typeface="Verdana" panose="020B0604030504040204" pitchFamily="34" charset="0"/>
              </a:rPr>
              <a:t>We can access Cockpit tool in either URL or by using T-code LTMC in ERP. The below screen will be visible when you launch the Cockpit in either of above 2 ways .</a:t>
            </a:r>
          </a:p>
          <a:p>
            <a:pPr marL="0" indent="0">
              <a:buNone/>
            </a:pPr>
            <a:endParaRPr lang="en-US" dirty="0">
              <a:latin typeface="Verdana" panose="020B0604030504040204" pitchFamily="34" charset="0"/>
              <a:ea typeface="Verdana" panose="020B0604030504040204" pitchFamily="34" charset="0"/>
            </a:endParaRPr>
          </a:p>
          <a:p>
            <a:pPr marL="0" indent="0">
              <a:buNone/>
            </a:pPr>
            <a:endParaRPr lang="en-US" dirty="0">
              <a:latin typeface="Verdana" panose="020B0604030504040204" pitchFamily="34" charset="0"/>
              <a:ea typeface="Verdana" panose="020B0604030504040204" pitchFamily="34" charset="0"/>
            </a:endParaRPr>
          </a:p>
          <a:p>
            <a:endParaRPr lang="en-US" dirty="0">
              <a:latin typeface="Verdana" panose="020B0604030504040204" pitchFamily="34" charset="0"/>
              <a:ea typeface="Verdana" panose="020B0604030504040204" pitchFamily="34" charset="0"/>
            </a:endParaRPr>
          </a:p>
        </p:txBody>
      </p:sp>
      <p:pic>
        <p:nvPicPr>
          <p:cNvPr id="4" name="Picture 3">
            <a:extLst>
              <a:ext uri="{FF2B5EF4-FFF2-40B4-BE49-F238E27FC236}">
                <a16:creationId xmlns:a16="http://schemas.microsoft.com/office/drawing/2014/main" id="{B40B23B2-847E-4C8B-927E-F46A1EC7F255}"/>
              </a:ext>
            </a:extLst>
          </p:cNvPr>
          <p:cNvPicPr>
            <a:picLocks noChangeAspect="1"/>
          </p:cNvPicPr>
          <p:nvPr/>
        </p:nvPicPr>
        <p:blipFill>
          <a:blip r:embed="rId2"/>
          <a:stretch>
            <a:fillRect/>
          </a:stretch>
        </p:blipFill>
        <p:spPr>
          <a:xfrm>
            <a:off x="1076325" y="2095500"/>
            <a:ext cx="8988252" cy="4279604"/>
          </a:xfrm>
          <a:prstGeom prst="rect">
            <a:avLst/>
          </a:prstGeom>
        </p:spPr>
      </p:pic>
    </p:spTree>
    <p:extLst>
      <p:ext uri="{BB962C8B-B14F-4D97-AF65-F5344CB8AC3E}">
        <p14:creationId xmlns:p14="http://schemas.microsoft.com/office/powerpoint/2010/main" val="296262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D2BC34-9795-47AE-AB5F-554D1C03B239}"/>
              </a:ext>
            </a:extLst>
          </p:cNvPr>
          <p:cNvSpPr>
            <a:spLocks noGrp="1"/>
          </p:cNvSpPr>
          <p:nvPr>
            <p:ph idx="1"/>
          </p:nvPr>
        </p:nvSpPr>
        <p:spPr>
          <a:xfrm>
            <a:off x="1247776" y="436602"/>
            <a:ext cx="9121601" cy="461665"/>
          </a:xfrm>
        </p:spPr>
        <p:txBody>
          <a:bodyPr/>
          <a:lstStyle/>
          <a:p>
            <a:pPr marL="0" indent="0">
              <a:buNone/>
            </a:pPr>
            <a:r>
              <a:rPr lang="en-US" sz="1500" dirty="0">
                <a:latin typeface="Verdana" panose="020B0604030504040204" pitchFamily="34" charset="0"/>
                <a:ea typeface="Verdana" panose="020B0604030504040204" pitchFamily="34" charset="0"/>
              </a:rPr>
              <a:t>Once you login below screen will be visible with all available projects (or blank if new system)</a:t>
            </a:r>
          </a:p>
          <a:p>
            <a:pPr marL="0" indent="0">
              <a:buNone/>
            </a:pPr>
            <a:endParaRPr lang="en-US" sz="1500" dirty="0">
              <a:latin typeface="Verdana" panose="020B0604030504040204" pitchFamily="34" charset="0"/>
              <a:ea typeface="Verdana" panose="020B0604030504040204" pitchFamily="34" charset="0"/>
            </a:endParaRPr>
          </a:p>
        </p:txBody>
      </p:sp>
      <p:pic>
        <p:nvPicPr>
          <p:cNvPr id="4" name="Picture 3">
            <a:extLst>
              <a:ext uri="{FF2B5EF4-FFF2-40B4-BE49-F238E27FC236}">
                <a16:creationId xmlns:a16="http://schemas.microsoft.com/office/drawing/2014/main" id="{088B6F3A-C7C1-4302-8787-38CA06E6ED5C}"/>
              </a:ext>
            </a:extLst>
          </p:cNvPr>
          <p:cNvPicPr>
            <a:picLocks noChangeAspect="1"/>
          </p:cNvPicPr>
          <p:nvPr/>
        </p:nvPicPr>
        <p:blipFill>
          <a:blip r:embed="rId2"/>
          <a:stretch>
            <a:fillRect/>
          </a:stretch>
        </p:blipFill>
        <p:spPr>
          <a:xfrm>
            <a:off x="1247776" y="1019175"/>
            <a:ext cx="9382124" cy="5639714"/>
          </a:xfrm>
          <a:prstGeom prst="rect">
            <a:avLst/>
          </a:prstGeom>
        </p:spPr>
      </p:pic>
    </p:spTree>
    <p:extLst>
      <p:ext uri="{BB962C8B-B14F-4D97-AF65-F5344CB8AC3E}">
        <p14:creationId xmlns:p14="http://schemas.microsoft.com/office/powerpoint/2010/main" val="649348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C623F0-A50D-4FB8-B6FE-B193AA393B19}"/>
              </a:ext>
            </a:extLst>
          </p:cNvPr>
          <p:cNvSpPr>
            <a:spLocks noGrp="1"/>
          </p:cNvSpPr>
          <p:nvPr>
            <p:ph idx="1"/>
          </p:nvPr>
        </p:nvSpPr>
        <p:spPr>
          <a:xfrm>
            <a:off x="1085850" y="333377"/>
            <a:ext cx="9544049" cy="1341118"/>
          </a:xfrm>
        </p:spPr>
        <p:txBody>
          <a:bodyPr/>
          <a:lstStyle/>
          <a:p>
            <a:pPr marL="0" indent="0">
              <a:buNone/>
            </a:pPr>
            <a:r>
              <a:rPr lang="en-US" sz="2000" b="1" dirty="0">
                <a:latin typeface="Verdana" panose="020B0604030504040204" pitchFamily="34" charset="0"/>
                <a:ea typeface="Verdana" panose="020B0604030504040204" pitchFamily="34" charset="0"/>
              </a:rPr>
              <a:t>Creating a New Project for Data Migration:</a:t>
            </a:r>
          </a:p>
          <a:p>
            <a:pPr marL="0" indent="0">
              <a:buNone/>
            </a:pPr>
            <a:endParaRPr lang="en-US" sz="2000" b="1" dirty="0">
              <a:latin typeface="Verdana" panose="020B0604030504040204" pitchFamily="34" charset="0"/>
              <a:ea typeface="Verdana" panose="020B0604030504040204" pitchFamily="34" charset="0"/>
            </a:endParaRPr>
          </a:p>
          <a:p>
            <a:pPr marL="0" indent="0">
              <a:buNone/>
            </a:pPr>
            <a:r>
              <a:rPr lang="en-US" sz="1500" dirty="0">
                <a:latin typeface="Verdana" panose="020B0604030504040204" pitchFamily="34" charset="0"/>
                <a:ea typeface="Verdana" panose="020B0604030504040204" pitchFamily="34" charset="0"/>
              </a:rPr>
              <a:t>Click on Create New Migration Object and Select the Transfer Option – Transfer data from file. </a:t>
            </a:r>
          </a:p>
          <a:p>
            <a:pPr marL="0" indent="0">
              <a:buNone/>
            </a:pPr>
            <a:endParaRPr lang="en-US" b="1" dirty="0"/>
          </a:p>
          <a:p>
            <a:pPr marL="0" indent="0">
              <a:buNone/>
            </a:pPr>
            <a:endParaRPr lang="en-US" b="1" dirty="0"/>
          </a:p>
          <a:p>
            <a:endParaRPr lang="en-US" dirty="0"/>
          </a:p>
        </p:txBody>
      </p:sp>
      <p:pic>
        <p:nvPicPr>
          <p:cNvPr id="6" name="Picture 5">
            <a:extLst>
              <a:ext uri="{FF2B5EF4-FFF2-40B4-BE49-F238E27FC236}">
                <a16:creationId xmlns:a16="http://schemas.microsoft.com/office/drawing/2014/main" id="{0208644E-100F-474E-8FEC-B97C6E6B5D16}"/>
              </a:ext>
            </a:extLst>
          </p:cNvPr>
          <p:cNvPicPr>
            <a:picLocks noChangeAspect="1"/>
          </p:cNvPicPr>
          <p:nvPr/>
        </p:nvPicPr>
        <p:blipFill>
          <a:blip r:embed="rId2"/>
          <a:stretch>
            <a:fillRect/>
          </a:stretch>
        </p:blipFill>
        <p:spPr>
          <a:xfrm>
            <a:off x="1085851" y="1674494"/>
            <a:ext cx="7958454" cy="5050155"/>
          </a:xfrm>
          <a:prstGeom prst="rect">
            <a:avLst/>
          </a:prstGeom>
        </p:spPr>
      </p:pic>
    </p:spTree>
    <p:extLst>
      <p:ext uri="{BB962C8B-B14F-4D97-AF65-F5344CB8AC3E}">
        <p14:creationId xmlns:p14="http://schemas.microsoft.com/office/powerpoint/2010/main" val="3769506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B71029-B833-41AA-93D0-18B9120531E9}"/>
              </a:ext>
            </a:extLst>
          </p:cNvPr>
          <p:cNvSpPr>
            <a:spLocks noGrp="1"/>
          </p:cNvSpPr>
          <p:nvPr>
            <p:ph idx="1"/>
          </p:nvPr>
        </p:nvSpPr>
        <p:spPr>
          <a:xfrm>
            <a:off x="1165860" y="447675"/>
            <a:ext cx="9274002" cy="1569660"/>
          </a:xfrm>
        </p:spPr>
        <p:txBody>
          <a:bodyPr/>
          <a:lstStyle/>
          <a:p>
            <a:pPr marL="0" indent="0">
              <a:buNone/>
            </a:pPr>
            <a:endParaRPr lang="en-US" dirty="0"/>
          </a:p>
          <a:p>
            <a:pPr marL="0" indent="0">
              <a:buNone/>
            </a:pPr>
            <a:r>
              <a:rPr lang="en-US" sz="1500" dirty="0">
                <a:latin typeface="Verdana" panose="020B0604030504040204" pitchFamily="34" charset="0"/>
                <a:ea typeface="Verdana" panose="020B0604030504040204" pitchFamily="34" charset="0"/>
              </a:rPr>
              <a:t>Click on DEMO_PROJECT and it will enter the Project with all Migration Objects available. Migration object comes with the following information:</a:t>
            </a:r>
          </a:p>
          <a:p>
            <a:pPr marL="0" indent="0">
              <a:buNone/>
            </a:pPr>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7E187DD2-E1AF-4378-AE94-FC6CFB91B36D}"/>
              </a:ext>
            </a:extLst>
          </p:cNvPr>
          <p:cNvPicPr>
            <a:picLocks noChangeAspect="1"/>
          </p:cNvPicPr>
          <p:nvPr/>
        </p:nvPicPr>
        <p:blipFill>
          <a:blip r:embed="rId2"/>
          <a:stretch>
            <a:fillRect/>
          </a:stretch>
        </p:blipFill>
        <p:spPr>
          <a:xfrm>
            <a:off x="1165860" y="1432897"/>
            <a:ext cx="9274002" cy="5104725"/>
          </a:xfrm>
          <a:prstGeom prst="rect">
            <a:avLst/>
          </a:prstGeom>
        </p:spPr>
      </p:pic>
    </p:spTree>
    <p:extLst>
      <p:ext uri="{BB962C8B-B14F-4D97-AF65-F5344CB8AC3E}">
        <p14:creationId xmlns:p14="http://schemas.microsoft.com/office/powerpoint/2010/main" val="1350471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7B2B01-A661-4DD7-948B-4C9B4F77DDF9}"/>
              </a:ext>
            </a:extLst>
          </p:cNvPr>
          <p:cNvSpPr>
            <a:spLocks noGrp="1"/>
          </p:cNvSpPr>
          <p:nvPr>
            <p:ph idx="1"/>
          </p:nvPr>
        </p:nvSpPr>
        <p:spPr>
          <a:xfrm>
            <a:off x="1052195" y="857250"/>
            <a:ext cx="9501506" cy="4762500"/>
          </a:xfrm>
        </p:spPr>
        <p:txBody>
          <a:bodyPr/>
          <a:lstStyle/>
          <a:p>
            <a:r>
              <a:rPr lang="en-US" sz="2500" b="1" dirty="0">
                <a:solidFill>
                  <a:srgbClr val="0070C0"/>
                </a:solidFill>
                <a:latin typeface="Verdana" panose="020B0604030504040204" pitchFamily="34" charset="0"/>
                <a:ea typeface="Verdana" panose="020B0604030504040204" pitchFamily="34" charset="0"/>
              </a:rPr>
              <a:t>Default Migration Object Auto Population with information:</a:t>
            </a:r>
          </a:p>
          <a:p>
            <a:endParaRPr lang="en-US" sz="1500" b="1" dirty="0">
              <a:latin typeface="Verdana" panose="020B0604030504040204" pitchFamily="34" charset="0"/>
              <a:ea typeface="Verdana" panose="020B0604030504040204" pitchFamily="34" charset="0"/>
            </a:endParaRPr>
          </a:p>
          <a:p>
            <a:endParaRPr lang="en-US" sz="1500" b="1" dirty="0">
              <a:latin typeface="Verdana" panose="020B0604030504040204" pitchFamily="34" charset="0"/>
              <a:ea typeface="Verdana" panose="020B0604030504040204" pitchFamily="34" charset="0"/>
            </a:endParaRPr>
          </a:p>
          <a:p>
            <a:r>
              <a:rPr lang="en-US" sz="1500" b="1" dirty="0">
                <a:latin typeface="Verdana" panose="020B0604030504040204" pitchFamily="34" charset="0"/>
                <a:ea typeface="Verdana" panose="020B0604030504040204" pitchFamily="34" charset="0"/>
              </a:rPr>
              <a:t>1. </a:t>
            </a:r>
            <a:r>
              <a:rPr lang="en-US" sz="1500" b="1" u="sng" dirty="0">
                <a:latin typeface="Verdana" panose="020B0604030504040204" pitchFamily="34" charset="0"/>
                <a:ea typeface="Verdana" panose="020B0604030504040204" pitchFamily="34" charset="0"/>
              </a:rPr>
              <a:t>Status</a:t>
            </a:r>
            <a:r>
              <a:rPr lang="en-US" sz="1500" b="1" dirty="0">
                <a:latin typeface="Verdana" panose="020B0604030504040204" pitchFamily="34" charset="0"/>
                <a:ea typeface="Verdana" panose="020B0604030504040204" pitchFamily="34" charset="0"/>
              </a:rPr>
              <a:t>–</a:t>
            </a:r>
            <a:r>
              <a:rPr lang="en-US" sz="1500" dirty="0">
                <a:latin typeface="Verdana" panose="020B0604030504040204" pitchFamily="34" charset="0"/>
                <a:ea typeface="Verdana" panose="020B0604030504040204" pitchFamily="34" charset="0"/>
              </a:rPr>
              <a:t> Object can be active – available for migration, deactivate – not available</a:t>
            </a:r>
          </a:p>
          <a:p>
            <a:pPr marL="0" indent="0">
              <a:buNone/>
            </a:pPr>
            <a:r>
              <a:rPr lang="en-US" sz="1500" dirty="0">
                <a:latin typeface="Verdana" panose="020B0604030504040204" pitchFamily="34" charset="0"/>
                <a:ea typeface="Verdana" panose="020B0604030504040204" pitchFamily="34" charset="0"/>
              </a:rPr>
              <a:t>     for migration and started – migration has started on this object.</a:t>
            </a:r>
          </a:p>
          <a:p>
            <a:pPr marL="0" indent="0">
              <a:buNone/>
            </a:pPr>
            <a:endParaRPr lang="en-US" sz="1500" dirty="0">
              <a:latin typeface="Verdana" panose="020B0604030504040204" pitchFamily="34" charset="0"/>
              <a:ea typeface="Verdana" panose="020B0604030504040204" pitchFamily="34" charset="0"/>
            </a:endParaRPr>
          </a:p>
          <a:p>
            <a:pPr marL="0" indent="0">
              <a:buNone/>
            </a:pPr>
            <a:r>
              <a:rPr lang="en-US" sz="1500" b="1" dirty="0">
                <a:latin typeface="Verdana" panose="020B0604030504040204" pitchFamily="34" charset="0"/>
                <a:ea typeface="Verdana" panose="020B0604030504040204" pitchFamily="34" charset="0"/>
              </a:rPr>
              <a:t>2. </a:t>
            </a:r>
            <a:r>
              <a:rPr lang="en-US" sz="1500" b="1" u="sng" dirty="0">
                <a:latin typeface="Verdana" panose="020B0604030504040204" pitchFamily="34" charset="0"/>
                <a:ea typeface="Verdana" panose="020B0604030504040204" pitchFamily="34" charset="0"/>
              </a:rPr>
              <a:t>Object name</a:t>
            </a:r>
            <a:r>
              <a:rPr lang="en-US" sz="1500" b="1" dirty="0">
                <a:latin typeface="Verdana" panose="020B0604030504040204" pitchFamily="34" charset="0"/>
                <a:ea typeface="Verdana" panose="020B0604030504040204" pitchFamily="34" charset="0"/>
              </a:rPr>
              <a:t>–</a:t>
            </a:r>
            <a:r>
              <a:rPr lang="en-US" sz="1500" dirty="0">
                <a:latin typeface="Verdana" panose="020B0604030504040204" pitchFamily="34" charset="0"/>
                <a:ea typeface="Verdana" panose="020B0604030504040204" pitchFamily="34" charset="0"/>
              </a:rPr>
              <a:t> It is migration object name which is relevant to customer master or</a:t>
            </a:r>
          </a:p>
          <a:p>
            <a:pPr marL="0" indent="0">
              <a:buNone/>
            </a:pPr>
            <a:r>
              <a:rPr lang="en-US" sz="1500" dirty="0">
                <a:latin typeface="Verdana" panose="020B0604030504040204" pitchFamily="34" charset="0"/>
                <a:ea typeface="Verdana" panose="020B0604030504040204" pitchFamily="34" charset="0"/>
              </a:rPr>
              <a:t>     transnational data.</a:t>
            </a:r>
          </a:p>
          <a:p>
            <a:pPr marL="0" indent="0">
              <a:buNone/>
            </a:pPr>
            <a:endParaRPr lang="en-US" sz="1500" dirty="0">
              <a:latin typeface="Verdana" panose="020B0604030504040204" pitchFamily="34" charset="0"/>
              <a:ea typeface="Verdana" panose="020B0604030504040204" pitchFamily="34" charset="0"/>
            </a:endParaRPr>
          </a:p>
          <a:p>
            <a:pPr marL="0" indent="0">
              <a:buNone/>
            </a:pPr>
            <a:r>
              <a:rPr lang="en-US" sz="1500" b="1" dirty="0">
                <a:latin typeface="Verdana" panose="020B0604030504040204" pitchFamily="34" charset="0"/>
                <a:ea typeface="Verdana" panose="020B0604030504040204" pitchFamily="34" charset="0"/>
              </a:rPr>
              <a:t>3. </a:t>
            </a:r>
            <a:r>
              <a:rPr lang="en-US" sz="1500" b="1" u="sng" dirty="0">
                <a:latin typeface="Verdana" panose="020B0604030504040204" pitchFamily="34" charset="0"/>
                <a:ea typeface="Verdana" panose="020B0604030504040204" pitchFamily="34" charset="0"/>
              </a:rPr>
              <a:t>Documentation</a:t>
            </a:r>
            <a:r>
              <a:rPr lang="en-US" sz="1500" b="1" dirty="0">
                <a:latin typeface="Verdana" panose="020B0604030504040204" pitchFamily="34" charset="0"/>
                <a:ea typeface="Verdana" panose="020B0604030504040204" pitchFamily="34" charset="0"/>
              </a:rPr>
              <a:t>–</a:t>
            </a:r>
            <a:r>
              <a:rPr lang="en-US" sz="1500" dirty="0">
                <a:latin typeface="Verdana" panose="020B0604030504040204" pitchFamily="34" charset="0"/>
                <a:ea typeface="Verdana" panose="020B0604030504040204" pitchFamily="34" charset="0"/>
              </a:rPr>
              <a:t> Once we click on documentation it will open a new window   </a:t>
            </a:r>
          </a:p>
          <a:p>
            <a:pPr marL="0" indent="0">
              <a:buNone/>
            </a:pPr>
            <a:r>
              <a:rPr lang="en-US" sz="1500" dirty="0">
                <a:latin typeface="Verdana" panose="020B0604030504040204" pitchFamily="34" charset="0"/>
                <a:ea typeface="Verdana" panose="020B0604030504040204" pitchFamily="34" charset="0"/>
              </a:rPr>
              <a:t>   where we can find all information on migration object like required structure, </a:t>
            </a:r>
          </a:p>
          <a:p>
            <a:pPr marL="0" indent="0">
              <a:buNone/>
            </a:pPr>
            <a:r>
              <a:rPr lang="en-US" sz="1500" dirty="0">
                <a:latin typeface="Verdana" panose="020B0604030504040204" pitchFamily="34" charset="0"/>
                <a:ea typeface="Verdana" panose="020B0604030504040204" pitchFamily="34" charset="0"/>
              </a:rPr>
              <a:t>   fields, uses.</a:t>
            </a:r>
          </a:p>
          <a:p>
            <a:pPr marL="0" indent="0">
              <a:buNone/>
            </a:pPr>
            <a:endParaRPr lang="en-US" sz="1500" dirty="0">
              <a:latin typeface="Verdana" panose="020B0604030504040204" pitchFamily="34" charset="0"/>
              <a:ea typeface="Verdana" panose="020B0604030504040204" pitchFamily="34" charset="0"/>
            </a:endParaRPr>
          </a:p>
          <a:p>
            <a:pPr marL="0" indent="0">
              <a:buNone/>
            </a:pPr>
            <a:r>
              <a:rPr lang="en-US" sz="1500" b="1" dirty="0">
                <a:latin typeface="Verdana" panose="020B0604030504040204" pitchFamily="34" charset="0"/>
                <a:ea typeface="Verdana" panose="020B0604030504040204" pitchFamily="34" charset="0"/>
              </a:rPr>
              <a:t>4. </a:t>
            </a:r>
            <a:r>
              <a:rPr lang="en-US" sz="1500" b="1" u="sng" dirty="0">
                <a:latin typeface="Verdana" panose="020B0604030504040204" pitchFamily="34" charset="0"/>
                <a:ea typeface="Verdana" panose="020B0604030504040204" pitchFamily="34" charset="0"/>
              </a:rPr>
              <a:t>Dependent migration object</a:t>
            </a:r>
            <a:r>
              <a:rPr lang="en-US" sz="1500" b="1" dirty="0">
                <a:latin typeface="Verdana" panose="020B0604030504040204" pitchFamily="34" charset="0"/>
                <a:ea typeface="Verdana" panose="020B0604030504040204" pitchFamily="34" charset="0"/>
              </a:rPr>
              <a:t>–</a:t>
            </a:r>
            <a:r>
              <a:rPr lang="en-US" sz="1500" dirty="0">
                <a:latin typeface="Verdana" panose="020B0604030504040204" pitchFamily="34" charset="0"/>
                <a:ea typeface="Verdana" panose="020B0604030504040204" pitchFamily="34" charset="0"/>
              </a:rPr>
              <a:t> It shows a list of migration object that must be</a:t>
            </a:r>
          </a:p>
          <a:p>
            <a:pPr marL="0" indent="0">
              <a:buNone/>
            </a:pPr>
            <a:r>
              <a:rPr lang="en-US" sz="1500" dirty="0">
                <a:latin typeface="Verdana" panose="020B0604030504040204" pitchFamily="34" charset="0"/>
                <a:ea typeface="Verdana" panose="020B0604030504040204" pitchFamily="34" charset="0"/>
              </a:rPr>
              <a:t>    loaded first or already present in the system.</a:t>
            </a:r>
          </a:p>
          <a:p>
            <a:pPr marL="0" indent="0">
              <a:buNone/>
            </a:pPr>
            <a:endParaRPr lang="en-US" sz="1500" dirty="0">
              <a:latin typeface="Verdana" panose="020B0604030504040204" pitchFamily="34" charset="0"/>
              <a:ea typeface="Verdana" panose="020B0604030504040204" pitchFamily="34" charset="0"/>
            </a:endParaRPr>
          </a:p>
          <a:p>
            <a:pPr marL="0" indent="0">
              <a:buNone/>
            </a:pPr>
            <a:r>
              <a:rPr lang="en-US" sz="1500" dirty="0">
                <a:latin typeface="Verdana" panose="020B0604030504040204" pitchFamily="34" charset="0"/>
                <a:ea typeface="Verdana" panose="020B0604030504040204" pitchFamily="34" charset="0"/>
              </a:rPr>
              <a:t>You can see all Conversion Objects are in Status </a:t>
            </a:r>
            <a:r>
              <a:rPr lang="en-US" sz="1500" b="1" dirty="0">
                <a:latin typeface="Verdana" panose="020B0604030504040204" pitchFamily="34" charset="0"/>
                <a:ea typeface="Verdana" panose="020B0604030504040204" pitchFamily="34" charset="0"/>
              </a:rPr>
              <a:t>Not Started</a:t>
            </a:r>
            <a:r>
              <a:rPr lang="en-US" sz="1500" dirty="0">
                <a:latin typeface="Verdana" panose="020B0604030504040204" pitchFamily="34" charset="0"/>
                <a:ea typeface="Verdana" panose="020B0604030504040204" pitchFamily="34" charset="0"/>
              </a:rPr>
              <a:t>.</a:t>
            </a:r>
          </a:p>
          <a:p>
            <a:endParaRPr lang="en-US" sz="15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328767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9B76D-2DF4-47D3-92A6-922B59679DB5}"/>
              </a:ext>
            </a:extLst>
          </p:cNvPr>
          <p:cNvSpPr>
            <a:spLocks noGrp="1"/>
          </p:cNvSpPr>
          <p:nvPr>
            <p:ph idx="1"/>
          </p:nvPr>
        </p:nvSpPr>
        <p:spPr>
          <a:xfrm>
            <a:off x="1242060" y="446405"/>
            <a:ext cx="8755842" cy="1800493"/>
          </a:xfrm>
        </p:spPr>
        <p:txBody>
          <a:bodyPr/>
          <a:lstStyle/>
          <a:p>
            <a:r>
              <a:rPr lang="en-US" sz="1500" dirty="0">
                <a:latin typeface="Verdana" panose="020B0604030504040204" pitchFamily="34" charset="0"/>
                <a:ea typeface="Verdana" panose="020B0604030504040204" pitchFamily="34" charset="0"/>
              </a:rPr>
              <a:t>For this Demo we are using Functional Location Object. When you Click on Functional Location Conversion Object, a popup comes asking for copying the Conversion.</a:t>
            </a:r>
          </a:p>
          <a:p>
            <a:r>
              <a:rPr lang="en-US" sz="1500" dirty="0">
                <a:latin typeface="Verdana" panose="020B0604030504040204" pitchFamily="34" charset="0"/>
                <a:ea typeface="Verdana" panose="020B0604030504040204" pitchFamily="34" charset="0"/>
              </a:rPr>
              <a:t>Click OK.</a:t>
            </a:r>
          </a:p>
          <a:p>
            <a:pPr marL="0" indent="0">
              <a:buNone/>
            </a:pPr>
            <a:endParaRPr lang="en-US" dirty="0"/>
          </a:p>
          <a:p>
            <a:endParaRPr lang="en-US" dirty="0"/>
          </a:p>
          <a:p>
            <a:pPr marL="0" indent="0">
              <a:buNone/>
            </a:pPr>
            <a:endParaRPr lang="en-US" dirty="0"/>
          </a:p>
          <a:p>
            <a:endParaRPr lang="en-US" dirty="0"/>
          </a:p>
        </p:txBody>
      </p:sp>
      <p:pic>
        <p:nvPicPr>
          <p:cNvPr id="6" name="Picture 5">
            <a:extLst>
              <a:ext uri="{FF2B5EF4-FFF2-40B4-BE49-F238E27FC236}">
                <a16:creationId xmlns:a16="http://schemas.microsoft.com/office/drawing/2014/main" id="{35DE91D3-8EA5-4AAD-9C74-ECB1690964D9}"/>
              </a:ext>
            </a:extLst>
          </p:cNvPr>
          <p:cNvPicPr>
            <a:picLocks noChangeAspect="1"/>
          </p:cNvPicPr>
          <p:nvPr/>
        </p:nvPicPr>
        <p:blipFill>
          <a:blip r:embed="rId2"/>
          <a:stretch>
            <a:fillRect/>
          </a:stretch>
        </p:blipFill>
        <p:spPr>
          <a:xfrm>
            <a:off x="3499023" y="4472604"/>
            <a:ext cx="4796299" cy="2266091"/>
          </a:xfrm>
          <a:prstGeom prst="rect">
            <a:avLst/>
          </a:prstGeom>
        </p:spPr>
      </p:pic>
      <p:pic>
        <p:nvPicPr>
          <p:cNvPr id="2050" name="Picture 2">
            <a:extLst>
              <a:ext uri="{FF2B5EF4-FFF2-40B4-BE49-F238E27FC236}">
                <a16:creationId xmlns:a16="http://schemas.microsoft.com/office/drawing/2014/main" id="{14545B08-8DED-4061-AC10-497148715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097706"/>
            <a:ext cx="7848600" cy="3374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295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E5C0FF1-4A54-467B-BAC6-E5E5BD28539A}"/>
              </a:ext>
            </a:extLst>
          </p:cNvPr>
          <p:cNvPicPr>
            <a:picLocks noGrp="1" noChangeAspect="1"/>
          </p:cNvPicPr>
          <p:nvPr>
            <p:ph idx="1"/>
          </p:nvPr>
        </p:nvPicPr>
        <p:blipFill>
          <a:blip r:embed="rId2"/>
          <a:stretch>
            <a:fillRect/>
          </a:stretch>
        </p:blipFill>
        <p:spPr>
          <a:xfrm>
            <a:off x="1219200" y="533400"/>
            <a:ext cx="9114890" cy="5657850"/>
          </a:xfrm>
          <a:prstGeom prst="rect">
            <a:avLst/>
          </a:prstGeom>
        </p:spPr>
      </p:pic>
    </p:spTree>
    <p:extLst>
      <p:ext uri="{BB962C8B-B14F-4D97-AF65-F5344CB8AC3E}">
        <p14:creationId xmlns:p14="http://schemas.microsoft.com/office/powerpoint/2010/main" val="2420099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EF452B-C0C8-4BCB-835A-E01925C40CA1}"/>
              </a:ext>
            </a:extLst>
          </p:cNvPr>
          <p:cNvSpPr>
            <a:spLocks noGrp="1"/>
          </p:cNvSpPr>
          <p:nvPr>
            <p:ph idx="1"/>
          </p:nvPr>
        </p:nvSpPr>
        <p:spPr>
          <a:xfrm>
            <a:off x="1190625" y="771525"/>
            <a:ext cx="9026352" cy="6286500"/>
          </a:xfrm>
        </p:spPr>
        <p:txBody>
          <a:bodyPr>
            <a:normAutofit/>
          </a:bodyPr>
          <a:lstStyle/>
          <a:p>
            <a:pPr marL="0" indent="0">
              <a:buNone/>
            </a:pPr>
            <a:r>
              <a:rPr lang="en-US" sz="2000" b="1" dirty="0">
                <a:latin typeface="Verdana" panose="020B0604030504040204" pitchFamily="34" charset="0"/>
                <a:ea typeface="Verdana" panose="020B0604030504040204" pitchFamily="34" charset="0"/>
              </a:rPr>
              <a:t>Migration Template overview</a:t>
            </a:r>
            <a:r>
              <a:rPr lang="en-US" sz="2000" dirty="0">
                <a:latin typeface="Verdana" panose="020B0604030504040204" pitchFamily="34" charset="0"/>
                <a:ea typeface="Verdana" panose="020B0604030504040204" pitchFamily="34" charset="0"/>
              </a:rPr>
              <a:t>:</a:t>
            </a:r>
          </a:p>
          <a:p>
            <a:endParaRPr lang="en-US" dirty="0">
              <a:latin typeface="Verdana" panose="020B0604030504040204" pitchFamily="34" charset="0"/>
              <a:ea typeface="Verdana" panose="020B0604030504040204" pitchFamily="34" charset="0"/>
            </a:endParaRPr>
          </a:p>
          <a:p>
            <a:endParaRPr lang="en-US" dirty="0">
              <a:latin typeface="Verdana" panose="020B0604030504040204" pitchFamily="34" charset="0"/>
              <a:ea typeface="Verdana" panose="020B0604030504040204" pitchFamily="34" charset="0"/>
            </a:endParaRPr>
          </a:p>
          <a:p>
            <a:r>
              <a:rPr lang="en-US" sz="1500" dirty="0">
                <a:latin typeface="Verdana" panose="020B0604030504040204" pitchFamily="34" charset="0"/>
                <a:ea typeface="Verdana" panose="020B0604030504040204" pitchFamily="34" charset="0"/>
              </a:rPr>
              <a:t>Down-Load Template: From this window down load the template which you want to migrate . For example in our case we are migrating Functional location object.</a:t>
            </a:r>
          </a:p>
          <a:p>
            <a:r>
              <a:rPr lang="en-US" sz="1500" dirty="0">
                <a:latin typeface="Verdana" panose="020B0604030504040204" pitchFamily="34" charset="0"/>
                <a:ea typeface="Verdana" panose="020B0604030504040204" pitchFamily="34" charset="0"/>
              </a:rPr>
              <a:t>Click on down load template ,one xml file will be downloaded this is called template object and fill the data in all mandatory tabs of template  according to client business .</a:t>
            </a:r>
          </a:p>
          <a:p>
            <a:pPr marL="0" indent="0">
              <a:buNone/>
            </a:pPr>
            <a:r>
              <a:rPr lang="en-US" sz="1500" dirty="0">
                <a:latin typeface="Verdana" panose="020B0604030504040204" pitchFamily="34" charset="0"/>
                <a:ea typeface="Verdana" panose="020B0604030504040204" pitchFamily="34" charset="0"/>
              </a:rPr>
              <a:t>Now before uploading the file we will first focus on one template to understand </a:t>
            </a:r>
          </a:p>
          <a:p>
            <a:pPr marL="0" indent="0">
              <a:buNone/>
            </a:pPr>
            <a:r>
              <a:rPr lang="en-US" sz="1500" dirty="0">
                <a:latin typeface="Verdana" panose="020B0604030504040204" pitchFamily="34" charset="0"/>
                <a:ea typeface="Verdana" panose="020B0604030504040204" pitchFamily="34" charset="0"/>
              </a:rPr>
              <a:t>the structure of object and mandatory fields which needs to be fill the data for file upload .</a:t>
            </a:r>
          </a:p>
          <a:p>
            <a:pPr marL="0" indent="0">
              <a:buNone/>
            </a:pPr>
            <a:endParaRPr lang="en-US" sz="1500" dirty="0">
              <a:latin typeface="Verdana" panose="020B0604030504040204" pitchFamily="34" charset="0"/>
              <a:ea typeface="Verdana" panose="020B0604030504040204" pitchFamily="34" charset="0"/>
            </a:endParaRPr>
          </a:p>
          <a:p>
            <a:endParaRPr lang="en-US" sz="1500" dirty="0">
              <a:latin typeface="Verdana" panose="020B0604030504040204" pitchFamily="34" charset="0"/>
              <a:ea typeface="Verdana" panose="020B0604030504040204" pitchFamily="34" charset="0"/>
            </a:endParaRPr>
          </a:p>
          <a:p>
            <a:pPr marL="0" indent="0">
              <a:buNone/>
            </a:pPr>
            <a:endParaRPr lang="en-US" sz="1500" dirty="0">
              <a:latin typeface="Verdana" panose="020B0604030504040204" pitchFamily="34" charset="0"/>
              <a:ea typeface="Verdana" panose="020B0604030504040204" pitchFamily="34" charset="0"/>
            </a:endParaRPr>
          </a:p>
          <a:p>
            <a:pPr marL="0" indent="0">
              <a:buNone/>
            </a:pPr>
            <a:r>
              <a:rPr lang="en-US" sz="1500" dirty="0">
                <a:latin typeface="Verdana" panose="020B0604030504040204" pitchFamily="34" charset="0"/>
                <a:ea typeface="Verdana" panose="020B0604030504040204" pitchFamily="34" charset="0"/>
              </a:rPr>
              <a:t>A migration template (Microsoft Excel XML Spreadsheet 2003 file) consists of different sheets which are visible at the bottom of the migration template. You use the different sheets to specify the data that belongs to different data structures. For example the migration template for the migration object 'Material', contains a sheet for basic data, a sheet for plant data, and so on. Some sheets are mandatory, and some are optional.</a:t>
            </a:r>
          </a:p>
          <a:p>
            <a:endParaRPr lang="en-US" sz="1500" dirty="0">
              <a:latin typeface="Verdana" panose="020B0604030504040204" pitchFamily="34" charset="0"/>
              <a:ea typeface="Verdana" panose="020B0604030504040204" pitchFamily="34" charset="0"/>
            </a:endParaRPr>
          </a:p>
        </p:txBody>
      </p:sp>
      <p:graphicFrame>
        <p:nvGraphicFramePr>
          <p:cNvPr id="4" name="Object 3">
            <a:extLst>
              <a:ext uri="{FF2B5EF4-FFF2-40B4-BE49-F238E27FC236}">
                <a16:creationId xmlns:a16="http://schemas.microsoft.com/office/drawing/2014/main" id="{69678DA9-11BE-40C7-9592-1C28BD798376}"/>
              </a:ext>
            </a:extLst>
          </p:cNvPr>
          <p:cNvGraphicFramePr>
            <a:graphicFrameLocks noChangeAspect="1"/>
          </p:cNvGraphicFramePr>
          <p:nvPr>
            <p:extLst/>
          </p:nvPr>
        </p:nvGraphicFramePr>
        <p:xfrm>
          <a:off x="1533525" y="5157788"/>
          <a:ext cx="914400" cy="806450"/>
        </p:xfrm>
        <a:graphic>
          <a:graphicData uri="http://schemas.openxmlformats.org/presentationml/2006/ole">
            <mc:AlternateContent xmlns:mc="http://schemas.openxmlformats.org/markup-compatibility/2006">
              <mc:Choice xmlns:v="urn:schemas-microsoft-com:vml" Requires="v">
                <p:oleObj spid="_x0000_s1028" name="Packager Shell Object" showAsIcon="1" r:id="rId3" imgW="914597" imgH="806311" progId="Package">
                  <p:embed/>
                </p:oleObj>
              </mc:Choice>
              <mc:Fallback>
                <p:oleObj name="Packager Shell Object" showAsIcon="1" r:id="rId3" imgW="914597" imgH="806311" progId="Package">
                  <p:embed/>
                  <p:pic>
                    <p:nvPicPr>
                      <p:cNvPr id="4" name="Object 3">
                        <a:extLst>
                          <a:ext uri="{FF2B5EF4-FFF2-40B4-BE49-F238E27FC236}">
                            <a16:creationId xmlns:a16="http://schemas.microsoft.com/office/drawing/2014/main" id="{69678DA9-11BE-40C7-9592-1C28BD798376}"/>
                          </a:ext>
                        </a:extLst>
                      </p:cNvPr>
                      <p:cNvPicPr/>
                      <p:nvPr/>
                    </p:nvPicPr>
                    <p:blipFill>
                      <a:blip r:embed="rId4"/>
                      <a:stretch>
                        <a:fillRect/>
                      </a:stretch>
                    </p:blipFill>
                    <p:spPr>
                      <a:xfrm>
                        <a:off x="1533525" y="5157788"/>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1185092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1D5BCF-20B1-4D62-82AF-CC8F31789B44}"/>
              </a:ext>
            </a:extLst>
          </p:cNvPr>
          <p:cNvSpPr>
            <a:spLocks noGrp="1"/>
          </p:cNvSpPr>
          <p:nvPr>
            <p:ph idx="1"/>
          </p:nvPr>
        </p:nvSpPr>
        <p:spPr>
          <a:xfrm>
            <a:off x="1057276" y="285750"/>
            <a:ext cx="9010650" cy="2000548"/>
          </a:xfrm>
        </p:spPr>
        <p:txBody>
          <a:bodyPr/>
          <a:lstStyle/>
          <a:p>
            <a:pPr marL="0" indent="0">
              <a:buNone/>
            </a:pPr>
            <a:r>
              <a:rPr lang="en-US" sz="2000" b="1" dirty="0">
                <a:latin typeface="Verdana" panose="020B0604030504040204" pitchFamily="34" charset="0"/>
                <a:ea typeface="Verdana" panose="020B0604030504040204" pitchFamily="34" charset="0"/>
              </a:rPr>
              <a:t>Uploading file:</a:t>
            </a:r>
          </a:p>
          <a:p>
            <a:pPr marL="0" indent="0">
              <a:buNone/>
            </a:pPr>
            <a:endParaRPr lang="en-US" sz="2000" dirty="0">
              <a:latin typeface="Verdana" panose="020B0604030504040204" pitchFamily="34" charset="0"/>
              <a:ea typeface="Verdana" panose="020B0604030504040204" pitchFamily="34" charset="0"/>
            </a:endParaRPr>
          </a:p>
          <a:p>
            <a:r>
              <a:rPr lang="en-US" sz="1500" dirty="0">
                <a:latin typeface="Verdana" panose="020B0604030504040204" pitchFamily="34" charset="0"/>
                <a:ea typeface="Verdana" panose="020B0604030504040204" pitchFamily="34" charset="0"/>
              </a:rPr>
              <a:t>In this example we are uploading Functional Location file .After downloading the template fill the data in it and upload .</a:t>
            </a:r>
          </a:p>
          <a:p>
            <a:pPr marL="0" indent="0">
              <a:buNone/>
            </a:pPr>
            <a:r>
              <a:rPr lang="en-US" sz="1500" b="1" dirty="0">
                <a:latin typeface="Verdana" panose="020B0604030504040204" pitchFamily="34" charset="0"/>
                <a:ea typeface="Verdana" panose="020B0604030504040204" pitchFamily="34" charset="0"/>
              </a:rPr>
              <a:t>Note</a:t>
            </a:r>
            <a:r>
              <a:rPr lang="en-US" sz="1500" dirty="0">
                <a:latin typeface="Verdana" panose="020B0604030504040204" pitchFamily="34" charset="0"/>
                <a:ea typeface="Verdana" panose="020B0604030504040204" pitchFamily="34" charset="0"/>
              </a:rPr>
              <a:t>: All the mandatory fields needs to be fill other wise file uploaded will be failed with errors. The data should be in SAP standard format. Below screen shows the file upload process.</a:t>
            </a:r>
          </a:p>
          <a:p>
            <a:pPr marL="0" indent="0">
              <a:buNone/>
            </a:pPr>
            <a:r>
              <a:rPr lang="en-US" sz="1500" dirty="0">
                <a:latin typeface="Verdana" panose="020B0604030504040204" pitchFamily="34" charset="0"/>
                <a:ea typeface="Verdana" panose="020B0604030504040204" pitchFamily="34" charset="0"/>
              </a:rPr>
              <a:t>When we click on upload file it will show below screen.</a:t>
            </a:r>
          </a:p>
        </p:txBody>
      </p:sp>
      <p:pic>
        <p:nvPicPr>
          <p:cNvPr id="4" name="Picture 3">
            <a:extLst>
              <a:ext uri="{FF2B5EF4-FFF2-40B4-BE49-F238E27FC236}">
                <a16:creationId xmlns:a16="http://schemas.microsoft.com/office/drawing/2014/main" id="{FFB66CB0-E394-4149-9F58-EEDC5619D28C}"/>
              </a:ext>
            </a:extLst>
          </p:cNvPr>
          <p:cNvPicPr>
            <a:picLocks noChangeAspect="1"/>
          </p:cNvPicPr>
          <p:nvPr/>
        </p:nvPicPr>
        <p:blipFill>
          <a:blip r:embed="rId2"/>
          <a:stretch>
            <a:fillRect/>
          </a:stretch>
        </p:blipFill>
        <p:spPr>
          <a:xfrm>
            <a:off x="1133476" y="2495550"/>
            <a:ext cx="7286625" cy="3876675"/>
          </a:xfrm>
          <a:prstGeom prst="rect">
            <a:avLst/>
          </a:prstGeom>
        </p:spPr>
      </p:pic>
    </p:spTree>
    <p:extLst>
      <p:ext uri="{BB962C8B-B14F-4D97-AF65-F5344CB8AC3E}">
        <p14:creationId xmlns:p14="http://schemas.microsoft.com/office/powerpoint/2010/main" val="3480069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3D3C7E-F962-4329-A82E-953979204355}"/>
              </a:ext>
            </a:extLst>
          </p:cNvPr>
          <p:cNvSpPr>
            <a:spLocks noGrp="1"/>
          </p:cNvSpPr>
          <p:nvPr>
            <p:ph idx="1"/>
          </p:nvPr>
        </p:nvSpPr>
        <p:spPr>
          <a:xfrm>
            <a:off x="990600" y="377903"/>
            <a:ext cx="9064452" cy="969496"/>
          </a:xfrm>
        </p:spPr>
        <p:txBody>
          <a:bodyPr/>
          <a:lstStyle/>
          <a:p>
            <a:r>
              <a:rPr lang="en-US" sz="1500" dirty="0">
                <a:latin typeface="Verdana" panose="020B0604030504040204" pitchFamily="34" charset="0"/>
                <a:ea typeface="Verdana" panose="020B0604030504040204" pitchFamily="34" charset="0"/>
              </a:rPr>
              <a:t>Click on upload then the below screen will be visible .</a:t>
            </a:r>
          </a:p>
          <a:p>
            <a:r>
              <a:rPr lang="en-US" sz="1500" dirty="0">
                <a:latin typeface="Verdana" panose="020B0604030504040204" pitchFamily="34" charset="0"/>
                <a:ea typeface="Verdana" panose="020B0604030504040204" pitchFamily="34" charset="0"/>
              </a:rPr>
              <a:t>Select the below object click on activate button once activate button is disable then click on Start transfer tab.</a:t>
            </a:r>
          </a:p>
          <a:p>
            <a:pPr marL="0" indent="0">
              <a:buNone/>
            </a:pPr>
            <a:endParaRPr lang="en-US" dirty="0"/>
          </a:p>
        </p:txBody>
      </p:sp>
      <p:pic>
        <p:nvPicPr>
          <p:cNvPr id="2" name="Picture 1">
            <a:extLst>
              <a:ext uri="{FF2B5EF4-FFF2-40B4-BE49-F238E27FC236}">
                <a16:creationId xmlns:a16="http://schemas.microsoft.com/office/drawing/2014/main" id="{0538FFB5-11F2-48BC-B9ED-0375858B9EC2}"/>
              </a:ext>
            </a:extLst>
          </p:cNvPr>
          <p:cNvPicPr>
            <a:picLocks noChangeAspect="1"/>
          </p:cNvPicPr>
          <p:nvPr/>
        </p:nvPicPr>
        <p:blipFill>
          <a:blip r:embed="rId2"/>
          <a:stretch>
            <a:fillRect/>
          </a:stretch>
        </p:blipFill>
        <p:spPr>
          <a:xfrm>
            <a:off x="990600" y="1695449"/>
            <a:ext cx="11050029" cy="4591051"/>
          </a:xfrm>
          <a:prstGeom prst="rect">
            <a:avLst/>
          </a:prstGeom>
        </p:spPr>
      </p:pic>
    </p:spTree>
    <p:extLst>
      <p:ext uri="{BB962C8B-B14F-4D97-AF65-F5344CB8AC3E}">
        <p14:creationId xmlns:p14="http://schemas.microsoft.com/office/powerpoint/2010/main" val="361107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3F7518-5A0A-4907-8969-88E2989D5190}"/>
              </a:ext>
            </a:extLst>
          </p:cNvPr>
          <p:cNvSpPr>
            <a:spLocks noGrp="1"/>
          </p:cNvSpPr>
          <p:nvPr>
            <p:ph idx="1"/>
          </p:nvPr>
        </p:nvSpPr>
        <p:spPr>
          <a:xfrm>
            <a:off x="1151890" y="813046"/>
            <a:ext cx="8979362" cy="738664"/>
          </a:xfrm>
        </p:spPr>
        <p:txBody>
          <a:bodyPr/>
          <a:lstStyle/>
          <a:p>
            <a:r>
              <a:rPr lang="en-US" sz="1500" dirty="0">
                <a:latin typeface="Verdana" panose="020B0604030504040204" pitchFamily="34" charset="0"/>
                <a:ea typeface="Verdana" panose="020B0604030504040204" pitchFamily="34" charset="0"/>
              </a:rPr>
              <a:t>It will give the warning .Click ok</a:t>
            </a:r>
          </a:p>
          <a:p>
            <a:r>
              <a:rPr lang="en-US" sz="1500" dirty="0">
                <a:latin typeface="Verdana" panose="020B0604030504040204" pitchFamily="34" charset="0"/>
                <a:ea typeface="Verdana" panose="020B0604030504040204" pitchFamily="34" charset="0"/>
              </a:rPr>
              <a:t>Close below window when you see 100%</a:t>
            </a:r>
          </a:p>
          <a:p>
            <a:endParaRPr lang="en-US" dirty="0"/>
          </a:p>
        </p:txBody>
      </p:sp>
      <p:pic>
        <p:nvPicPr>
          <p:cNvPr id="4" name="Picture 3">
            <a:extLst>
              <a:ext uri="{FF2B5EF4-FFF2-40B4-BE49-F238E27FC236}">
                <a16:creationId xmlns:a16="http://schemas.microsoft.com/office/drawing/2014/main" id="{D9CBD593-137A-430E-9092-8DD399899F5B}"/>
              </a:ext>
            </a:extLst>
          </p:cNvPr>
          <p:cNvPicPr>
            <a:picLocks noChangeAspect="1"/>
          </p:cNvPicPr>
          <p:nvPr/>
        </p:nvPicPr>
        <p:blipFill>
          <a:blip r:embed="rId2"/>
          <a:stretch>
            <a:fillRect/>
          </a:stretch>
        </p:blipFill>
        <p:spPr>
          <a:xfrm>
            <a:off x="1151890" y="1775142"/>
            <a:ext cx="7411794" cy="4269812"/>
          </a:xfrm>
          <a:prstGeom prst="rect">
            <a:avLst/>
          </a:prstGeom>
        </p:spPr>
      </p:pic>
    </p:spTree>
    <p:extLst>
      <p:ext uri="{BB962C8B-B14F-4D97-AF65-F5344CB8AC3E}">
        <p14:creationId xmlns:p14="http://schemas.microsoft.com/office/powerpoint/2010/main" val="3121816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75317-21AC-404F-9825-605FF571CF10}"/>
              </a:ext>
            </a:extLst>
          </p:cNvPr>
          <p:cNvSpPr>
            <a:spLocks noGrp="1"/>
          </p:cNvSpPr>
          <p:nvPr>
            <p:ph idx="1"/>
          </p:nvPr>
        </p:nvSpPr>
        <p:spPr>
          <a:xfrm>
            <a:off x="1040623" y="723266"/>
            <a:ext cx="9113520" cy="507831"/>
          </a:xfrm>
        </p:spPr>
        <p:txBody>
          <a:bodyPr/>
          <a:lstStyle/>
          <a:p>
            <a:r>
              <a:rPr lang="en-US" sz="1500" dirty="0">
                <a:latin typeface="Verdana" panose="020B0604030504040204" pitchFamily="34" charset="0"/>
                <a:ea typeface="Verdana" panose="020B0604030504040204" pitchFamily="34" charset="0"/>
              </a:rPr>
              <a:t>Click next in below screen:</a:t>
            </a:r>
          </a:p>
          <a:p>
            <a:endParaRPr lang="en-US" dirty="0"/>
          </a:p>
        </p:txBody>
      </p:sp>
      <p:pic>
        <p:nvPicPr>
          <p:cNvPr id="4" name="Picture 3">
            <a:extLst>
              <a:ext uri="{FF2B5EF4-FFF2-40B4-BE49-F238E27FC236}">
                <a16:creationId xmlns:a16="http://schemas.microsoft.com/office/drawing/2014/main" id="{F46F2C46-96EE-44E8-AF3C-4B5772B75685}"/>
              </a:ext>
            </a:extLst>
          </p:cNvPr>
          <p:cNvPicPr>
            <a:picLocks noChangeAspect="1"/>
          </p:cNvPicPr>
          <p:nvPr/>
        </p:nvPicPr>
        <p:blipFill>
          <a:blip r:embed="rId2"/>
          <a:stretch>
            <a:fillRect/>
          </a:stretch>
        </p:blipFill>
        <p:spPr>
          <a:xfrm>
            <a:off x="953276" y="1466950"/>
            <a:ext cx="9200867" cy="4767480"/>
          </a:xfrm>
          <a:prstGeom prst="rect">
            <a:avLst/>
          </a:prstGeom>
        </p:spPr>
      </p:pic>
    </p:spTree>
    <p:extLst>
      <p:ext uri="{BB962C8B-B14F-4D97-AF65-F5344CB8AC3E}">
        <p14:creationId xmlns:p14="http://schemas.microsoft.com/office/powerpoint/2010/main" val="12695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8197-91DE-4AF3-AF97-F1F899FEF272}"/>
              </a:ext>
            </a:extLst>
          </p:cNvPr>
          <p:cNvSpPr>
            <a:spLocks noGrp="1"/>
          </p:cNvSpPr>
          <p:nvPr>
            <p:ph type="title"/>
          </p:nvPr>
        </p:nvSpPr>
        <p:spPr>
          <a:xfrm>
            <a:off x="1228597" y="266826"/>
            <a:ext cx="10077704" cy="307777"/>
          </a:xfrm>
        </p:spPr>
        <p:txBody>
          <a:bodyPr/>
          <a:lstStyle/>
          <a:p>
            <a:r>
              <a:rPr lang="en-US" sz="2000" dirty="0">
                <a:solidFill>
                  <a:schemeClr val="tx1"/>
                </a:solidFill>
              </a:rPr>
              <a:t>When we click on next in above screen  it will move to convert values.</a:t>
            </a:r>
          </a:p>
        </p:txBody>
      </p:sp>
      <p:pic>
        <p:nvPicPr>
          <p:cNvPr id="3074" name="Picture 2">
            <a:extLst>
              <a:ext uri="{FF2B5EF4-FFF2-40B4-BE49-F238E27FC236}">
                <a16:creationId xmlns:a16="http://schemas.microsoft.com/office/drawing/2014/main" id="{A52B57D3-1A43-4EE0-BFC1-5D42FDDB05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525" y="678496"/>
            <a:ext cx="7620000" cy="32480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F4FF104D-6B38-4F30-926C-A74CF96DF0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4525" y="3514725"/>
            <a:ext cx="7620000" cy="328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567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BFE84-E188-4D85-8F15-05B6510705F8}"/>
              </a:ext>
            </a:extLst>
          </p:cNvPr>
          <p:cNvSpPr>
            <a:spLocks noGrp="1"/>
          </p:cNvSpPr>
          <p:nvPr>
            <p:ph idx="1"/>
          </p:nvPr>
        </p:nvSpPr>
        <p:spPr>
          <a:xfrm>
            <a:off x="1179738" y="657944"/>
            <a:ext cx="9255760" cy="507831"/>
          </a:xfrm>
        </p:spPr>
        <p:txBody>
          <a:bodyPr/>
          <a:lstStyle/>
          <a:p>
            <a:r>
              <a:rPr lang="en-US" sz="1500" dirty="0">
                <a:latin typeface="Verdana" panose="020B0604030504040204" pitchFamily="34" charset="0"/>
                <a:ea typeface="Verdana" panose="020B0604030504040204" pitchFamily="34" charset="0"/>
              </a:rPr>
              <a:t>When we click on next in above screen  it will move to convert values.</a:t>
            </a:r>
          </a:p>
          <a:p>
            <a:pPr marL="0" indent="0">
              <a:buNone/>
            </a:pPr>
            <a:endParaRPr lang="en-US" dirty="0"/>
          </a:p>
        </p:txBody>
      </p:sp>
      <p:pic>
        <p:nvPicPr>
          <p:cNvPr id="4" name="Picture 3">
            <a:extLst>
              <a:ext uri="{FF2B5EF4-FFF2-40B4-BE49-F238E27FC236}">
                <a16:creationId xmlns:a16="http://schemas.microsoft.com/office/drawing/2014/main" id="{487D109D-95F8-4A31-9931-8A216204A842}"/>
              </a:ext>
            </a:extLst>
          </p:cNvPr>
          <p:cNvPicPr>
            <a:picLocks noChangeAspect="1"/>
          </p:cNvPicPr>
          <p:nvPr/>
        </p:nvPicPr>
        <p:blipFill>
          <a:blip r:embed="rId2"/>
          <a:stretch>
            <a:fillRect/>
          </a:stretch>
        </p:blipFill>
        <p:spPr>
          <a:xfrm>
            <a:off x="1179738" y="1272540"/>
            <a:ext cx="9166952" cy="4673600"/>
          </a:xfrm>
          <a:prstGeom prst="rect">
            <a:avLst/>
          </a:prstGeom>
        </p:spPr>
      </p:pic>
    </p:spTree>
    <p:extLst>
      <p:ext uri="{BB962C8B-B14F-4D97-AF65-F5344CB8AC3E}">
        <p14:creationId xmlns:p14="http://schemas.microsoft.com/office/powerpoint/2010/main" val="4284336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F7C78C-7A2F-4A70-ABEE-14BFFF615858}"/>
              </a:ext>
            </a:extLst>
          </p:cNvPr>
          <p:cNvSpPr>
            <a:spLocks noGrp="1"/>
          </p:cNvSpPr>
          <p:nvPr>
            <p:ph idx="1"/>
          </p:nvPr>
        </p:nvSpPr>
        <p:spPr>
          <a:xfrm>
            <a:off x="1047750" y="744220"/>
            <a:ext cx="8908242" cy="553998"/>
          </a:xfrm>
        </p:spPr>
        <p:txBody>
          <a:bodyPr/>
          <a:lstStyle/>
          <a:p>
            <a:r>
              <a:rPr lang="en-US" dirty="0">
                <a:latin typeface="Verdana" panose="020B0604030504040204" pitchFamily="34" charset="0"/>
                <a:ea typeface="Verdana" panose="020B0604030504040204" pitchFamily="34" charset="0"/>
              </a:rPr>
              <a:t>When we click on next in above screen  it will move to  below screen.</a:t>
            </a:r>
          </a:p>
          <a:p>
            <a:pPr marL="0" indent="0">
              <a:buNone/>
            </a:pPr>
            <a:endParaRPr lang="en-US" dirty="0"/>
          </a:p>
        </p:txBody>
      </p:sp>
      <p:pic>
        <p:nvPicPr>
          <p:cNvPr id="2" name="Picture 1">
            <a:extLst>
              <a:ext uri="{FF2B5EF4-FFF2-40B4-BE49-F238E27FC236}">
                <a16:creationId xmlns:a16="http://schemas.microsoft.com/office/drawing/2014/main" id="{99598F3F-759D-49FE-9B93-059DA0D04214}"/>
              </a:ext>
            </a:extLst>
          </p:cNvPr>
          <p:cNvPicPr>
            <a:picLocks noChangeAspect="1"/>
          </p:cNvPicPr>
          <p:nvPr/>
        </p:nvPicPr>
        <p:blipFill>
          <a:blip r:embed="rId2"/>
          <a:stretch>
            <a:fillRect/>
          </a:stretch>
        </p:blipFill>
        <p:spPr>
          <a:xfrm>
            <a:off x="1047750" y="1876425"/>
            <a:ext cx="9410700" cy="3886200"/>
          </a:xfrm>
          <a:prstGeom prst="rect">
            <a:avLst/>
          </a:prstGeom>
        </p:spPr>
      </p:pic>
    </p:spTree>
    <p:extLst>
      <p:ext uri="{BB962C8B-B14F-4D97-AF65-F5344CB8AC3E}">
        <p14:creationId xmlns:p14="http://schemas.microsoft.com/office/powerpoint/2010/main" val="3078195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23A27-004C-4260-8209-E9D63EBA01ED}"/>
              </a:ext>
            </a:extLst>
          </p:cNvPr>
          <p:cNvSpPr>
            <a:spLocks noGrp="1"/>
          </p:cNvSpPr>
          <p:nvPr>
            <p:ph idx="1"/>
          </p:nvPr>
        </p:nvSpPr>
        <p:spPr>
          <a:xfrm>
            <a:off x="1095375" y="746760"/>
            <a:ext cx="8969202" cy="830997"/>
          </a:xfrm>
        </p:spPr>
        <p:txBody>
          <a:bodyPr/>
          <a:lstStyle/>
          <a:p>
            <a:r>
              <a:rPr lang="en-US" dirty="0">
                <a:latin typeface="Verdana" panose="020B0604030504040204" pitchFamily="34" charset="0"/>
                <a:ea typeface="Verdana" panose="020B0604030504040204" pitchFamily="34" charset="0"/>
              </a:rPr>
              <a:t>Click next it will go to below screen .Click finish if you don’t see any errors in below window.</a:t>
            </a:r>
          </a:p>
          <a:p>
            <a:endParaRPr lang="en-US" dirty="0"/>
          </a:p>
        </p:txBody>
      </p:sp>
      <p:pic>
        <p:nvPicPr>
          <p:cNvPr id="4" name="Picture 3">
            <a:extLst>
              <a:ext uri="{FF2B5EF4-FFF2-40B4-BE49-F238E27FC236}">
                <a16:creationId xmlns:a16="http://schemas.microsoft.com/office/drawing/2014/main" id="{DEE8BA37-98B0-44D8-B97F-91BAA186BC35}"/>
              </a:ext>
            </a:extLst>
          </p:cNvPr>
          <p:cNvPicPr>
            <a:picLocks noChangeAspect="1"/>
          </p:cNvPicPr>
          <p:nvPr/>
        </p:nvPicPr>
        <p:blipFill>
          <a:blip r:embed="rId2"/>
          <a:stretch>
            <a:fillRect/>
          </a:stretch>
        </p:blipFill>
        <p:spPr>
          <a:xfrm>
            <a:off x="1095375" y="1621182"/>
            <a:ext cx="8763000" cy="4808278"/>
          </a:xfrm>
          <a:prstGeom prst="rect">
            <a:avLst/>
          </a:prstGeom>
        </p:spPr>
      </p:pic>
    </p:spTree>
    <p:extLst>
      <p:ext uri="{BB962C8B-B14F-4D97-AF65-F5344CB8AC3E}">
        <p14:creationId xmlns:p14="http://schemas.microsoft.com/office/powerpoint/2010/main" val="306526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0822C-A27F-4D3A-9FED-33CD20DA86F3}"/>
              </a:ext>
            </a:extLst>
          </p:cNvPr>
          <p:cNvSpPr>
            <a:spLocks noGrp="1"/>
          </p:cNvSpPr>
          <p:nvPr>
            <p:ph type="title"/>
          </p:nvPr>
        </p:nvSpPr>
        <p:spPr>
          <a:xfrm>
            <a:off x="1057147" y="190626"/>
            <a:ext cx="10077704" cy="1231106"/>
          </a:xfrm>
        </p:spPr>
        <p:txBody>
          <a:bodyPr/>
          <a:lstStyle/>
          <a:p>
            <a:r>
              <a:rPr lang="en-US" sz="3000" b="1" dirty="0"/>
              <a:t>SAP S/4HANA Migration Cockpit -Transfer Data Using Staging Tables</a:t>
            </a:r>
            <a:r>
              <a:rPr lang="en-US" sz="3200" b="1" dirty="0"/>
              <a:t/>
            </a:r>
            <a:br>
              <a:rPr lang="en-US" sz="3200" b="1" dirty="0"/>
            </a:br>
            <a:r>
              <a:rPr lang="en-US" sz="2000" dirty="0"/>
              <a:t>System Setup (On-Premise)</a:t>
            </a:r>
          </a:p>
        </p:txBody>
      </p:sp>
      <p:pic>
        <p:nvPicPr>
          <p:cNvPr id="4" name="Picture 3">
            <a:extLst>
              <a:ext uri="{FF2B5EF4-FFF2-40B4-BE49-F238E27FC236}">
                <a16:creationId xmlns:a16="http://schemas.microsoft.com/office/drawing/2014/main" id="{5369B878-EEA4-4792-8DB9-94B63E2CEB8E}"/>
              </a:ext>
            </a:extLst>
          </p:cNvPr>
          <p:cNvPicPr>
            <a:picLocks noChangeAspect="1"/>
          </p:cNvPicPr>
          <p:nvPr/>
        </p:nvPicPr>
        <p:blipFill>
          <a:blip r:embed="rId2"/>
          <a:stretch>
            <a:fillRect/>
          </a:stretch>
        </p:blipFill>
        <p:spPr>
          <a:xfrm>
            <a:off x="1038225" y="1619572"/>
            <a:ext cx="10410826" cy="4940340"/>
          </a:xfrm>
          <a:prstGeom prst="rect">
            <a:avLst/>
          </a:prstGeom>
        </p:spPr>
      </p:pic>
    </p:spTree>
    <p:extLst>
      <p:ext uri="{BB962C8B-B14F-4D97-AF65-F5344CB8AC3E}">
        <p14:creationId xmlns:p14="http://schemas.microsoft.com/office/powerpoint/2010/main" val="3099847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9710-2E2F-4355-8766-244E67D4442C}"/>
              </a:ext>
            </a:extLst>
          </p:cNvPr>
          <p:cNvSpPr>
            <a:spLocks noGrp="1"/>
          </p:cNvSpPr>
          <p:nvPr>
            <p:ph type="title"/>
          </p:nvPr>
        </p:nvSpPr>
        <p:spPr>
          <a:xfrm>
            <a:off x="1057147" y="190626"/>
            <a:ext cx="10077704" cy="492443"/>
          </a:xfrm>
        </p:spPr>
        <p:txBody>
          <a:bodyPr/>
          <a:lstStyle/>
          <a:p>
            <a:r>
              <a:rPr lang="en-IN" sz="3200" b="1" dirty="0"/>
              <a:t>Transfer Data using Staging tables:</a:t>
            </a:r>
            <a:endParaRPr lang="en-US" sz="3200" dirty="0"/>
          </a:p>
        </p:txBody>
      </p:sp>
      <p:sp>
        <p:nvSpPr>
          <p:cNvPr id="3" name="Text Placeholder 2">
            <a:extLst>
              <a:ext uri="{FF2B5EF4-FFF2-40B4-BE49-F238E27FC236}">
                <a16:creationId xmlns:a16="http://schemas.microsoft.com/office/drawing/2014/main" id="{32B45B3F-5F90-4B01-8678-38A6EB8C17D6}"/>
              </a:ext>
            </a:extLst>
          </p:cNvPr>
          <p:cNvSpPr>
            <a:spLocks noGrp="1"/>
          </p:cNvSpPr>
          <p:nvPr>
            <p:ph type="body" idx="1"/>
          </p:nvPr>
        </p:nvSpPr>
        <p:spPr>
          <a:xfrm>
            <a:off x="1057147" y="1037752"/>
            <a:ext cx="10077704" cy="2308324"/>
          </a:xfrm>
        </p:spPr>
        <p:txBody>
          <a:bodyPr/>
          <a:lstStyle/>
          <a:p>
            <a:r>
              <a:rPr lang="en-US" sz="1500" dirty="0">
                <a:latin typeface="Verdana" panose="020B0604030504040204" pitchFamily="34" charset="0"/>
                <a:ea typeface="Verdana" panose="020B0604030504040204" pitchFamily="34" charset="0"/>
              </a:rPr>
              <a:t>Using Staging tables in Migration Cockpit we can use Database Tables as a source for your Migration Project. These are called as ‘Staging Tables’, so you extract the data from the source system into these staging tables and import the data from there with the S/4HANA Migration Cockpit.</a:t>
            </a:r>
          </a:p>
          <a:p>
            <a:r>
              <a:rPr lang="en-US" sz="1500" dirty="0">
                <a:latin typeface="Verdana" panose="020B0604030504040204" pitchFamily="34" charset="0"/>
                <a:ea typeface="Verdana" panose="020B0604030504040204" pitchFamily="34" charset="0"/>
              </a:rPr>
              <a:t>SAP Data Services as a method to populate Staging Database.</a:t>
            </a:r>
          </a:p>
          <a:p>
            <a:endParaRPr lang="en-US" sz="1500" dirty="0">
              <a:latin typeface="Verdana" panose="020B0604030504040204" pitchFamily="34" charset="0"/>
              <a:ea typeface="Verdana" panose="020B0604030504040204" pitchFamily="34" charset="0"/>
            </a:endParaRPr>
          </a:p>
          <a:p>
            <a:pPr lvl="0"/>
            <a:r>
              <a:rPr lang="en-US" sz="1500" b="1" dirty="0">
                <a:latin typeface="Verdana" panose="020B0604030504040204" pitchFamily="34" charset="0"/>
                <a:ea typeface="Verdana" panose="020B0604030504040204" pitchFamily="34" charset="0"/>
              </a:rPr>
              <a:t>Create a Database Connection</a:t>
            </a:r>
            <a:r>
              <a:rPr lang="en-US" sz="1500" dirty="0">
                <a:latin typeface="Verdana" panose="020B0604030504040204" pitchFamily="34" charset="0"/>
                <a:ea typeface="Verdana" panose="020B0604030504040204" pitchFamily="34" charset="0"/>
              </a:rPr>
              <a:t>:</a:t>
            </a:r>
          </a:p>
          <a:p>
            <a:r>
              <a:rPr lang="en-US" sz="1500" dirty="0">
                <a:latin typeface="Verdana" panose="020B0604030504040204" pitchFamily="34" charset="0"/>
                <a:ea typeface="Verdana" panose="020B0604030504040204" pitchFamily="34" charset="0"/>
              </a:rPr>
              <a:t>The first step in using Staging table is to create a Database Connection between S/4 and the schema where the Staging tables will reside .The Staging tables can exist in a remote database or in the target S/4HANA database (but in a separate Schema).</a:t>
            </a:r>
          </a:p>
          <a:p>
            <a:r>
              <a:rPr lang="en-US" sz="1500" dirty="0">
                <a:latin typeface="Verdana" panose="020B0604030504040204" pitchFamily="34" charset="0"/>
                <a:ea typeface="Verdana" panose="020B0604030504040204" pitchFamily="34" charset="0"/>
              </a:rPr>
              <a:t>Go to transaction DBCO to create the database connection </a:t>
            </a:r>
          </a:p>
        </p:txBody>
      </p:sp>
      <p:pic>
        <p:nvPicPr>
          <p:cNvPr id="88" name="Picture 87">
            <a:extLst>
              <a:ext uri="{FF2B5EF4-FFF2-40B4-BE49-F238E27FC236}">
                <a16:creationId xmlns:a16="http://schemas.microsoft.com/office/drawing/2014/main" id="{404FC308-978B-4908-A55E-BE871A31D37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86777" y="3381848"/>
            <a:ext cx="5514023" cy="3133252"/>
          </a:xfrm>
          <a:prstGeom prst="rect">
            <a:avLst/>
          </a:prstGeom>
          <a:noFill/>
          <a:ln>
            <a:noFill/>
          </a:ln>
        </p:spPr>
      </p:pic>
      <p:sp>
        <p:nvSpPr>
          <p:cNvPr id="4152" name="TextBox 4151">
            <a:extLst>
              <a:ext uri="{FF2B5EF4-FFF2-40B4-BE49-F238E27FC236}">
                <a16:creationId xmlns:a16="http://schemas.microsoft.com/office/drawing/2014/main" id="{F0891A6E-D512-445D-BB8F-581C7B43A31E}"/>
              </a:ext>
            </a:extLst>
          </p:cNvPr>
          <p:cNvSpPr txBox="1"/>
          <p:nvPr/>
        </p:nvSpPr>
        <p:spPr>
          <a:xfrm>
            <a:off x="6510273" y="6035330"/>
            <a:ext cx="5290250" cy="553998"/>
          </a:xfrm>
          <a:prstGeom prst="rect">
            <a:avLst/>
          </a:prstGeom>
          <a:noFill/>
        </p:spPr>
        <p:txBody>
          <a:bodyPr wrap="square" rtlCol="0">
            <a:spAutoFit/>
          </a:bodyPr>
          <a:lstStyle/>
          <a:p>
            <a:r>
              <a:rPr lang="en-US" sz="1500" dirty="0">
                <a:latin typeface="Verdana" panose="020B0604030504040204" pitchFamily="34" charset="0"/>
                <a:ea typeface="Verdana" panose="020B0604030504040204" pitchFamily="34" charset="0"/>
              </a:rPr>
              <a:t>White-List the connection in  </a:t>
            </a:r>
            <a:r>
              <a:rPr lang="en-US" sz="1500" b="1" dirty="0">
                <a:latin typeface="Verdana" panose="020B0604030504040204" pitchFamily="34" charset="0"/>
                <a:ea typeface="Verdana" panose="020B0604030504040204" pitchFamily="34" charset="0"/>
              </a:rPr>
              <a:t>DMC_C_WL_DBCO_OP</a:t>
            </a:r>
            <a:r>
              <a:rPr lang="en-US" sz="1500" dirty="0">
                <a:latin typeface="Verdana" panose="020B0604030504040204" pitchFamily="34" charset="0"/>
                <a:ea typeface="Verdana" panose="020B0604030504040204" pitchFamily="34" charset="0"/>
              </a:rPr>
              <a:t> using transaction SM30</a:t>
            </a:r>
          </a:p>
        </p:txBody>
      </p:sp>
      <p:pic>
        <p:nvPicPr>
          <p:cNvPr id="91" name="Picture 90">
            <a:extLst>
              <a:ext uri="{FF2B5EF4-FFF2-40B4-BE49-F238E27FC236}">
                <a16:creationId xmlns:a16="http://schemas.microsoft.com/office/drawing/2014/main" id="{51E401EB-B4A1-48FA-ABFA-04F479A1873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10273" y="3372323"/>
            <a:ext cx="5067428" cy="2447925"/>
          </a:xfrm>
          <a:prstGeom prst="rect">
            <a:avLst/>
          </a:prstGeom>
          <a:noFill/>
          <a:ln>
            <a:noFill/>
          </a:ln>
        </p:spPr>
      </p:pic>
    </p:spTree>
    <p:extLst>
      <p:ext uri="{BB962C8B-B14F-4D97-AF65-F5344CB8AC3E}">
        <p14:creationId xmlns:p14="http://schemas.microsoft.com/office/powerpoint/2010/main" val="3643480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B0601-9E5B-40C0-AC6F-F8C695B67371}"/>
              </a:ext>
            </a:extLst>
          </p:cNvPr>
          <p:cNvSpPr>
            <a:spLocks noGrp="1"/>
          </p:cNvSpPr>
          <p:nvPr>
            <p:ph type="title"/>
          </p:nvPr>
        </p:nvSpPr>
        <p:spPr>
          <a:xfrm>
            <a:off x="1057147" y="190626"/>
            <a:ext cx="10077704" cy="307777"/>
          </a:xfrm>
        </p:spPr>
        <p:txBody>
          <a:bodyPr/>
          <a:lstStyle/>
          <a:p>
            <a:r>
              <a:rPr lang="en-US" sz="2000" b="1" dirty="0">
                <a:solidFill>
                  <a:schemeClr val="tx1"/>
                </a:solidFill>
              </a:rPr>
              <a:t>Creating a New Project for Data Migration</a:t>
            </a:r>
            <a:endParaRPr lang="en-US" sz="2000" dirty="0">
              <a:solidFill>
                <a:schemeClr val="tx1"/>
              </a:solidFill>
            </a:endParaRPr>
          </a:p>
        </p:txBody>
      </p:sp>
      <p:sp>
        <p:nvSpPr>
          <p:cNvPr id="3" name="Text Placeholder 2">
            <a:extLst>
              <a:ext uri="{FF2B5EF4-FFF2-40B4-BE49-F238E27FC236}">
                <a16:creationId xmlns:a16="http://schemas.microsoft.com/office/drawing/2014/main" id="{8AE8BDB7-FD32-4A4A-9AF8-0B7455950B58}"/>
              </a:ext>
            </a:extLst>
          </p:cNvPr>
          <p:cNvSpPr>
            <a:spLocks noGrp="1"/>
          </p:cNvSpPr>
          <p:nvPr>
            <p:ph type="body" idx="1"/>
          </p:nvPr>
        </p:nvSpPr>
        <p:spPr>
          <a:xfrm>
            <a:off x="1057147" y="808121"/>
            <a:ext cx="10077704" cy="507831"/>
          </a:xfrm>
        </p:spPr>
        <p:txBody>
          <a:bodyPr/>
          <a:lstStyle/>
          <a:p>
            <a:r>
              <a:rPr lang="en-US" sz="1500" dirty="0">
                <a:latin typeface="Verdana" panose="020B0604030504040204" pitchFamily="34" charset="0"/>
                <a:ea typeface="Verdana" panose="020B0604030504040204" pitchFamily="34" charset="0"/>
              </a:rPr>
              <a:t>Go to Transaction LTMC – Migration Cockpit.</a:t>
            </a:r>
          </a:p>
          <a:p>
            <a:endParaRPr lang="en-US" dirty="0"/>
          </a:p>
        </p:txBody>
      </p:sp>
      <p:pic>
        <p:nvPicPr>
          <p:cNvPr id="4" name="Picture 3">
            <a:extLst>
              <a:ext uri="{FF2B5EF4-FFF2-40B4-BE49-F238E27FC236}">
                <a16:creationId xmlns:a16="http://schemas.microsoft.com/office/drawing/2014/main" id="{2F74FF79-8D15-4AA5-938F-4C7712923F5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81023" y="1062036"/>
            <a:ext cx="5114925" cy="2085975"/>
          </a:xfrm>
          <a:prstGeom prst="rect">
            <a:avLst/>
          </a:prstGeom>
          <a:noFill/>
          <a:ln>
            <a:noFill/>
          </a:ln>
        </p:spPr>
      </p:pic>
      <p:sp>
        <p:nvSpPr>
          <p:cNvPr id="5" name="TextBox 4">
            <a:extLst>
              <a:ext uri="{FF2B5EF4-FFF2-40B4-BE49-F238E27FC236}">
                <a16:creationId xmlns:a16="http://schemas.microsoft.com/office/drawing/2014/main" id="{86B2CEEB-DE16-4579-A647-A2391AD4726A}"/>
              </a:ext>
            </a:extLst>
          </p:cNvPr>
          <p:cNvSpPr txBox="1"/>
          <p:nvPr/>
        </p:nvSpPr>
        <p:spPr>
          <a:xfrm>
            <a:off x="1081023" y="3429000"/>
            <a:ext cx="10811003" cy="323165"/>
          </a:xfrm>
          <a:prstGeom prst="rect">
            <a:avLst/>
          </a:prstGeom>
          <a:noFill/>
        </p:spPr>
        <p:txBody>
          <a:bodyPr wrap="square" rtlCol="0">
            <a:spAutoFit/>
          </a:bodyPr>
          <a:lstStyle/>
          <a:p>
            <a:r>
              <a:rPr lang="en-US" sz="1500" dirty="0">
                <a:latin typeface="Verdana" panose="020B0604030504040204" pitchFamily="34" charset="0"/>
                <a:ea typeface="Verdana" panose="020B0604030504040204" pitchFamily="34" charset="0"/>
              </a:rPr>
              <a:t>Click on Create New Migration Object and Select the Transfer Option – Transfer Data from Staging Tables.</a:t>
            </a:r>
          </a:p>
        </p:txBody>
      </p:sp>
      <p:pic>
        <p:nvPicPr>
          <p:cNvPr id="6" name="Picture 5">
            <a:extLst>
              <a:ext uri="{FF2B5EF4-FFF2-40B4-BE49-F238E27FC236}">
                <a16:creationId xmlns:a16="http://schemas.microsoft.com/office/drawing/2014/main" id="{E2FEE480-1A10-41ED-9265-1B849938D20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724149" y="3795760"/>
            <a:ext cx="5800725" cy="2930597"/>
          </a:xfrm>
          <a:prstGeom prst="rect">
            <a:avLst/>
          </a:prstGeom>
          <a:noFill/>
          <a:ln>
            <a:noFill/>
          </a:ln>
        </p:spPr>
      </p:pic>
    </p:spTree>
    <p:extLst>
      <p:ext uri="{BB962C8B-B14F-4D97-AF65-F5344CB8AC3E}">
        <p14:creationId xmlns:p14="http://schemas.microsoft.com/office/powerpoint/2010/main" val="1110712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048A0E-C0A2-4382-B373-373C96F52D08}"/>
              </a:ext>
            </a:extLst>
          </p:cNvPr>
          <p:cNvSpPr>
            <a:spLocks noGrp="1"/>
          </p:cNvSpPr>
          <p:nvPr>
            <p:ph type="body" idx="1"/>
          </p:nvPr>
        </p:nvSpPr>
        <p:spPr>
          <a:xfrm>
            <a:off x="981075" y="409555"/>
            <a:ext cx="10696702" cy="1154162"/>
          </a:xfrm>
        </p:spPr>
        <p:txBody>
          <a:bodyPr/>
          <a:lstStyle/>
          <a:p>
            <a:r>
              <a:rPr lang="en-US" sz="1500" dirty="0">
                <a:latin typeface="Verdana" panose="020B0604030504040204" pitchFamily="34" charset="0"/>
                <a:ea typeface="Verdana" panose="020B0604030504040204" pitchFamily="34" charset="0"/>
              </a:rPr>
              <a:t>When you select the Database Connection from above screen, you can see the Database connection created in DBCO in previous Step.</a:t>
            </a:r>
          </a:p>
          <a:p>
            <a:endParaRPr lang="en-US" sz="1500" dirty="0">
              <a:latin typeface="Verdana" panose="020B0604030504040204" pitchFamily="34" charset="0"/>
              <a:ea typeface="Verdana" panose="020B0604030504040204" pitchFamily="34" charset="0"/>
            </a:endParaRPr>
          </a:p>
          <a:p>
            <a:endParaRPr lang="en-US" sz="1500" dirty="0">
              <a:latin typeface="Verdana" panose="020B0604030504040204" pitchFamily="34" charset="0"/>
              <a:ea typeface="Verdana" panose="020B0604030504040204" pitchFamily="34" charset="0"/>
            </a:endParaRPr>
          </a:p>
          <a:p>
            <a:endParaRPr lang="en-US" sz="1500" dirty="0">
              <a:latin typeface="Verdana" panose="020B0604030504040204" pitchFamily="34" charset="0"/>
              <a:ea typeface="Verdana" panose="020B0604030504040204" pitchFamily="34" charset="0"/>
            </a:endParaRPr>
          </a:p>
        </p:txBody>
      </p:sp>
      <p:pic>
        <p:nvPicPr>
          <p:cNvPr id="4" name="Picture 3">
            <a:extLst>
              <a:ext uri="{FF2B5EF4-FFF2-40B4-BE49-F238E27FC236}">
                <a16:creationId xmlns:a16="http://schemas.microsoft.com/office/drawing/2014/main" id="{2E8AC5C8-39CB-4732-B263-7EEEF9A1A19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81075" y="1042828"/>
            <a:ext cx="6024562" cy="4772343"/>
          </a:xfrm>
          <a:prstGeom prst="rect">
            <a:avLst/>
          </a:prstGeom>
          <a:noFill/>
          <a:ln>
            <a:noFill/>
          </a:ln>
        </p:spPr>
      </p:pic>
      <p:pic>
        <p:nvPicPr>
          <p:cNvPr id="5" name="Picture 4">
            <a:extLst>
              <a:ext uri="{FF2B5EF4-FFF2-40B4-BE49-F238E27FC236}">
                <a16:creationId xmlns:a16="http://schemas.microsoft.com/office/drawing/2014/main" id="{4BF377A7-996A-4D98-A34A-E3B90962D85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138987" y="4572000"/>
            <a:ext cx="4910138" cy="1876445"/>
          </a:xfrm>
          <a:prstGeom prst="rect">
            <a:avLst/>
          </a:prstGeom>
          <a:noFill/>
          <a:ln>
            <a:noFill/>
          </a:ln>
        </p:spPr>
      </p:pic>
      <p:sp>
        <p:nvSpPr>
          <p:cNvPr id="6" name="TextBox 5">
            <a:extLst>
              <a:ext uri="{FF2B5EF4-FFF2-40B4-BE49-F238E27FC236}">
                <a16:creationId xmlns:a16="http://schemas.microsoft.com/office/drawing/2014/main" id="{1C5D04BA-5DFF-444B-A01F-DAA8ABE92E71}"/>
              </a:ext>
            </a:extLst>
          </p:cNvPr>
          <p:cNvSpPr txBox="1"/>
          <p:nvPr/>
        </p:nvSpPr>
        <p:spPr>
          <a:xfrm>
            <a:off x="7138987" y="3503474"/>
            <a:ext cx="4776788" cy="1015663"/>
          </a:xfrm>
          <a:prstGeom prst="rect">
            <a:avLst/>
          </a:prstGeom>
          <a:noFill/>
        </p:spPr>
        <p:txBody>
          <a:bodyPr wrap="square" rtlCol="0">
            <a:spAutoFit/>
          </a:bodyPr>
          <a:lstStyle/>
          <a:p>
            <a:r>
              <a:rPr lang="en-US" sz="1500" dirty="0">
                <a:latin typeface="Verdana" panose="020B0604030504040204" pitchFamily="34" charset="0"/>
                <a:ea typeface="Verdana" panose="020B0604030504040204" pitchFamily="34" charset="0"/>
              </a:rPr>
              <a:t>Once you Select Click on Create. Select it and Save and the Migration Object is ready for use. I have named it as STAGING_DEMO .</a:t>
            </a:r>
          </a:p>
          <a:p>
            <a:endParaRPr lang="en-US" sz="15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02702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09D305-B689-47E5-96C2-8CB8CFD26D01}"/>
              </a:ext>
            </a:extLst>
          </p:cNvPr>
          <p:cNvSpPr>
            <a:spLocks noGrp="1"/>
          </p:cNvSpPr>
          <p:nvPr>
            <p:ph type="body" idx="1"/>
          </p:nvPr>
        </p:nvSpPr>
        <p:spPr>
          <a:xfrm>
            <a:off x="1057148" y="315798"/>
            <a:ext cx="10077704" cy="2077492"/>
          </a:xfrm>
        </p:spPr>
        <p:txBody>
          <a:bodyPr/>
          <a:lstStyle/>
          <a:p>
            <a:r>
              <a:rPr lang="en-US" sz="1500" dirty="0">
                <a:latin typeface="Verdana" panose="020B0604030504040204" pitchFamily="34" charset="0"/>
                <a:ea typeface="Verdana" panose="020B0604030504040204" pitchFamily="34" charset="0"/>
              </a:rPr>
              <a:t>You can see all Conversion Objects are in Status Not Started.  For this Demo I am using BANK Master Conversion Object. When you Click on BANK Conversion Object, a popup comes asking for copying the Conversion Object and Creating Staging tables.</a:t>
            </a:r>
          </a:p>
          <a:p>
            <a:r>
              <a:rPr lang="en-US" sz="1500" dirty="0">
                <a:latin typeface="Verdana" panose="020B0604030504040204" pitchFamily="34" charset="0"/>
                <a:ea typeface="Verdana" panose="020B0604030504040204" pitchFamily="34" charset="0"/>
              </a:rPr>
              <a:t>Click OK.</a:t>
            </a:r>
          </a:p>
          <a:p>
            <a:endParaRPr lang="en-US" sz="1500" dirty="0">
              <a:latin typeface="Verdana" panose="020B0604030504040204" pitchFamily="34" charset="0"/>
              <a:ea typeface="Verdana" panose="020B0604030504040204" pitchFamily="34" charset="0"/>
            </a:endParaRPr>
          </a:p>
          <a:p>
            <a:r>
              <a:rPr lang="en-US" sz="1500" dirty="0">
                <a:latin typeface="Verdana" panose="020B0604030504040204" pitchFamily="34" charset="0"/>
                <a:ea typeface="Verdana" panose="020B0604030504040204" pitchFamily="34" charset="0"/>
              </a:rPr>
              <a:t>Few things that you can see here:</a:t>
            </a:r>
          </a:p>
          <a:p>
            <a:pPr lvl="0"/>
            <a:r>
              <a:rPr lang="en-US" sz="1500" b="1" dirty="0">
                <a:latin typeface="Verdana" panose="020B0604030504040204" pitchFamily="34" charset="0"/>
                <a:ea typeface="Verdana" panose="020B0604030504040204" pitchFamily="34" charset="0"/>
              </a:rPr>
              <a:t>Status</a:t>
            </a:r>
            <a:r>
              <a:rPr lang="en-US" sz="1500" dirty="0">
                <a:latin typeface="Verdana" panose="020B0604030504040204" pitchFamily="34" charset="0"/>
                <a:ea typeface="Verdana" panose="020B0604030504040204" pitchFamily="34" charset="0"/>
              </a:rPr>
              <a:t> – Synchronized</a:t>
            </a:r>
          </a:p>
          <a:p>
            <a:pPr lvl="0"/>
            <a:r>
              <a:rPr lang="en-US" sz="1500" b="1" dirty="0">
                <a:latin typeface="Verdana" panose="020B0604030504040204" pitchFamily="34" charset="0"/>
                <a:ea typeface="Verdana" panose="020B0604030504040204" pitchFamily="34" charset="0"/>
              </a:rPr>
              <a:t>Structure</a:t>
            </a:r>
            <a:r>
              <a:rPr lang="en-US" sz="1500" dirty="0">
                <a:latin typeface="Verdana" panose="020B0604030504040204" pitchFamily="34" charset="0"/>
                <a:ea typeface="Verdana" panose="020B0604030504040204" pitchFamily="34" charset="0"/>
              </a:rPr>
              <a:t> – S_BNKA</a:t>
            </a:r>
          </a:p>
          <a:p>
            <a:pPr lvl="0"/>
            <a:r>
              <a:rPr lang="en-US" sz="1500" b="1" dirty="0">
                <a:latin typeface="Verdana" panose="020B0604030504040204" pitchFamily="34" charset="0"/>
                <a:ea typeface="Verdana" panose="020B0604030504040204" pitchFamily="34" charset="0"/>
              </a:rPr>
              <a:t>Staging Table</a:t>
            </a:r>
            <a:r>
              <a:rPr lang="en-US" sz="1500" dirty="0">
                <a:latin typeface="Verdana" panose="020B0604030504040204" pitchFamily="34" charset="0"/>
                <a:ea typeface="Verdana" panose="020B0604030504040204" pitchFamily="34" charset="0"/>
              </a:rPr>
              <a:t> – /1LT/DSR10000003</a:t>
            </a:r>
          </a:p>
        </p:txBody>
      </p:sp>
      <p:pic>
        <p:nvPicPr>
          <p:cNvPr id="4" name="Picture 3">
            <a:extLst>
              <a:ext uri="{FF2B5EF4-FFF2-40B4-BE49-F238E27FC236}">
                <a16:creationId xmlns:a16="http://schemas.microsoft.com/office/drawing/2014/main" id="{6222723A-C5B2-4FB9-86C3-3A770F2B7EF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7148" y="2562314"/>
            <a:ext cx="7048372" cy="2647950"/>
          </a:xfrm>
          <a:prstGeom prst="rect">
            <a:avLst/>
          </a:prstGeom>
          <a:noFill/>
          <a:ln>
            <a:noFill/>
          </a:ln>
        </p:spPr>
      </p:pic>
      <p:pic>
        <p:nvPicPr>
          <p:cNvPr id="5" name="Picture 4">
            <a:extLst>
              <a:ext uri="{FF2B5EF4-FFF2-40B4-BE49-F238E27FC236}">
                <a16:creationId xmlns:a16="http://schemas.microsoft.com/office/drawing/2014/main" id="{BB796990-41C8-4D6D-B5D2-5B9E18D8C98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391150" y="5453062"/>
            <a:ext cx="6667500" cy="1190625"/>
          </a:xfrm>
          <a:prstGeom prst="rect">
            <a:avLst/>
          </a:prstGeom>
          <a:noFill/>
          <a:ln>
            <a:noFill/>
          </a:ln>
        </p:spPr>
      </p:pic>
      <p:sp>
        <p:nvSpPr>
          <p:cNvPr id="6" name="TextBox 5">
            <a:extLst>
              <a:ext uri="{FF2B5EF4-FFF2-40B4-BE49-F238E27FC236}">
                <a16:creationId xmlns:a16="http://schemas.microsoft.com/office/drawing/2014/main" id="{412BF933-E090-4449-B324-3A68B15BF856}"/>
              </a:ext>
            </a:extLst>
          </p:cNvPr>
          <p:cNvSpPr txBox="1"/>
          <p:nvPr/>
        </p:nvSpPr>
        <p:spPr>
          <a:xfrm>
            <a:off x="8229600" y="4610100"/>
            <a:ext cx="3829050" cy="1015663"/>
          </a:xfrm>
          <a:prstGeom prst="rect">
            <a:avLst/>
          </a:prstGeom>
          <a:noFill/>
        </p:spPr>
        <p:txBody>
          <a:bodyPr wrap="square" rtlCol="0">
            <a:spAutoFit/>
          </a:bodyPr>
          <a:lstStyle/>
          <a:p>
            <a:r>
              <a:rPr lang="en-US" sz="1500" dirty="0">
                <a:latin typeface="Verdana" panose="020B0604030504040204" pitchFamily="34" charset="0"/>
                <a:ea typeface="Verdana" panose="020B0604030504040204" pitchFamily="34" charset="0"/>
              </a:rPr>
              <a:t>Click on the table /1LT/DSR10000003 and you can see there is no records right now as below.</a:t>
            </a:r>
          </a:p>
          <a:p>
            <a:endParaRPr lang="en-US" sz="15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61822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42">
            <a:extLst>
              <a:ext uri="{FF2B5EF4-FFF2-40B4-BE49-F238E27FC236}">
                <a16:creationId xmlns:a16="http://schemas.microsoft.com/office/drawing/2014/main" id="{4E5EAB7D-C6BA-443C-970F-1DE43992D0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4" y="1361698"/>
            <a:ext cx="7667625" cy="1277938"/>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41">
            <a:extLst>
              <a:ext uri="{FF2B5EF4-FFF2-40B4-BE49-F238E27FC236}">
                <a16:creationId xmlns:a16="http://schemas.microsoft.com/office/drawing/2014/main" id="{4AE3CDC1-B3DB-4935-8B04-DD65B06D0C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495" y="3510267"/>
            <a:ext cx="7543800" cy="32716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A2C6C39-5BBC-41D5-8DF1-346493ABF499}"/>
              </a:ext>
            </a:extLst>
          </p:cNvPr>
          <p:cNvSpPr>
            <a:spLocks noChangeArrowheads="1"/>
          </p:cNvSpPr>
          <p:nvPr/>
        </p:nvSpPr>
        <p:spPr bwMode="auto">
          <a:xfrm>
            <a:off x="95250" y="8477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Box 6">
            <a:extLst>
              <a:ext uri="{FF2B5EF4-FFF2-40B4-BE49-F238E27FC236}">
                <a16:creationId xmlns:a16="http://schemas.microsoft.com/office/drawing/2014/main" id="{1A42568E-9487-4BB5-B94C-B822A3A62675}"/>
              </a:ext>
            </a:extLst>
          </p:cNvPr>
          <p:cNvSpPr txBox="1"/>
          <p:nvPr/>
        </p:nvSpPr>
        <p:spPr>
          <a:xfrm>
            <a:off x="1009650" y="658594"/>
            <a:ext cx="6534150" cy="553998"/>
          </a:xfrm>
          <a:prstGeom prst="rect">
            <a:avLst/>
          </a:prstGeom>
          <a:noFill/>
        </p:spPr>
        <p:txBody>
          <a:bodyPr wrap="square" rtlCol="0">
            <a:spAutoFit/>
          </a:bodyPr>
          <a:lstStyle/>
          <a:p>
            <a:r>
              <a:rPr lang="en-US" sz="1500" dirty="0">
                <a:latin typeface="Verdana" panose="020B0604030504040204" pitchFamily="34" charset="0"/>
                <a:ea typeface="Verdana" panose="020B0604030504040204" pitchFamily="34" charset="0"/>
              </a:rPr>
              <a:t>Insert data into staging table using BODS or S4 HANA table Upload methods</a:t>
            </a:r>
          </a:p>
        </p:txBody>
      </p:sp>
      <p:sp>
        <p:nvSpPr>
          <p:cNvPr id="8" name="TextBox 7">
            <a:extLst>
              <a:ext uri="{FF2B5EF4-FFF2-40B4-BE49-F238E27FC236}">
                <a16:creationId xmlns:a16="http://schemas.microsoft.com/office/drawing/2014/main" id="{9AD91C96-6501-4F0F-99F5-3AEBCA1699EC}"/>
              </a:ext>
            </a:extLst>
          </p:cNvPr>
          <p:cNvSpPr txBox="1"/>
          <p:nvPr/>
        </p:nvSpPr>
        <p:spPr>
          <a:xfrm>
            <a:off x="1127495" y="2797952"/>
            <a:ext cx="8252195" cy="553998"/>
          </a:xfrm>
          <a:prstGeom prst="rect">
            <a:avLst/>
          </a:prstGeom>
          <a:noFill/>
        </p:spPr>
        <p:txBody>
          <a:bodyPr wrap="none" rtlCol="0">
            <a:spAutoFit/>
          </a:bodyPr>
          <a:lstStyle/>
          <a:p>
            <a:r>
              <a:rPr lang="en-US" sz="1500" b="1" u="sng" dirty="0">
                <a:latin typeface="Verdana" panose="020B0604030504040204" pitchFamily="34" charset="0"/>
                <a:ea typeface="Verdana" panose="020B0604030504040204" pitchFamily="34" charset="0"/>
              </a:rPr>
              <a:t>Load the data using Migration Cockpit</a:t>
            </a:r>
            <a:endParaRPr lang="en-US" sz="1500" dirty="0">
              <a:latin typeface="Verdana" panose="020B0604030504040204" pitchFamily="34" charset="0"/>
              <a:ea typeface="Verdana" panose="020B0604030504040204" pitchFamily="34" charset="0"/>
            </a:endParaRPr>
          </a:p>
          <a:p>
            <a:r>
              <a:rPr lang="en-US" sz="1500" dirty="0">
                <a:latin typeface="Verdana" panose="020B0604030504040204" pitchFamily="34" charset="0"/>
                <a:ea typeface="Verdana" panose="020B0604030504040204" pitchFamily="34" charset="0"/>
              </a:rPr>
              <a:t>The last and main Step is to Migrate this Data into S/4 using the Migration Cockpit </a:t>
            </a:r>
          </a:p>
        </p:txBody>
      </p:sp>
    </p:spTree>
    <p:extLst>
      <p:ext uri="{BB962C8B-B14F-4D97-AF65-F5344CB8AC3E}">
        <p14:creationId xmlns:p14="http://schemas.microsoft.com/office/powerpoint/2010/main" val="984393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7CCF27-47EF-4929-9321-8C0081E27E7D}"/>
              </a:ext>
            </a:extLst>
          </p:cNvPr>
          <p:cNvSpPr>
            <a:spLocks noGrp="1"/>
          </p:cNvSpPr>
          <p:nvPr>
            <p:ph type="body" idx="1"/>
          </p:nvPr>
        </p:nvSpPr>
        <p:spPr>
          <a:xfrm>
            <a:off x="533272" y="493362"/>
            <a:ext cx="10077704" cy="461665"/>
          </a:xfrm>
        </p:spPr>
        <p:txBody>
          <a:bodyPr/>
          <a:lstStyle/>
          <a:p>
            <a:r>
              <a:rPr lang="en-US" sz="1500" dirty="0">
                <a:latin typeface="Verdana" panose="020B0604030504040204" pitchFamily="34" charset="0"/>
                <a:ea typeface="Verdana" panose="020B0604030504040204" pitchFamily="34" charset="0"/>
              </a:rPr>
              <a:t>1. The Validate Data Step will come with Errors and Warnings .</a:t>
            </a:r>
          </a:p>
          <a:p>
            <a:endParaRPr lang="en-US" sz="1500" dirty="0">
              <a:latin typeface="Verdana" panose="020B0604030504040204" pitchFamily="34" charset="0"/>
              <a:ea typeface="Verdana" panose="020B0604030504040204" pitchFamily="34" charset="0"/>
            </a:endParaRPr>
          </a:p>
        </p:txBody>
      </p:sp>
      <p:pic>
        <p:nvPicPr>
          <p:cNvPr id="4" name="Picture 3">
            <a:extLst>
              <a:ext uri="{FF2B5EF4-FFF2-40B4-BE49-F238E27FC236}">
                <a16:creationId xmlns:a16="http://schemas.microsoft.com/office/drawing/2014/main" id="{2AD771AC-FE0B-4A4B-8EE5-6AF24118669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33272" y="862012"/>
            <a:ext cx="5916930" cy="2962275"/>
          </a:xfrm>
          <a:prstGeom prst="rect">
            <a:avLst/>
          </a:prstGeom>
          <a:noFill/>
          <a:ln>
            <a:noFill/>
          </a:ln>
        </p:spPr>
      </p:pic>
      <p:sp>
        <p:nvSpPr>
          <p:cNvPr id="5" name="TextBox 4">
            <a:extLst>
              <a:ext uri="{FF2B5EF4-FFF2-40B4-BE49-F238E27FC236}">
                <a16:creationId xmlns:a16="http://schemas.microsoft.com/office/drawing/2014/main" id="{CAF8458A-0C31-4194-828B-F22A61FE12A1}"/>
              </a:ext>
            </a:extLst>
          </p:cNvPr>
          <p:cNvSpPr txBox="1"/>
          <p:nvPr/>
        </p:nvSpPr>
        <p:spPr>
          <a:xfrm>
            <a:off x="6648322" y="1335733"/>
            <a:ext cx="5553203" cy="1015663"/>
          </a:xfrm>
          <a:prstGeom prst="rect">
            <a:avLst/>
          </a:prstGeom>
          <a:noFill/>
        </p:spPr>
        <p:txBody>
          <a:bodyPr wrap="square" rtlCol="0">
            <a:spAutoFit/>
          </a:bodyPr>
          <a:lstStyle/>
          <a:p>
            <a:r>
              <a:rPr lang="en-US" sz="1500" dirty="0">
                <a:latin typeface="Verdana" panose="020B0604030504040204" pitchFamily="34" charset="0"/>
                <a:ea typeface="Verdana" panose="020B0604030504040204" pitchFamily="34" charset="0"/>
              </a:rPr>
              <a:t>2. Click Next and you see the Mapping errors. These are technically not errors, but S/4 just validates the value we are passing matches the help values for that field.</a:t>
            </a:r>
          </a:p>
        </p:txBody>
      </p:sp>
      <p:pic>
        <p:nvPicPr>
          <p:cNvPr id="6" name="Picture 5">
            <a:extLst>
              <a:ext uri="{FF2B5EF4-FFF2-40B4-BE49-F238E27FC236}">
                <a16:creationId xmlns:a16="http://schemas.microsoft.com/office/drawing/2014/main" id="{E50D7C64-2FAA-4632-B83C-455E3B377CA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600697" y="2420281"/>
            <a:ext cx="5324603" cy="1332569"/>
          </a:xfrm>
          <a:prstGeom prst="rect">
            <a:avLst/>
          </a:prstGeom>
          <a:noFill/>
          <a:ln>
            <a:noFill/>
          </a:ln>
        </p:spPr>
      </p:pic>
      <p:sp>
        <p:nvSpPr>
          <p:cNvPr id="7" name="TextBox 6">
            <a:extLst>
              <a:ext uri="{FF2B5EF4-FFF2-40B4-BE49-F238E27FC236}">
                <a16:creationId xmlns:a16="http://schemas.microsoft.com/office/drawing/2014/main" id="{907E9A0D-AE5F-41DD-93B7-436CE7EEA178}"/>
              </a:ext>
            </a:extLst>
          </p:cNvPr>
          <p:cNvSpPr txBox="1"/>
          <p:nvPr/>
        </p:nvSpPr>
        <p:spPr>
          <a:xfrm>
            <a:off x="704851" y="4224021"/>
            <a:ext cx="5467350" cy="553998"/>
          </a:xfrm>
          <a:prstGeom prst="rect">
            <a:avLst/>
          </a:prstGeom>
          <a:noFill/>
        </p:spPr>
        <p:txBody>
          <a:bodyPr wrap="square" rtlCol="0">
            <a:spAutoFit/>
          </a:bodyPr>
          <a:lstStyle/>
          <a:p>
            <a:r>
              <a:rPr lang="en-US" sz="1500" dirty="0">
                <a:latin typeface="Verdana" panose="020B0604030504040204" pitchFamily="34" charset="0"/>
                <a:ea typeface="Verdana" panose="020B0604030504040204" pitchFamily="34" charset="0"/>
              </a:rPr>
              <a:t>3. Click on each field and just Select and Press the  key</a:t>
            </a:r>
          </a:p>
        </p:txBody>
      </p:sp>
      <p:pic>
        <p:nvPicPr>
          <p:cNvPr id="8" name="Picture 7">
            <a:extLst>
              <a:ext uri="{FF2B5EF4-FFF2-40B4-BE49-F238E27FC236}">
                <a16:creationId xmlns:a16="http://schemas.microsoft.com/office/drawing/2014/main" id="{478D0BA4-B1FF-4A2B-BCCB-695652E7478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793116" y="4728846"/>
            <a:ext cx="5379085" cy="1666875"/>
          </a:xfrm>
          <a:prstGeom prst="rect">
            <a:avLst/>
          </a:prstGeom>
          <a:noFill/>
          <a:ln>
            <a:noFill/>
          </a:ln>
        </p:spPr>
      </p:pic>
      <p:pic>
        <p:nvPicPr>
          <p:cNvPr id="9" name="Picture 8">
            <a:extLst>
              <a:ext uri="{FF2B5EF4-FFF2-40B4-BE49-F238E27FC236}">
                <a16:creationId xmlns:a16="http://schemas.microsoft.com/office/drawing/2014/main" id="{7AEBBA50-F4EC-4A64-8D12-91E072571579}"/>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600697" y="4861760"/>
            <a:ext cx="5514975" cy="1819275"/>
          </a:xfrm>
          <a:prstGeom prst="rect">
            <a:avLst/>
          </a:prstGeom>
          <a:noFill/>
          <a:ln>
            <a:noFill/>
          </a:ln>
        </p:spPr>
      </p:pic>
      <p:sp>
        <p:nvSpPr>
          <p:cNvPr id="10" name="TextBox 9">
            <a:extLst>
              <a:ext uri="{FF2B5EF4-FFF2-40B4-BE49-F238E27FC236}">
                <a16:creationId xmlns:a16="http://schemas.microsoft.com/office/drawing/2014/main" id="{207C59A2-63F7-426B-A80E-43191A13EC1A}"/>
              </a:ext>
            </a:extLst>
          </p:cNvPr>
          <p:cNvSpPr txBox="1"/>
          <p:nvPr/>
        </p:nvSpPr>
        <p:spPr>
          <a:xfrm>
            <a:off x="6791197" y="4224021"/>
            <a:ext cx="5134103" cy="553998"/>
          </a:xfrm>
          <a:prstGeom prst="rect">
            <a:avLst/>
          </a:prstGeom>
          <a:noFill/>
        </p:spPr>
        <p:txBody>
          <a:bodyPr wrap="square" rtlCol="0">
            <a:spAutoFit/>
          </a:bodyPr>
          <a:lstStyle/>
          <a:p>
            <a:r>
              <a:rPr lang="en-US" sz="1500" dirty="0">
                <a:latin typeface="Verdana" panose="020B0604030504040204" pitchFamily="34" charset="0"/>
                <a:ea typeface="Verdana" panose="020B0604030504040204" pitchFamily="34" charset="0"/>
              </a:rPr>
              <a:t>4. The field turns Green Status. DO this for all the fields in red.</a:t>
            </a:r>
          </a:p>
        </p:txBody>
      </p:sp>
    </p:spTree>
    <p:extLst>
      <p:ext uri="{BB962C8B-B14F-4D97-AF65-F5344CB8AC3E}">
        <p14:creationId xmlns:p14="http://schemas.microsoft.com/office/powerpoint/2010/main" val="1040647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01F9C4-9423-4D08-9119-83741D268EF2}"/>
              </a:ext>
            </a:extLst>
          </p:cNvPr>
          <p:cNvSpPr>
            <a:spLocks noGrp="1"/>
          </p:cNvSpPr>
          <p:nvPr>
            <p:ph type="body" idx="1"/>
          </p:nvPr>
        </p:nvSpPr>
        <p:spPr>
          <a:xfrm>
            <a:off x="295147" y="205103"/>
            <a:ext cx="7029578" cy="852171"/>
          </a:xfrm>
        </p:spPr>
        <p:txBody>
          <a:bodyPr/>
          <a:lstStyle/>
          <a:p>
            <a:r>
              <a:rPr lang="en-US" dirty="0"/>
              <a:t>1. The simulate gives a Success message that the Data is good for Commit. You get the message at the Top: </a:t>
            </a:r>
            <a:r>
              <a:rPr lang="en-US" b="1" dirty="0"/>
              <a:t>All data have been processed; choose “Finish” to complete the transfer</a:t>
            </a:r>
            <a:endParaRPr lang="en-US" dirty="0"/>
          </a:p>
        </p:txBody>
      </p:sp>
      <p:pic>
        <p:nvPicPr>
          <p:cNvPr id="4" name="Picture 3">
            <a:extLst>
              <a:ext uri="{FF2B5EF4-FFF2-40B4-BE49-F238E27FC236}">
                <a16:creationId xmlns:a16="http://schemas.microsoft.com/office/drawing/2014/main" id="{5FC25584-B8AB-4983-884B-00AAA544478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5147" y="1009649"/>
            <a:ext cx="6486653" cy="3124201"/>
          </a:xfrm>
          <a:prstGeom prst="rect">
            <a:avLst/>
          </a:prstGeom>
          <a:noFill/>
          <a:ln>
            <a:noFill/>
          </a:ln>
        </p:spPr>
      </p:pic>
      <p:sp>
        <p:nvSpPr>
          <p:cNvPr id="5" name="TextBox 4">
            <a:extLst>
              <a:ext uri="{FF2B5EF4-FFF2-40B4-BE49-F238E27FC236}">
                <a16:creationId xmlns:a16="http://schemas.microsoft.com/office/drawing/2014/main" id="{14BC2F90-48C6-4B9E-AADC-32C8E88BF026}"/>
              </a:ext>
            </a:extLst>
          </p:cNvPr>
          <p:cNvSpPr txBox="1"/>
          <p:nvPr/>
        </p:nvSpPr>
        <p:spPr>
          <a:xfrm>
            <a:off x="7524750" y="3276600"/>
            <a:ext cx="4248150" cy="1200329"/>
          </a:xfrm>
          <a:prstGeom prst="rect">
            <a:avLst/>
          </a:prstGeom>
          <a:noFill/>
        </p:spPr>
        <p:txBody>
          <a:bodyPr wrap="square" rtlCol="0">
            <a:spAutoFit/>
          </a:bodyPr>
          <a:lstStyle/>
          <a:p>
            <a:r>
              <a:rPr lang="en-US" dirty="0"/>
              <a:t>2. Click on Finish to Finish the Load and Commit the values. The load is finished and you can see the processed records in Migration Cockpit.</a:t>
            </a:r>
          </a:p>
        </p:txBody>
      </p:sp>
      <p:pic>
        <p:nvPicPr>
          <p:cNvPr id="6" name="Picture 5">
            <a:extLst>
              <a:ext uri="{FF2B5EF4-FFF2-40B4-BE49-F238E27FC236}">
                <a16:creationId xmlns:a16="http://schemas.microsoft.com/office/drawing/2014/main" id="{D13EAE27-BCCB-444E-9553-13A2FD7B831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076825" y="4476930"/>
            <a:ext cx="6762750" cy="2297568"/>
          </a:xfrm>
          <a:prstGeom prst="rect">
            <a:avLst/>
          </a:prstGeom>
          <a:noFill/>
          <a:ln>
            <a:noFill/>
          </a:ln>
        </p:spPr>
      </p:pic>
    </p:spTree>
    <p:extLst>
      <p:ext uri="{BB962C8B-B14F-4D97-AF65-F5344CB8AC3E}">
        <p14:creationId xmlns:p14="http://schemas.microsoft.com/office/powerpoint/2010/main" val="419882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5A615-223D-44CF-A594-E9F937C85996}"/>
              </a:ext>
            </a:extLst>
          </p:cNvPr>
          <p:cNvSpPr>
            <a:spLocks noGrp="1"/>
          </p:cNvSpPr>
          <p:nvPr>
            <p:ph type="title"/>
          </p:nvPr>
        </p:nvSpPr>
        <p:spPr>
          <a:xfrm>
            <a:off x="1161668" y="595960"/>
            <a:ext cx="10077704" cy="923330"/>
          </a:xfrm>
        </p:spPr>
        <p:txBody>
          <a:bodyPr/>
          <a:lstStyle/>
          <a:p>
            <a:r>
              <a:rPr lang="en-US" sz="3000" dirty="0"/>
              <a:t>The following considerations when deciding on the most suitable approach for your project:</a:t>
            </a:r>
          </a:p>
        </p:txBody>
      </p:sp>
      <p:graphicFrame>
        <p:nvGraphicFramePr>
          <p:cNvPr id="4" name="Table 3">
            <a:extLst>
              <a:ext uri="{FF2B5EF4-FFF2-40B4-BE49-F238E27FC236}">
                <a16:creationId xmlns:a16="http://schemas.microsoft.com/office/drawing/2014/main" id="{86F97D20-6406-4A5E-8C5B-DAB66B1DC3E1}"/>
              </a:ext>
            </a:extLst>
          </p:cNvPr>
          <p:cNvGraphicFramePr>
            <a:graphicFrameLocks noGrp="1"/>
          </p:cNvGraphicFramePr>
          <p:nvPr>
            <p:extLst/>
          </p:nvPr>
        </p:nvGraphicFramePr>
        <p:xfrm>
          <a:off x="1161922" y="2543461"/>
          <a:ext cx="10077450" cy="1514477"/>
        </p:xfrm>
        <a:graphic>
          <a:graphicData uri="http://schemas.openxmlformats.org/drawingml/2006/table">
            <a:tbl>
              <a:tblPr firstRow="1" firstCol="1" bandRow="1">
                <a:tableStyleId>{5C22544A-7EE6-4342-B048-85BDC9FD1C3A}</a:tableStyleId>
              </a:tblPr>
              <a:tblGrid>
                <a:gridCol w="3359150">
                  <a:extLst>
                    <a:ext uri="{9D8B030D-6E8A-4147-A177-3AD203B41FA5}">
                      <a16:colId xmlns:a16="http://schemas.microsoft.com/office/drawing/2014/main" val="4276142987"/>
                    </a:ext>
                  </a:extLst>
                </a:gridCol>
                <a:gridCol w="3359150">
                  <a:extLst>
                    <a:ext uri="{9D8B030D-6E8A-4147-A177-3AD203B41FA5}">
                      <a16:colId xmlns:a16="http://schemas.microsoft.com/office/drawing/2014/main" val="3385669187"/>
                    </a:ext>
                  </a:extLst>
                </a:gridCol>
                <a:gridCol w="3359150">
                  <a:extLst>
                    <a:ext uri="{9D8B030D-6E8A-4147-A177-3AD203B41FA5}">
                      <a16:colId xmlns:a16="http://schemas.microsoft.com/office/drawing/2014/main" val="2169761364"/>
                    </a:ext>
                  </a:extLst>
                </a:gridCol>
              </a:tblGrid>
              <a:tr h="331597">
                <a:tc>
                  <a:txBody>
                    <a:bodyPr/>
                    <a:lstStyle/>
                    <a:p>
                      <a:pPr marL="0" marR="0">
                        <a:lnSpc>
                          <a:spcPct val="107000"/>
                        </a:lnSpc>
                        <a:spcBef>
                          <a:spcPts val="0"/>
                        </a:spcBef>
                        <a:spcAft>
                          <a:spcPts val="1800"/>
                        </a:spcAft>
                      </a:pPr>
                      <a:r>
                        <a:rPr lang="en-IN" sz="1100">
                          <a:effectLst/>
                        </a:rPr>
                        <a:t>Consideration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1800"/>
                        </a:spcAft>
                      </a:pPr>
                      <a:r>
                        <a:rPr lang="en-IN" sz="1100">
                          <a:effectLst/>
                        </a:rPr>
                        <a:t>Files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1800"/>
                        </a:spcAft>
                      </a:pPr>
                      <a:r>
                        <a:rPr lang="en-IN" sz="1100" dirty="0">
                          <a:effectLst/>
                        </a:rPr>
                        <a:t>Staging Tables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2170977601"/>
                  </a:ext>
                </a:extLst>
              </a:tr>
              <a:tr h="331597">
                <a:tc>
                  <a:txBody>
                    <a:bodyPr/>
                    <a:lstStyle/>
                    <a:p>
                      <a:pPr marL="0" marR="0">
                        <a:lnSpc>
                          <a:spcPct val="107000"/>
                        </a:lnSpc>
                        <a:spcBef>
                          <a:spcPts val="0"/>
                        </a:spcBef>
                        <a:spcAft>
                          <a:spcPts val="1800"/>
                        </a:spcAft>
                      </a:pPr>
                      <a:r>
                        <a:rPr lang="en-IN" sz="1100" dirty="0">
                          <a:effectLst/>
                        </a:rPr>
                        <a:t>Size Limit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1800"/>
                        </a:spcAft>
                      </a:pPr>
                      <a:r>
                        <a:rPr lang="en-IN" sz="1100" dirty="0">
                          <a:effectLst/>
                        </a:rPr>
                        <a:t>160MB limit for SAP S/4HANA Migration Cockpit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1800"/>
                        </a:spcAft>
                      </a:pPr>
                      <a:r>
                        <a:rPr lang="en-IN" sz="1100">
                          <a:effectLst/>
                        </a:rPr>
                        <a:t>No Limit.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814152674"/>
                  </a:ext>
                </a:extLst>
              </a:tr>
              <a:tr h="331597">
                <a:tc>
                  <a:txBody>
                    <a:bodyPr/>
                    <a:lstStyle/>
                    <a:p>
                      <a:pPr marL="0" marR="0">
                        <a:lnSpc>
                          <a:spcPct val="107000"/>
                        </a:lnSpc>
                        <a:spcBef>
                          <a:spcPts val="0"/>
                        </a:spcBef>
                        <a:spcAft>
                          <a:spcPts val="1800"/>
                        </a:spcAft>
                      </a:pPr>
                      <a:r>
                        <a:rPr lang="en-IN" sz="1100">
                          <a:effectLst/>
                        </a:rPr>
                        <a:t>System Considerations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1800"/>
                        </a:spcAft>
                      </a:pPr>
                      <a:r>
                        <a:rPr lang="en-IN" sz="1100">
                          <a:effectLst/>
                        </a:rPr>
                        <a:t>None.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1800"/>
                        </a:spcAft>
                      </a:pPr>
                      <a:r>
                        <a:rPr lang="en-IN" sz="1100">
                          <a:effectLst/>
                        </a:rPr>
                        <a:t>Staging system uses an SAP HANA database.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2719093316"/>
                  </a:ext>
                </a:extLst>
              </a:tr>
              <a:tr h="519113">
                <a:tc>
                  <a:txBody>
                    <a:bodyPr/>
                    <a:lstStyle/>
                    <a:p>
                      <a:pPr marL="0" marR="0">
                        <a:lnSpc>
                          <a:spcPct val="107000"/>
                        </a:lnSpc>
                        <a:spcBef>
                          <a:spcPts val="0"/>
                        </a:spcBef>
                        <a:spcAft>
                          <a:spcPts val="1800"/>
                        </a:spcAft>
                      </a:pPr>
                      <a:r>
                        <a:rPr lang="en-IN" sz="1100" dirty="0">
                          <a:effectLst/>
                        </a:rPr>
                        <a:t>Data Provisioning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1800"/>
                        </a:spcAft>
                      </a:pPr>
                      <a:r>
                        <a:rPr lang="en-IN" sz="1100" dirty="0">
                          <a:effectLst/>
                        </a:rPr>
                        <a:t>Enter data manually in each Microsoft Excel XML file.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1800"/>
                        </a:spcAft>
                      </a:pPr>
                      <a:r>
                        <a:rPr lang="en-IN" sz="1100" dirty="0">
                          <a:effectLst/>
                        </a:rPr>
                        <a:t>Fill tables manually or by using preferred tools (for example SAP Agile Data Preparation).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2183844533"/>
                  </a:ext>
                </a:extLst>
              </a:tr>
            </a:tbl>
          </a:graphicData>
        </a:graphic>
      </p:graphicFrame>
    </p:spTree>
    <p:extLst>
      <p:ext uri="{BB962C8B-B14F-4D97-AF65-F5344CB8AC3E}">
        <p14:creationId xmlns:p14="http://schemas.microsoft.com/office/powerpoint/2010/main" val="12243485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60CB8-9CF0-4434-89D6-70DEFBBFC79F}"/>
              </a:ext>
            </a:extLst>
          </p:cNvPr>
          <p:cNvSpPr>
            <a:spLocks noGrp="1"/>
          </p:cNvSpPr>
          <p:nvPr>
            <p:ph type="title"/>
          </p:nvPr>
        </p:nvSpPr>
        <p:spPr>
          <a:xfrm>
            <a:off x="1057147" y="190626"/>
            <a:ext cx="10077704" cy="1231106"/>
          </a:xfrm>
        </p:spPr>
        <p:txBody>
          <a:bodyPr/>
          <a:lstStyle/>
          <a:p>
            <a:r>
              <a:rPr lang="en-US" sz="3000" b="1" dirty="0"/>
              <a:t>Preconfigured Business Objects (On-Premise 1809)</a:t>
            </a:r>
            <a:r>
              <a:rPr lang="en-US" b="1" dirty="0"/>
              <a:t/>
            </a:r>
            <a:br>
              <a:rPr lang="en-US" b="1" dirty="0"/>
            </a:br>
            <a:r>
              <a:rPr lang="en-US" sz="2000" dirty="0"/>
              <a:t>Migration of Master and Transactional Data </a:t>
            </a:r>
          </a:p>
        </p:txBody>
      </p:sp>
      <p:graphicFrame>
        <p:nvGraphicFramePr>
          <p:cNvPr id="4" name="Table 3">
            <a:extLst>
              <a:ext uri="{FF2B5EF4-FFF2-40B4-BE49-F238E27FC236}">
                <a16:creationId xmlns:a16="http://schemas.microsoft.com/office/drawing/2014/main" id="{79CE70AC-06AC-4917-88DD-112D13B94773}"/>
              </a:ext>
            </a:extLst>
          </p:cNvPr>
          <p:cNvGraphicFramePr>
            <a:graphicFrameLocks noGrp="1"/>
          </p:cNvGraphicFramePr>
          <p:nvPr>
            <p:extLst/>
          </p:nvPr>
        </p:nvGraphicFramePr>
        <p:xfrm>
          <a:off x="320182" y="1879918"/>
          <a:ext cx="6426060" cy="4663120"/>
        </p:xfrm>
        <a:graphic>
          <a:graphicData uri="http://schemas.openxmlformats.org/drawingml/2006/table">
            <a:tbl>
              <a:tblPr>
                <a:tableStyleId>{5C22544A-7EE6-4342-B048-85BDC9FD1C3A}</a:tableStyleId>
              </a:tblPr>
              <a:tblGrid>
                <a:gridCol w="1606515">
                  <a:extLst>
                    <a:ext uri="{9D8B030D-6E8A-4147-A177-3AD203B41FA5}">
                      <a16:colId xmlns:a16="http://schemas.microsoft.com/office/drawing/2014/main" val="108727713"/>
                    </a:ext>
                  </a:extLst>
                </a:gridCol>
                <a:gridCol w="1606515">
                  <a:extLst>
                    <a:ext uri="{9D8B030D-6E8A-4147-A177-3AD203B41FA5}">
                      <a16:colId xmlns:a16="http://schemas.microsoft.com/office/drawing/2014/main" val="1107747879"/>
                    </a:ext>
                  </a:extLst>
                </a:gridCol>
                <a:gridCol w="1606515">
                  <a:extLst>
                    <a:ext uri="{9D8B030D-6E8A-4147-A177-3AD203B41FA5}">
                      <a16:colId xmlns:a16="http://schemas.microsoft.com/office/drawing/2014/main" val="388287335"/>
                    </a:ext>
                  </a:extLst>
                </a:gridCol>
                <a:gridCol w="1606515">
                  <a:extLst>
                    <a:ext uri="{9D8B030D-6E8A-4147-A177-3AD203B41FA5}">
                      <a16:colId xmlns:a16="http://schemas.microsoft.com/office/drawing/2014/main" val="1336644707"/>
                    </a:ext>
                  </a:extLst>
                </a:gridCol>
              </a:tblGrid>
              <a:tr h="466312">
                <a:tc>
                  <a:txBody>
                    <a:bodyPr/>
                    <a:lstStyle/>
                    <a:p>
                      <a:pPr algn="l" fontAlgn="b"/>
                      <a:r>
                        <a:rPr lang="en-US" sz="900" u="none" strike="noStrike">
                          <a:effectLst/>
                        </a:rPr>
                        <a:t>Activity Price (restricted)</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Exchange rate</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 consumption</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Consent</a:t>
                      </a:r>
                      <a:endParaRPr lang="en-US" sz="900" b="0" i="0" u="none" strike="noStrike">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2785587841"/>
                  </a:ext>
                </a:extLst>
              </a:tr>
              <a:tr h="466312">
                <a:tc>
                  <a:txBody>
                    <a:bodyPr/>
                    <a:lstStyle/>
                    <a:p>
                      <a:pPr algn="l" fontAlgn="b"/>
                      <a:r>
                        <a:rPr lang="en-US" sz="900" u="none" strike="noStrike">
                          <a:effectLst/>
                        </a:rPr>
                        <a:t>Customer material</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Characteristic</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G/L account</a:t>
                      </a:r>
                      <a:endParaRPr lang="en-US" sz="900" b="0" i="0" u="none" strike="noStrike">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1760508738"/>
                  </a:ext>
                </a:extLst>
              </a:tr>
              <a:tr h="466312">
                <a:tc>
                  <a:txBody>
                    <a:bodyPr/>
                    <a:lstStyle/>
                    <a:p>
                      <a:pPr algn="l" fontAlgn="b"/>
                      <a:r>
                        <a:rPr lang="en-US" sz="900" u="none" strike="noStrike">
                          <a:effectLst/>
                        </a:rPr>
                        <a:t>Maintenance item</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dirty="0">
                          <a:effectLst/>
                        </a:rPr>
                        <a:t>Batch (if Batch is unique at material level)</a:t>
                      </a:r>
                      <a:endParaRPr lang="en-US" sz="900" b="0" i="0" u="none" strike="noStrike" dirty="0">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Fixed asset (incl. balances and transactions)</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 long text</a:t>
                      </a:r>
                      <a:endParaRPr lang="en-US" sz="900" b="0" i="0" u="none" strike="noStrike">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3497048144"/>
                  </a:ext>
                </a:extLst>
              </a:tr>
              <a:tr h="466312">
                <a:tc>
                  <a:txBody>
                    <a:bodyPr/>
                    <a:lstStyle/>
                    <a:p>
                      <a:pPr algn="l" fontAlgn="b"/>
                      <a:r>
                        <a:rPr lang="en-US" sz="900" u="none" strike="noStrike">
                          <a:effectLst/>
                        </a:rPr>
                        <a:t>Activity Type</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FI –Accounts payable open item</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 –extend existing record by new org level</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Cost center</a:t>
                      </a:r>
                      <a:endParaRPr lang="en-US" sz="900" b="0" i="0" u="none" strike="noStrike">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1003576440"/>
                  </a:ext>
                </a:extLst>
              </a:tr>
              <a:tr h="466312">
                <a:tc>
                  <a:txBody>
                    <a:bodyPr/>
                    <a:lstStyle/>
                    <a:p>
                      <a:pPr algn="l" fontAlgn="b"/>
                      <a:r>
                        <a:rPr lang="en-US" sz="900" u="none" strike="noStrike">
                          <a:effectLst/>
                        </a:rPr>
                        <a:t>Equipment</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 BOM</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Class</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General task list </a:t>
                      </a:r>
                      <a:endParaRPr lang="en-US" sz="900" b="0" i="0" u="none" strike="noStrike">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3293541081"/>
                  </a:ext>
                </a:extLst>
              </a:tr>
              <a:tr h="466312">
                <a:tc>
                  <a:txBody>
                    <a:bodyPr/>
                    <a:lstStyle/>
                    <a:p>
                      <a:pPr algn="l" fontAlgn="b"/>
                      <a:r>
                        <a:rPr lang="en-US" sz="900" u="none" strike="noStrike">
                          <a:effectLst/>
                        </a:rPr>
                        <a:t>Maintenance plan</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Batch (if Batch is unique at plant level)</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Functional location</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 trade classification</a:t>
                      </a:r>
                      <a:endParaRPr lang="en-US" sz="900" b="0" i="0" u="none" strike="noStrike">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1553400101"/>
                  </a:ext>
                </a:extLst>
              </a:tr>
              <a:tr h="466312">
                <a:tc>
                  <a:txBody>
                    <a:bodyPr/>
                    <a:lstStyle/>
                    <a:p>
                      <a:pPr algn="l" fontAlgn="b"/>
                      <a:r>
                        <a:rPr lang="en-US" sz="900" u="none" strike="noStrike">
                          <a:effectLst/>
                        </a:rPr>
                        <a:t>Bank</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FI –Accounts receivable open item</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 inspection setting</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Customer</a:t>
                      </a:r>
                      <a:endParaRPr lang="en-US" sz="900" b="0" i="0" u="none" strike="noStrike">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2260595457"/>
                  </a:ext>
                </a:extLst>
              </a:tr>
              <a:tr h="466312">
                <a:tc>
                  <a:txBody>
                    <a:bodyPr/>
                    <a:lstStyle/>
                    <a:p>
                      <a:pPr algn="l" fontAlgn="b"/>
                      <a:r>
                        <a:rPr lang="en-US" sz="900" u="none" strike="noStrike">
                          <a:effectLst/>
                        </a:rPr>
                        <a:t>Equipment task list</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 classification</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Condition contract</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Inspection method</a:t>
                      </a:r>
                      <a:endParaRPr lang="en-US" sz="900" b="0" i="0" u="none" strike="noStrike">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3995414365"/>
                  </a:ext>
                </a:extLst>
              </a:tr>
              <a:tr h="466312">
                <a:tc>
                  <a:txBody>
                    <a:bodyPr/>
                    <a:lstStyle/>
                    <a:p>
                      <a:pPr algn="l" fontAlgn="b"/>
                      <a:r>
                        <a:rPr lang="en-US" sz="900" u="none" strike="noStrike">
                          <a:effectLst/>
                        </a:rPr>
                        <a:t>Master inspection characteristics</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Cash memo record</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Functional location task list</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dirty="0">
                          <a:effectLst/>
                        </a:rPr>
                        <a:t>Pricing condition(general)</a:t>
                      </a:r>
                      <a:endParaRPr lang="en-US" sz="900" b="0" i="0" u="none" strike="noStrike" dirty="0">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298454820"/>
                  </a:ext>
                </a:extLst>
              </a:tr>
              <a:tr h="466312">
                <a:tc>
                  <a:txBody>
                    <a:bodyPr/>
                    <a:lstStyle/>
                    <a:p>
                      <a:pPr algn="l" fontAlgn="b"/>
                      <a:r>
                        <a:rPr lang="en-US" sz="900" u="none" strike="noStrike">
                          <a:effectLst/>
                        </a:rPr>
                        <a:t>Bank account balance</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FI –G/L account balance and open/line item</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a:effectLst/>
                        </a:rPr>
                        <a:t>Material inventory balance</a:t>
                      </a:r>
                      <a:endParaRPr lang="en-US" sz="900" b="0" i="0" u="none" strike="noStrike">
                        <a:solidFill>
                          <a:srgbClr val="000000"/>
                        </a:solidFill>
                        <a:effectLst/>
                        <a:latin typeface="Calibri" panose="020F0502020204030204" pitchFamily="34" charset="0"/>
                      </a:endParaRPr>
                    </a:p>
                  </a:txBody>
                  <a:tcPr marL="5327" marR="5327" marT="5327" marB="0" anchor="b"/>
                </a:tc>
                <a:tc>
                  <a:txBody>
                    <a:bodyPr/>
                    <a:lstStyle/>
                    <a:p>
                      <a:pPr algn="l" fontAlgn="b"/>
                      <a:r>
                        <a:rPr lang="en-US" sz="900" u="none" strike="noStrike" dirty="0">
                          <a:effectLst/>
                        </a:rPr>
                        <a:t>Customer (deprecated)</a:t>
                      </a:r>
                      <a:endParaRPr lang="en-US" sz="900" b="0" i="0" u="none" strike="noStrike" dirty="0">
                        <a:solidFill>
                          <a:srgbClr val="000000"/>
                        </a:solidFill>
                        <a:effectLst/>
                        <a:latin typeface="Calibri" panose="020F0502020204030204" pitchFamily="34" charset="0"/>
                      </a:endParaRPr>
                    </a:p>
                  </a:txBody>
                  <a:tcPr marL="5327" marR="5327" marT="5327" marB="0" anchor="b"/>
                </a:tc>
                <a:extLst>
                  <a:ext uri="{0D108BD9-81ED-4DB2-BD59-A6C34878D82A}">
                    <a16:rowId xmlns:a16="http://schemas.microsoft.com/office/drawing/2014/main" val="1389931300"/>
                  </a:ext>
                </a:extLst>
              </a:tr>
            </a:tbl>
          </a:graphicData>
        </a:graphic>
      </p:graphicFrame>
      <p:graphicFrame>
        <p:nvGraphicFramePr>
          <p:cNvPr id="5" name="Table 4">
            <a:extLst>
              <a:ext uri="{FF2B5EF4-FFF2-40B4-BE49-F238E27FC236}">
                <a16:creationId xmlns:a16="http://schemas.microsoft.com/office/drawing/2014/main" id="{6E9DC6A5-2739-494E-8E03-C1D09FF996CA}"/>
              </a:ext>
            </a:extLst>
          </p:cNvPr>
          <p:cNvGraphicFramePr>
            <a:graphicFrameLocks noGrp="1"/>
          </p:cNvGraphicFramePr>
          <p:nvPr>
            <p:extLst/>
          </p:nvPr>
        </p:nvGraphicFramePr>
        <p:xfrm>
          <a:off x="6959600" y="1872294"/>
          <a:ext cx="5090157" cy="4663121"/>
        </p:xfrm>
        <a:graphic>
          <a:graphicData uri="http://schemas.openxmlformats.org/drawingml/2006/table">
            <a:tbl>
              <a:tblPr>
                <a:tableStyleId>{5C22544A-7EE6-4342-B048-85BDC9FD1C3A}</a:tableStyleId>
              </a:tblPr>
              <a:tblGrid>
                <a:gridCol w="1696719">
                  <a:extLst>
                    <a:ext uri="{9D8B030D-6E8A-4147-A177-3AD203B41FA5}">
                      <a16:colId xmlns:a16="http://schemas.microsoft.com/office/drawing/2014/main" val="3323592181"/>
                    </a:ext>
                  </a:extLst>
                </a:gridCol>
                <a:gridCol w="1696719">
                  <a:extLst>
                    <a:ext uri="{9D8B030D-6E8A-4147-A177-3AD203B41FA5}">
                      <a16:colId xmlns:a16="http://schemas.microsoft.com/office/drawing/2014/main" val="2085980224"/>
                    </a:ext>
                  </a:extLst>
                </a:gridCol>
                <a:gridCol w="1696719">
                  <a:extLst>
                    <a:ext uri="{9D8B030D-6E8A-4147-A177-3AD203B41FA5}">
                      <a16:colId xmlns:a16="http://schemas.microsoft.com/office/drawing/2014/main" val="3300821068"/>
                    </a:ext>
                  </a:extLst>
                </a:gridCol>
              </a:tblGrid>
              <a:tr h="438718">
                <a:tc>
                  <a:txBody>
                    <a:bodyPr/>
                    <a:lstStyle/>
                    <a:p>
                      <a:pPr algn="l" fontAlgn="b"/>
                      <a:r>
                        <a:rPr lang="en-US" sz="900" u="none" strike="noStrike">
                          <a:effectLst/>
                        </a:rPr>
                        <a:t>Inspection plan</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Purchase order (only open PO)</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QM selected set code</a:t>
                      </a:r>
                      <a:endParaRPr lang="en-US" sz="900" b="0" i="0" u="none" strike="noStrike">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66603493"/>
                  </a:ext>
                </a:extLst>
              </a:tr>
              <a:tr h="438718">
                <a:tc>
                  <a:txBody>
                    <a:bodyPr/>
                    <a:lstStyle/>
                    <a:p>
                      <a:pPr algn="l" fontAlgn="b"/>
                      <a:r>
                        <a:rPr lang="en-US" sz="900" u="none" strike="noStrike">
                          <a:effectLst/>
                        </a:rPr>
                        <a:t>Pricing condition (purchasing)</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Work center</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Routing</a:t>
                      </a:r>
                      <a:endParaRPr lang="en-US" sz="900" b="0" i="0" u="none" strike="noStrike">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2107271703"/>
                  </a:ext>
                </a:extLst>
              </a:tr>
              <a:tr h="446804">
                <a:tc>
                  <a:txBody>
                    <a:bodyPr/>
                    <a:lstStyle/>
                    <a:p>
                      <a:pPr algn="l" fontAlgn="b"/>
                      <a:r>
                        <a:rPr lang="en-US" sz="900" u="none" strike="noStrike">
                          <a:effectLst/>
                        </a:rPr>
                        <a:t>Customer -extend existing record by new org levels</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dirty="0">
                          <a:effectLst/>
                        </a:rPr>
                        <a:t>Purchase scheduling agreement </a:t>
                      </a:r>
                      <a:endParaRPr lang="en-US" sz="900" b="0" i="0" u="none" strike="noStrike" dirty="0">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Sales contract</a:t>
                      </a:r>
                      <a:endParaRPr lang="en-US" sz="900" b="0" i="0" u="none" strike="noStrike">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1796573172"/>
                  </a:ext>
                </a:extLst>
              </a:tr>
              <a:tr h="446804">
                <a:tc>
                  <a:txBody>
                    <a:bodyPr/>
                    <a:lstStyle/>
                    <a:p>
                      <a:pPr algn="l" fontAlgn="b"/>
                      <a:r>
                        <a:rPr lang="en-US" sz="900" u="none" strike="noStrike">
                          <a:effectLst/>
                        </a:rPr>
                        <a:t>Internal order (restricted)</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VC –Variant configuration profile</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Sales order (only open SO)</a:t>
                      </a:r>
                      <a:endParaRPr lang="en-US" sz="900" b="0" i="0" u="none" strike="noStrike">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4125679060"/>
                  </a:ext>
                </a:extLst>
              </a:tr>
              <a:tr h="438718">
                <a:tc>
                  <a:txBody>
                    <a:bodyPr/>
                    <a:lstStyle/>
                    <a:p>
                      <a:pPr algn="l" fontAlgn="b"/>
                      <a:r>
                        <a:rPr lang="en-US" sz="900" u="none" strike="noStrike">
                          <a:effectLst/>
                        </a:rPr>
                        <a:t>Pricing condition (sales)</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Purchasing contract</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dirty="0">
                          <a:effectLst/>
                        </a:rPr>
                        <a:t>Software/Hardware constraint</a:t>
                      </a:r>
                      <a:endParaRPr lang="en-US" sz="900" b="0" i="0" u="none" strike="noStrike" dirty="0">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1191837257"/>
                  </a:ext>
                </a:extLst>
              </a:tr>
              <a:tr h="666143">
                <a:tc>
                  <a:txBody>
                    <a:bodyPr/>
                    <a:lstStyle/>
                    <a:p>
                      <a:pPr algn="l" fontAlgn="b"/>
                      <a:r>
                        <a:rPr lang="en-US" sz="900" u="none" strike="noStrike">
                          <a:effectLst/>
                        </a:rPr>
                        <a:t>Customer -extend existing record by new org levels (deprecated)</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Work center</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dirty="0" err="1">
                          <a:effectLst/>
                        </a:rPr>
                        <a:t>Sourcelist</a:t>
                      </a:r>
                      <a:endParaRPr lang="en-US" sz="900" b="0" i="0" u="none" strike="noStrike" dirty="0">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759304701"/>
                  </a:ext>
                </a:extLst>
              </a:tr>
              <a:tr h="446804">
                <a:tc>
                  <a:txBody>
                    <a:bodyPr/>
                    <a:lstStyle/>
                    <a:p>
                      <a:pPr algn="l" fontAlgn="b"/>
                      <a:r>
                        <a:rPr lang="en-US" sz="900" u="none" strike="noStrike">
                          <a:effectLst/>
                        </a:rPr>
                        <a:t>Legal transaction</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Purchasing info record-extend existing record</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Supplier</a:t>
                      </a:r>
                      <a:endParaRPr lang="en-US" sz="900" b="0" i="0" u="none" strike="noStrike">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3835427950"/>
                  </a:ext>
                </a:extLst>
              </a:tr>
              <a:tr h="446804">
                <a:tc>
                  <a:txBody>
                    <a:bodyPr/>
                    <a:lstStyle/>
                    <a:p>
                      <a:pPr algn="l" fontAlgn="b"/>
                      <a:r>
                        <a:rPr lang="en-US" sz="900" u="none" strike="noStrike">
                          <a:effectLst/>
                        </a:rPr>
                        <a:t>Production version</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Purchasing info record with conditions</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Supplier (deprecated)</a:t>
                      </a:r>
                      <a:endParaRPr lang="en-US" sz="900" b="0" i="0" u="none" strike="noStrike">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2707822104"/>
                  </a:ext>
                </a:extLst>
              </a:tr>
              <a:tr h="446804">
                <a:tc>
                  <a:txBody>
                    <a:bodyPr/>
                    <a:lstStyle/>
                    <a:p>
                      <a:pPr algn="l" fontAlgn="b"/>
                      <a:r>
                        <a:rPr lang="en-US" sz="900" u="none" strike="noStrike" dirty="0">
                          <a:effectLst/>
                        </a:rPr>
                        <a:t>Profit center</a:t>
                      </a:r>
                      <a:endParaRPr lang="en-US" sz="900" b="0" i="0" u="none" strike="noStrike" dirty="0">
                        <a:solidFill>
                          <a:srgbClr val="000000"/>
                        </a:solidFill>
                        <a:effectLst/>
                        <a:latin typeface="Calibri" panose="020F0502020204030204" pitchFamily="34" charset="0"/>
                      </a:endParaRPr>
                    </a:p>
                  </a:txBody>
                  <a:tcPr marL="5080" marR="5080" marT="5080" marB="0" anchor="b"/>
                </a:tc>
                <a:tc>
                  <a:txBody>
                    <a:bodyPr/>
                    <a:lstStyle/>
                    <a:p>
                      <a:pPr algn="l" fontAlgn="b"/>
                      <a:r>
                        <a:rPr lang="fr-FR" sz="900" u="none" strike="noStrike">
                          <a:effectLst/>
                        </a:rPr>
                        <a:t>QM/PM catalog code group/code</a:t>
                      </a:r>
                      <a:endParaRPr lang="fr-FR"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Supplier –extend existing record by new org levels</a:t>
                      </a:r>
                      <a:endParaRPr lang="en-US" sz="900" b="0" i="0" u="none" strike="noStrike">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886894159"/>
                  </a:ext>
                </a:extLst>
              </a:tr>
              <a:tr h="446804">
                <a:tc>
                  <a:txBody>
                    <a:bodyPr/>
                    <a:lstStyle/>
                    <a:p>
                      <a:pPr algn="l" fontAlgn="b"/>
                      <a:r>
                        <a:rPr lang="en-US" sz="900" u="none" strike="noStrike">
                          <a:effectLst/>
                        </a:rPr>
                        <a:t>Supplier –extend existing record by new org levels (deprecated)</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r>
                        <a:rPr lang="en-US" sz="900" u="none" strike="noStrike">
                          <a:effectLst/>
                        </a:rPr>
                        <a:t>QM selected set</a:t>
                      </a:r>
                      <a:endParaRPr lang="en-US" sz="900" b="0" i="0" u="none" strike="noStrike">
                        <a:solidFill>
                          <a:srgbClr val="000000"/>
                        </a:solidFill>
                        <a:effectLst/>
                        <a:latin typeface="Calibri" panose="020F0502020204030204" pitchFamily="34" charset="0"/>
                      </a:endParaRPr>
                    </a:p>
                  </a:txBody>
                  <a:tcPr marL="5080" marR="5080" marT="5080" marB="0" anchor="b"/>
                </a:tc>
                <a:tc>
                  <a:txBody>
                    <a:bodyPr/>
                    <a:lstStyle/>
                    <a:p>
                      <a:pPr algn="l" fontAlgn="b"/>
                      <a:endParaRPr lang="en-US" sz="900" b="0" i="0" u="none" strike="noStrike" dirty="0">
                        <a:solidFill>
                          <a:srgbClr val="000000"/>
                        </a:solidFill>
                        <a:effectLst/>
                        <a:latin typeface="Calibri" panose="020F0502020204030204" pitchFamily="34" charset="0"/>
                      </a:endParaRPr>
                    </a:p>
                  </a:txBody>
                  <a:tcPr marL="5080" marR="5080" marT="5080" marB="0" anchor="b"/>
                </a:tc>
                <a:extLst>
                  <a:ext uri="{0D108BD9-81ED-4DB2-BD59-A6C34878D82A}">
                    <a16:rowId xmlns:a16="http://schemas.microsoft.com/office/drawing/2014/main" val="4155569082"/>
                  </a:ext>
                </a:extLst>
              </a:tr>
            </a:tbl>
          </a:graphicData>
        </a:graphic>
      </p:graphicFrame>
    </p:spTree>
    <p:extLst>
      <p:ext uri="{BB962C8B-B14F-4D97-AF65-F5344CB8AC3E}">
        <p14:creationId xmlns:p14="http://schemas.microsoft.com/office/powerpoint/2010/main" val="36612092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3CC55-68F2-4471-ADA8-18E8BB43A713}"/>
              </a:ext>
            </a:extLst>
          </p:cNvPr>
          <p:cNvSpPr>
            <a:spLocks noGrp="1"/>
          </p:cNvSpPr>
          <p:nvPr>
            <p:ph type="title"/>
          </p:nvPr>
        </p:nvSpPr>
        <p:spPr>
          <a:xfrm>
            <a:off x="1057148" y="552576"/>
            <a:ext cx="10077704" cy="461665"/>
          </a:xfrm>
        </p:spPr>
        <p:txBody>
          <a:bodyPr/>
          <a:lstStyle/>
          <a:p>
            <a:r>
              <a:rPr lang="en-US" sz="3000" b="1" dirty="0">
                <a:solidFill>
                  <a:srgbClr val="0070C0"/>
                </a:solidFill>
              </a:rPr>
              <a:t>Working with LTMOM</a:t>
            </a:r>
          </a:p>
        </p:txBody>
      </p:sp>
      <p:sp>
        <p:nvSpPr>
          <p:cNvPr id="3" name="Content Placeholder 2">
            <a:extLst>
              <a:ext uri="{FF2B5EF4-FFF2-40B4-BE49-F238E27FC236}">
                <a16:creationId xmlns:a16="http://schemas.microsoft.com/office/drawing/2014/main" id="{CBEB736A-4413-4E6C-881B-DCFC8A2E16AD}"/>
              </a:ext>
            </a:extLst>
          </p:cNvPr>
          <p:cNvSpPr>
            <a:spLocks noGrp="1"/>
          </p:cNvSpPr>
          <p:nvPr>
            <p:ph idx="1"/>
          </p:nvPr>
        </p:nvSpPr>
        <p:spPr>
          <a:xfrm>
            <a:off x="1057148" y="1343025"/>
            <a:ext cx="8596668" cy="2769989"/>
          </a:xfrm>
        </p:spPr>
        <p:txBody>
          <a:bodyPr/>
          <a:lstStyle/>
          <a:p>
            <a:r>
              <a:rPr lang="en-US" sz="1500" b="1" dirty="0">
                <a:latin typeface="Verdana" panose="020B0604030504040204" pitchFamily="34" charset="0"/>
                <a:ea typeface="Verdana" panose="020B0604030504040204" pitchFamily="34" charset="0"/>
              </a:rPr>
              <a:t>LTMOM</a:t>
            </a:r>
            <a:r>
              <a:rPr lang="en-US" sz="1500" dirty="0">
                <a:latin typeface="Verdana" panose="020B0604030504040204" pitchFamily="34" charset="0"/>
                <a:ea typeface="Verdana" panose="020B0604030504040204" pitchFamily="34" charset="0"/>
              </a:rPr>
              <a:t>:  Is used to Adding additional fields to a migration object.</a:t>
            </a:r>
          </a:p>
          <a:p>
            <a:r>
              <a:rPr lang="en-US" sz="1500" dirty="0">
                <a:latin typeface="Verdana" panose="020B0604030504040204" pitchFamily="34" charset="0"/>
                <a:ea typeface="Verdana" panose="020B0604030504040204" pitchFamily="34" charset="0"/>
              </a:rPr>
              <a:t>To start the migration object modeler enter LTMOM </a:t>
            </a:r>
            <a:r>
              <a:rPr lang="en-US" sz="1500" dirty="0" err="1">
                <a:latin typeface="Verdana" panose="020B0604030504040204" pitchFamily="34" charset="0"/>
                <a:ea typeface="Verdana" panose="020B0604030504040204" pitchFamily="34" charset="0"/>
              </a:rPr>
              <a:t>TCode</a:t>
            </a:r>
            <a:r>
              <a:rPr lang="en-US" sz="1500" dirty="0">
                <a:latin typeface="Verdana" panose="020B0604030504040204" pitchFamily="34" charset="0"/>
                <a:ea typeface="Verdana" panose="020B0604030504040204" pitchFamily="34" charset="0"/>
              </a:rPr>
              <a:t> in the SAP GUI. NOTE: To run the necessary transaction your user needs the following role: SAP_CA_DMC_MC_DEVELOPER.</a:t>
            </a:r>
          </a:p>
          <a:p>
            <a:endParaRPr lang="en-US" sz="1500" dirty="0">
              <a:latin typeface="Verdana" panose="020B0604030504040204" pitchFamily="34" charset="0"/>
              <a:ea typeface="Verdana" panose="020B0604030504040204" pitchFamily="34" charset="0"/>
            </a:endParaRPr>
          </a:p>
          <a:p>
            <a:r>
              <a:rPr lang="en-US" sz="1500" dirty="0">
                <a:latin typeface="Verdana" panose="020B0604030504040204" pitchFamily="34" charset="0"/>
                <a:ea typeface="Verdana" panose="020B0604030504040204" pitchFamily="34" charset="0"/>
              </a:rPr>
              <a:t>Customization offers in two ways:</a:t>
            </a:r>
          </a:p>
          <a:p>
            <a:pPr marL="342900" indent="-342900">
              <a:buAutoNum type="arabicPeriod"/>
            </a:pPr>
            <a:r>
              <a:rPr lang="en-US" sz="1500" dirty="0">
                <a:latin typeface="Verdana" panose="020B0604030504040204" pitchFamily="34" charset="0"/>
                <a:ea typeface="Verdana" panose="020B0604030504040204" pitchFamily="34" charset="0"/>
              </a:rPr>
              <a:t>Existing target structure attributes addition/modification in source structure/template</a:t>
            </a:r>
          </a:p>
          <a:p>
            <a:pPr marL="342900" indent="-342900">
              <a:buAutoNum type="arabicPeriod"/>
            </a:pPr>
            <a:r>
              <a:rPr lang="en-US" sz="1500" dirty="0">
                <a:latin typeface="Verdana" panose="020B0604030504040204" pitchFamily="34" charset="0"/>
                <a:ea typeface="Verdana" panose="020B0604030504040204" pitchFamily="34" charset="0"/>
              </a:rPr>
              <a:t>Creating new target structure/attributes (needs ABAP customization to the function module/ZBAPI)</a:t>
            </a:r>
          </a:p>
          <a:p>
            <a:endParaRPr lang="en-US" sz="1500" dirty="0">
              <a:latin typeface="Verdana" panose="020B0604030504040204" pitchFamily="34" charset="0"/>
              <a:ea typeface="Verdana" panose="020B0604030504040204" pitchFamily="34" charset="0"/>
            </a:endParaRPr>
          </a:p>
          <a:p>
            <a:endParaRPr lang="en-US" sz="1500" dirty="0">
              <a:latin typeface="Verdana" panose="020B0604030504040204" pitchFamily="34" charset="0"/>
              <a:ea typeface="Verdana" panose="020B0604030504040204" pitchFamily="34" charset="0"/>
            </a:endParaRPr>
          </a:p>
          <a:p>
            <a:endParaRPr lang="en-US" sz="1500" dirty="0">
              <a:latin typeface="Verdana" panose="020B0604030504040204" pitchFamily="34" charset="0"/>
              <a:ea typeface="Verdana" panose="020B0604030504040204" pitchFamily="34" charset="0"/>
            </a:endParaRPr>
          </a:p>
        </p:txBody>
      </p:sp>
      <p:pic>
        <p:nvPicPr>
          <p:cNvPr id="5" name="Picture 4">
            <a:extLst>
              <a:ext uri="{FF2B5EF4-FFF2-40B4-BE49-F238E27FC236}">
                <a16:creationId xmlns:a16="http://schemas.microsoft.com/office/drawing/2014/main" id="{86CEC857-A0AA-4F2E-A4E3-08483757A528}"/>
              </a:ext>
            </a:extLst>
          </p:cNvPr>
          <p:cNvPicPr>
            <a:picLocks noChangeAspect="1"/>
          </p:cNvPicPr>
          <p:nvPr/>
        </p:nvPicPr>
        <p:blipFill>
          <a:blip r:embed="rId2"/>
          <a:stretch>
            <a:fillRect/>
          </a:stretch>
        </p:blipFill>
        <p:spPr>
          <a:xfrm>
            <a:off x="1600199" y="4033837"/>
            <a:ext cx="7981950" cy="2657475"/>
          </a:xfrm>
          <a:prstGeom prst="rect">
            <a:avLst/>
          </a:prstGeom>
        </p:spPr>
      </p:pic>
    </p:spTree>
    <p:extLst>
      <p:ext uri="{BB962C8B-B14F-4D97-AF65-F5344CB8AC3E}">
        <p14:creationId xmlns:p14="http://schemas.microsoft.com/office/powerpoint/2010/main" val="5072147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3402" y="2293307"/>
            <a:ext cx="4105275" cy="596958"/>
          </a:xfrm>
          <a:prstGeom prst="rect">
            <a:avLst/>
          </a:prstGeom>
        </p:spPr>
        <p:txBody>
          <a:bodyPr vert="horz" wrap="square" lIns="0" tIns="12065" rIns="0" bIns="0" rtlCol="0">
            <a:spAutoFit/>
          </a:bodyPr>
          <a:lstStyle/>
          <a:p>
            <a:pPr marL="12700">
              <a:lnSpc>
                <a:spcPct val="100000"/>
              </a:lnSpc>
              <a:spcBef>
                <a:spcPts val="95"/>
              </a:spcBef>
            </a:pPr>
            <a:r>
              <a:rPr b="1" spc="-5" dirty="0">
                <a:latin typeface="Verdana"/>
                <a:cs typeface="Verdana"/>
              </a:rPr>
              <a:t>THANK</a:t>
            </a:r>
            <a:r>
              <a:rPr b="1" spc="-40" dirty="0">
                <a:latin typeface="Verdana"/>
                <a:cs typeface="Verdana"/>
              </a:rPr>
              <a:t> </a:t>
            </a:r>
            <a:r>
              <a:rPr b="1" spc="-5" dirty="0">
                <a:latin typeface="Verdana"/>
                <a:cs typeface="Verdana"/>
              </a:rPr>
              <a:t>YOU</a:t>
            </a:r>
            <a:endParaRPr dirty="0">
              <a:latin typeface="Verdana"/>
              <a:cs typeface="Verdana"/>
            </a:endParaRPr>
          </a:p>
        </p:txBody>
      </p:sp>
      <p:grpSp>
        <p:nvGrpSpPr>
          <p:cNvPr id="3" name="object 3"/>
          <p:cNvGrpSpPr/>
          <p:nvPr/>
        </p:nvGrpSpPr>
        <p:grpSpPr>
          <a:xfrm>
            <a:off x="5495544" y="3020567"/>
            <a:ext cx="927100" cy="927100"/>
            <a:chOff x="5495544" y="3020567"/>
            <a:chExt cx="927100" cy="927100"/>
          </a:xfrm>
        </p:grpSpPr>
        <p:sp>
          <p:nvSpPr>
            <p:cNvPr id="4" name="object 4"/>
            <p:cNvSpPr/>
            <p:nvPr/>
          </p:nvSpPr>
          <p:spPr>
            <a:xfrm>
              <a:off x="5501640" y="3026663"/>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F7FF85"/>
            </a:solidFill>
          </p:spPr>
          <p:txBody>
            <a:bodyPr wrap="square" lIns="0" tIns="0" rIns="0" bIns="0" rtlCol="0"/>
            <a:lstStyle/>
            <a:p>
              <a:endParaRPr/>
            </a:p>
          </p:txBody>
        </p:sp>
        <p:sp>
          <p:nvSpPr>
            <p:cNvPr id="5" name="object 5"/>
            <p:cNvSpPr/>
            <p:nvPr/>
          </p:nvSpPr>
          <p:spPr>
            <a:xfrm>
              <a:off x="5764784" y="3299459"/>
              <a:ext cx="388620" cy="95250"/>
            </a:xfrm>
            <a:custGeom>
              <a:avLst/>
              <a:gdLst/>
              <a:ahLst/>
              <a:cxnLst/>
              <a:rect l="l" t="t" r="r" b="b"/>
              <a:pathLst>
                <a:path w="388620" h="95250">
                  <a:moveTo>
                    <a:pt x="47625" y="0"/>
                  </a:moveTo>
                  <a:lnTo>
                    <a:pt x="29092" y="3744"/>
                  </a:lnTo>
                  <a:lnTo>
                    <a:pt x="13954" y="13954"/>
                  </a:lnTo>
                  <a:lnTo>
                    <a:pt x="3744" y="29092"/>
                  </a:lnTo>
                  <a:lnTo>
                    <a:pt x="0" y="47625"/>
                  </a:lnTo>
                  <a:lnTo>
                    <a:pt x="3744" y="66157"/>
                  </a:lnTo>
                  <a:lnTo>
                    <a:pt x="13954" y="81295"/>
                  </a:lnTo>
                  <a:lnTo>
                    <a:pt x="29092" y="91505"/>
                  </a:lnTo>
                  <a:lnTo>
                    <a:pt x="47625" y="95250"/>
                  </a:lnTo>
                  <a:lnTo>
                    <a:pt x="66157" y="91505"/>
                  </a:lnTo>
                  <a:lnTo>
                    <a:pt x="81295" y="81295"/>
                  </a:lnTo>
                  <a:lnTo>
                    <a:pt x="91505" y="66157"/>
                  </a:lnTo>
                  <a:lnTo>
                    <a:pt x="95250" y="47625"/>
                  </a:lnTo>
                  <a:lnTo>
                    <a:pt x="91505" y="29092"/>
                  </a:lnTo>
                  <a:lnTo>
                    <a:pt x="81295" y="13954"/>
                  </a:lnTo>
                  <a:lnTo>
                    <a:pt x="66157" y="3744"/>
                  </a:lnTo>
                  <a:lnTo>
                    <a:pt x="47625" y="0"/>
                  </a:lnTo>
                  <a:close/>
                </a:path>
                <a:path w="388620" h="95250">
                  <a:moveTo>
                    <a:pt x="340487" y="0"/>
                  </a:moveTo>
                  <a:lnTo>
                    <a:pt x="321954" y="3744"/>
                  </a:lnTo>
                  <a:lnTo>
                    <a:pt x="306816" y="13954"/>
                  </a:lnTo>
                  <a:lnTo>
                    <a:pt x="296606" y="29092"/>
                  </a:lnTo>
                  <a:lnTo>
                    <a:pt x="292862" y="47625"/>
                  </a:lnTo>
                  <a:lnTo>
                    <a:pt x="296606" y="66157"/>
                  </a:lnTo>
                  <a:lnTo>
                    <a:pt x="306816" y="81295"/>
                  </a:lnTo>
                  <a:lnTo>
                    <a:pt x="321954" y="91505"/>
                  </a:lnTo>
                  <a:lnTo>
                    <a:pt x="340487" y="95250"/>
                  </a:lnTo>
                  <a:lnTo>
                    <a:pt x="359019" y="91505"/>
                  </a:lnTo>
                  <a:lnTo>
                    <a:pt x="374157" y="81295"/>
                  </a:lnTo>
                  <a:lnTo>
                    <a:pt x="384367" y="66157"/>
                  </a:lnTo>
                  <a:lnTo>
                    <a:pt x="388112" y="47625"/>
                  </a:lnTo>
                  <a:lnTo>
                    <a:pt x="384367" y="29092"/>
                  </a:lnTo>
                  <a:lnTo>
                    <a:pt x="374157" y="13954"/>
                  </a:lnTo>
                  <a:lnTo>
                    <a:pt x="359019" y="3744"/>
                  </a:lnTo>
                  <a:lnTo>
                    <a:pt x="340487" y="0"/>
                  </a:lnTo>
                  <a:close/>
                </a:path>
              </a:pathLst>
            </a:custGeom>
            <a:solidFill>
              <a:srgbClr val="C6CD6C"/>
            </a:solidFill>
          </p:spPr>
          <p:txBody>
            <a:bodyPr wrap="square" lIns="0" tIns="0" rIns="0" bIns="0" rtlCol="0"/>
            <a:lstStyle/>
            <a:p>
              <a:endParaRPr/>
            </a:p>
          </p:txBody>
        </p:sp>
        <p:sp>
          <p:nvSpPr>
            <p:cNvPr id="6" name="object 6"/>
            <p:cNvSpPr/>
            <p:nvPr/>
          </p:nvSpPr>
          <p:spPr>
            <a:xfrm>
              <a:off x="5758688" y="3293363"/>
              <a:ext cx="107442" cy="10744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6051550" y="3293363"/>
              <a:ext cx="107442" cy="107442"/>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5501640" y="3026663"/>
              <a:ext cx="914400" cy="914400"/>
            </a:xfrm>
            <a:custGeom>
              <a:avLst/>
              <a:gdLst/>
              <a:ahLst/>
              <a:cxnLst/>
              <a:rect l="l" t="t" r="r" b="b"/>
              <a:pathLst>
                <a:path w="914400" h="914400">
                  <a:moveTo>
                    <a:pt x="209423" y="656590"/>
                  </a:moveTo>
                  <a:lnTo>
                    <a:pt x="254478" y="684708"/>
                  </a:lnTo>
                  <a:lnTo>
                    <a:pt x="299522" y="707203"/>
                  </a:lnTo>
                  <a:lnTo>
                    <a:pt x="344554" y="724074"/>
                  </a:lnTo>
                  <a:lnTo>
                    <a:pt x="389575" y="735321"/>
                  </a:lnTo>
                  <a:lnTo>
                    <a:pt x="434587" y="740945"/>
                  </a:lnTo>
                  <a:lnTo>
                    <a:pt x="479588" y="740945"/>
                  </a:lnTo>
                  <a:lnTo>
                    <a:pt x="524580" y="735321"/>
                  </a:lnTo>
                  <a:lnTo>
                    <a:pt x="569564" y="724074"/>
                  </a:lnTo>
                  <a:lnTo>
                    <a:pt x="614539" y="707203"/>
                  </a:lnTo>
                  <a:lnTo>
                    <a:pt x="659507" y="684708"/>
                  </a:lnTo>
                  <a:lnTo>
                    <a:pt x="704469" y="656590"/>
                  </a:lnTo>
                </a:path>
                <a:path w="914400" h="914400">
                  <a:moveTo>
                    <a:pt x="0" y="457200"/>
                  </a:moveTo>
                  <a:lnTo>
                    <a:pt x="2360" y="410458"/>
                  </a:lnTo>
                  <a:lnTo>
                    <a:pt x="9289" y="365066"/>
                  </a:lnTo>
                  <a:lnTo>
                    <a:pt x="20557" y="321253"/>
                  </a:lnTo>
                  <a:lnTo>
                    <a:pt x="35933" y="279249"/>
                  </a:lnTo>
                  <a:lnTo>
                    <a:pt x="55187" y="239283"/>
                  </a:lnTo>
                  <a:lnTo>
                    <a:pt x="78090" y="201587"/>
                  </a:lnTo>
                  <a:lnTo>
                    <a:pt x="104411" y="166390"/>
                  </a:lnTo>
                  <a:lnTo>
                    <a:pt x="133921" y="133921"/>
                  </a:lnTo>
                  <a:lnTo>
                    <a:pt x="166390" y="104411"/>
                  </a:lnTo>
                  <a:lnTo>
                    <a:pt x="201587" y="78090"/>
                  </a:lnTo>
                  <a:lnTo>
                    <a:pt x="239283" y="55187"/>
                  </a:lnTo>
                  <a:lnTo>
                    <a:pt x="279249" y="35933"/>
                  </a:lnTo>
                  <a:lnTo>
                    <a:pt x="321253" y="20557"/>
                  </a:lnTo>
                  <a:lnTo>
                    <a:pt x="365066" y="9289"/>
                  </a:lnTo>
                  <a:lnTo>
                    <a:pt x="410458" y="2360"/>
                  </a:lnTo>
                  <a:lnTo>
                    <a:pt x="457200" y="0"/>
                  </a:lnTo>
                  <a:lnTo>
                    <a:pt x="503941" y="2360"/>
                  </a:lnTo>
                  <a:lnTo>
                    <a:pt x="549333" y="9289"/>
                  </a:lnTo>
                  <a:lnTo>
                    <a:pt x="593146" y="20557"/>
                  </a:lnTo>
                  <a:lnTo>
                    <a:pt x="635150" y="35933"/>
                  </a:lnTo>
                  <a:lnTo>
                    <a:pt x="675116" y="55187"/>
                  </a:lnTo>
                  <a:lnTo>
                    <a:pt x="712812" y="78090"/>
                  </a:lnTo>
                  <a:lnTo>
                    <a:pt x="748009" y="104411"/>
                  </a:lnTo>
                  <a:lnTo>
                    <a:pt x="780478" y="133921"/>
                  </a:lnTo>
                  <a:lnTo>
                    <a:pt x="809988" y="166390"/>
                  </a:lnTo>
                  <a:lnTo>
                    <a:pt x="836309" y="201587"/>
                  </a:lnTo>
                  <a:lnTo>
                    <a:pt x="859212" y="239283"/>
                  </a:lnTo>
                  <a:lnTo>
                    <a:pt x="878466" y="279249"/>
                  </a:lnTo>
                  <a:lnTo>
                    <a:pt x="893842" y="321253"/>
                  </a:lnTo>
                  <a:lnTo>
                    <a:pt x="905110" y="365066"/>
                  </a:lnTo>
                  <a:lnTo>
                    <a:pt x="912039" y="410458"/>
                  </a:lnTo>
                  <a:lnTo>
                    <a:pt x="914400" y="457200"/>
                  </a:lnTo>
                  <a:lnTo>
                    <a:pt x="912039" y="503941"/>
                  </a:lnTo>
                  <a:lnTo>
                    <a:pt x="905110" y="549333"/>
                  </a:lnTo>
                  <a:lnTo>
                    <a:pt x="893842" y="593146"/>
                  </a:lnTo>
                  <a:lnTo>
                    <a:pt x="878466" y="635150"/>
                  </a:lnTo>
                  <a:lnTo>
                    <a:pt x="859212" y="675116"/>
                  </a:lnTo>
                  <a:lnTo>
                    <a:pt x="836309" y="712812"/>
                  </a:lnTo>
                  <a:lnTo>
                    <a:pt x="809988" y="748009"/>
                  </a:lnTo>
                  <a:lnTo>
                    <a:pt x="780478" y="780478"/>
                  </a:lnTo>
                  <a:lnTo>
                    <a:pt x="748009" y="809988"/>
                  </a:lnTo>
                  <a:lnTo>
                    <a:pt x="712812" y="836309"/>
                  </a:lnTo>
                  <a:lnTo>
                    <a:pt x="675116" y="859212"/>
                  </a:lnTo>
                  <a:lnTo>
                    <a:pt x="635150" y="878466"/>
                  </a:lnTo>
                  <a:lnTo>
                    <a:pt x="593146" y="893842"/>
                  </a:lnTo>
                  <a:lnTo>
                    <a:pt x="549333" y="905110"/>
                  </a:lnTo>
                  <a:lnTo>
                    <a:pt x="503941" y="912039"/>
                  </a:lnTo>
                  <a:lnTo>
                    <a:pt x="457200" y="914400"/>
                  </a:lnTo>
                  <a:lnTo>
                    <a:pt x="410458" y="912039"/>
                  </a:lnTo>
                  <a:lnTo>
                    <a:pt x="365066" y="905110"/>
                  </a:lnTo>
                  <a:lnTo>
                    <a:pt x="321253" y="893842"/>
                  </a:lnTo>
                  <a:lnTo>
                    <a:pt x="279249" y="878466"/>
                  </a:lnTo>
                  <a:lnTo>
                    <a:pt x="239283" y="859212"/>
                  </a:lnTo>
                  <a:lnTo>
                    <a:pt x="201587" y="836309"/>
                  </a:lnTo>
                  <a:lnTo>
                    <a:pt x="166390" y="809988"/>
                  </a:lnTo>
                  <a:lnTo>
                    <a:pt x="133921" y="780478"/>
                  </a:lnTo>
                  <a:lnTo>
                    <a:pt x="104411" y="748009"/>
                  </a:lnTo>
                  <a:lnTo>
                    <a:pt x="78090" y="712812"/>
                  </a:lnTo>
                  <a:lnTo>
                    <a:pt x="55187" y="675116"/>
                  </a:lnTo>
                  <a:lnTo>
                    <a:pt x="35933" y="635150"/>
                  </a:lnTo>
                  <a:lnTo>
                    <a:pt x="20557" y="593146"/>
                  </a:lnTo>
                  <a:lnTo>
                    <a:pt x="9289" y="549333"/>
                  </a:lnTo>
                  <a:lnTo>
                    <a:pt x="2360" y="503941"/>
                  </a:lnTo>
                  <a:lnTo>
                    <a:pt x="0" y="457200"/>
                  </a:lnTo>
                  <a:close/>
                </a:path>
              </a:pathLst>
            </a:custGeom>
            <a:ln w="12192">
              <a:solidFill>
                <a:srgbClr val="00507D"/>
              </a:solidFill>
            </a:ln>
          </p:spPr>
          <p:txBody>
            <a:bodyPr wrap="square" lIns="0" tIns="0" rIns="0" bIns="0" rtlCol="0"/>
            <a:lstStyle/>
            <a:p>
              <a:endParaRPr/>
            </a:p>
          </p:txBody>
        </p:sp>
      </p:grpSp>
    </p:spTree>
    <p:extLst>
      <p:ext uri="{BB962C8B-B14F-4D97-AF65-F5344CB8AC3E}">
        <p14:creationId xmlns:p14="http://schemas.microsoft.com/office/powerpoint/2010/main" val="39621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8604E4B921FB4F93D8730230AA0870" ma:contentTypeVersion="14" ma:contentTypeDescription="Create a new document." ma:contentTypeScope="" ma:versionID="c969565bd0441f143c008ea4f71f08fa">
  <xsd:schema xmlns:xsd="http://www.w3.org/2001/XMLSchema" xmlns:xs="http://www.w3.org/2001/XMLSchema" xmlns:p="http://schemas.microsoft.com/office/2006/metadata/properties" xmlns:ns2="b5bd380f-4f72-4d40-8fc8-67f930036d20" xmlns:ns3="dd57703e-8384-4d8b-be02-c5599229607d" targetNamespace="http://schemas.microsoft.com/office/2006/metadata/properties" ma:root="true" ma:fieldsID="43b57f1948bdfaf8442f9e5286e9a92a" ns2:_="" ns3:_="">
    <xsd:import namespace="b5bd380f-4f72-4d40-8fc8-67f930036d20"/>
    <xsd:import namespace="dd57703e-8384-4d8b-be02-c5599229607d"/>
    <xsd:element name="properties">
      <xsd:complexType>
        <xsd:sequence>
          <xsd:element name="documentManagement">
            <xsd:complexType>
              <xsd:all>
                <xsd:element ref="ns2:Level"/>
                <xsd:element ref="ns2:Category"/>
                <xsd:element ref="ns2:Material_x0020_Type"/>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bd380f-4f72-4d40-8fc8-67f930036d20" elementFormDefault="qualified">
    <xsd:import namespace="http://schemas.microsoft.com/office/2006/documentManagement/types"/>
    <xsd:import namespace="http://schemas.microsoft.com/office/infopath/2007/PartnerControls"/>
    <xsd:element name="Level" ma:index="8"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9"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0"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d57703e-8384-4d8b-be02-c5599229607d"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aterial_x0020_Type xmlns="b5bd380f-4f72-4d40-8fc8-67f930036d20">Class book</Material_x0020_Type>
    <Category xmlns="b5bd380f-4f72-4d40-8fc8-67f930036d20">Module Artifact</Category>
    <Level xmlns="b5bd380f-4f72-4d40-8fc8-67f930036d20">L1</Level>
  </documentManagement>
</p:properties>
</file>

<file path=customXml/itemProps1.xml><?xml version="1.0" encoding="utf-8"?>
<ds:datastoreItem xmlns:ds="http://schemas.openxmlformats.org/officeDocument/2006/customXml" ds:itemID="{51F27E16-999D-42F1-82FB-2BE6C5979DAB}"/>
</file>

<file path=customXml/itemProps2.xml><?xml version="1.0" encoding="utf-8"?>
<ds:datastoreItem xmlns:ds="http://schemas.openxmlformats.org/officeDocument/2006/customXml" ds:itemID="{4EEF5B50-1D0E-41AA-9676-0DDC98305FBE}"/>
</file>

<file path=customXml/itemProps3.xml><?xml version="1.0" encoding="utf-8"?>
<ds:datastoreItem xmlns:ds="http://schemas.openxmlformats.org/officeDocument/2006/customXml" ds:itemID="{01F7D204-1C73-4310-9C3C-9AAD4CE56033}"/>
</file>

<file path=docProps/app.xml><?xml version="1.0" encoding="utf-8"?>
<Properties xmlns="http://schemas.openxmlformats.org/officeDocument/2006/extended-properties" xmlns:vt="http://schemas.openxmlformats.org/officeDocument/2006/docPropsVTypes">
  <Template/>
  <TotalTime>19</TotalTime>
  <Words>1993</Words>
  <Application>Microsoft Office PowerPoint</Application>
  <PresentationFormat>Widescreen</PresentationFormat>
  <Paragraphs>235</Paragraphs>
  <Slides>36</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2" baseType="lpstr">
      <vt:lpstr>Arial</vt:lpstr>
      <vt:lpstr>Calibri</vt:lpstr>
      <vt:lpstr>Times New Roman</vt:lpstr>
      <vt:lpstr>Verdana</vt:lpstr>
      <vt:lpstr>Office Theme</vt:lpstr>
      <vt:lpstr>Packager Shell Object</vt:lpstr>
      <vt:lpstr>PowerPoint Presentation</vt:lpstr>
      <vt:lpstr>AGENDA</vt:lpstr>
      <vt:lpstr>Introduction to  S4 HANA Legacy Transfer Migration Cockpit</vt:lpstr>
      <vt:lpstr>S/4HANA Migration Cockpit-Purpose</vt:lpstr>
      <vt:lpstr>Key Features of Migration Cockpit</vt:lpstr>
      <vt:lpstr>SAP S/4HANA Migration Cockpit –Overview Cloud 1808 / On-Premise 1809</vt:lpstr>
      <vt:lpstr>SAP S/4HANA Migration Cockpit –Migration Approaches</vt:lpstr>
      <vt:lpstr>SAP S/4HANA Migration Cockpit –File Upload –on-Premise   Enhancements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When we click on next in above screen  it will move to convert values.</vt:lpstr>
      <vt:lpstr>PowerPoint Presentation</vt:lpstr>
      <vt:lpstr>PowerPoint Presentation</vt:lpstr>
      <vt:lpstr>PowerPoint Presentation</vt:lpstr>
      <vt:lpstr>SAP S/4HANA Migration Cockpit -Transfer Data Using Staging Tables System Setup (On-Premise)</vt:lpstr>
      <vt:lpstr>Transfer Data using Staging tables:</vt:lpstr>
      <vt:lpstr>Creating a New Project for Data Migration</vt:lpstr>
      <vt:lpstr>PowerPoint Presentation</vt:lpstr>
      <vt:lpstr>PowerPoint Presentation</vt:lpstr>
      <vt:lpstr>PowerPoint Presentation</vt:lpstr>
      <vt:lpstr>PowerPoint Presentation</vt:lpstr>
      <vt:lpstr>PowerPoint Presentation</vt:lpstr>
      <vt:lpstr>The following considerations when deciding on the most suitable approach for your project:</vt:lpstr>
      <vt:lpstr>Preconfigured Business Objects (On-Premise 1809) Migration of Master and Transactional Data </vt:lpstr>
      <vt:lpstr>Working with LTMOM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Sahu, Monika</dc:creator>
  <cp:lastModifiedBy>Mohammad, Fareed</cp:lastModifiedBy>
  <cp:revision>3</cp:revision>
  <dcterms:created xsi:type="dcterms:W3CDTF">2022-01-04T13:20:09Z</dcterms:created>
  <dcterms:modified xsi:type="dcterms:W3CDTF">2022-01-05T15:32:58Z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2019-01-15T00:00:00Z</vt:filetime>
  </property>
  <property fmtid="{D5CDD505-2E9C-101B-9397-08002B2CF9AE}" pid="3" name="Creator">
    <vt:lpwstr>Microsoft® PowerPoint® 2013</vt:lpwstr>
  </property>
  <property fmtid="{D5CDD505-2E9C-101B-9397-08002B2CF9AE}" pid="4" name="LastSaved">
    <vt:filetime>2022-01-04T00:00:00Z</vt:filetime>
  </property>
  <property fmtid="{D5CDD505-2E9C-101B-9397-08002B2CF9AE}" pid="5" name="ContentTypeId">
    <vt:lpwstr>0x0101008E8604E4B921FB4F93D8730230AA0870</vt:lpwstr>
  </property>
</Properties>
</file>