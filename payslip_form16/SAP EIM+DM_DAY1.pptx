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860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masivayam, Manivasagan" userId="e21825c3-4acc-4579-b7bd-4299043c722e" providerId="ADAL" clId="{578D7818-BDFF-4928-9947-8DCFDF69B162}"/>
    <pc:docChg chg="delSld">
      <pc:chgData name="Namasivayam, Manivasagan" userId="e21825c3-4acc-4579-b7bd-4299043c722e" providerId="ADAL" clId="{578D7818-BDFF-4928-9947-8DCFDF69B162}" dt="2024-08-07T07:13:06.256" v="0" actId="47"/>
      <pc:docMkLst>
        <pc:docMk/>
      </pc:docMkLst>
      <pc:sldChg chg="del">
        <pc:chgData name="Namasivayam, Manivasagan" userId="e21825c3-4acc-4579-b7bd-4299043c722e" providerId="ADAL" clId="{578D7818-BDFF-4928-9947-8DCFDF69B162}" dt="2024-08-07T07:13:06.256" v="0" actId="47"/>
        <pc:sldMkLst>
          <pc:docMk/>
          <pc:sldMk cId="0" sldId="27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006FA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006FA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352159" y="2127884"/>
            <a:ext cx="4733925" cy="4258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006FA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48871" y="213486"/>
            <a:ext cx="423672" cy="43421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57147" y="190626"/>
            <a:ext cx="10077704" cy="11264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0" i="0">
                <a:solidFill>
                  <a:srgbClr val="006FA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57147" y="1595754"/>
            <a:ext cx="10077704" cy="2875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6735" y="0"/>
            <a:ext cx="7065263" cy="68579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8431" y="6100571"/>
            <a:ext cx="2286000" cy="51206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95400" y="3124200"/>
            <a:ext cx="4918075" cy="8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241300" algn="ctr">
              <a:lnSpc>
                <a:spcPct val="108500"/>
              </a:lnSpc>
              <a:spcBef>
                <a:spcPts val="100"/>
              </a:spcBef>
            </a:pPr>
            <a:r>
              <a:rPr sz="5300" spc="-75" dirty="0"/>
              <a:t>Training</a:t>
            </a:r>
            <a:r>
              <a:rPr sz="5300" spc="-35" dirty="0"/>
              <a:t> </a:t>
            </a:r>
            <a:r>
              <a:rPr sz="5300" spc="-20" dirty="0"/>
              <a:t>Day</a:t>
            </a:r>
            <a:r>
              <a:rPr sz="5300" spc="-50" dirty="0"/>
              <a:t> </a:t>
            </a:r>
            <a:r>
              <a:rPr sz="5300" dirty="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39766" y="335026"/>
            <a:ext cx="24295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AGENDA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33094" y="1298854"/>
            <a:ext cx="6243320" cy="2821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100"/>
              </a:lnSpc>
              <a:spcBef>
                <a:spcPts val="100"/>
              </a:spcBef>
            </a:pPr>
            <a:r>
              <a:rPr sz="2800" spc="-5" dirty="0">
                <a:latin typeface="Verdana"/>
                <a:cs typeface="Verdana"/>
              </a:rPr>
              <a:t>Basic</a:t>
            </a:r>
            <a:r>
              <a:rPr sz="2800" spc="3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Concepts</a:t>
            </a:r>
            <a:r>
              <a:rPr sz="2800" spc="30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of</a:t>
            </a:r>
            <a:r>
              <a:rPr sz="2800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Data</a:t>
            </a:r>
            <a:r>
              <a:rPr sz="2800" spc="25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Warehouse </a:t>
            </a:r>
            <a:r>
              <a:rPr sz="2800" spc="-969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ETL</a:t>
            </a:r>
            <a:r>
              <a:rPr sz="2800" spc="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Process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2800" spc="-5" dirty="0">
                <a:latin typeface="Verdana"/>
                <a:cs typeface="Verdana"/>
              </a:rPr>
              <a:t>BODS</a:t>
            </a:r>
            <a:r>
              <a:rPr sz="2800" spc="-1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Overview</a:t>
            </a:r>
            <a:endParaRPr sz="2800">
              <a:latin typeface="Verdana"/>
              <a:cs typeface="Verdana"/>
            </a:endParaRPr>
          </a:p>
          <a:p>
            <a:pPr marL="12700" marR="855980">
              <a:lnSpc>
                <a:spcPts val="4400"/>
              </a:lnSpc>
              <a:spcBef>
                <a:spcPts val="110"/>
              </a:spcBef>
            </a:pPr>
            <a:r>
              <a:rPr sz="2800" spc="-15" dirty="0">
                <a:latin typeface="Verdana"/>
                <a:cs typeface="Verdana"/>
              </a:rPr>
              <a:t>Architecture</a:t>
            </a:r>
            <a:r>
              <a:rPr sz="2800" spc="35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/</a:t>
            </a:r>
            <a:r>
              <a:rPr sz="2800" spc="-10" dirty="0">
                <a:latin typeface="Verdana"/>
                <a:cs typeface="Verdana"/>
              </a:rPr>
              <a:t> tool</a:t>
            </a:r>
            <a:r>
              <a:rPr sz="2800" spc="5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&amp;</a:t>
            </a:r>
            <a:r>
              <a:rPr sz="280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functions </a:t>
            </a:r>
            <a:r>
              <a:rPr sz="2800" spc="-969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Questions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2234" y="2164791"/>
            <a:ext cx="43681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Verdana"/>
                <a:cs typeface="Verdana"/>
              </a:rPr>
              <a:t>DATA</a:t>
            </a:r>
            <a:r>
              <a:rPr sz="3200" b="1" spc="-55" dirty="0">
                <a:latin typeface="Verdana"/>
                <a:cs typeface="Verdana"/>
              </a:rPr>
              <a:t> </a:t>
            </a:r>
            <a:r>
              <a:rPr sz="3200" b="1" spc="-5" dirty="0">
                <a:latin typeface="Verdana"/>
                <a:cs typeface="Verdana"/>
              </a:rPr>
              <a:t>WAREHOUSE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999" y="478612"/>
            <a:ext cx="7847330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0" dirty="0"/>
              <a:t>WHAT</a:t>
            </a:r>
            <a:r>
              <a:rPr spc="-25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spc="-114" dirty="0"/>
              <a:t>DATA</a:t>
            </a:r>
            <a:r>
              <a:rPr spc="-10" dirty="0"/>
              <a:t> WAREHOUSING?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9999" y="2006346"/>
            <a:ext cx="11260455" cy="1588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1435">
              <a:lnSpc>
                <a:spcPct val="100000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i="1" dirty="0">
                <a:latin typeface="Verdana"/>
                <a:cs typeface="Verdana"/>
              </a:rPr>
              <a:t>“A</a:t>
            </a:r>
            <a:r>
              <a:rPr sz="1800" i="1" spc="5" dirty="0">
                <a:latin typeface="Verdana"/>
                <a:cs typeface="Verdana"/>
              </a:rPr>
              <a:t> </a:t>
            </a:r>
            <a:r>
              <a:rPr sz="1800" i="1" spc="-5" dirty="0">
                <a:latin typeface="Verdana"/>
                <a:cs typeface="Verdana"/>
              </a:rPr>
              <a:t>data</a:t>
            </a:r>
            <a:r>
              <a:rPr sz="1800" i="1" spc="10" dirty="0">
                <a:latin typeface="Verdana"/>
                <a:cs typeface="Verdana"/>
              </a:rPr>
              <a:t> </a:t>
            </a:r>
            <a:r>
              <a:rPr sz="1800" i="1" spc="-5" dirty="0">
                <a:latin typeface="Verdana"/>
                <a:cs typeface="Verdana"/>
              </a:rPr>
              <a:t>warehouse</a:t>
            </a:r>
            <a:r>
              <a:rPr sz="1800" i="1" dirty="0">
                <a:latin typeface="Verdana"/>
                <a:cs typeface="Verdana"/>
              </a:rPr>
              <a:t> </a:t>
            </a:r>
            <a:r>
              <a:rPr sz="1800" i="1" spc="-5" dirty="0">
                <a:latin typeface="Verdana"/>
                <a:cs typeface="Verdana"/>
              </a:rPr>
              <a:t>is</a:t>
            </a:r>
            <a:r>
              <a:rPr sz="1800" i="1" spc="2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a</a:t>
            </a:r>
            <a:r>
              <a:rPr sz="1800" i="1" spc="10" dirty="0">
                <a:latin typeface="Verdana"/>
                <a:cs typeface="Verdana"/>
              </a:rPr>
              <a:t> </a:t>
            </a:r>
            <a:r>
              <a:rPr sz="1800" i="1" spc="-5" dirty="0">
                <a:latin typeface="Verdana"/>
                <a:cs typeface="Verdana"/>
              </a:rPr>
              <a:t>subject-oriented,</a:t>
            </a:r>
            <a:r>
              <a:rPr sz="1800" i="1" spc="40" dirty="0">
                <a:latin typeface="Verdana"/>
                <a:cs typeface="Verdana"/>
              </a:rPr>
              <a:t> </a:t>
            </a:r>
            <a:r>
              <a:rPr sz="1800" i="1" spc="-5" dirty="0">
                <a:latin typeface="Verdana"/>
                <a:cs typeface="Verdana"/>
              </a:rPr>
              <a:t>integrated,</a:t>
            </a:r>
            <a:r>
              <a:rPr sz="1800" i="1" spc="45" dirty="0">
                <a:latin typeface="Verdana"/>
                <a:cs typeface="Verdana"/>
              </a:rPr>
              <a:t> </a:t>
            </a:r>
            <a:r>
              <a:rPr sz="1800" i="1" spc="-5" dirty="0">
                <a:latin typeface="Verdana"/>
                <a:cs typeface="Verdana"/>
              </a:rPr>
              <a:t>nonvolatile,</a:t>
            </a:r>
            <a:r>
              <a:rPr sz="1800" i="1" spc="15" dirty="0">
                <a:latin typeface="Verdana"/>
                <a:cs typeface="Verdana"/>
              </a:rPr>
              <a:t> </a:t>
            </a:r>
            <a:r>
              <a:rPr sz="1800" i="1" spc="-5" dirty="0">
                <a:latin typeface="Verdana"/>
                <a:cs typeface="Verdana"/>
              </a:rPr>
              <a:t>time-variant</a:t>
            </a:r>
            <a:r>
              <a:rPr sz="1800" i="1" spc="10" dirty="0">
                <a:latin typeface="Verdana"/>
                <a:cs typeface="Verdana"/>
              </a:rPr>
              <a:t> </a:t>
            </a:r>
            <a:r>
              <a:rPr sz="1800" i="1" spc="-5" dirty="0">
                <a:latin typeface="Verdana"/>
                <a:cs typeface="Verdana"/>
              </a:rPr>
              <a:t>collection</a:t>
            </a:r>
            <a:r>
              <a:rPr sz="1800" i="1" spc="3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of</a:t>
            </a:r>
            <a:r>
              <a:rPr sz="1800" i="1" spc="10" dirty="0">
                <a:latin typeface="Verdana"/>
                <a:cs typeface="Verdana"/>
              </a:rPr>
              <a:t> </a:t>
            </a:r>
            <a:r>
              <a:rPr sz="1800" i="1" spc="-5" dirty="0">
                <a:latin typeface="Verdana"/>
                <a:cs typeface="Verdana"/>
              </a:rPr>
              <a:t>data </a:t>
            </a:r>
            <a:r>
              <a:rPr sz="1800" i="1" spc="-620" dirty="0">
                <a:latin typeface="Verdana"/>
                <a:cs typeface="Verdana"/>
              </a:rPr>
              <a:t> </a:t>
            </a:r>
            <a:r>
              <a:rPr sz="1800" i="1" spc="-5" dirty="0">
                <a:latin typeface="Verdana"/>
                <a:cs typeface="Verdana"/>
              </a:rPr>
              <a:t>in</a:t>
            </a:r>
            <a:r>
              <a:rPr sz="1800" i="1" spc="5" dirty="0">
                <a:latin typeface="Verdana"/>
                <a:cs typeface="Verdana"/>
              </a:rPr>
              <a:t> </a:t>
            </a:r>
            <a:r>
              <a:rPr sz="1800" i="1" spc="-5" dirty="0">
                <a:latin typeface="Verdana"/>
                <a:cs typeface="Verdana"/>
              </a:rPr>
              <a:t>support</a:t>
            </a:r>
            <a:r>
              <a:rPr sz="1800" i="1" spc="1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of </a:t>
            </a:r>
            <a:r>
              <a:rPr sz="1800" i="1" spc="-10" dirty="0">
                <a:latin typeface="Verdana"/>
                <a:cs typeface="Verdana"/>
              </a:rPr>
              <a:t>management's</a:t>
            </a:r>
            <a:r>
              <a:rPr sz="1800" i="1" spc="10" dirty="0">
                <a:latin typeface="Verdana"/>
                <a:cs typeface="Verdana"/>
              </a:rPr>
              <a:t> </a:t>
            </a:r>
            <a:r>
              <a:rPr sz="1800" i="1" spc="-20" dirty="0">
                <a:latin typeface="Verdana"/>
                <a:cs typeface="Verdana"/>
              </a:rPr>
              <a:t>decisions</a:t>
            </a:r>
            <a:r>
              <a:rPr sz="1800" spc="-20" dirty="0">
                <a:latin typeface="Verdana"/>
                <a:cs typeface="Verdana"/>
              </a:rPr>
              <a:t>.”</a:t>
            </a:r>
            <a:endParaRPr sz="18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505"/>
              </a:spcBef>
            </a:pPr>
            <a:r>
              <a:rPr sz="1800" spc="-20" dirty="0">
                <a:latin typeface="Verdana"/>
                <a:cs typeface="Verdana"/>
              </a:rPr>
              <a:t>-WH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Innmon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49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dirty="0">
                <a:latin typeface="Verdana"/>
                <a:cs typeface="Verdana"/>
              </a:rPr>
              <a:t>A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warehouse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constructed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by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integrating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from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multiple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heterogeneous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sources.</a:t>
            </a:r>
            <a:endParaRPr sz="1800">
              <a:latin typeface="Verdana"/>
              <a:cs typeface="Verdana"/>
            </a:endParaRPr>
          </a:p>
          <a:p>
            <a:pPr marL="274320" indent="-262255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274955" algn="l"/>
              </a:tabLst>
            </a:pPr>
            <a:r>
              <a:rPr sz="1800" dirty="0">
                <a:latin typeface="Verdana"/>
                <a:cs typeface="Verdana"/>
              </a:rPr>
              <a:t>It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supports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analytical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reporting,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structured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and/or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ad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hoc </a:t>
            </a:r>
            <a:r>
              <a:rPr sz="1800" spc="-5" dirty="0">
                <a:latin typeface="Verdana"/>
                <a:cs typeface="Verdana"/>
              </a:rPr>
              <a:t>queries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decision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making.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1744" y="464312"/>
            <a:ext cx="7011670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WHY</a:t>
            </a:r>
            <a:r>
              <a:rPr spc="-30" dirty="0"/>
              <a:t> </a:t>
            </a:r>
            <a:r>
              <a:rPr spc="-114" dirty="0"/>
              <a:t>DATA</a:t>
            </a:r>
            <a:r>
              <a:rPr spc="-10" dirty="0"/>
              <a:t> WAREHOUSING</a:t>
            </a:r>
            <a:r>
              <a:rPr spc="-40" dirty="0"/>
              <a:t> </a:t>
            </a:r>
            <a:r>
              <a:rPr dirty="0"/>
              <a:t>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744" y="1904627"/>
            <a:ext cx="9379585" cy="171577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800" spc="-100" dirty="0">
                <a:latin typeface="Verdana"/>
                <a:cs typeface="Verdana"/>
              </a:rPr>
              <a:t>To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formulate </a:t>
            </a:r>
            <a:r>
              <a:rPr sz="1800" spc="-5" dirty="0">
                <a:latin typeface="Verdana"/>
                <a:cs typeface="Verdana"/>
              </a:rPr>
              <a:t>effective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business,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marketing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 sales </a:t>
            </a:r>
            <a:r>
              <a:rPr sz="1800" spc="-10" dirty="0">
                <a:latin typeface="Verdana"/>
                <a:cs typeface="Verdana"/>
              </a:rPr>
              <a:t>strategies.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800" spc="-100" dirty="0">
                <a:latin typeface="Verdana"/>
                <a:cs typeface="Verdana"/>
              </a:rPr>
              <a:t>To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precisely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target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promotional </a:t>
            </a:r>
            <a:r>
              <a:rPr sz="1800" spc="-20" dirty="0">
                <a:latin typeface="Verdana"/>
                <a:cs typeface="Verdana"/>
              </a:rPr>
              <a:t>activity.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800" spc="-100" dirty="0">
                <a:latin typeface="Verdana"/>
                <a:cs typeface="Verdana"/>
              </a:rPr>
              <a:t>To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discover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penetrate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new</a:t>
            </a:r>
            <a:r>
              <a:rPr sz="1800" spc="-5" dirty="0">
                <a:latin typeface="Verdana"/>
                <a:cs typeface="Verdana"/>
              </a:rPr>
              <a:t> markets.</a:t>
            </a:r>
            <a:endParaRPr sz="1800">
              <a:latin typeface="Verdana"/>
              <a:cs typeface="Verdana"/>
            </a:endParaRPr>
          </a:p>
          <a:p>
            <a:pPr marL="12700" marR="5080">
              <a:lnSpc>
                <a:spcPts val="2660"/>
              </a:lnSpc>
              <a:spcBef>
                <a:spcPts val="95"/>
              </a:spcBef>
            </a:pPr>
            <a:r>
              <a:rPr sz="1800" spc="-100" dirty="0">
                <a:latin typeface="Verdana"/>
                <a:cs typeface="Verdana"/>
              </a:rPr>
              <a:t>To</a:t>
            </a:r>
            <a:r>
              <a:rPr sz="1800" dirty="0">
                <a:latin typeface="Verdana"/>
                <a:cs typeface="Verdana"/>
              </a:rPr>
              <a:t> successfully </a:t>
            </a:r>
            <a:r>
              <a:rPr sz="1800" spc="-5" dirty="0">
                <a:latin typeface="Verdana"/>
                <a:cs typeface="Verdana"/>
              </a:rPr>
              <a:t>compete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marketplace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from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 position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 informed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strength. </a:t>
            </a:r>
            <a:r>
              <a:rPr sz="1800" spc="-620" dirty="0">
                <a:latin typeface="Verdana"/>
                <a:cs typeface="Verdana"/>
              </a:rPr>
              <a:t> </a:t>
            </a:r>
            <a:r>
              <a:rPr sz="1800" spc="-100" dirty="0">
                <a:latin typeface="Verdana"/>
                <a:cs typeface="Verdana"/>
              </a:rPr>
              <a:t>To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build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predictive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rather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than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retrospective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models.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2340" y="334213"/>
            <a:ext cx="7886065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4" dirty="0"/>
              <a:t>DATA</a:t>
            </a:r>
            <a:r>
              <a:rPr spc="-15" dirty="0"/>
              <a:t> WAREHOUSE</a:t>
            </a:r>
            <a:r>
              <a:rPr spc="-40" dirty="0"/>
              <a:t> </a:t>
            </a:r>
            <a:r>
              <a:rPr spc="-25" dirty="0"/>
              <a:t>STRATEGIES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2340" y="1589913"/>
            <a:ext cx="10770870" cy="308800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strategy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developing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5" dirty="0">
                <a:latin typeface="Verdana"/>
                <a:cs typeface="Verdana"/>
              </a:rPr>
              <a:t> data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warehouse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can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be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broken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down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into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four</a:t>
            </a:r>
            <a:r>
              <a:rPr sz="1800" spc="-5" dirty="0">
                <a:latin typeface="Verdana"/>
                <a:cs typeface="Verdana"/>
              </a:rPr>
              <a:t> steps:</a:t>
            </a:r>
            <a:endParaRPr sz="18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334645" algn="l"/>
              </a:tabLst>
            </a:pPr>
            <a:r>
              <a:rPr sz="1800" b="1" spc="-10" dirty="0">
                <a:latin typeface="Verdana"/>
                <a:cs typeface="Verdana"/>
              </a:rPr>
              <a:t>Educate</a:t>
            </a:r>
            <a:r>
              <a:rPr sz="1800" b="1" spc="2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yourself:</a:t>
            </a:r>
            <a:r>
              <a:rPr sz="1800" b="1" spc="20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We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recommend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getting</a:t>
            </a:r>
            <a:r>
              <a:rPr sz="1800" spc="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Business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Intelligence</a:t>
            </a:r>
            <a:r>
              <a:rPr sz="1800" spc="3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Road</a:t>
            </a:r>
            <a:r>
              <a:rPr sz="1800" dirty="0">
                <a:latin typeface="Verdana"/>
                <a:cs typeface="Verdana"/>
              </a:rPr>
              <a:t> map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reading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it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cover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cover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before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you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start.</a:t>
            </a:r>
            <a:endParaRPr sz="1800">
              <a:latin typeface="Verdana"/>
              <a:cs typeface="Verdana"/>
            </a:endParaRPr>
          </a:p>
          <a:p>
            <a:pPr marL="12700" marR="6985">
              <a:lnSpc>
                <a:spcPct val="100000"/>
              </a:lnSpc>
              <a:spcBef>
                <a:spcPts val="495"/>
              </a:spcBef>
              <a:buAutoNum type="arabicPeriod"/>
              <a:tabLst>
                <a:tab pos="334645" algn="l"/>
              </a:tabLst>
            </a:pPr>
            <a:r>
              <a:rPr sz="1800" b="1" spc="-5" dirty="0">
                <a:latin typeface="Verdana"/>
                <a:cs typeface="Verdana"/>
              </a:rPr>
              <a:t>Determine</a:t>
            </a:r>
            <a:r>
              <a:rPr sz="1800" b="1" spc="1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business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requirements:</a:t>
            </a:r>
            <a:r>
              <a:rPr sz="1800" b="1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Not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all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warehouses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are</a:t>
            </a:r>
            <a:r>
              <a:rPr sz="1800" spc="-5" dirty="0">
                <a:latin typeface="Verdana"/>
                <a:cs typeface="Verdana"/>
              </a:rPr>
              <a:t> 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same.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You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need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understand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why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requestor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needs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5" dirty="0">
                <a:latin typeface="Verdana"/>
                <a:cs typeface="Verdana"/>
              </a:rPr>
              <a:t>data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warehouse.</a:t>
            </a:r>
            <a:endParaRPr sz="1800">
              <a:latin typeface="Verdana"/>
              <a:cs typeface="Verdana"/>
            </a:endParaRPr>
          </a:p>
          <a:p>
            <a:pPr marL="12700" marR="52197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334645" algn="l"/>
              </a:tabLst>
            </a:pPr>
            <a:r>
              <a:rPr sz="1800" b="1" dirty="0">
                <a:latin typeface="Verdana"/>
                <a:cs typeface="Verdana"/>
              </a:rPr>
              <a:t>Make a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timeline: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Break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up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those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business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objectives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mentioned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above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into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3-month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incremental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deliverables.</a:t>
            </a:r>
            <a:endParaRPr sz="1800">
              <a:latin typeface="Verdana"/>
              <a:cs typeface="Verdana"/>
            </a:endParaRPr>
          </a:p>
          <a:p>
            <a:pPr marL="12700" marR="222885" algn="just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334645" algn="l"/>
              </a:tabLst>
            </a:pPr>
            <a:r>
              <a:rPr sz="1800" b="1" dirty="0">
                <a:latin typeface="Verdana"/>
                <a:cs typeface="Verdana"/>
              </a:rPr>
              <a:t>Choose </a:t>
            </a:r>
            <a:r>
              <a:rPr sz="1800" b="1" spc="-5" dirty="0">
                <a:latin typeface="Verdana"/>
                <a:cs typeface="Verdana"/>
              </a:rPr>
              <a:t>architecture, methodology, </a:t>
            </a:r>
            <a:r>
              <a:rPr sz="1800" b="1" dirty="0">
                <a:latin typeface="Verdana"/>
                <a:cs typeface="Verdana"/>
              </a:rPr>
              <a:t>and </a:t>
            </a:r>
            <a:r>
              <a:rPr sz="1800" b="1" spc="-5" dirty="0">
                <a:latin typeface="Verdana"/>
                <a:cs typeface="Verdana"/>
              </a:rPr>
              <a:t>technology </a:t>
            </a:r>
            <a:r>
              <a:rPr sz="1800" b="1" dirty="0">
                <a:latin typeface="Verdana"/>
                <a:cs typeface="Verdana"/>
              </a:rPr>
              <a:t>and </a:t>
            </a:r>
            <a:r>
              <a:rPr sz="1800" b="1" spc="-5" dirty="0">
                <a:latin typeface="Verdana"/>
                <a:cs typeface="Verdana"/>
              </a:rPr>
              <a:t>compile </a:t>
            </a:r>
            <a:r>
              <a:rPr sz="1800" b="1" dirty="0">
                <a:latin typeface="Verdana"/>
                <a:cs typeface="Verdana"/>
              </a:rPr>
              <a:t>a </a:t>
            </a:r>
            <a:r>
              <a:rPr sz="1800" b="1" spc="-5" dirty="0">
                <a:latin typeface="Verdana"/>
                <a:cs typeface="Verdana"/>
              </a:rPr>
              <a:t>staff </a:t>
            </a:r>
            <a:r>
              <a:rPr sz="1800" b="1" dirty="0">
                <a:latin typeface="Verdana"/>
                <a:cs typeface="Verdana"/>
              </a:rPr>
              <a:t>(and/or </a:t>
            </a:r>
            <a:r>
              <a:rPr sz="1800" b="1" spc="-60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consultancy): </a:t>
            </a:r>
            <a:r>
              <a:rPr sz="1800" spc="-20" dirty="0">
                <a:latin typeface="Verdana"/>
                <a:cs typeface="Verdana"/>
              </a:rPr>
              <a:t>You'll </a:t>
            </a:r>
            <a:r>
              <a:rPr sz="1800" spc="-5" dirty="0">
                <a:latin typeface="Verdana"/>
                <a:cs typeface="Verdana"/>
              </a:rPr>
              <a:t>need to meet you business objectives </a:t>
            </a:r>
            <a:r>
              <a:rPr sz="1800" dirty="0">
                <a:latin typeface="Verdana"/>
                <a:cs typeface="Verdana"/>
              </a:rPr>
              <a:t>as well as build </a:t>
            </a:r>
            <a:r>
              <a:rPr sz="1800" spc="-5" dirty="0">
                <a:latin typeface="Verdana"/>
                <a:cs typeface="Verdana"/>
              </a:rPr>
              <a:t>your structures </a:t>
            </a:r>
            <a:r>
              <a:rPr sz="1800" spc="-6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scalable</a:t>
            </a:r>
            <a:r>
              <a:rPr sz="1800" dirty="0">
                <a:latin typeface="Verdana"/>
                <a:cs typeface="Verdana"/>
              </a:rPr>
              <a:t> so </a:t>
            </a:r>
            <a:r>
              <a:rPr sz="1800" spc="-5" dirty="0">
                <a:latin typeface="Verdana"/>
                <a:cs typeface="Verdana"/>
              </a:rPr>
              <a:t>that you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can </a:t>
            </a:r>
            <a:r>
              <a:rPr sz="1800" spc="-5" dirty="0">
                <a:latin typeface="Verdana"/>
                <a:cs typeface="Verdana"/>
              </a:rPr>
              <a:t>add-on</a:t>
            </a:r>
            <a:r>
              <a:rPr sz="1800" dirty="0">
                <a:latin typeface="Verdana"/>
                <a:cs typeface="Verdana"/>
              </a:rPr>
              <a:t> easily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meet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future </a:t>
            </a:r>
            <a:r>
              <a:rPr sz="1800" spc="-5" dirty="0">
                <a:latin typeface="Verdana"/>
                <a:cs typeface="Verdana"/>
              </a:rPr>
              <a:t>requirements.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7963" y="210693"/>
            <a:ext cx="860615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DATA</a:t>
            </a:r>
            <a:r>
              <a:rPr spc="-25" dirty="0"/>
              <a:t> </a:t>
            </a:r>
            <a:r>
              <a:rPr spc="-10" dirty="0"/>
              <a:t>WAREHOUSE</a:t>
            </a:r>
            <a:r>
              <a:rPr spc="-45" dirty="0"/>
              <a:t> </a:t>
            </a:r>
            <a:r>
              <a:rPr spc="-5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332" y="1661160"/>
            <a:ext cx="4593336" cy="39441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865" y="154381"/>
            <a:ext cx="8605520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4" dirty="0"/>
              <a:t>DATA</a:t>
            </a:r>
            <a:r>
              <a:rPr dirty="0"/>
              <a:t> </a:t>
            </a:r>
            <a:r>
              <a:rPr spc="-15" dirty="0"/>
              <a:t>WAREHOUSE</a:t>
            </a:r>
            <a:r>
              <a:rPr spc="-20" dirty="0"/>
              <a:t> </a:t>
            </a:r>
            <a:r>
              <a:rPr spc="-5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7865" y="1395221"/>
            <a:ext cx="11397615" cy="385127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05"/>
              </a:spcBef>
            </a:pPr>
            <a:r>
              <a:rPr sz="1800" spc="-5" dirty="0">
                <a:latin typeface="Verdana"/>
                <a:cs typeface="Verdana"/>
              </a:rPr>
              <a:t>Generally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5" dirty="0">
                <a:latin typeface="Verdana"/>
                <a:cs typeface="Verdana"/>
              </a:rPr>
              <a:t>data warehouses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adopts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5" dirty="0">
                <a:latin typeface="Verdana"/>
                <a:cs typeface="Verdana"/>
              </a:rPr>
              <a:t>three-tier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architecture:</a:t>
            </a:r>
            <a:endParaRPr sz="1800">
              <a:latin typeface="Verdana"/>
              <a:cs typeface="Verdana"/>
            </a:endParaRPr>
          </a:p>
          <a:p>
            <a:pPr marL="12700" marR="6350" algn="just">
              <a:lnSpc>
                <a:spcPct val="100000"/>
              </a:lnSpc>
              <a:spcBef>
                <a:spcPts val="500"/>
              </a:spcBef>
            </a:pPr>
            <a:r>
              <a:rPr sz="1800" b="1" dirty="0">
                <a:latin typeface="Verdana"/>
                <a:cs typeface="Verdana"/>
              </a:rPr>
              <a:t>Bottom </a:t>
            </a:r>
            <a:r>
              <a:rPr sz="1800" b="1" spc="-5" dirty="0">
                <a:latin typeface="Verdana"/>
                <a:cs typeface="Verdana"/>
              </a:rPr>
              <a:t>Tier</a:t>
            </a:r>
            <a:r>
              <a:rPr sz="1800" b="1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− The </a:t>
            </a:r>
            <a:r>
              <a:rPr sz="1800" spc="-5" dirty="0">
                <a:latin typeface="Verdana"/>
                <a:cs typeface="Verdana"/>
              </a:rPr>
              <a:t>bottom </a:t>
            </a:r>
            <a:r>
              <a:rPr sz="1800" dirty="0">
                <a:latin typeface="Verdana"/>
                <a:cs typeface="Verdana"/>
              </a:rPr>
              <a:t>tier </a:t>
            </a:r>
            <a:r>
              <a:rPr sz="1800" spc="-5" dirty="0">
                <a:latin typeface="Verdana"/>
                <a:cs typeface="Verdana"/>
              </a:rPr>
              <a:t>of </a:t>
            </a:r>
            <a:r>
              <a:rPr sz="1800" dirty="0">
                <a:latin typeface="Verdana"/>
                <a:cs typeface="Verdana"/>
              </a:rPr>
              <a:t>the </a:t>
            </a:r>
            <a:r>
              <a:rPr sz="1800" spc="-5" dirty="0">
                <a:latin typeface="Verdana"/>
                <a:cs typeface="Verdana"/>
              </a:rPr>
              <a:t>architecture </a:t>
            </a:r>
            <a:r>
              <a:rPr sz="1800" spc="5" dirty="0">
                <a:latin typeface="Verdana"/>
                <a:cs typeface="Verdana"/>
              </a:rPr>
              <a:t>is </a:t>
            </a:r>
            <a:r>
              <a:rPr sz="1800" spc="-5" dirty="0">
                <a:latin typeface="Verdana"/>
                <a:cs typeface="Verdana"/>
              </a:rPr>
              <a:t>the data warehouse database </a:t>
            </a:r>
            <a:r>
              <a:rPr sz="1800" spc="-40" dirty="0">
                <a:latin typeface="Verdana"/>
                <a:cs typeface="Verdana"/>
              </a:rPr>
              <a:t>server.</a:t>
            </a:r>
            <a:r>
              <a:rPr sz="1800" spc="55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It </a:t>
            </a:r>
            <a:r>
              <a:rPr sz="1800" spc="10" dirty="0">
                <a:latin typeface="Verdana"/>
                <a:cs typeface="Verdana"/>
              </a:rPr>
              <a:t>is 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 relational database </a:t>
            </a:r>
            <a:r>
              <a:rPr sz="1800" dirty="0">
                <a:latin typeface="Verdana"/>
                <a:cs typeface="Verdana"/>
              </a:rPr>
              <a:t>system. </a:t>
            </a:r>
            <a:r>
              <a:rPr sz="1800" spc="-45" dirty="0">
                <a:latin typeface="Verdana"/>
                <a:cs typeface="Verdana"/>
              </a:rPr>
              <a:t>We </a:t>
            </a:r>
            <a:r>
              <a:rPr sz="1800" dirty="0">
                <a:latin typeface="Verdana"/>
                <a:cs typeface="Verdana"/>
              </a:rPr>
              <a:t>use the </a:t>
            </a:r>
            <a:r>
              <a:rPr sz="1800" spc="-5" dirty="0">
                <a:latin typeface="Verdana"/>
                <a:cs typeface="Verdana"/>
              </a:rPr>
              <a:t>back </a:t>
            </a:r>
            <a:r>
              <a:rPr sz="1800" dirty="0">
                <a:latin typeface="Verdana"/>
                <a:cs typeface="Verdana"/>
              </a:rPr>
              <a:t>end </a:t>
            </a:r>
            <a:r>
              <a:rPr sz="1800" spc="-5" dirty="0">
                <a:latin typeface="Verdana"/>
                <a:cs typeface="Verdana"/>
              </a:rPr>
              <a:t>tools and </a:t>
            </a:r>
            <a:r>
              <a:rPr sz="1800" dirty="0">
                <a:latin typeface="Verdana"/>
                <a:cs typeface="Verdana"/>
              </a:rPr>
              <a:t>utilities </a:t>
            </a:r>
            <a:r>
              <a:rPr sz="1800" spc="-5" dirty="0">
                <a:latin typeface="Verdana"/>
                <a:cs typeface="Verdana"/>
              </a:rPr>
              <a:t>to </a:t>
            </a:r>
            <a:r>
              <a:rPr sz="1800" dirty="0">
                <a:latin typeface="Verdana"/>
                <a:cs typeface="Verdana"/>
              </a:rPr>
              <a:t>feed </a:t>
            </a:r>
            <a:r>
              <a:rPr sz="1800" spc="-5" dirty="0">
                <a:latin typeface="Verdana"/>
                <a:cs typeface="Verdana"/>
              </a:rPr>
              <a:t>data </a:t>
            </a:r>
            <a:r>
              <a:rPr sz="1800" spc="5" dirty="0">
                <a:latin typeface="Verdana"/>
                <a:cs typeface="Verdana"/>
              </a:rPr>
              <a:t>into </a:t>
            </a:r>
            <a:r>
              <a:rPr sz="1800" spc="-5" dirty="0">
                <a:latin typeface="Verdana"/>
                <a:cs typeface="Verdana"/>
              </a:rPr>
              <a:t>the 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bottom </a:t>
            </a:r>
            <a:r>
              <a:rPr sz="1800" spc="-55" dirty="0">
                <a:latin typeface="Verdana"/>
                <a:cs typeface="Verdana"/>
              </a:rPr>
              <a:t>tier. </a:t>
            </a:r>
            <a:r>
              <a:rPr sz="1800" spc="-5" dirty="0">
                <a:latin typeface="Verdana"/>
                <a:cs typeface="Verdana"/>
              </a:rPr>
              <a:t>These back </a:t>
            </a:r>
            <a:r>
              <a:rPr sz="1800" dirty="0">
                <a:latin typeface="Verdana"/>
                <a:cs typeface="Verdana"/>
              </a:rPr>
              <a:t>end </a:t>
            </a:r>
            <a:r>
              <a:rPr sz="1800" spc="-5" dirty="0">
                <a:latin typeface="Verdana"/>
                <a:cs typeface="Verdana"/>
              </a:rPr>
              <a:t>tools and </a:t>
            </a:r>
            <a:r>
              <a:rPr sz="1800" dirty="0">
                <a:latin typeface="Verdana"/>
                <a:cs typeface="Verdana"/>
              </a:rPr>
              <a:t>utilities </a:t>
            </a:r>
            <a:r>
              <a:rPr sz="1800" spc="-5" dirty="0">
                <a:latin typeface="Verdana"/>
                <a:cs typeface="Verdana"/>
              </a:rPr>
              <a:t>perform the </a:t>
            </a:r>
            <a:r>
              <a:rPr sz="1800" spc="-10" dirty="0">
                <a:latin typeface="Verdana"/>
                <a:cs typeface="Verdana"/>
              </a:rPr>
              <a:t>Extract, </a:t>
            </a:r>
            <a:r>
              <a:rPr sz="1800" dirty="0">
                <a:latin typeface="Verdana"/>
                <a:cs typeface="Verdana"/>
              </a:rPr>
              <a:t>Clean, </a:t>
            </a:r>
            <a:r>
              <a:rPr sz="1800" spc="-5" dirty="0">
                <a:latin typeface="Verdana"/>
                <a:cs typeface="Verdana"/>
              </a:rPr>
              <a:t>Load, </a:t>
            </a:r>
            <a:r>
              <a:rPr sz="1800" dirty="0">
                <a:latin typeface="Verdana"/>
                <a:cs typeface="Verdana"/>
              </a:rPr>
              <a:t>and </a:t>
            </a:r>
            <a:r>
              <a:rPr sz="1800" spc="-5" dirty="0">
                <a:latin typeface="Verdana"/>
                <a:cs typeface="Verdana"/>
              </a:rPr>
              <a:t>refresh </a:t>
            </a:r>
            <a:r>
              <a:rPr sz="1800" dirty="0">
                <a:latin typeface="Verdana"/>
                <a:cs typeface="Verdana"/>
              </a:rPr>
              <a:t> functions.</a:t>
            </a:r>
            <a:endParaRPr sz="1800">
              <a:latin typeface="Verdana"/>
              <a:cs typeface="Verdana"/>
            </a:endParaRPr>
          </a:p>
          <a:p>
            <a:pPr marL="12700" marR="5080" algn="just">
              <a:lnSpc>
                <a:spcPct val="100000"/>
              </a:lnSpc>
              <a:spcBef>
                <a:spcPts val="495"/>
              </a:spcBef>
            </a:pPr>
            <a:r>
              <a:rPr sz="1800" b="1" spc="-5" dirty="0">
                <a:latin typeface="Verdana"/>
                <a:cs typeface="Verdana"/>
              </a:rPr>
              <a:t>Middle Tier </a:t>
            </a:r>
            <a:r>
              <a:rPr sz="1800" dirty="0">
                <a:latin typeface="Verdana"/>
                <a:cs typeface="Verdana"/>
              </a:rPr>
              <a:t>− </a:t>
            </a:r>
            <a:r>
              <a:rPr sz="1800" spc="-5" dirty="0">
                <a:latin typeface="Verdana"/>
                <a:cs typeface="Verdana"/>
              </a:rPr>
              <a:t>In the </a:t>
            </a:r>
            <a:r>
              <a:rPr sz="1800" dirty="0">
                <a:latin typeface="Verdana"/>
                <a:cs typeface="Verdana"/>
              </a:rPr>
              <a:t>middle </a:t>
            </a:r>
            <a:r>
              <a:rPr sz="1800" spc="-55" dirty="0">
                <a:latin typeface="Verdana"/>
                <a:cs typeface="Verdana"/>
              </a:rPr>
              <a:t>tier, </a:t>
            </a:r>
            <a:r>
              <a:rPr sz="1800" dirty="0">
                <a:latin typeface="Verdana"/>
                <a:cs typeface="Verdana"/>
              </a:rPr>
              <a:t>we </a:t>
            </a:r>
            <a:r>
              <a:rPr sz="1800" spc="-10" dirty="0">
                <a:latin typeface="Verdana"/>
                <a:cs typeface="Verdana"/>
              </a:rPr>
              <a:t>have </a:t>
            </a:r>
            <a:r>
              <a:rPr sz="1800" spc="-5" dirty="0">
                <a:latin typeface="Verdana"/>
                <a:cs typeface="Verdana"/>
              </a:rPr>
              <a:t>the </a:t>
            </a:r>
            <a:r>
              <a:rPr sz="1800" spc="-10" dirty="0">
                <a:latin typeface="Verdana"/>
                <a:cs typeface="Verdana"/>
              </a:rPr>
              <a:t>OLAP </a:t>
            </a:r>
            <a:r>
              <a:rPr sz="1800" spc="-5" dirty="0">
                <a:latin typeface="Verdana"/>
                <a:cs typeface="Verdana"/>
              </a:rPr>
              <a:t>Server that can be </a:t>
            </a:r>
            <a:r>
              <a:rPr sz="1800" dirty="0">
                <a:latin typeface="Verdana"/>
                <a:cs typeface="Verdana"/>
              </a:rPr>
              <a:t>implemented </a:t>
            </a:r>
            <a:r>
              <a:rPr sz="1800" spc="5" dirty="0">
                <a:latin typeface="Verdana"/>
                <a:cs typeface="Verdana"/>
              </a:rPr>
              <a:t>in </a:t>
            </a:r>
            <a:r>
              <a:rPr sz="1800" spc="-5" dirty="0">
                <a:latin typeface="Verdana"/>
                <a:cs typeface="Verdana"/>
              </a:rPr>
              <a:t>either of 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following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ways.</a:t>
            </a:r>
            <a:endParaRPr sz="1800">
              <a:latin typeface="Verdana"/>
              <a:cs typeface="Verdana"/>
            </a:endParaRPr>
          </a:p>
          <a:p>
            <a:pPr marL="187960" indent="-172720" algn="just">
              <a:lnSpc>
                <a:spcPct val="100000"/>
              </a:lnSpc>
              <a:spcBef>
                <a:spcPts val="500"/>
              </a:spcBef>
              <a:buClr>
                <a:srgbClr val="006FAC"/>
              </a:buClr>
              <a:buFont typeface="Wingdings"/>
              <a:buChar char=""/>
              <a:tabLst>
                <a:tab pos="187960" algn="l"/>
              </a:tabLst>
            </a:pPr>
            <a:r>
              <a:rPr sz="1600" spc="-10" dirty="0">
                <a:latin typeface="Verdana"/>
                <a:cs typeface="Verdana"/>
              </a:rPr>
              <a:t>By</a:t>
            </a:r>
            <a:r>
              <a:rPr sz="1600" spc="3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Relational</a:t>
            </a:r>
            <a:r>
              <a:rPr sz="1600" spc="3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OLAP</a:t>
            </a:r>
            <a:r>
              <a:rPr sz="1600" spc="32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(ROLAP),</a:t>
            </a:r>
            <a:r>
              <a:rPr sz="1600" spc="32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which</a:t>
            </a:r>
            <a:r>
              <a:rPr sz="1600" spc="3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is</a:t>
            </a:r>
            <a:r>
              <a:rPr sz="1600" spc="32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an</a:t>
            </a:r>
            <a:r>
              <a:rPr sz="1600" spc="33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extended</a:t>
            </a:r>
            <a:r>
              <a:rPr sz="1600" spc="33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relational</a:t>
            </a:r>
            <a:r>
              <a:rPr sz="1600" spc="33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database</a:t>
            </a:r>
            <a:r>
              <a:rPr sz="1600" spc="33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management</a:t>
            </a:r>
            <a:r>
              <a:rPr sz="1600" spc="33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system.</a:t>
            </a:r>
            <a:r>
              <a:rPr sz="1600" spc="3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The</a:t>
            </a:r>
            <a:r>
              <a:rPr sz="1600" spc="33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ROLAP</a:t>
            </a:r>
            <a:endParaRPr sz="1600">
              <a:latin typeface="Verdana"/>
              <a:cs typeface="Verdana"/>
            </a:endParaRPr>
          </a:p>
          <a:p>
            <a:pPr marL="187325" algn="just">
              <a:lnSpc>
                <a:spcPct val="100000"/>
              </a:lnSpc>
            </a:pPr>
            <a:r>
              <a:rPr sz="1600" spc="-5" dirty="0">
                <a:latin typeface="Verdana"/>
                <a:cs typeface="Verdana"/>
              </a:rPr>
              <a:t>maps</a:t>
            </a:r>
            <a:r>
              <a:rPr sz="1600" spc="2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the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operations</a:t>
            </a:r>
            <a:r>
              <a:rPr sz="1600" spc="4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on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multidimensional</a:t>
            </a:r>
            <a:r>
              <a:rPr sz="1600" spc="8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data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to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standard</a:t>
            </a:r>
            <a:r>
              <a:rPr sz="1600" spc="3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relational</a:t>
            </a:r>
            <a:r>
              <a:rPr sz="1600" spc="4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operations.</a:t>
            </a:r>
            <a:endParaRPr sz="1600">
              <a:latin typeface="Verdana"/>
              <a:cs typeface="Verdana"/>
            </a:endParaRPr>
          </a:p>
          <a:p>
            <a:pPr marL="187325" marR="5080" indent="-172720" algn="just">
              <a:lnSpc>
                <a:spcPct val="100000"/>
              </a:lnSpc>
              <a:spcBef>
                <a:spcPts val="505"/>
              </a:spcBef>
              <a:buClr>
                <a:srgbClr val="006FAC"/>
              </a:buClr>
              <a:buFont typeface="Wingdings"/>
              <a:buChar char=""/>
              <a:tabLst>
                <a:tab pos="187960" algn="l"/>
              </a:tabLst>
            </a:pPr>
            <a:r>
              <a:rPr sz="1600" spc="-10" dirty="0">
                <a:latin typeface="Verdana"/>
                <a:cs typeface="Verdana"/>
              </a:rPr>
              <a:t>By</a:t>
            </a:r>
            <a:r>
              <a:rPr sz="1600" spc="-5" dirty="0">
                <a:latin typeface="Verdana"/>
                <a:cs typeface="Verdana"/>
              </a:rPr>
              <a:t> Multidimensional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OLAP</a:t>
            </a:r>
            <a:r>
              <a:rPr sz="1600" spc="-5" dirty="0">
                <a:latin typeface="Verdana"/>
                <a:cs typeface="Verdana"/>
              </a:rPr>
              <a:t> (MOLAP)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model,</a:t>
            </a:r>
            <a:r>
              <a:rPr sz="1600" dirty="0">
                <a:latin typeface="Verdana"/>
                <a:cs typeface="Verdana"/>
              </a:rPr>
              <a:t> which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directly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implements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the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multidimensional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data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and 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operations.</a:t>
            </a:r>
            <a:endParaRPr sz="1600">
              <a:latin typeface="Verdana"/>
              <a:cs typeface="Verdana"/>
            </a:endParaRPr>
          </a:p>
          <a:p>
            <a:pPr marL="12700" marR="6985" algn="just">
              <a:lnSpc>
                <a:spcPct val="100000"/>
              </a:lnSpc>
              <a:spcBef>
                <a:spcPts val="500"/>
              </a:spcBef>
            </a:pPr>
            <a:r>
              <a:rPr sz="1800" b="1" dirty="0">
                <a:latin typeface="Verdana"/>
                <a:cs typeface="Verdana"/>
              </a:rPr>
              <a:t>Top </a:t>
            </a:r>
            <a:r>
              <a:rPr sz="1800" b="1" spc="-5" dirty="0">
                <a:latin typeface="Verdana"/>
                <a:cs typeface="Verdana"/>
              </a:rPr>
              <a:t>Tier </a:t>
            </a:r>
            <a:r>
              <a:rPr sz="1800" dirty="0">
                <a:latin typeface="Verdana"/>
                <a:cs typeface="Verdana"/>
              </a:rPr>
              <a:t>− </a:t>
            </a:r>
            <a:r>
              <a:rPr sz="1800" spc="-5" dirty="0">
                <a:latin typeface="Verdana"/>
                <a:cs typeface="Verdana"/>
              </a:rPr>
              <a:t>This </a:t>
            </a:r>
            <a:r>
              <a:rPr sz="1800" dirty="0">
                <a:latin typeface="Verdana"/>
                <a:cs typeface="Verdana"/>
              </a:rPr>
              <a:t>tier </a:t>
            </a:r>
            <a:r>
              <a:rPr sz="1800" spc="5" dirty="0">
                <a:latin typeface="Verdana"/>
                <a:cs typeface="Verdana"/>
              </a:rPr>
              <a:t>is </a:t>
            </a:r>
            <a:r>
              <a:rPr sz="1800" dirty="0">
                <a:latin typeface="Verdana"/>
                <a:cs typeface="Verdana"/>
              </a:rPr>
              <a:t>the </a:t>
            </a:r>
            <a:r>
              <a:rPr sz="1800" spc="-5" dirty="0">
                <a:latin typeface="Verdana"/>
                <a:cs typeface="Verdana"/>
              </a:rPr>
              <a:t>front-end </a:t>
            </a:r>
            <a:r>
              <a:rPr sz="1800" dirty="0">
                <a:latin typeface="Verdana"/>
                <a:cs typeface="Verdana"/>
              </a:rPr>
              <a:t>client </a:t>
            </a:r>
            <a:r>
              <a:rPr sz="1800" spc="-50" dirty="0">
                <a:latin typeface="Verdana"/>
                <a:cs typeface="Verdana"/>
              </a:rPr>
              <a:t>layer. </a:t>
            </a:r>
            <a:r>
              <a:rPr sz="1800" spc="-5" dirty="0">
                <a:latin typeface="Verdana"/>
                <a:cs typeface="Verdana"/>
              </a:rPr>
              <a:t>This layer holds </a:t>
            </a:r>
            <a:r>
              <a:rPr sz="1800" dirty="0">
                <a:latin typeface="Verdana"/>
                <a:cs typeface="Verdana"/>
              </a:rPr>
              <a:t>the </a:t>
            </a:r>
            <a:r>
              <a:rPr sz="1800" spc="-5" dirty="0">
                <a:latin typeface="Verdana"/>
                <a:cs typeface="Verdana"/>
              </a:rPr>
              <a:t>query tools </a:t>
            </a:r>
            <a:r>
              <a:rPr sz="1800" dirty="0">
                <a:latin typeface="Verdana"/>
                <a:cs typeface="Verdana"/>
              </a:rPr>
              <a:t>and </a:t>
            </a:r>
            <a:r>
              <a:rPr sz="1800" spc="-5" dirty="0">
                <a:latin typeface="Verdana"/>
                <a:cs typeface="Verdana"/>
              </a:rPr>
              <a:t>reporting 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tools,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analysis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tools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 </a:t>
            </a:r>
            <a:r>
              <a:rPr sz="1800" dirty="0">
                <a:latin typeface="Verdana"/>
                <a:cs typeface="Verdana"/>
              </a:rPr>
              <a:t>mining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tools.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0094" y="157937"/>
            <a:ext cx="7542530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4" dirty="0"/>
              <a:t>DATA</a:t>
            </a:r>
            <a:r>
              <a:rPr spc="-15" dirty="0"/>
              <a:t> </a:t>
            </a:r>
            <a:r>
              <a:rPr spc="-10" dirty="0"/>
              <a:t>WAREHOUSING</a:t>
            </a:r>
            <a:r>
              <a:rPr spc="-4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5" dirty="0"/>
              <a:t>ETL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747" y="1842554"/>
            <a:ext cx="10044165" cy="44180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53509" y="2567762"/>
            <a:ext cx="27063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Verdana"/>
                <a:cs typeface="Verdana"/>
              </a:rPr>
              <a:t>ETL</a:t>
            </a:r>
            <a:r>
              <a:rPr sz="2800" b="1" spc="-55" dirty="0">
                <a:latin typeface="Verdana"/>
                <a:cs typeface="Verdana"/>
              </a:rPr>
              <a:t> </a:t>
            </a:r>
            <a:r>
              <a:rPr sz="2800" b="1" spc="-5" dirty="0">
                <a:latin typeface="Verdana"/>
                <a:cs typeface="Verdana"/>
              </a:rPr>
              <a:t>PROCESS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4320" y="344170"/>
            <a:ext cx="8793480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ETL</a:t>
            </a:r>
            <a:r>
              <a:rPr spc="-30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spc="-70" dirty="0"/>
              <a:t>EXTRACT,</a:t>
            </a:r>
            <a:r>
              <a:rPr spc="-20" dirty="0"/>
              <a:t> </a:t>
            </a:r>
            <a:r>
              <a:rPr spc="-5" dirty="0"/>
              <a:t>TRANSFORM,</a:t>
            </a:r>
            <a:r>
              <a:rPr spc="-50" dirty="0"/>
              <a:t> </a:t>
            </a:r>
            <a:r>
              <a:rPr spc="-15" dirty="0"/>
              <a:t>LOAD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1174" y="1639061"/>
            <a:ext cx="11101070" cy="3890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Verdana"/>
                <a:cs typeface="Verdana"/>
              </a:rPr>
              <a:t>ETL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is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process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that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organizations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build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consolidated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stores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required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Business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intelligence.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550">
              <a:latin typeface="Verdana"/>
              <a:cs typeface="Verdana"/>
            </a:endParaRPr>
          </a:p>
          <a:p>
            <a:pPr marL="635" algn="ctr">
              <a:lnSpc>
                <a:spcPct val="100000"/>
              </a:lnSpc>
            </a:pPr>
            <a:r>
              <a:rPr sz="1800" b="1" spc="-10" dirty="0">
                <a:latin typeface="Verdana"/>
                <a:cs typeface="Verdana"/>
              </a:rPr>
              <a:t>Extract</a:t>
            </a:r>
            <a:endParaRPr sz="1800">
              <a:latin typeface="Verdana"/>
              <a:cs typeface="Verdana"/>
            </a:endParaRPr>
          </a:p>
          <a:p>
            <a:pPr marL="286385" marR="276225" algn="ctr">
              <a:lnSpc>
                <a:spcPct val="100000"/>
              </a:lnSpc>
              <a:spcBef>
                <a:spcPts val="505"/>
              </a:spcBef>
            </a:pPr>
            <a:r>
              <a:rPr sz="1800" spc="-10" dirty="0">
                <a:latin typeface="Verdana"/>
                <a:cs typeface="Verdana"/>
              </a:rPr>
              <a:t>Extract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from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heterogeneous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source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systems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(relational </a:t>
            </a:r>
            <a:r>
              <a:rPr sz="1800" dirty="0">
                <a:latin typeface="Verdana"/>
                <a:cs typeface="Verdana"/>
              </a:rPr>
              <a:t>,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non-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relational,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flat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files)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prepare</a:t>
            </a:r>
            <a:r>
              <a:rPr sz="1800" dirty="0">
                <a:latin typeface="Verdana"/>
                <a:cs typeface="Verdana"/>
              </a:rPr>
              <a:t> for </a:t>
            </a:r>
            <a:r>
              <a:rPr sz="1800" spc="-5" dirty="0">
                <a:latin typeface="Verdana"/>
                <a:cs typeface="Verdana"/>
              </a:rPr>
              <a:t>transformation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 </a:t>
            </a:r>
            <a:r>
              <a:rPr sz="1800" spc="-5" dirty="0">
                <a:latin typeface="Verdana"/>
                <a:cs typeface="Verdana"/>
              </a:rPr>
              <a:t>change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600">
              <a:latin typeface="Verdana"/>
              <a:cs typeface="Verdana"/>
            </a:endParaRPr>
          </a:p>
          <a:p>
            <a:pPr marL="635" algn="ctr">
              <a:lnSpc>
                <a:spcPct val="100000"/>
              </a:lnSpc>
            </a:pPr>
            <a:r>
              <a:rPr sz="1800" b="1" dirty="0">
                <a:latin typeface="Verdana"/>
                <a:cs typeface="Verdana"/>
              </a:rPr>
              <a:t>Transform</a:t>
            </a:r>
            <a:endParaRPr sz="18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505"/>
              </a:spcBef>
            </a:pPr>
            <a:r>
              <a:rPr sz="1800" spc="-5" dirty="0">
                <a:latin typeface="Verdana"/>
                <a:cs typeface="Verdana"/>
              </a:rPr>
              <a:t>Change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/ conform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source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meet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business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requirements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550">
              <a:latin typeface="Verdana"/>
              <a:cs typeface="Verdana"/>
            </a:endParaRPr>
          </a:p>
          <a:p>
            <a:pPr marL="78105" algn="ctr">
              <a:lnSpc>
                <a:spcPct val="100000"/>
              </a:lnSpc>
            </a:pPr>
            <a:r>
              <a:rPr sz="1800" b="1" spc="-5" dirty="0">
                <a:latin typeface="Verdana"/>
                <a:cs typeface="Verdana"/>
              </a:rPr>
              <a:t>Load</a:t>
            </a:r>
            <a:endParaRPr sz="1800">
              <a:latin typeface="Verdana"/>
              <a:cs typeface="Verdana"/>
            </a:endParaRPr>
          </a:p>
          <a:p>
            <a:pPr marL="701675" algn="ctr">
              <a:lnSpc>
                <a:spcPct val="100000"/>
              </a:lnSpc>
              <a:spcBef>
                <a:spcPts val="505"/>
              </a:spcBef>
            </a:pPr>
            <a:r>
              <a:rPr sz="1800" dirty="0">
                <a:latin typeface="Verdana"/>
                <a:cs typeface="Verdana"/>
              </a:rPr>
              <a:t>Load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 </a:t>
            </a:r>
            <a:r>
              <a:rPr sz="1800" dirty="0">
                <a:latin typeface="Verdana"/>
                <a:cs typeface="Verdana"/>
              </a:rPr>
              <a:t>into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target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 </a:t>
            </a:r>
            <a:r>
              <a:rPr sz="1800" dirty="0">
                <a:latin typeface="Verdana"/>
                <a:cs typeface="Verdana"/>
              </a:rPr>
              <a:t>marts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reporting</a:t>
            </a:r>
            <a:r>
              <a:rPr sz="1800" spc="-5" dirty="0">
                <a:latin typeface="Verdana"/>
                <a:cs typeface="Verdana"/>
              </a:rPr>
              <a:t> purposes.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081" y="172338"/>
            <a:ext cx="336994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ETL</a:t>
            </a:r>
            <a:r>
              <a:rPr spc="-80" dirty="0"/>
              <a:t> </a:t>
            </a:r>
            <a:r>
              <a:rPr spc="-10" dirty="0"/>
              <a:t>PROCESS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5435" y="1191767"/>
            <a:ext cx="7048500" cy="52669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2204" y="131445"/>
            <a:ext cx="4643120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DATA</a:t>
            </a:r>
            <a:r>
              <a:rPr spc="-45" dirty="0"/>
              <a:t> </a:t>
            </a:r>
            <a:r>
              <a:rPr spc="-10" dirty="0"/>
              <a:t>EXTRACTION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8695" y="1543811"/>
            <a:ext cx="9081516" cy="43022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4100" y="178384"/>
            <a:ext cx="4647565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4" dirty="0"/>
              <a:t>DATA</a:t>
            </a:r>
            <a:r>
              <a:rPr spc="-50" dirty="0"/>
              <a:t> </a:t>
            </a:r>
            <a:r>
              <a:rPr spc="-5" dirty="0"/>
              <a:t>EXTRACTION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4100" y="1544523"/>
            <a:ext cx="10087610" cy="3847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A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staging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area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required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during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ETL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load.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There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various reasons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why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staging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area</a:t>
            </a:r>
            <a:endParaRPr sz="1800">
              <a:latin typeface="Verdana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800" spc="5" dirty="0">
                <a:latin typeface="Verdana"/>
                <a:cs typeface="Verdana"/>
              </a:rPr>
              <a:t>is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required.</a:t>
            </a:r>
            <a:endParaRPr sz="1800">
              <a:latin typeface="Verdana"/>
              <a:cs typeface="Verdana"/>
            </a:endParaRPr>
          </a:p>
          <a:p>
            <a:pPr marL="12700" marR="5080" algn="just">
              <a:lnSpc>
                <a:spcPct val="100000"/>
              </a:lnSpc>
              <a:spcBef>
                <a:spcPts val="500"/>
              </a:spcBef>
            </a:pPr>
            <a:r>
              <a:rPr sz="1800" spc="-5" dirty="0">
                <a:latin typeface="Verdana"/>
                <a:cs typeface="Verdana"/>
              </a:rPr>
              <a:t>The </a:t>
            </a:r>
            <a:r>
              <a:rPr sz="1800" dirty="0">
                <a:latin typeface="Verdana"/>
                <a:cs typeface="Verdana"/>
              </a:rPr>
              <a:t>source </a:t>
            </a:r>
            <a:r>
              <a:rPr sz="1800" spc="-5" dirty="0">
                <a:latin typeface="Verdana"/>
                <a:cs typeface="Verdana"/>
              </a:rPr>
              <a:t>systems </a:t>
            </a:r>
            <a:r>
              <a:rPr sz="1800" dirty="0">
                <a:latin typeface="Verdana"/>
                <a:cs typeface="Verdana"/>
              </a:rPr>
              <a:t>are </a:t>
            </a:r>
            <a:r>
              <a:rPr sz="1800" spc="-5" dirty="0">
                <a:latin typeface="Verdana"/>
                <a:cs typeface="Verdana"/>
              </a:rPr>
              <a:t>only </a:t>
            </a:r>
            <a:r>
              <a:rPr sz="1800" spc="-10" dirty="0">
                <a:latin typeface="Verdana"/>
                <a:cs typeface="Verdana"/>
              </a:rPr>
              <a:t>available </a:t>
            </a:r>
            <a:r>
              <a:rPr sz="1800" dirty="0">
                <a:latin typeface="Verdana"/>
                <a:cs typeface="Verdana"/>
              </a:rPr>
              <a:t>for specific period </a:t>
            </a:r>
            <a:r>
              <a:rPr sz="1800" spc="-5" dirty="0">
                <a:latin typeface="Verdana"/>
                <a:cs typeface="Verdana"/>
              </a:rPr>
              <a:t>of </a:t>
            </a:r>
            <a:r>
              <a:rPr sz="1800" dirty="0">
                <a:latin typeface="Verdana"/>
                <a:cs typeface="Verdana"/>
              </a:rPr>
              <a:t>time </a:t>
            </a:r>
            <a:r>
              <a:rPr sz="1800" spc="-5" dirty="0">
                <a:latin typeface="Verdana"/>
                <a:cs typeface="Verdana"/>
              </a:rPr>
              <a:t>to </a:t>
            </a:r>
            <a:r>
              <a:rPr sz="1800" spc="-10" dirty="0">
                <a:latin typeface="Verdana"/>
                <a:cs typeface="Verdana"/>
              </a:rPr>
              <a:t>extract </a:t>
            </a:r>
            <a:r>
              <a:rPr sz="1800" dirty="0">
                <a:latin typeface="Verdana"/>
                <a:cs typeface="Verdana"/>
              </a:rPr>
              <a:t>data. </a:t>
            </a:r>
            <a:r>
              <a:rPr sz="1800" spc="-5" dirty="0">
                <a:latin typeface="Verdana"/>
                <a:cs typeface="Verdana"/>
              </a:rPr>
              <a:t>This 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period of </a:t>
            </a:r>
            <a:r>
              <a:rPr sz="1800" dirty="0">
                <a:latin typeface="Verdana"/>
                <a:cs typeface="Verdana"/>
              </a:rPr>
              <a:t>time </a:t>
            </a:r>
            <a:r>
              <a:rPr sz="1800" spc="5" dirty="0">
                <a:latin typeface="Verdana"/>
                <a:cs typeface="Verdana"/>
              </a:rPr>
              <a:t>is </a:t>
            </a:r>
            <a:r>
              <a:rPr sz="1800" spc="-5" dirty="0">
                <a:latin typeface="Verdana"/>
                <a:cs typeface="Verdana"/>
              </a:rPr>
              <a:t>less than the total data-load </a:t>
            </a:r>
            <a:r>
              <a:rPr sz="1800" dirty="0">
                <a:latin typeface="Verdana"/>
                <a:cs typeface="Verdana"/>
              </a:rPr>
              <a:t>time. </a:t>
            </a:r>
            <a:r>
              <a:rPr sz="1800" spc="-5" dirty="0">
                <a:latin typeface="Verdana"/>
                <a:cs typeface="Verdana"/>
              </a:rPr>
              <a:t>Therefore, staging area </a:t>
            </a:r>
            <a:r>
              <a:rPr sz="1800" dirty="0">
                <a:latin typeface="Verdana"/>
                <a:cs typeface="Verdana"/>
              </a:rPr>
              <a:t>allows </a:t>
            </a:r>
            <a:r>
              <a:rPr sz="1800" spc="-5" dirty="0">
                <a:latin typeface="Verdana"/>
                <a:cs typeface="Verdana"/>
              </a:rPr>
              <a:t>you 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 </a:t>
            </a:r>
            <a:r>
              <a:rPr sz="1800" spc="-10" dirty="0">
                <a:latin typeface="Verdana"/>
                <a:cs typeface="Verdana"/>
              </a:rPr>
              <a:t>extract </a:t>
            </a:r>
            <a:r>
              <a:rPr sz="1800" dirty="0">
                <a:latin typeface="Verdana"/>
                <a:cs typeface="Verdana"/>
              </a:rPr>
              <a:t>the </a:t>
            </a:r>
            <a:r>
              <a:rPr sz="1800" spc="-5" dirty="0">
                <a:latin typeface="Verdana"/>
                <a:cs typeface="Verdana"/>
              </a:rPr>
              <a:t>data </a:t>
            </a:r>
            <a:r>
              <a:rPr sz="1800" dirty="0">
                <a:latin typeface="Verdana"/>
                <a:cs typeface="Verdana"/>
              </a:rPr>
              <a:t>from </a:t>
            </a:r>
            <a:r>
              <a:rPr sz="1800" spc="-5" dirty="0">
                <a:latin typeface="Verdana"/>
                <a:cs typeface="Verdana"/>
              </a:rPr>
              <a:t>the source system </a:t>
            </a:r>
            <a:r>
              <a:rPr sz="1800" dirty="0">
                <a:latin typeface="Verdana"/>
                <a:cs typeface="Verdana"/>
              </a:rPr>
              <a:t>and </a:t>
            </a:r>
            <a:r>
              <a:rPr sz="1800" spc="-5" dirty="0">
                <a:latin typeface="Verdana"/>
                <a:cs typeface="Verdana"/>
              </a:rPr>
              <a:t>keeps </a:t>
            </a:r>
            <a:r>
              <a:rPr sz="1800" spc="10" dirty="0">
                <a:latin typeface="Verdana"/>
                <a:cs typeface="Verdana"/>
              </a:rPr>
              <a:t>it </a:t>
            </a:r>
            <a:r>
              <a:rPr sz="1800" dirty="0">
                <a:latin typeface="Verdana"/>
                <a:cs typeface="Verdana"/>
              </a:rPr>
              <a:t>in </a:t>
            </a:r>
            <a:r>
              <a:rPr sz="1800" spc="-5" dirty="0">
                <a:latin typeface="Verdana"/>
                <a:cs typeface="Verdana"/>
              </a:rPr>
              <a:t>the staging area before the </a:t>
            </a:r>
            <a:r>
              <a:rPr sz="1800" dirty="0">
                <a:latin typeface="Verdana"/>
                <a:cs typeface="Verdana"/>
              </a:rPr>
              <a:t> time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slot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ends.</a:t>
            </a:r>
            <a:endParaRPr sz="1800">
              <a:latin typeface="Verdana"/>
              <a:cs typeface="Verdana"/>
            </a:endParaRPr>
          </a:p>
          <a:p>
            <a:pPr marL="12700" marR="5080" algn="just">
              <a:lnSpc>
                <a:spcPct val="100000"/>
              </a:lnSpc>
              <a:spcBef>
                <a:spcPts val="495"/>
              </a:spcBef>
            </a:pPr>
            <a:r>
              <a:rPr sz="1800" dirty="0">
                <a:latin typeface="Verdana"/>
                <a:cs typeface="Verdana"/>
              </a:rPr>
              <a:t>Staging </a:t>
            </a:r>
            <a:r>
              <a:rPr sz="1800" spc="-5" dirty="0">
                <a:latin typeface="Verdana"/>
                <a:cs typeface="Verdana"/>
              </a:rPr>
              <a:t>area </a:t>
            </a:r>
            <a:r>
              <a:rPr sz="1800" spc="5" dirty="0">
                <a:latin typeface="Verdana"/>
                <a:cs typeface="Verdana"/>
              </a:rPr>
              <a:t>is </a:t>
            </a:r>
            <a:r>
              <a:rPr sz="1800" spc="-5" dirty="0">
                <a:latin typeface="Verdana"/>
                <a:cs typeface="Verdana"/>
              </a:rPr>
              <a:t>required when you </a:t>
            </a:r>
            <a:r>
              <a:rPr sz="1800" spc="-10" dirty="0">
                <a:latin typeface="Verdana"/>
                <a:cs typeface="Verdana"/>
              </a:rPr>
              <a:t>want </a:t>
            </a:r>
            <a:r>
              <a:rPr sz="1800" spc="-5" dirty="0">
                <a:latin typeface="Verdana"/>
                <a:cs typeface="Verdana"/>
              </a:rPr>
              <a:t>to </a:t>
            </a:r>
            <a:r>
              <a:rPr sz="1800" dirty="0">
                <a:latin typeface="Verdana"/>
                <a:cs typeface="Verdana"/>
              </a:rPr>
              <a:t>get </a:t>
            </a:r>
            <a:r>
              <a:rPr sz="1800" spc="-5" dirty="0">
                <a:latin typeface="Verdana"/>
                <a:cs typeface="Verdana"/>
              </a:rPr>
              <a:t>the data </a:t>
            </a:r>
            <a:r>
              <a:rPr sz="1800" dirty="0">
                <a:latin typeface="Verdana"/>
                <a:cs typeface="Verdana"/>
              </a:rPr>
              <a:t>from multiple </a:t>
            </a:r>
            <a:r>
              <a:rPr sz="1800" spc="-5" dirty="0">
                <a:latin typeface="Verdana"/>
                <a:cs typeface="Verdana"/>
              </a:rPr>
              <a:t>data sources 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together or </a:t>
            </a:r>
            <a:r>
              <a:rPr sz="1800" spc="5" dirty="0">
                <a:latin typeface="Verdana"/>
                <a:cs typeface="Verdana"/>
              </a:rPr>
              <a:t>if </a:t>
            </a:r>
            <a:r>
              <a:rPr sz="1800" spc="-5" dirty="0">
                <a:latin typeface="Verdana"/>
                <a:cs typeface="Verdana"/>
              </a:rPr>
              <a:t>you </a:t>
            </a:r>
            <a:r>
              <a:rPr sz="1800" spc="-10" dirty="0">
                <a:latin typeface="Verdana"/>
                <a:cs typeface="Verdana"/>
              </a:rPr>
              <a:t>want </a:t>
            </a:r>
            <a:r>
              <a:rPr sz="1800" spc="5" dirty="0">
                <a:latin typeface="Verdana"/>
                <a:cs typeface="Verdana"/>
              </a:rPr>
              <a:t>to </a:t>
            </a:r>
            <a:r>
              <a:rPr sz="1800" dirty="0">
                <a:latin typeface="Verdana"/>
                <a:cs typeface="Verdana"/>
              </a:rPr>
              <a:t>join </a:t>
            </a:r>
            <a:r>
              <a:rPr sz="1800" spc="-5" dirty="0">
                <a:latin typeface="Verdana"/>
                <a:cs typeface="Verdana"/>
              </a:rPr>
              <a:t>two or </a:t>
            </a:r>
            <a:r>
              <a:rPr sz="1800" dirty="0">
                <a:latin typeface="Verdana"/>
                <a:cs typeface="Verdana"/>
              </a:rPr>
              <a:t>more systems </a:t>
            </a:r>
            <a:r>
              <a:rPr sz="1800" spc="-35" dirty="0">
                <a:latin typeface="Verdana"/>
                <a:cs typeface="Verdana"/>
              </a:rPr>
              <a:t>together.</a:t>
            </a:r>
            <a:r>
              <a:rPr sz="1800" spc="5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Data </a:t>
            </a:r>
            <a:r>
              <a:rPr sz="1800" spc="-5" dirty="0">
                <a:latin typeface="Verdana"/>
                <a:cs typeface="Verdana"/>
              </a:rPr>
              <a:t>extractions </a:t>
            </a:r>
            <a:r>
              <a:rPr sz="1800" dirty="0">
                <a:latin typeface="Verdana"/>
                <a:cs typeface="Verdana"/>
              </a:rPr>
              <a:t>time 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slot for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different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systems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vary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as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per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time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zone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5" dirty="0">
                <a:latin typeface="Verdana"/>
                <a:cs typeface="Verdana"/>
              </a:rPr>
              <a:t> operational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hours.</a:t>
            </a:r>
            <a:endParaRPr sz="1800">
              <a:latin typeface="Verdana"/>
              <a:cs typeface="Verdana"/>
            </a:endParaRPr>
          </a:p>
          <a:p>
            <a:pPr marL="12700" marR="5715" algn="just">
              <a:lnSpc>
                <a:spcPct val="100000"/>
              </a:lnSpc>
              <a:spcBef>
                <a:spcPts val="509"/>
              </a:spcBef>
            </a:pPr>
            <a:r>
              <a:rPr sz="1800" dirty="0">
                <a:latin typeface="Verdana"/>
                <a:cs typeface="Verdana"/>
              </a:rPr>
              <a:t>Data </a:t>
            </a:r>
            <a:r>
              <a:rPr sz="1800" spc="-10" dirty="0">
                <a:latin typeface="Verdana"/>
                <a:cs typeface="Verdana"/>
              </a:rPr>
              <a:t>extracted </a:t>
            </a:r>
            <a:r>
              <a:rPr sz="1800" dirty="0">
                <a:latin typeface="Verdana"/>
                <a:cs typeface="Verdana"/>
              </a:rPr>
              <a:t>from source systems can </a:t>
            </a:r>
            <a:r>
              <a:rPr sz="1800" spc="-5" dirty="0">
                <a:latin typeface="Verdana"/>
                <a:cs typeface="Verdana"/>
              </a:rPr>
              <a:t>be </a:t>
            </a:r>
            <a:r>
              <a:rPr sz="1800" dirty="0">
                <a:latin typeface="Verdana"/>
                <a:cs typeface="Verdana"/>
              </a:rPr>
              <a:t>used </a:t>
            </a:r>
            <a:r>
              <a:rPr sz="1800" spc="5" dirty="0">
                <a:latin typeface="Verdana"/>
                <a:cs typeface="Verdana"/>
              </a:rPr>
              <a:t>in </a:t>
            </a:r>
            <a:r>
              <a:rPr sz="1800" dirty="0">
                <a:latin typeface="Verdana"/>
                <a:cs typeface="Verdana"/>
              </a:rPr>
              <a:t>multiple </a:t>
            </a:r>
            <a:r>
              <a:rPr sz="1800" spc="-5" dirty="0">
                <a:latin typeface="Verdana"/>
                <a:cs typeface="Verdana"/>
              </a:rPr>
              <a:t>data warehouse </a:t>
            </a:r>
            <a:r>
              <a:rPr sz="1800" dirty="0">
                <a:latin typeface="Verdana"/>
                <a:cs typeface="Verdana"/>
              </a:rPr>
              <a:t>system, 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Operation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Data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stores,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etc.</a:t>
            </a:r>
            <a:endParaRPr sz="1800">
              <a:latin typeface="Verdana"/>
              <a:cs typeface="Verdana"/>
            </a:endParaRPr>
          </a:p>
          <a:p>
            <a:pPr marL="12700" marR="5715" algn="just">
              <a:lnSpc>
                <a:spcPct val="100000"/>
              </a:lnSpc>
              <a:spcBef>
                <a:spcPts val="500"/>
              </a:spcBef>
            </a:pPr>
            <a:r>
              <a:rPr sz="1800" spc="-5" dirty="0">
                <a:latin typeface="Verdana"/>
                <a:cs typeface="Verdana"/>
              </a:rPr>
              <a:t>ETL</a:t>
            </a:r>
            <a:r>
              <a:rPr sz="1800" spc="2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allows</a:t>
            </a:r>
            <a:r>
              <a:rPr sz="1800" spc="229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you</a:t>
            </a:r>
            <a:r>
              <a:rPr sz="1800" spc="24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spc="24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perform</a:t>
            </a:r>
            <a:r>
              <a:rPr sz="1800" spc="25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complex</a:t>
            </a:r>
            <a:r>
              <a:rPr sz="1800" spc="24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transformations</a:t>
            </a:r>
            <a:r>
              <a:rPr sz="1800" spc="2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2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requires</a:t>
            </a:r>
            <a:r>
              <a:rPr sz="1800" spc="2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extra</a:t>
            </a:r>
            <a:r>
              <a:rPr sz="1800" spc="2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area</a:t>
            </a:r>
            <a:r>
              <a:rPr sz="1800" spc="24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spc="2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store </a:t>
            </a:r>
            <a:r>
              <a:rPr sz="1800" spc="-6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913" y="299084"/>
            <a:ext cx="6068060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DATA</a:t>
            </a:r>
            <a:r>
              <a:rPr spc="-45" dirty="0"/>
              <a:t> </a:t>
            </a:r>
            <a:r>
              <a:rPr spc="-20" dirty="0"/>
              <a:t>TRANSFORMATION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1913" y="1730121"/>
            <a:ext cx="10013315" cy="2621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87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In </a:t>
            </a:r>
            <a:r>
              <a:rPr sz="1800" spc="-5" dirty="0">
                <a:latin typeface="Verdana"/>
                <a:cs typeface="Verdana"/>
              </a:rPr>
              <a:t>data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transformation,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you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apply</a:t>
            </a:r>
            <a:r>
              <a:rPr sz="1800" dirty="0">
                <a:latin typeface="Verdana"/>
                <a:cs typeface="Verdana"/>
              </a:rPr>
              <a:t> a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 functions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</a:t>
            </a:r>
            <a:r>
              <a:rPr sz="1800" spc="-10" dirty="0">
                <a:latin typeface="Verdana"/>
                <a:cs typeface="Verdana"/>
              </a:rPr>
              <a:t> extracted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dirty="0">
                <a:latin typeface="Verdana"/>
                <a:cs typeface="Verdana"/>
              </a:rPr>
              <a:t> load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into 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target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system.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Data,</a:t>
            </a:r>
            <a:r>
              <a:rPr sz="1800" dirty="0">
                <a:latin typeface="Verdana"/>
                <a:cs typeface="Verdana"/>
              </a:rPr>
              <a:t> which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does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not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require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any </a:t>
            </a:r>
            <a:r>
              <a:rPr sz="1800" spc="-5" dirty="0">
                <a:latin typeface="Verdana"/>
                <a:cs typeface="Verdana"/>
              </a:rPr>
              <a:t>transformation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known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as </a:t>
            </a:r>
            <a:r>
              <a:rPr sz="1800" spc="-5" dirty="0">
                <a:latin typeface="Verdana"/>
                <a:cs typeface="Verdana"/>
              </a:rPr>
              <a:t>direct </a:t>
            </a:r>
            <a:r>
              <a:rPr sz="1800" spc="-6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move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or </a:t>
            </a:r>
            <a:r>
              <a:rPr sz="1800" spc="-5" dirty="0">
                <a:latin typeface="Verdana"/>
                <a:cs typeface="Verdana"/>
              </a:rPr>
              <a:t>pass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through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data.</a:t>
            </a:r>
            <a:endParaRPr sz="18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505"/>
              </a:spcBef>
            </a:pPr>
            <a:r>
              <a:rPr sz="1800" spc="-45" dirty="0">
                <a:latin typeface="Verdana"/>
                <a:cs typeface="Verdana"/>
              </a:rPr>
              <a:t>You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can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apply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different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transformations </a:t>
            </a:r>
            <a:r>
              <a:rPr sz="1800" dirty="0">
                <a:latin typeface="Verdana"/>
                <a:cs typeface="Verdana"/>
              </a:rPr>
              <a:t>on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extracted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from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source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system.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For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example, you </a:t>
            </a:r>
            <a:r>
              <a:rPr sz="1800" dirty="0">
                <a:latin typeface="Verdana"/>
                <a:cs typeface="Verdana"/>
              </a:rPr>
              <a:t>can </a:t>
            </a:r>
            <a:r>
              <a:rPr sz="1800" spc="-5" dirty="0">
                <a:latin typeface="Verdana"/>
                <a:cs typeface="Verdana"/>
              </a:rPr>
              <a:t>perform </a:t>
            </a:r>
            <a:r>
              <a:rPr sz="1800" dirty="0">
                <a:latin typeface="Verdana"/>
                <a:cs typeface="Verdana"/>
              </a:rPr>
              <a:t>customized calculations. If </a:t>
            </a:r>
            <a:r>
              <a:rPr sz="1800" spc="-5" dirty="0">
                <a:latin typeface="Verdana"/>
                <a:cs typeface="Verdana"/>
              </a:rPr>
              <a:t>you want sum-of-sales revenue </a:t>
            </a:r>
            <a:r>
              <a:rPr sz="1800" dirty="0">
                <a:latin typeface="Verdana"/>
                <a:cs typeface="Verdana"/>
              </a:rPr>
              <a:t> and this is not in </a:t>
            </a:r>
            <a:r>
              <a:rPr sz="1800" spc="-5" dirty="0">
                <a:latin typeface="Verdana"/>
                <a:cs typeface="Verdana"/>
              </a:rPr>
              <a:t>database, you can apply the </a:t>
            </a:r>
            <a:r>
              <a:rPr sz="1800" dirty="0">
                <a:latin typeface="Verdana"/>
                <a:cs typeface="Verdana"/>
              </a:rPr>
              <a:t>SUM formula during </a:t>
            </a:r>
            <a:r>
              <a:rPr sz="1800" spc="-5" dirty="0">
                <a:latin typeface="Verdana"/>
                <a:cs typeface="Verdana"/>
              </a:rPr>
              <a:t>transformation </a:t>
            </a:r>
            <a:r>
              <a:rPr sz="1800" dirty="0">
                <a:latin typeface="Verdana"/>
                <a:cs typeface="Verdana"/>
              </a:rPr>
              <a:t>and </a:t>
            </a:r>
            <a:r>
              <a:rPr sz="1800" spc="-6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load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data.</a:t>
            </a:r>
            <a:endParaRPr sz="1800">
              <a:latin typeface="Verdana"/>
              <a:cs typeface="Verdana"/>
            </a:endParaRPr>
          </a:p>
          <a:p>
            <a:pPr marL="12700" marR="772160">
              <a:lnSpc>
                <a:spcPct val="100000"/>
              </a:lnSpc>
              <a:spcBef>
                <a:spcPts val="495"/>
              </a:spcBef>
            </a:pPr>
            <a:r>
              <a:rPr sz="1800" spc="-20" dirty="0">
                <a:latin typeface="Verdana"/>
                <a:cs typeface="Verdana"/>
              </a:rPr>
              <a:t>For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example,</a:t>
            </a:r>
            <a:r>
              <a:rPr sz="1800" spc="5" dirty="0">
                <a:latin typeface="Verdana"/>
                <a:cs typeface="Verdana"/>
              </a:rPr>
              <a:t> if </a:t>
            </a:r>
            <a:r>
              <a:rPr sz="1800" spc="-5" dirty="0">
                <a:latin typeface="Verdana"/>
                <a:cs typeface="Verdana"/>
              </a:rPr>
              <a:t>you</a:t>
            </a:r>
            <a:r>
              <a:rPr sz="1800" spc="-10" dirty="0">
                <a:latin typeface="Verdana"/>
                <a:cs typeface="Verdana"/>
              </a:rPr>
              <a:t> have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first name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last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name </a:t>
            </a:r>
            <a:r>
              <a:rPr sz="1800" spc="5" dirty="0">
                <a:latin typeface="Verdana"/>
                <a:cs typeface="Verdana"/>
              </a:rPr>
              <a:t>in</a:t>
            </a:r>
            <a:r>
              <a:rPr sz="1800" dirty="0">
                <a:latin typeface="Verdana"/>
                <a:cs typeface="Verdana"/>
              </a:rPr>
              <a:t> a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table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different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columns,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you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can use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concatenate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before</a:t>
            </a:r>
            <a:r>
              <a:rPr sz="1800" dirty="0">
                <a:latin typeface="Verdana"/>
                <a:cs typeface="Verdana"/>
              </a:rPr>
              <a:t> loading.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999" y="344170"/>
            <a:ext cx="3752850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DATA</a:t>
            </a:r>
            <a:r>
              <a:rPr spc="-80" dirty="0"/>
              <a:t> </a:t>
            </a:r>
            <a:r>
              <a:rPr spc="-10" dirty="0"/>
              <a:t>LOADING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9999" y="1624076"/>
            <a:ext cx="11369675" cy="1186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dirty="0">
                <a:latin typeface="Verdana"/>
                <a:cs typeface="Verdana"/>
              </a:rPr>
              <a:t> final </a:t>
            </a:r>
            <a:r>
              <a:rPr sz="1800" spc="-5" dirty="0">
                <a:latin typeface="Verdana"/>
                <a:cs typeface="Verdana"/>
              </a:rPr>
              <a:t>ETL</a:t>
            </a:r>
            <a:r>
              <a:rPr sz="1800" dirty="0">
                <a:latin typeface="Verdana"/>
                <a:cs typeface="Verdana"/>
              </a:rPr>
              <a:t> step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involves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loading </a:t>
            </a:r>
            <a:r>
              <a:rPr sz="1800" spc="-5" dirty="0">
                <a:latin typeface="Verdana"/>
                <a:cs typeface="Verdana"/>
              </a:rPr>
              <a:t>the transformed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into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destination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target,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which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might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be</a:t>
            </a:r>
            <a:r>
              <a:rPr sz="1800" dirty="0">
                <a:latin typeface="Verdana"/>
                <a:cs typeface="Verdana"/>
              </a:rPr>
              <a:t> a </a:t>
            </a:r>
            <a:r>
              <a:rPr sz="1800" spc="-5" dirty="0">
                <a:latin typeface="Verdana"/>
                <a:cs typeface="Verdana"/>
              </a:rPr>
              <a:t>database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or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warehouse.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5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dirty="0">
                <a:latin typeface="Verdana"/>
                <a:cs typeface="Verdana"/>
              </a:rPr>
              <a:t>During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Load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phase,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</a:t>
            </a:r>
            <a:r>
              <a:rPr sz="1800" dirty="0">
                <a:latin typeface="Verdana"/>
                <a:cs typeface="Verdana"/>
              </a:rPr>
              <a:t> is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loaded</a:t>
            </a:r>
            <a:r>
              <a:rPr sz="1800" dirty="0">
                <a:latin typeface="Verdana"/>
                <a:cs typeface="Verdana"/>
              </a:rPr>
              <a:t> into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end-target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system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it</a:t>
            </a:r>
            <a:r>
              <a:rPr sz="1800" dirty="0">
                <a:latin typeface="Verdana"/>
                <a:cs typeface="Verdana"/>
              </a:rPr>
              <a:t> can </a:t>
            </a:r>
            <a:r>
              <a:rPr sz="1800" spc="-5" dirty="0">
                <a:latin typeface="Verdana"/>
                <a:cs typeface="Verdana"/>
              </a:rPr>
              <a:t>be</a:t>
            </a:r>
            <a:r>
              <a:rPr sz="1800" dirty="0">
                <a:latin typeface="Verdana"/>
                <a:cs typeface="Verdana"/>
              </a:rPr>
              <a:t> a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flat </a:t>
            </a:r>
            <a:r>
              <a:rPr sz="1800" spc="5" dirty="0">
                <a:latin typeface="Verdana"/>
                <a:cs typeface="Verdana"/>
              </a:rPr>
              <a:t>file</a:t>
            </a:r>
            <a:r>
              <a:rPr sz="1800" dirty="0">
                <a:latin typeface="Verdana"/>
                <a:cs typeface="Verdana"/>
              </a:rPr>
              <a:t> or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 Data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spc="-15" dirty="0">
                <a:latin typeface="Verdana"/>
                <a:cs typeface="Verdana"/>
              </a:rPr>
              <a:t>Warehouse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system.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46605" y="1876170"/>
            <a:ext cx="9096375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365500" marR="5080" indent="-3353435">
              <a:lnSpc>
                <a:spcPts val="3020"/>
              </a:lnSpc>
              <a:spcBef>
                <a:spcPts val="480"/>
              </a:spcBef>
              <a:tabLst>
                <a:tab pos="3997960" algn="l"/>
              </a:tabLst>
            </a:pPr>
            <a:r>
              <a:rPr sz="2800" b="1" spc="-10" dirty="0">
                <a:latin typeface="Verdana"/>
                <a:cs typeface="Verdana"/>
              </a:rPr>
              <a:t>BODS</a:t>
            </a:r>
            <a:r>
              <a:rPr sz="2800" b="1" spc="35" dirty="0">
                <a:latin typeface="Verdana"/>
                <a:cs typeface="Verdana"/>
              </a:rPr>
              <a:t> </a:t>
            </a:r>
            <a:r>
              <a:rPr sz="2800" b="1" spc="-10" dirty="0">
                <a:latin typeface="Verdana"/>
                <a:cs typeface="Verdana"/>
              </a:rPr>
              <a:t>OVERVIEW</a:t>
            </a:r>
            <a:r>
              <a:rPr sz="2800" b="1" spc="45" dirty="0">
                <a:latin typeface="Verdana"/>
                <a:cs typeface="Verdana"/>
              </a:rPr>
              <a:t> </a:t>
            </a:r>
            <a:r>
              <a:rPr sz="2800" b="1" spc="-5" dirty="0">
                <a:latin typeface="Verdana"/>
                <a:cs typeface="Verdana"/>
              </a:rPr>
              <a:t>-	</a:t>
            </a:r>
            <a:r>
              <a:rPr sz="2800" b="1" spc="-10" dirty="0">
                <a:latin typeface="Verdana"/>
                <a:cs typeface="Verdana"/>
              </a:rPr>
              <a:t>ARCHITECTURE </a:t>
            </a:r>
            <a:r>
              <a:rPr sz="2800" b="1" spc="-5" dirty="0">
                <a:latin typeface="Verdana"/>
                <a:cs typeface="Verdana"/>
              </a:rPr>
              <a:t>/ TOOL &amp; </a:t>
            </a:r>
            <a:r>
              <a:rPr sz="2800" b="1" spc="-940" dirty="0">
                <a:latin typeface="Verdana"/>
                <a:cs typeface="Verdana"/>
              </a:rPr>
              <a:t> </a:t>
            </a:r>
            <a:r>
              <a:rPr sz="2800" b="1" spc="-10" dirty="0">
                <a:latin typeface="Verdana"/>
                <a:cs typeface="Verdana"/>
              </a:rPr>
              <a:t>FUNCTIONS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000" y="61036"/>
            <a:ext cx="7913370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4" dirty="0"/>
              <a:t>DATA</a:t>
            </a:r>
            <a:r>
              <a:rPr spc="-5" dirty="0"/>
              <a:t> SERVICES</a:t>
            </a:r>
            <a:r>
              <a:rPr spc="-25" dirty="0"/>
              <a:t> </a:t>
            </a:r>
            <a:r>
              <a:rPr spc="-5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756" y="1088272"/>
            <a:ext cx="10933175" cy="531211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130" y="27813"/>
            <a:ext cx="739330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DISTRIBUTED</a:t>
            </a:r>
            <a:r>
              <a:rPr spc="-45" dirty="0"/>
              <a:t> </a:t>
            </a:r>
            <a:r>
              <a:rPr spc="-5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7408" y="1120133"/>
            <a:ext cx="9995467" cy="563575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8703" y="231470"/>
            <a:ext cx="7393940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DISTRIBUTED</a:t>
            </a:r>
            <a:r>
              <a:rPr spc="-90" dirty="0"/>
              <a:t> </a:t>
            </a:r>
            <a:r>
              <a:rPr spc="-5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8703" y="1532890"/>
            <a:ext cx="10417810" cy="39738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Components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can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be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distributed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across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number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computers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best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support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traffic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connectivity</a:t>
            </a:r>
            <a:r>
              <a:rPr sz="1800" dirty="0">
                <a:latin typeface="Verdana"/>
                <a:cs typeface="Verdana"/>
              </a:rPr>
              <a:t> requirements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network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49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20" dirty="0">
                <a:latin typeface="Verdana"/>
                <a:cs typeface="Verdana"/>
              </a:rPr>
              <a:t>For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development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5" dirty="0">
                <a:latin typeface="Verdana"/>
                <a:cs typeface="Verdana"/>
              </a:rPr>
              <a:t> testing,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you </a:t>
            </a:r>
            <a:r>
              <a:rPr sz="1800" dirty="0">
                <a:latin typeface="Verdana"/>
                <a:cs typeface="Verdana"/>
              </a:rPr>
              <a:t>can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create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minimally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distributed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system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designed.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Verdana"/>
                <a:cs typeface="Verdana"/>
              </a:rPr>
              <a:t>developing</a:t>
            </a:r>
            <a:endParaRPr sz="1800">
              <a:latin typeface="Verdana"/>
              <a:cs typeface="Verdana"/>
            </a:endParaRPr>
          </a:p>
          <a:p>
            <a:pPr marL="12700" marR="200660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20" dirty="0">
                <a:latin typeface="Verdana"/>
                <a:cs typeface="Verdana"/>
              </a:rPr>
              <a:t>For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production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environment, design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highly </a:t>
            </a:r>
            <a:r>
              <a:rPr sz="1800" spc="-5" dirty="0">
                <a:latin typeface="Verdana"/>
                <a:cs typeface="Verdana"/>
              </a:rPr>
              <a:t>distributed</a:t>
            </a:r>
            <a:r>
              <a:rPr sz="1800" spc="3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system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that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can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scale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with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demands.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Rules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distribution:</a:t>
            </a:r>
            <a:endParaRPr sz="1800">
              <a:latin typeface="Verdana"/>
              <a:cs typeface="Verdana"/>
            </a:endParaRPr>
          </a:p>
          <a:p>
            <a:pPr marL="469900" marR="2174240" indent="-457200">
              <a:lnSpc>
                <a:spcPct val="100000"/>
              </a:lnSpc>
              <a:spcBef>
                <a:spcPts val="49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1800" spc="-5" dirty="0">
                <a:latin typeface="Verdana"/>
                <a:cs typeface="Verdana"/>
              </a:rPr>
              <a:t>Engine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processes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run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same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computer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as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Job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Server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that </a:t>
            </a:r>
            <a:r>
              <a:rPr sz="1800" spc="-6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spawns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them.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1800" spc="-5" dirty="0">
                <a:latin typeface="Verdana"/>
                <a:cs typeface="Verdana"/>
              </a:rPr>
              <a:t>Adapters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require</a:t>
            </a:r>
            <a:r>
              <a:rPr sz="1800" dirty="0">
                <a:latin typeface="Verdana"/>
                <a:cs typeface="Verdana"/>
              </a:rPr>
              <a:t> a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local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Job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Server.</a:t>
            </a:r>
            <a:endParaRPr sz="1800">
              <a:latin typeface="Verdana"/>
              <a:cs typeface="Verdana"/>
            </a:endParaRPr>
          </a:p>
          <a:p>
            <a:pPr marL="469900" marR="377825" indent="-457200" algn="just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469900" algn="l"/>
              </a:tabLst>
            </a:pPr>
            <a:r>
              <a:rPr sz="1800" spc="-5" dirty="0">
                <a:latin typeface="Verdana"/>
                <a:cs typeface="Verdana"/>
              </a:rPr>
              <a:t>Communication between 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30" dirty="0">
                <a:latin typeface="Verdana"/>
                <a:cs typeface="Verdana"/>
              </a:rPr>
              <a:t>Web </a:t>
            </a:r>
            <a:r>
              <a:rPr sz="1800" spc="-5" dirty="0">
                <a:latin typeface="Verdana"/>
                <a:cs typeface="Verdana"/>
              </a:rPr>
              <a:t>application, the Access </a:t>
            </a:r>
            <a:r>
              <a:rPr sz="1800" spc="-40" dirty="0">
                <a:latin typeface="Verdana"/>
                <a:cs typeface="Verdana"/>
              </a:rPr>
              <a:t>Server, </a:t>
            </a:r>
            <a:r>
              <a:rPr sz="1800" spc="-5" dirty="0">
                <a:latin typeface="Verdana"/>
                <a:cs typeface="Verdana"/>
              </a:rPr>
              <a:t>the </a:t>
            </a:r>
            <a:r>
              <a:rPr sz="1800" dirty="0">
                <a:latin typeface="Verdana"/>
                <a:cs typeface="Verdana"/>
              </a:rPr>
              <a:t>Job </a:t>
            </a:r>
            <a:r>
              <a:rPr sz="1800" spc="-40" dirty="0">
                <a:latin typeface="Verdana"/>
                <a:cs typeface="Verdana"/>
              </a:rPr>
              <a:t>Server, </a:t>
            </a:r>
            <a:r>
              <a:rPr sz="1800" dirty="0">
                <a:latin typeface="Verdana"/>
                <a:cs typeface="Verdana"/>
              </a:rPr>
              <a:t>and </a:t>
            </a:r>
            <a:r>
              <a:rPr sz="1800" spc="-6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real-time services </a:t>
            </a:r>
            <a:r>
              <a:rPr sz="1800" spc="-5" dirty="0">
                <a:latin typeface="Verdana"/>
                <a:cs typeface="Verdana"/>
              </a:rPr>
              <a:t>occurs through </a:t>
            </a:r>
            <a:r>
              <a:rPr sz="1800" spc="-10" dirty="0">
                <a:latin typeface="Verdana"/>
                <a:cs typeface="Verdana"/>
              </a:rPr>
              <a:t>TCP/IP </a:t>
            </a:r>
            <a:r>
              <a:rPr sz="1800" spc="-5" dirty="0">
                <a:latin typeface="Verdana"/>
                <a:cs typeface="Verdana"/>
              </a:rPr>
              <a:t>connections </a:t>
            </a:r>
            <a:r>
              <a:rPr sz="1800" dirty="0">
                <a:latin typeface="Verdana"/>
                <a:cs typeface="Verdana"/>
              </a:rPr>
              <a:t>specified </a:t>
            </a:r>
            <a:r>
              <a:rPr sz="1800" spc="-5" dirty="0">
                <a:latin typeface="Verdana"/>
                <a:cs typeface="Verdana"/>
              </a:rPr>
              <a:t>by </a:t>
            </a:r>
            <a:r>
              <a:rPr sz="1800" dirty="0">
                <a:latin typeface="Verdana"/>
                <a:cs typeface="Verdana"/>
              </a:rPr>
              <a:t>IP </a:t>
            </a:r>
            <a:r>
              <a:rPr sz="1800" spc="-5" dirty="0">
                <a:latin typeface="Verdana"/>
                <a:cs typeface="Verdana"/>
              </a:rPr>
              <a:t>addresses (or </a:t>
            </a:r>
            <a:r>
              <a:rPr sz="1800" spc="-6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host</a:t>
            </a:r>
            <a:r>
              <a:rPr sz="1800" spc="-5" dirty="0">
                <a:latin typeface="Verdana"/>
                <a:cs typeface="Verdana"/>
              </a:rPr>
              <a:t> names)</a:t>
            </a:r>
            <a:r>
              <a:rPr sz="1800" dirty="0">
                <a:latin typeface="Verdana"/>
                <a:cs typeface="Verdana"/>
              </a:rPr>
              <a:t> and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port numbers.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761" y="2028570"/>
            <a:ext cx="7140575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913255" marR="5080" indent="-1901189">
              <a:lnSpc>
                <a:spcPts val="3020"/>
              </a:lnSpc>
              <a:spcBef>
                <a:spcPts val="480"/>
              </a:spcBef>
            </a:pPr>
            <a:r>
              <a:rPr sz="2800" b="1" spc="-10" dirty="0">
                <a:latin typeface="Verdana"/>
                <a:cs typeface="Verdana"/>
              </a:rPr>
              <a:t>DATA</a:t>
            </a:r>
            <a:r>
              <a:rPr sz="2800" b="1" spc="10" dirty="0">
                <a:latin typeface="Verdana"/>
                <a:cs typeface="Verdana"/>
              </a:rPr>
              <a:t> </a:t>
            </a:r>
            <a:r>
              <a:rPr sz="2800" b="1" spc="-10" dirty="0">
                <a:latin typeface="Verdana"/>
                <a:cs typeface="Verdana"/>
              </a:rPr>
              <a:t>SERVICES</a:t>
            </a:r>
            <a:r>
              <a:rPr sz="2800" b="1" spc="-5" dirty="0">
                <a:latin typeface="Verdana"/>
                <a:cs typeface="Verdana"/>
              </a:rPr>
              <a:t> </a:t>
            </a:r>
            <a:r>
              <a:rPr sz="2800" b="1" spc="-10" dirty="0">
                <a:latin typeface="Verdana"/>
                <a:cs typeface="Verdana"/>
              </a:rPr>
              <a:t>COMPONENTS</a:t>
            </a:r>
            <a:r>
              <a:rPr sz="2800" b="1" spc="25" dirty="0">
                <a:latin typeface="Verdana"/>
                <a:cs typeface="Verdana"/>
              </a:rPr>
              <a:t> </a:t>
            </a:r>
            <a:r>
              <a:rPr sz="2800" b="1" spc="-10" dirty="0">
                <a:latin typeface="Verdana"/>
                <a:cs typeface="Verdana"/>
              </a:rPr>
              <a:t>AND </a:t>
            </a:r>
            <a:r>
              <a:rPr sz="2800" b="1" spc="-940" dirty="0">
                <a:latin typeface="Verdana"/>
                <a:cs typeface="Verdana"/>
              </a:rPr>
              <a:t> </a:t>
            </a:r>
            <a:r>
              <a:rPr sz="2800" b="1" spc="-10" dirty="0">
                <a:latin typeface="Verdana"/>
                <a:cs typeface="Verdana"/>
              </a:rPr>
              <a:t>RELATIONSHIPS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2348" y="0"/>
            <a:ext cx="6479540" cy="112712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 marR="5080">
              <a:lnSpc>
                <a:spcPts val="4110"/>
              </a:lnSpc>
              <a:spcBef>
                <a:spcPts val="615"/>
              </a:spcBef>
            </a:pPr>
            <a:r>
              <a:rPr spc="-114" dirty="0"/>
              <a:t>DATA</a:t>
            </a:r>
            <a:r>
              <a:rPr spc="-20" dirty="0"/>
              <a:t> </a:t>
            </a:r>
            <a:r>
              <a:rPr spc="-5" dirty="0"/>
              <a:t>SERVICES</a:t>
            </a:r>
            <a:r>
              <a:rPr spc="-45" dirty="0"/>
              <a:t> </a:t>
            </a:r>
            <a:r>
              <a:rPr spc="-5" dirty="0"/>
              <a:t>PRODUCT </a:t>
            </a:r>
            <a:r>
              <a:rPr spc="-1320" dirty="0"/>
              <a:t> </a:t>
            </a:r>
            <a:r>
              <a:rPr spc="-10" dirty="0"/>
              <a:t>COMPONENTS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773182"/>
            <a:ext cx="7847330" cy="239141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dirty="0">
                <a:latin typeface="Verdana"/>
                <a:cs typeface="Verdana"/>
              </a:rPr>
              <a:t> Data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Services </a:t>
            </a:r>
            <a:r>
              <a:rPr sz="1800" spc="-5" dirty="0">
                <a:latin typeface="Verdana"/>
                <a:cs typeface="Verdana"/>
              </a:rPr>
              <a:t>product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consists of </a:t>
            </a:r>
            <a:r>
              <a:rPr sz="1800" spc="-10" dirty="0">
                <a:latin typeface="Verdana"/>
                <a:cs typeface="Verdana"/>
              </a:rPr>
              <a:t>several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components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including</a:t>
            </a:r>
            <a:endParaRPr sz="1800">
              <a:latin typeface="Verdana"/>
              <a:cs typeface="Verdana"/>
            </a:endParaRPr>
          </a:p>
          <a:p>
            <a:pPr marL="194945" indent="-182880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5580" algn="l"/>
              </a:tabLst>
            </a:pPr>
            <a:r>
              <a:rPr sz="1800" spc="-5" dirty="0">
                <a:latin typeface="Verdana"/>
                <a:cs typeface="Verdana"/>
              </a:rPr>
              <a:t>Designer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49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dirty="0">
                <a:latin typeface="Verdana"/>
                <a:cs typeface="Verdana"/>
              </a:rPr>
              <a:t>Job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Server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5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Engine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10" dirty="0">
                <a:latin typeface="Verdana"/>
                <a:cs typeface="Verdana"/>
              </a:rPr>
              <a:t>Repository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49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Access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Server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Administrator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1052" y="318262"/>
            <a:ext cx="2616200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DESIGNER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1052" y="1531746"/>
            <a:ext cx="10065385" cy="308800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dirty="0">
                <a:latin typeface="Verdana"/>
                <a:cs typeface="Verdana"/>
              </a:rPr>
              <a:t> Designer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5" dirty="0">
                <a:latin typeface="Verdana"/>
                <a:cs typeface="Verdana"/>
              </a:rPr>
              <a:t>development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tool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with an</a:t>
            </a:r>
            <a:r>
              <a:rPr sz="1800" spc="-10" dirty="0">
                <a:latin typeface="Verdana"/>
                <a:cs typeface="Verdana"/>
              </a:rPr>
              <a:t> easy-to-use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graphical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user </a:t>
            </a:r>
            <a:r>
              <a:rPr sz="1800" spc="-5" dirty="0">
                <a:latin typeface="Verdana"/>
                <a:cs typeface="Verdana"/>
              </a:rPr>
              <a:t>interface.</a:t>
            </a:r>
            <a:endParaRPr sz="1800">
              <a:latin typeface="Verdana"/>
              <a:cs typeface="Verdana"/>
            </a:endParaRPr>
          </a:p>
          <a:p>
            <a:pPr marL="12700" marR="364490">
              <a:lnSpc>
                <a:spcPct val="100000"/>
              </a:lnSpc>
              <a:spcBef>
                <a:spcPts val="5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dirty="0">
                <a:latin typeface="Verdana"/>
                <a:cs typeface="Verdana"/>
              </a:rPr>
              <a:t>It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enables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developers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define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management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applications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that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consist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 </a:t>
            </a:r>
            <a:r>
              <a:rPr sz="1800" spc="-5" dirty="0">
                <a:latin typeface="Verdana"/>
                <a:cs typeface="Verdana"/>
              </a:rPr>
              <a:t>data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mappings,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transformations,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control logic.</a:t>
            </a:r>
            <a:endParaRPr sz="1800">
              <a:latin typeface="Verdana"/>
              <a:cs typeface="Verdana"/>
            </a:endParaRPr>
          </a:p>
          <a:p>
            <a:pPr marL="12700" marR="1035050">
              <a:lnSpc>
                <a:spcPct val="100000"/>
              </a:lnSpc>
              <a:spcBef>
                <a:spcPts val="49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dirty="0">
                <a:latin typeface="Verdana"/>
                <a:cs typeface="Verdana"/>
              </a:rPr>
              <a:t>Use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Designer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create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applications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containing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work</a:t>
            </a:r>
            <a:r>
              <a:rPr sz="1800" dirty="0">
                <a:latin typeface="Verdana"/>
                <a:cs typeface="Verdana"/>
              </a:rPr>
              <a:t> flows</a:t>
            </a:r>
            <a:r>
              <a:rPr sz="1800" spc="-5" dirty="0">
                <a:latin typeface="Verdana"/>
                <a:cs typeface="Verdana"/>
              </a:rPr>
              <a:t> (job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execution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definitions)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flows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(data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transformation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definitions).</a:t>
            </a:r>
            <a:endParaRPr sz="18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100" dirty="0">
                <a:latin typeface="Verdana"/>
                <a:cs typeface="Verdana"/>
              </a:rPr>
              <a:t>To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30" dirty="0">
                <a:latin typeface="Verdana"/>
                <a:cs typeface="Verdana"/>
              </a:rPr>
              <a:t>Designer,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create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objects,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then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drag,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drop,</a:t>
            </a:r>
            <a:r>
              <a:rPr sz="1800" dirty="0">
                <a:latin typeface="Verdana"/>
                <a:cs typeface="Verdana"/>
              </a:rPr>
              <a:t> and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configure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them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by</a:t>
            </a:r>
            <a:r>
              <a:rPr sz="1800" dirty="0">
                <a:latin typeface="Verdana"/>
                <a:cs typeface="Verdana"/>
              </a:rPr>
              <a:t> selecting </a:t>
            </a:r>
            <a:r>
              <a:rPr sz="1800" spc="-6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icons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 flow</a:t>
            </a:r>
            <a:r>
              <a:rPr sz="1800" spc="-10" dirty="0">
                <a:latin typeface="Verdana"/>
                <a:cs typeface="Verdana"/>
              </a:rPr>
              <a:t> diagrams,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table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layouts,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nested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workspace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pages.</a:t>
            </a:r>
            <a:endParaRPr sz="1800">
              <a:latin typeface="Verdana"/>
              <a:cs typeface="Verdana"/>
            </a:endParaRPr>
          </a:p>
          <a:p>
            <a:pPr marL="12700" marR="286385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objects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Designer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represent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metadata.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Designer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interface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allows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you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manage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metadata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stored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 a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repository. </a:t>
            </a:r>
            <a:r>
              <a:rPr sz="1800" dirty="0">
                <a:latin typeface="Verdana"/>
                <a:cs typeface="Verdana"/>
              </a:rPr>
              <a:t>From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30" dirty="0">
                <a:latin typeface="Verdana"/>
                <a:cs typeface="Verdana"/>
              </a:rPr>
              <a:t>Designer,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you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can</a:t>
            </a:r>
            <a:r>
              <a:rPr sz="1800" dirty="0">
                <a:latin typeface="Verdana"/>
                <a:cs typeface="Verdana"/>
              </a:rPr>
              <a:t> also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trigger 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Job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Server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dirty="0">
                <a:latin typeface="Verdana"/>
                <a:cs typeface="Verdana"/>
              </a:rPr>
              <a:t> run</a:t>
            </a:r>
            <a:r>
              <a:rPr sz="1800" spc="-5" dirty="0">
                <a:latin typeface="Verdana"/>
                <a:cs typeface="Verdana"/>
              </a:rPr>
              <a:t> your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jobs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 initial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application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testing.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5149" y="213740"/>
            <a:ext cx="3069590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JOB</a:t>
            </a:r>
            <a:r>
              <a:rPr spc="-90" dirty="0"/>
              <a:t> </a:t>
            </a:r>
            <a:r>
              <a:rPr dirty="0"/>
              <a:t>SERVER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5149" y="1530222"/>
            <a:ext cx="10213975" cy="3847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73760">
              <a:lnSpc>
                <a:spcPct val="100000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dirty="0">
                <a:latin typeface="Verdana"/>
                <a:cs typeface="Verdana"/>
              </a:rPr>
              <a:t>Job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Server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starts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movement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engine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that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integrates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from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multiple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heterogeneous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sources, performs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complex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transformations,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manages 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extractions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5" dirty="0">
                <a:latin typeface="Verdana"/>
                <a:cs typeface="Verdana"/>
              </a:rPr>
              <a:t> transactions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from</a:t>
            </a:r>
            <a:r>
              <a:rPr sz="1800" spc="-5" dirty="0">
                <a:latin typeface="Verdana"/>
                <a:cs typeface="Verdana"/>
              </a:rPr>
              <a:t> ERP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systems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other</a:t>
            </a:r>
            <a:r>
              <a:rPr sz="1800" spc="-5" dirty="0">
                <a:latin typeface="Verdana"/>
                <a:cs typeface="Verdana"/>
              </a:rPr>
              <a:t> sources.</a:t>
            </a:r>
            <a:endParaRPr sz="1800">
              <a:latin typeface="Verdana"/>
              <a:cs typeface="Verdana"/>
            </a:endParaRPr>
          </a:p>
          <a:p>
            <a:pPr marL="12700" marR="102870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dirty="0">
                <a:latin typeface="Verdana"/>
                <a:cs typeface="Verdana"/>
              </a:rPr>
              <a:t> Job</a:t>
            </a:r>
            <a:r>
              <a:rPr sz="1800" spc="-5" dirty="0">
                <a:latin typeface="Verdana"/>
                <a:cs typeface="Verdana"/>
              </a:rPr>
              <a:t> Server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can </a:t>
            </a:r>
            <a:r>
              <a:rPr sz="1800" spc="-10" dirty="0">
                <a:latin typeface="Verdana"/>
                <a:cs typeface="Verdana"/>
              </a:rPr>
              <a:t>move </a:t>
            </a:r>
            <a:r>
              <a:rPr sz="1800" spc="-5" dirty="0">
                <a:latin typeface="Verdana"/>
                <a:cs typeface="Verdana"/>
              </a:rPr>
              <a:t>data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either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batch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or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real-time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mode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uses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distributed 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query </a:t>
            </a:r>
            <a:r>
              <a:rPr sz="1800" dirty="0">
                <a:latin typeface="Verdana"/>
                <a:cs typeface="Verdana"/>
              </a:rPr>
              <a:t>optimization, </a:t>
            </a:r>
            <a:r>
              <a:rPr sz="1800" spc="-5" dirty="0">
                <a:latin typeface="Verdana"/>
                <a:cs typeface="Verdana"/>
              </a:rPr>
              <a:t>multi-threading, </a:t>
            </a:r>
            <a:r>
              <a:rPr sz="1800" dirty="0">
                <a:latin typeface="Verdana"/>
                <a:cs typeface="Verdana"/>
              </a:rPr>
              <a:t>in-memory caching, </a:t>
            </a:r>
            <a:r>
              <a:rPr sz="1800" spc="-5" dirty="0">
                <a:latin typeface="Verdana"/>
                <a:cs typeface="Verdana"/>
              </a:rPr>
              <a:t>in-memory data 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transformations,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parallel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processing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deliver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high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 throughput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 </a:t>
            </a:r>
            <a:r>
              <a:rPr sz="1800" spc="-15" dirty="0">
                <a:latin typeface="Verdana"/>
                <a:cs typeface="Verdana"/>
              </a:rPr>
              <a:t>scalability.</a:t>
            </a:r>
            <a:endParaRPr sz="1800">
              <a:latin typeface="Verdana"/>
              <a:cs typeface="Verdana"/>
            </a:endParaRPr>
          </a:p>
          <a:p>
            <a:pPr marL="12700" marR="255270" algn="just">
              <a:lnSpc>
                <a:spcPct val="100000"/>
              </a:lnSpc>
              <a:spcBef>
                <a:spcPts val="49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dirty="0">
                <a:latin typeface="Verdana"/>
                <a:cs typeface="Verdana"/>
              </a:rPr>
              <a:t>While </a:t>
            </a:r>
            <a:r>
              <a:rPr sz="1800" spc="-5" dirty="0">
                <a:latin typeface="Verdana"/>
                <a:cs typeface="Verdana"/>
              </a:rPr>
              <a:t>designing 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10" dirty="0">
                <a:latin typeface="Verdana"/>
                <a:cs typeface="Verdana"/>
              </a:rPr>
              <a:t>job, </a:t>
            </a:r>
            <a:r>
              <a:rPr sz="1800" spc="-5" dirty="0">
                <a:latin typeface="Verdana"/>
                <a:cs typeface="Verdana"/>
              </a:rPr>
              <a:t>you </a:t>
            </a:r>
            <a:r>
              <a:rPr sz="1800" dirty="0">
                <a:latin typeface="Verdana"/>
                <a:cs typeface="Verdana"/>
              </a:rPr>
              <a:t>can run </a:t>
            </a:r>
            <a:r>
              <a:rPr sz="1800" spc="5" dirty="0">
                <a:latin typeface="Verdana"/>
                <a:cs typeface="Verdana"/>
              </a:rPr>
              <a:t>it </a:t>
            </a:r>
            <a:r>
              <a:rPr sz="1800" dirty="0">
                <a:latin typeface="Verdana"/>
                <a:cs typeface="Verdana"/>
              </a:rPr>
              <a:t>from </a:t>
            </a:r>
            <a:r>
              <a:rPr sz="1800" spc="-5" dirty="0">
                <a:latin typeface="Verdana"/>
                <a:cs typeface="Verdana"/>
              </a:rPr>
              <a:t>the </a:t>
            </a:r>
            <a:r>
              <a:rPr sz="1800" dirty="0">
                <a:latin typeface="Verdana"/>
                <a:cs typeface="Verdana"/>
              </a:rPr>
              <a:t>Designer which </a:t>
            </a:r>
            <a:r>
              <a:rPr sz="1800" spc="-5" dirty="0">
                <a:latin typeface="Verdana"/>
                <a:cs typeface="Verdana"/>
              </a:rPr>
              <a:t>tells the </a:t>
            </a:r>
            <a:r>
              <a:rPr sz="1800" dirty="0">
                <a:latin typeface="Verdana"/>
                <a:cs typeface="Verdana"/>
              </a:rPr>
              <a:t>Job </a:t>
            </a:r>
            <a:r>
              <a:rPr sz="1800" spc="-5" dirty="0">
                <a:latin typeface="Verdana"/>
                <a:cs typeface="Verdana"/>
              </a:rPr>
              <a:t>Server to </a:t>
            </a:r>
            <a:r>
              <a:rPr sz="1800" spc="-6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run </a:t>
            </a:r>
            <a:r>
              <a:rPr sz="1800" spc="-5" dirty="0">
                <a:latin typeface="Verdana"/>
                <a:cs typeface="Verdana"/>
              </a:rPr>
              <a:t>the </a:t>
            </a:r>
            <a:r>
              <a:rPr sz="1800" spc="-10" dirty="0">
                <a:latin typeface="Verdana"/>
                <a:cs typeface="Verdana"/>
              </a:rPr>
              <a:t>job. </a:t>
            </a:r>
            <a:r>
              <a:rPr sz="1800" spc="-5" dirty="0">
                <a:latin typeface="Verdana"/>
                <a:cs typeface="Verdana"/>
              </a:rPr>
              <a:t>The </a:t>
            </a:r>
            <a:r>
              <a:rPr sz="1800" dirty="0">
                <a:latin typeface="Verdana"/>
                <a:cs typeface="Verdana"/>
              </a:rPr>
              <a:t>Job </a:t>
            </a:r>
            <a:r>
              <a:rPr sz="1800" spc="-5" dirty="0">
                <a:latin typeface="Verdana"/>
                <a:cs typeface="Verdana"/>
              </a:rPr>
              <a:t>Server gets the job </a:t>
            </a:r>
            <a:r>
              <a:rPr sz="1800" dirty="0">
                <a:latin typeface="Verdana"/>
                <a:cs typeface="Verdana"/>
              </a:rPr>
              <a:t>from its </a:t>
            </a:r>
            <a:r>
              <a:rPr sz="1800" spc="-5" dirty="0">
                <a:latin typeface="Verdana"/>
                <a:cs typeface="Verdana"/>
              </a:rPr>
              <a:t>associated </a:t>
            </a:r>
            <a:r>
              <a:rPr sz="1800" spc="-20" dirty="0">
                <a:latin typeface="Verdana"/>
                <a:cs typeface="Verdana"/>
              </a:rPr>
              <a:t>repository, </a:t>
            </a:r>
            <a:r>
              <a:rPr sz="1800" spc="-5" dirty="0">
                <a:latin typeface="Verdana"/>
                <a:cs typeface="Verdana"/>
              </a:rPr>
              <a:t>then starts </a:t>
            </a:r>
            <a:r>
              <a:rPr sz="1800" dirty="0">
                <a:latin typeface="Verdana"/>
                <a:cs typeface="Verdana"/>
              </a:rPr>
              <a:t>an 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engine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process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job.</a:t>
            </a:r>
            <a:endParaRPr sz="1800">
              <a:latin typeface="Verdana"/>
              <a:cs typeface="Verdana"/>
            </a:endParaRPr>
          </a:p>
          <a:p>
            <a:pPr marL="194945" indent="-182880" algn="just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5580" algn="l"/>
              </a:tabLst>
            </a:pPr>
            <a:r>
              <a:rPr sz="1800" dirty="0">
                <a:latin typeface="Verdana"/>
                <a:cs typeface="Verdana"/>
              </a:rPr>
              <a:t>In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production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environment,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dirty="0">
                <a:latin typeface="Verdana"/>
                <a:cs typeface="Verdana"/>
              </a:rPr>
              <a:t> Job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Server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runs</a:t>
            </a:r>
            <a:r>
              <a:rPr sz="1800" spc="-5" dirty="0">
                <a:latin typeface="Verdana"/>
                <a:cs typeface="Verdana"/>
              </a:rPr>
              <a:t> jobs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triggered</a:t>
            </a:r>
            <a:r>
              <a:rPr sz="1800" spc="3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by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scheduler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or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by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endParaRPr sz="1800">
              <a:latin typeface="Verdana"/>
              <a:cs typeface="Verdana"/>
            </a:endParaRPr>
          </a:p>
          <a:p>
            <a:pPr marL="12700" algn="just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real-time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service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managed by 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Access </a:t>
            </a:r>
            <a:r>
              <a:rPr sz="1800" spc="-40" dirty="0">
                <a:latin typeface="Verdana"/>
                <a:cs typeface="Verdana"/>
              </a:rPr>
              <a:t>Server.</a:t>
            </a:r>
            <a:endParaRPr sz="1800">
              <a:latin typeface="Verdana"/>
              <a:cs typeface="Verdana"/>
            </a:endParaRPr>
          </a:p>
          <a:p>
            <a:pPr marL="12700" marR="5080" algn="just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dirty="0">
                <a:latin typeface="Verdana"/>
                <a:cs typeface="Verdana"/>
              </a:rPr>
              <a:t>In </a:t>
            </a:r>
            <a:r>
              <a:rPr sz="1800" spc="-5" dirty="0">
                <a:latin typeface="Verdana"/>
                <a:cs typeface="Verdana"/>
              </a:rPr>
              <a:t>production environments, you </a:t>
            </a:r>
            <a:r>
              <a:rPr sz="1800" dirty="0">
                <a:latin typeface="Verdana"/>
                <a:cs typeface="Verdana"/>
              </a:rPr>
              <a:t>can balance job </a:t>
            </a:r>
            <a:r>
              <a:rPr sz="1800" spc="-5" dirty="0">
                <a:latin typeface="Verdana"/>
                <a:cs typeface="Verdana"/>
              </a:rPr>
              <a:t>loads by creating 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5" dirty="0">
                <a:latin typeface="Verdana"/>
                <a:cs typeface="Verdana"/>
              </a:rPr>
              <a:t>Job Server Group </a:t>
            </a:r>
            <a:r>
              <a:rPr sz="1800" spc="-6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(multiple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Job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Servers)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which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executes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jobs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according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overall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system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load.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1052" y="301244"/>
            <a:ext cx="1936750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ENGINE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1052" y="1732026"/>
            <a:ext cx="10030460" cy="1186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46405">
              <a:lnSpc>
                <a:spcPct val="100000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When</a:t>
            </a:r>
            <a:r>
              <a:rPr sz="1800" dirty="0">
                <a:latin typeface="Verdana"/>
                <a:cs typeface="Verdana"/>
              </a:rPr>
              <a:t> Data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Services </a:t>
            </a:r>
            <a:r>
              <a:rPr sz="1800" spc="-5" dirty="0">
                <a:latin typeface="Verdana"/>
                <a:cs typeface="Verdana"/>
              </a:rPr>
              <a:t>jobs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are</a:t>
            </a:r>
            <a:r>
              <a:rPr sz="1800" spc="-10" dirty="0">
                <a:latin typeface="Verdana"/>
                <a:cs typeface="Verdana"/>
              </a:rPr>
              <a:t> executed,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Job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Server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starts</a:t>
            </a:r>
            <a:r>
              <a:rPr sz="1800" dirty="0">
                <a:latin typeface="Verdana"/>
                <a:cs typeface="Verdana"/>
              </a:rPr>
              <a:t> engine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processes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perform data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extraction,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transformation,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movement.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5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engine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processes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parallel processing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in-memory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transformations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Verdana"/>
                <a:cs typeface="Verdana"/>
              </a:rPr>
              <a:t>deliver </a:t>
            </a:r>
            <a:r>
              <a:rPr sz="1800" dirty="0">
                <a:latin typeface="Verdana"/>
                <a:cs typeface="Verdana"/>
              </a:rPr>
              <a:t>high</a:t>
            </a:r>
            <a:r>
              <a:rPr sz="1800" spc="-5" dirty="0">
                <a:latin typeface="Verdana"/>
                <a:cs typeface="Verdana"/>
              </a:rPr>
              <a:t> data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throughput and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scalability.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5227" y="180213"/>
            <a:ext cx="316420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REPOSITORY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851" y="1700910"/>
            <a:ext cx="10263505" cy="302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18159">
              <a:lnSpc>
                <a:spcPct val="100000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10" dirty="0">
                <a:latin typeface="Verdana"/>
                <a:cs typeface="Verdana"/>
              </a:rPr>
              <a:t>Repository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is 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5" dirty="0">
                <a:latin typeface="Verdana"/>
                <a:cs typeface="Verdana"/>
              </a:rPr>
              <a:t>set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tables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that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hold </a:t>
            </a:r>
            <a:r>
              <a:rPr sz="1800" spc="-5" dirty="0">
                <a:latin typeface="Verdana"/>
                <a:cs typeface="Verdana"/>
              </a:rPr>
              <a:t>user-created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5" dirty="0">
                <a:latin typeface="Verdana"/>
                <a:cs typeface="Verdana"/>
              </a:rPr>
              <a:t> predefined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system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objects,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source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 </a:t>
            </a:r>
            <a:r>
              <a:rPr sz="1800" spc="-5" dirty="0">
                <a:latin typeface="Verdana"/>
                <a:cs typeface="Verdana"/>
              </a:rPr>
              <a:t>target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metadata,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transformation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rules</a:t>
            </a:r>
            <a:endParaRPr sz="1800">
              <a:latin typeface="Verdana"/>
              <a:cs typeface="Verdana"/>
            </a:endParaRPr>
          </a:p>
          <a:p>
            <a:pPr marL="12700" marR="537210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Each repository </a:t>
            </a:r>
            <a:r>
              <a:rPr sz="1800" spc="5" dirty="0">
                <a:latin typeface="Verdana"/>
                <a:cs typeface="Verdana"/>
              </a:rPr>
              <a:t>is </a:t>
            </a:r>
            <a:r>
              <a:rPr sz="1800" spc="-5" dirty="0">
                <a:latin typeface="Verdana"/>
                <a:cs typeface="Verdana"/>
              </a:rPr>
              <a:t>associated </a:t>
            </a:r>
            <a:r>
              <a:rPr sz="1800" dirty="0">
                <a:latin typeface="Verdana"/>
                <a:cs typeface="Verdana"/>
              </a:rPr>
              <a:t>with one or more Job </a:t>
            </a:r>
            <a:r>
              <a:rPr sz="1800" spc="-5" dirty="0">
                <a:latin typeface="Verdana"/>
                <a:cs typeface="Verdana"/>
              </a:rPr>
              <a:t>Servers </a:t>
            </a:r>
            <a:r>
              <a:rPr sz="1800" dirty="0">
                <a:latin typeface="Verdana"/>
                <a:cs typeface="Verdana"/>
              </a:rPr>
              <a:t>which run </a:t>
            </a:r>
            <a:r>
              <a:rPr sz="1800" spc="-5" dirty="0">
                <a:latin typeface="Verdana"/>
                <a:cs typeface="Verdana"/>
              </a:rPr>
              <a:t>the jobs you </a:t>
            </a:r>
            <a:r>
              <a:rPr sz="1800" spc="-6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create.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49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There</a:t>
            </a:r>
            <a:r>
              <a:rPr sz="1800" dirty="0">
                <a:latin typeface="Verdana"/>
                <a:cs typeface="Verdana"/>
              </a:rPr>
              <a:t> are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two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types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5" dirty="0">
                <a:latin typeface="Verdana"/>
                <a:cs typeface="Verdana"/>
              </a:rPr>
              <a:t> repositories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used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commonly:</a:t>
            </a:r>
            <a:endParaRPr sz="1800">
              <a:latin typeface="Verdana"/>
              <a:cs typeface="Verdana"/>
            </a:endParaRPr>
          </a:p>
          <a:p>
            <a:pPr marL="469900" marR="349885" indent="-45720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1800" dirty="0">
                <a:latin typeface="Verdana"/>
                <a:cs typeface="Verdana"/>
              </a:rPr>
              <a:t>A local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repository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is</a:t>
            </a:r>
            <a:r>
              <a:rPr sz="1800" spc="-5" dirty="0">
                <a:latin typeface="Verdana"/>
                <a:cs typeface="Verdana"/>
              </a:rPr>
              <a:t> used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by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</a:t>
            </a:r>
            <a:r>
              <a:rPr sz="1800" spc="-5" dirty="0">
                <a:latin typeface="Verdana"/>
                <a:cs typeface="Verdana"/>
              </a:rPr>
              <a:t> application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designer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store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definitions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 objects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(like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projects,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jobs, </a:t>
            </a:r>
            <a:r>
              <a:rPr sz="1800" dirty="0">
                <a:latin typeface="Verdana"/>
                <a:cs typeface="Verdana"/>
              </a:rPr>
              <a:t>work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flows, and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</a:t>
            </a:r>
            <a:r>
              <a:rPr sz="1800" dirty="0">
                <a:latin typeface="Verdana"/>
                <a:cs typeface="Verdana"/>
              </a:rPr>
              <a:t> flows) and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source/target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metadata.</a:t>
            </a:r>
            <a:endParaRPr sz="1800">
              <a:latin typeface="Verdana"/>
              <a:cs typeface="Verdana"/>
            </a:endParaRPr>
          </a:p>
          <a:p>
            <a:pPr marL="469900" marR="5080" indent="-45720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1800" dirty="0">
                <a:latin typeface="Verdana"/>
                <a:cs typeface="Verdana"/>
              </a:rPr>
              <a:t>A </a:t>
            </a:r>
            <a:r>
              <a:rPr sz="1800" spc="-10" dirty="0">
                <a:latin typeface="Verdana"/>
                <a:cs typeface="Verdana"/>
              </a:rPr>
              <a:t>central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repository</a:t>
            </a:r>
            <a:r>
              <a:rPr sz="1800" spc="5" dirty="0">
                <a:latin typeface="Verdana"/>
                <a:cs typeface="Verdana"/>
              </a:rPr>
              <a:t> is </a:t>
            </a:r>
            <a:r>
              <a:rPr sz="1800" dirty="0">
                <a:latin typeface="Verdana"/>
                <a:cs typeface="Verdana"/>
              </a:rPr>
              <a:t>an</a:t>
            </a:r>
            <a:r>
              <a:rPr sz="1800" spc="-5" dirty="0">
                <a:latin typeface="Verdana"/>
                <a:cs typeface="Verdana"/>
              </a:rPr>
              <a:t> optional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component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that</a:t>
            </a:r>
            <a:r>
              <a:rPr sz="1800" dirty="0">
                <a:latin typeface="Verdana"/>
                <a:cs typeface="Verdana"/>
              </a:rPr>
              <a:t> can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used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support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multi-user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development.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central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repository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provides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5" dirty="0">
                <a:latin typeface="Verdana"/>
                <a:cs typeface="Verdana"/>
              </a:rPr>
              <a:t> shared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object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library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allowing 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developers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check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objects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out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their</a:t>
            </a:r>
            <a:r>
              <a:rPr sz="1800" dirty="0">
                <a:latin typeface="Verdana"/>
                <a:cs typeface="Verdana"/>
              </a:rPr>
              <a:t> local </a:t>
            </a:r>
            <a:r>
              <a:rPr sz="1800" spc="-5" dirty="0">
                <a:latin typeface="Verdana"/>
                <a:cs typeface="Verdana"/>
              </a:rPr>
              <a:t>repositories.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1052" y="318262"/>
            <a:ext cx="4105910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ACCESS</a:t>
            </a:r>
            <a:r>
              <a:rPr spc="-80" dirty="0"/>
              <a:t> </a:t>
            </a:r>
            <a:r>
              <a:rPr dirty="0"/>
              <a:t>SERVER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7147" y="1595754"/>
            <a:ext cx="9926320" cy="2685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9375">
              <a:lnSpc>
                <a:spcPct val="100000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SAP </a:t>
            </a:r>
            <a:r>
              <a:rPr sz="1800" dirty="0">
                <a:latin typeface="Verdana"/>
                <a:cs typeface="Verdana"/>
              </a:rPr>
              <a:t>Business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Objects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Data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Services Access</a:t>
            </a:r>
            <a:r>
              <a:rPr sz="1800" spc="-5" dirty="0">
                <a:latin typeface="Verdana"/>
                <a:cs typeface="Verdana"/>
              </a:rPr>
              <a:t> Server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5" dirty="0">
                <a:latin typeface="Verdana"/>
                <a:cs typeface="Verdana"/>
              </a:rPr>
              <a:t> real-time,</a:t>
            </a:r>
            <a:r>
              <a:rPr sz="1800" spc="-10" dirty="0">
                <a:latin typeface="Verdana"/>
                <a:cs typeface="Verdana"/>
              </a:rPr>
              <a:t> request-reply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message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broker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that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collects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message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requests,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routes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them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real-time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service, </a:t>
            </a:r>
            <a:r>
              <a:rPr sz="1800" dirty="0">
                <a:latin typeface="Verdana"/>
                <a:cs typeface="Verdana"/>
              </a:rPr>
              <a:t> and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delivers</a:t>
            </a:r>
            <a:r>
              <a:rPr sz="1800" dirty="0">
                <a:latin typeface="Verdana"/>
                <a:cs typeface="Verdana"/>
              </a:rPr>
              <a:t> a </a:t>
            </a:r>
            <a:r>
              <a:rPr sz="1800" spc="-5" dirty="0">
                <a:latin typeface="Verdana"/>
                <a:cs typeface="Verdana"/>
              </a:rPr>
              <a:t>message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reply</a:t>
            </a:r>
            <a:r>
              <a:rPr sz="1800" dirty="0">
                <a:latin typeface="Verdana"/>
                <a:cs typeface="Verdana"/>
              </a:rPr>
              <a:t> within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5" dirty="0">
                <a:latin typeface="Verdana"/>
                <a:cs typeface="Verdana"/>
              </a:rPr>
              <a:t>user-specified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time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frame.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5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Access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Server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queues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messages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sends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them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next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available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real-time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Verdana"/>
                <a:cs typeface="Verdana"/>
              </a:rPr>
              <a:t>service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across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any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number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computing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resources.</a:t>
            </a:r>
            <a:endParaRPr sz="1800">
              <a:latin typeface="Verdana"/>
              <a:cs typeface="Verdana"/>
            </a:endParaRPr>
          </a:p>
          <a:p>
            <a:pPr marL="12700" marR="120014">
              <a:lnSpc>
                <a:spcPct val="100000"/>
              </a:lnSpc>
              <a:spcBef>
                <a:spcPts val="49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This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approach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provides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automatic </a:t>
            </a:r>
            <a:r>
              <a:rPr sz="1800" spc="-5" dirty="0">
                <a:latin typeface="Verdana"/>
                <a:cs typeface="Verdana"/>
              </a:rPr>
              <a:t>scalability because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Access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Server </a:t>
            </a:r>
            <a:r>
              <a:rPr sz="1800" dirty="0">
                <a:latin typeface="Verdana"/>
                <a:cs typeface="Verdana"/>
              </a:rPr>
              <a:t>can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initiate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additional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real-time</a:t>
            </a:r>
            <a:r>
              <a:rPr sz="1800" spc="-5" dirty="0">
                <a:latin typeface="Verdana"/>
                <a:cs typeface="Verdana"/>
              </a:rPr>
              <a:t> services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 </a:t>
            </a:r>
            <a:r>
              <a:rPr sz="1800" spc="-5" dirty="0">
                <a:latin typeface="Verdana"/>
                <a:cs typeface="Verdana"/>
              </a:rPr>
              <a:t>additional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computing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resources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if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traffic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given </a:t>
            </a:r>
            <a:r>
              <a:rPr sz="1800" dirty="0">
                <a:latin typeface="Verdana"/>
                <a:cs typeface="Verdana"/>
              </a:rPr>
              <a:t> real-time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service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is</a:t>
            </a:r>
            <a:r>
              <a:rPr sz="1800" dirty="0">
                <a:latin typeface="Verdana"/>
                <a:cs typeface="Verdana"/>
              </a:rPr>
              <a:t> high.</a:t>
            </a:r>
            <a:endParaRPr sz="1800">
              <a:latin typeface="Verdana"/>
              <a:cs typeface="Verdana"/>
            </a:endParaRPr>
          </a:p>
          <a:p>
            <a:pPr marL="194945" indent="-182880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5580" algn="l"/>
              </a:tabLst>
            </a:pPr>
            <a:r>
              <a:rPr sz="1800" spc="-45" dirty="0">
                <a:latin typeface="Verdana"/>
                <a:cs typeface="Verdana"/>
              </a:rPr>
              <a:t>You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can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configure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multiple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Access Servers.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7361" y="318262"/>
            <a:ext cx="603567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MANAGEMENT</a:t>
            </a:r>
            <a:r>
              <a:rPr spc="-90" dirty="0"/>
              <a:t> </a:t>
            </a:r>
            <a:r>
              <a:rPr spc="-5" dirty="0"/>
              <a:t>CONSOLE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1052" y="1531746"/>
            <a:ext cx="7847330" cy="239141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dirty="0">
                <a:latin typeface="Verdana"/>
                <a:cs typeface="Verdana"/>
              </a:rPr>
              <a:t> Data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Services </a:t>
            </a:r>
            <a:r>
              <a:rPr sz="1800" spc="-5" dirty="0">
                <a:latin typeface="Verdana"/>
                <a:cs typeface="Verdana"/>
              </a:rPr>
              <a:t>product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consists of </a:t>
            </a:r>
            <a:r>
              <a:rPr sz="1800" spc="-10" dirty="0">
                <a:latin typeface="Verdana"/>
                <a:cs typeface="Verdana"/>
              </a:rPr>
              <a:t>several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components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including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5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Administrator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49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Impact</a:t>
            </a:r>
            <a:r>
              <a:rPr sz="1800" dirty="0">
                <a:latin typeface="Verdana"/>
                <a:cs typeface="Verdana"/>
              </a:rPr>
              <a:t> and </a:t>
            </a:r>
            <a:r>
              <a:rPr sz="1800" spc="-5" dirty="0">
                <a:latin typeface="Verdana"/>
                <a:cs typeface="Verdana"/>
              </a:rPr>
              <a:t>Lineage</a:t>
            </a:r>
            <a:r>
              <a:rPr sz="1800" dirty="0">
                <a:latin typeface="Verdana"/>
                <a:cs typeface="Verdana"/>
              </a:rPr>
              <a:t> Analysis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reports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Operational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Dashboard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reports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Auto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Documentation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reports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49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dirty="0">
                <a:latin typeface="Verdana"/>
                <a:cs typeface="Verdana"/>
              </a:rPr>
              <a:t>Data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Validation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dirty="0">
                <a:latin typeface="Verdana"/>
                <a:cs typeface="Verdana"/>
              </a:rPr>
              <a:t>Data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Quality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reports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361" y="169926"/>
            <a:ext cx="8470265" cy="112712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 marR="5080">
              <a:lnSpc>
                <a:spcPts val="4110"/>
              </a:lnSpc>
              <a:spcBef>
                <a:spcPts val="615"/>
              </a:spcBef>
            </a:pPr>
            <a:r>
              <a:rPr dirty="0"/>
              <a:t>MANAGEMENT</a:t>
            </a:r>
            <a:r>
              <a:rPr spc="-60" dirty="0"/>
              <a:t> </a:t>
            </a:r>
            <a:r>
              <a:rPr spc="-5" dirty="0"/>
              <a:t>CONSOLE</a:t>
            </a:r>
            <a:r>
              <a:rPr spc="-60" dirty="0"/>
              <a:t> </a:t>
            </a:r>
            <a:r>
              <a:rPr spc="-5" dirty="0"/>
              <a:t>WINDOW </a:t>
            </a:r>
            <a:r>
              <a:rPr spc="-1320" dirty="0"/>
              <a:t> </a:t>
            </a:r>
            <a:r>
              <a:rPr spc="-5" dirty="0"/>
              <a:t>OVERVIEW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6588" y="1412747"/>
            <a:ext cx="8883396" cy="43510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7361" y="224485"/>
            <a:ext cx="4167504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ADMINISTRATOR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7147" y="1389634"/>
            <a:ext cx="9688195" cy="2601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Administrator provides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browser-based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administration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SAP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Business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Objects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Data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Services </a:t>
            </a:r>
            <a:r>
              <a:rPr sz="1800" spc="-5" dirty="0">
                <a:latin typeface="Verdana"/>
                <a:cs typeface="Verdana"/>
              </a:rPr>
              <a:t>resources</a:t>
            </a:r>
            <a:r>
              <a:rPr sz="1800" dirty="0">
                <a:latin typeface="Verdana"/>
                <a:cs typeface="Verdana"/>
              </a:rPr>
              <a:t> including: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dirty="0">
                <a:latin typeface="Verdana"/>
                <a:cs typeface="Verdana"/>
              </a:rPr>
              <a:t>Scheduling,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monitoring,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5" dirty="0">
                <a:latin typeface="Verdana"/>
                <a:cs typeface="Verdana"/>
              </a:rPr>
              <a:t> executing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batch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jobs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49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Configuring, starting,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stopping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real-time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services</a:t>
            </a:r>
            <a:endParaRPr sz="1800">
              <a:latin typeface="Verdana"/>
              <a:cs typeface="Verdana"/>
            </a:endParaRPr>
          </a:p>
          <a:p>
            <a:pPr marL="194945" indent="-182880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5580" algn="l"/>
              </a:tabLst>
            </a:pPr>
            <a:r>
              <a:rPr sz="1800" spc="-5" dirty="0">
                <a:latin typeface="Verdana"/>
                <a:cs typeface="Verdana"/>
              </a:rPr>
              <a:t>Configuring </a:t>
            </a:r>
            <a:r>
              <a:rPr sz="1800" dirty="0">
                <a:latin typeface="Verdana"/>
                <a:cs typeface="Verdana"/>
              </a:rPr>
              <a:t>Job </a:t>
            </a:r>
            <a:r>
              <a:rPr sz="1800" spc="-40" dirty="0">
                <a:latin typeface="Verdana"/>
                <a:cs typeface="Verdana"/>
              </a:rPr>
              <a:t>Server,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Access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Server,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 </a:t>
            </a:r>
            <a:r>
              <a:rPr sz="1800" spc="-5" dirty="0">
                <a:latin typeface="Verdana"/>
                <a:cs typeface="Verdana"/>
              </a:rPr>
              <a:t>repository usage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Configuring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managing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adapters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49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Managing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users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dirty="0">
                <a:latin typeface="Verdana"/>
                <a:cs typeface="Verdana"/>
              </a:rPr>
              <a:t>Publishing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batch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jobs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real-time </a:t>
            </a:r>
            <a:r>
              <a:rPr sz="1800" spc="-5" dirty="0">
                <a:latin typeface="Verdana"/>
                <a:cs typeface="Verdana"/>
              </a:rPr>
              <a:t>services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via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30" dirty="0">
                <a:latin typeface="Verdana"/>
                <a:cs typeface="Verdana"/>
              </a:rPr>
              <a:t>Web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services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6350" marR="5080">
              <a:lnSpc>
                <a:spcPts val="4100"/>
              </a:lnSpc>
              <a:spcBef>
                <a:spcPts val="625"/>
              </a:spcBef>
            </a:pPr>
            <a:r>
              <a:rPr spc="-15" dirty="0"/>
              <a:t>IMPACT </a:t>
            </a:r>
            <a:r>
              <a:rPr dirty="0"/>
              <a:t>AND </a:t>
            </a:r>
            <a:r>
              <a:rPr spc="-5" dirty="0"/>
              <a:t>LINEAGE </a:t>
            </a:r>
            <a:r>
              <a:rPr spc="-40" dirty="0"/>
              <a:t>ANALYSIS </a:t>
            </a:r>
            <a:r>
              <a:rPr spc="-1325" dirty="0"/>
              <a:t> </a:t>
            </a:r>
            <a:r>
              <a:rPr spc="-25" dirty="0"/>
              <a:t>REPORTS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7147" y="1639062"/>
            <a:ext cx="5488940" cy="205295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6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Impact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Lineage</a:t>
            </a:r>
            <a:r>
              <a:rPr sz="1800" dirty="0">
                <a:latin typeface="Verdana"/>
                <a:cs typeface="Verdana"/>
              </a:rPr>
              <a:t> Analysis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reports</a:t>
            </a:r>
            <a:r>
              <a:rPr sz="1800" dirty="0">
                <a:latin typeface="Verdana"/>
                <a:cs typeface="Verdana"/>
              </a:rPr>
              <a:t> include :</a:t>
            </a:r>
            <a:endParaRPr sz="1800">
              <a:latin typeface="Verdana"/>
              <a:cs typeface="Verdana"/>
            </a:endParaRPr>
          </a:p>
          <a:p>
            <a:pPr marL="527685" indent="-515620">
              <a:lnSpc>
                <a:spcPct val="100000"/>
              </a:lnSpc>
              <a:spcBef>
                <a:spcPts val="505"/>
              </a:spcBef>
              <a:buAutoNum type="romanUcPeriod"/>
              <a:tabLst>
                <a:tab pos="527685" algn="l"/>
                <a:tab pos="528320" algn="l"/>
              </a:tabLst>
            </a:pPr>
            <a:r>
              <a:rPr sz="1800" dirty="0">
                <a:latin typeface="Verdana"/>
                <a:cs typeface="Verdana"/>
              </a:rPr>
              <a:t>Data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store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Analysis</a:t>
            </a:r>
            <a:endParaRPr sz="1800">
              <a:latin typeface="Verdana"/>
              <a:cs typeface="Verdana"/>
            </a:endParaRPr>
          </a:p>
          <a:p>
            <a:pPr marL="527685" indent="-515620">
              <a:lnSpc>
                <a:spcPct val="100000"/>
              </a:lnSpc>
              <a:spcBef>
                <a:spcPts val="495"/>
              </a:spcBef>
              <a:buAutoNum type="romanUcPeriod"/>
              <a:tabLst>
                <a:tab pos="527685" algn="l"/>
                <a:tab pos="528320" algn="l"/>
              </a:tabLst>
            </a:pPr>
            <a:r>
              <a:rPr sz="1800" dirty="0">
                <a:latin typeface="Verdana"/>
                <a:cs typeface="Verdana"/>
              </a:rPr>
              <a:t>Universe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analysis</a:t>
            </a:r>
            <a:endParaRPr sz="1800">
              <a:latin typeface="Verdana"/>
              <a:cs typeface="Verdana"/>
            </a:endParaRPr>
          </a:p>
          <a:p>
            <a:pPr marL="527685" indent="-515620">
              <a:lnSpc>
                <a:spcPct val="100000"/>
              </a:lnSpc>
              <a:spcBef>
                <a:spcPts val="500"/>
              </a:spcBef>
              <a:buAutoNum type="romanUcPeriod"/>
              <a:tabLst>
                <a:tab pos="527685" algn="l"/>
                <a:tab pos="528320" algn="l"/>
              </a:tabLst>
            </a:pPr>
            <a:r>
              <a:rPr sz="1800" dirty="0">
                <a:latin typeface="Verdana"/>
                <a:cs typeface="Verdana"/>
              </a:rPr>
              <a:t>Business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View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analysis</a:t>
            </a:r>
            <a:endParaRPr sz="1800">
              <a:latin typeface="Verdana"/>
              <a:cs typeface="Verdana"/>
            </a:endParaRPr>
          </a:p>
          <a:p>
            <a:pPr marL="527685" indent="-515620">
              <a:lnSpc>
                <a:spcPct val="100000"/>
              </a:lnSpc>
              <a:spcBef>
                <a:spcPts val="509"/>
              </a:spcBef>
              <a:buAutoNum type="romanUcPeriod"/>
              <a:tabLst>
                <a:tab pos="527685" algn="l"/>
                <a:tab pos="528320" algn="l"/>
              </a:tabLst>
            </a:pPr>
            <a:r>
              <a:rPr sz="1800" spc="-15" dirty="0">
                <a:latin typeface="Verdana"/>
                <a:cs typeface="Verdana"/>
              </a:rPr>
              <a:t>Report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analysis</a:t>
            </a:r>
            <a:endParaRPr sz="1800">
              <a:latin typeface="Verdana"/>
              <a:cs typeface="Verdana"/>
            </a:endParaRPr>
          </a:p>
          <a:p>
            <a:pPr marL="527685" indent="-515620">
              <a:lnSpc>
                <a:spcPct val="100000"/>
              </a:lnSpc>
              <a:spcBef>
                <a:spcPts val="490"/>
              </a:spcBef>
              <a:buAutoNum type="romanUcPeriod"/>
              <a:tabLst>
                <a:tab pos="527685" algn="l"/>
                <a:tab pos="528320" algn="l"/>
              </a:tabLst>
            </a:pPr>
            <a:r>
              <a:rPr sz="1800" spc="-5" dirty="0">
                <a:latin typeface="Verdana"/>
                <a:cs typeface="Verdana"/>
              </a:rPr>
              <a:t>Dependency </a:t>
            </a:r>
            <a:r>
              <a:rPr sz="1800" dirty="0">
                <a:latin typeface="Verdana"/>
                <a:cs typeface="Verdana"/>
              </a:rPr>
              <a:t>analysis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4100" y="399999"/>
            <a:ext cx="9217660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OPERATIONAL</a:t>
            </a:r>
            <a:r>
              <a:rPr spc="-65" dirty="0"/>
              <a:t> </a:t>
            </a:r>
            <a:r>
              <a:rPr dirty="0"/>
              <a:t>DASHBOARD</a:t>
            </a:r>
            <a:r>
              <a:rPr spc="-30" dirty="0"/>
              <a:t> </a:t>
            </a:r>
            <a:r>
              <a:rPr spc="-25" dirty="0"/>
              <a:t>REPORTS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4100" y="1906015"/>
            <a:ext cx="9994265" cy="179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5740">
              <a:lnSpc>
                <a:spcPct val="100000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Operational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dashboard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reports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provide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graphical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depictions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SAP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BusinessObjects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Data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Services job</a:t>
            </a:r>
            <a:r>
              <a:rPr sz="1800" spc="-5" dirty="0">
                <a:latin typeface="Verdana"/>
                <a:cs typeface="Verdana"/>
              </a:rPr>
              <a:t> execution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statistics.</a:t>
            </a:r>
            <a:endParaRPr sz="1800">
              <a:latin typeface="Verdana"/>
              <a:cs typeface="Verdana"/>
            </a:endParaRPr>
          </a:p>
          <a:p>
            <a:pPr marL="12700" marR="59055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This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feedback</a:t>
            </a:r>
            <a:r>
              <a:rPr sz="1800" spc="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allows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you to</a:t>
            </a:r>
            <a:r>
              <a:rPr sz="1800" dirty="0">
                <a:latin typeface="Verdana"/>
                <a:cs typeface="Verdana"/>
              </a:rPr>
              <a:t> view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at a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glance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status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5" dirty="0">
                <a:latin typeface="Verdana"/>
                <a:cs typeface="Verdana"/>
              </a:rPr>
              <a:t> performance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your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job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executions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one or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more</a:t>
            </a:r>
            <a:r>
              <a:rPr sz="1800" spc="-5" dirty="0">
                <a:latin typeface="Verdana"/>
                <a:cs typeface="Verdana"/>
              </a:rPr>
              <a:t> repositories</a:t>
            </a:r>
            <a:r>
              <a:rPr sz="1800" spc="-10" dirty="0">
                <a:latin typeface="Verdana"/>
                <a:cs typeface="Verdana"/>
              </a:rPr>
              <a:t> over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5" dirty="0">
                <a:latin typeface="Verdana"/>
                <a:cs typeface="Verdana"/>
              </a:rPr>
              <a:t>given</a:t>
            </a:r>
            <a:r>
              <a:rPr sz="1800" dirty="0">
                <a:latin typeface="Verdana"/>
                <a:cs typeface="Verdana"/>
              </a:rPr>
              <a:t> time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period.</a:t>
            </a:r>
            <a:endParaRPr sz="18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49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45" dirty="0">
                <a:latin typeface="Verdana"/>
                <a:cs typeface="Verdana"/>
              </a:rPr>
              <a:t>You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can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then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this information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streamline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monitor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your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job scheduling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 </a:t>
            </a:r>
            <a:r>
              <a:rPr sz="1800" spc="-6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management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maximizing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overall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efficiency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performance.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4100" y="285114"/>
            <a:ext cx="8298180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AUTO</a:t>
            </a:r>
            <a:r>
              <a:rPr spc="-20" dirty="0"/>
              <a:t> </a:t>
            </a:r>
            <a:r>
              <a:rPr spc="-35" dirty="0"/>
              <a:t>DOCUMENTATION</a:t>
            </a:r>
            <a:r>
              <a:rPr spc="-65" dirty="0"/>
              <a:t> </a:t>
            </a:r>
            <a:r>
              <a:rPr spc="-25" dirty="0"/>
              <a:t>REPORTS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4100" y="1628647"/>
            <a:ext cx="9990455" cy="2347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1920">
              <a:lnSpc>
                <a:spcPct val="100000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Auto documentation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reports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provide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convenient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comprehensive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way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create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printed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documentation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all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objects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you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create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SAP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BusinessObjects</a:t>
            </a:r>
            <a:r>
              <a:rPr sz="1800" spc="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Data 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Services.</a:t>
            </a:r>
            <a:endParaRPr sz="1800">
              <a:latin typeface="Verdana"/>
              <a:cs typeface="Verdana"/>
            </a:endParaRPr>
          </a:p>
          <a:p>
            <a:pPr marL="12700" marR="102235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Auto documentation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reports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capture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critical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information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understanding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your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jobs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so</a:t>
            </a:r>
            <a:r>
              <a:rPr sz="1800" spc="-5" dirty="0">
                <a:latin typeface="Verdana"/>
                <a:cs typeface="Verdana"/>
              </a:rPr>
              <a:t> you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can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see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at a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glance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entire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ETL process.</a:t>
            </a:r>
            <a:endParaRPr sz="1800">
              <a:latin typeface="Verdana"/>
              <a:cs typeface="Verdana"/>
            </a:endParaRPr>
          </a:p>
          <a:p>
            <a:pPr marL="12700" marR="5080" algn="just">
              <a:lnSpc>
                <a:spcPct val="100000"/>
              </a:lnSpc>
              <a:spcBef>
                <a:spcPts val="49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After creating 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5" dirty="0">
                <a:latin typeface="Verdana"/>
                <a:cs typeface="Verdana"/>
              </a:rPr>
              <a:t>project, you </a:t>
            </a:r>
            <a:r>
              <a:rPr sz="1800" dirty="0">
                <a:latin typeface="Verdana"/>
                <a:cs typeface="Verdana"/>
              </a:rPr>
              <a:t>can use </a:t>
            </a:r>
            <a:r>
              <a:rPr sz="1800" spc="-5" dirty="0">
                <a:latin typeface="Verdana"/>
                <a:cs typeface="Verdana"/>
              </a:rPr>
              <a:t>Auto documentation reports to </a:t>
            </a:r>
            <a:r>
              <a:rPr sz="1800" dirty="0">
                <a:latin typeface="Verdana"/>
                <a:cs typeface="Verdana"/>
              </a:rPr>
              <a:t>quickly </a:t>
            </a:r>
            <a:r>
              <a:rPr sz="1800" spc="-5" dirty="0">
                <a:latin typeface="Verdana"/>
                <a:cs typeface="Verdana"/>
              </a:rPr>
              <a:t>create 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PDF </a:t>
            </a:r>
            <a:r>
              <a:rPr sz="1800" dirty="0">
                <a:latin typeface="Verdana"/>
                <a:cs typeface="Verdana"/>
              </a:rPr>
              <a:t>or </a:t>
            </a:r>
            <a:r>
              <a:rPr sz="1800" spc="-5" dirty="0">
                <a:latin typeface="Verdana"/>
                <a:cs typeface="Verdana"/>
              </a:rPr>
              <a:t>Microsoft </a:t>
            </a:r>
            <a:r>
              <a:rPr sz="1800" spc="-25" dirty="0">
                <a:latin typeface="Verdana"/>
                <a:cs typeface="Verdana"/>
              </a:rPr>
              <a:t>Word </a:t>
            </a:r>
            <a:r>
              <a:rPr sz="1800" spc="5" dirty="0">
                <a:latin typeface="Verdana"/>
                <a:cs typeface="Verdana"/>
              </a:rPr>
              <a:t>file </a:t>
            </a:r>
            <a:r>
              <a:rPr sz="1800" spc="-5" dirty="0">
                <a:latin typeface="Verdana"/>
                <a:cs typeface="Verdana"/>
              </a:rPr>
              <a:t>that captures 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5" dirty="0">
                <a:latin typeface="Verdana"/>
                <a:cs typeface="Verdana"/>
              </a:rPr>
              <a:t>selection </a:t>
            </a:r>
            <a:r>
              <a:rPr sz="1800" dirty="0">
                <a:latin typeface="Verdana"/>
                <a:cs typeface="Verdana"/>
              </a:rPr>
              <a:t>of </a:t>
            </a:r>
            <a:r>
              <a:rPr sz="1800" spc="-10" dirty="0">
                <a:latin typeface="Verdana"/>
                <a:cs typeface="Verdana"/>
              </a:rPr>
              <a:t>job, </a:t>
            </a:r>
            <a:r>
              <a:rPr sz="1800" spc="-5" dirty="0">
                <a:latin typeface="Verdana"/>
                <a:cs typeface="Verdana"/>
              </a:rPr>
              <a:t>work </a:t>
            </a:r>
            <a:r>
              <a:rPr sz="1800" spc="-10" dirty="0">
                <a:latin typeface="Verdana"/>
                <a:cs typeface="Verdana"/>
              </a:rPr>
              <a:t>flow, </a:t>
            </a:r>
            <a:r>
              <a:rPr sz="1800" spc="-5" dirty="0">
                <a:latin typeface="Verdana"/>
                <a:cs typeface="Verdana"/>
              </a:rPr>
              <a:t>and/or data </a:t>
            </a:r>
            <a:r>
              <a:rPr sz="1800" dirty="0">
                <a:latin typeface="Verdana"/>
                <a:cs typeface="Verdana"/>
              </a:rPr>
              <a:t>flow </a:t>
            </a:r>
            <a:r>
              <a:rPr sz="1800" spc="-6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information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including </a:t>
            </a:r>
            <a:r>
              <a:rPr sz="1800" spc="-10" dirty="0">
                <a:latin typeface="Verdana"/>
                <a:cs typeface="Verdana"/>
              </a:rPr>
              <a:t>graphical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representations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5" dirty="0">
                <a:latin typeface="Verdana"/>
                <a:cs typeface="Verdana"/>
              </a:rPr>
              <a:t> key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mapping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details.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4100" y="180847"/>
            <a:ext cx="781621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DATA</a:t>
            </a:r>
            <a:r>
              <a:rPr spc="-30" dirty="0"/>
              <a:t> </a:t>
            </a:r>
            <a:r>
              <a:rPr spc="-35" dirty="0"/>
              <a:t>VALIDATION</a:t>
            </a:r>
            <a:r>
              <a:rPr spc="-55" dirty="0"/>
              <a:t> </a:t>
            </a:r>
            <a:r>
              <a:rPr dirty="0"/>
              <a:t>DASHBOARD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4100" y="1389634"/>
            <a:ext cx="10043795" cy="1461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dirty="0">
                <a:latin typeface="Verdana"/>
                <a:cs typeface="Verdana"/>
              </a:rPr>
              <a:t>Data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Validation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dashboard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reports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provide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graphical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depictions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that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let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you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evaluate 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reliability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your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target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based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</a:t>
            </a:r>
            <a:r>
              <a:rPr sz="1800" spc="-5" dirty="0">
                <a:latin typeface="Verdana"/>
                <a:cs typeface="Verdana"/>
              </a:rPr>
              <a:t> the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validation </a:t>
            </a:r>
            <a:r>
              <a:rPr sz="1800" dirty="0">
                <a:latin typeface="Verdana"/>
                <a:cs typeface="Verdana"/>
              </a:rPr>
              <a:t>rules</a:t>
            </a:r>
            <a:r>
              <a:rPr sz="1800" spc="-5" dirty="0">
                <a:latin typeface="Verdana"/>
                <a:cs typeface="Verdana"/>
              </a:rPr>
              <a:t> you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created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your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SAP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BusinessObjects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Data Services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batch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jobs.</a:t>
            </a:r>
            <a:endParaRPr sz="1800">
              <a:latin typeface="Verdana"/>
              <a:cs typeface="Verdana"/>
            </a:endParaRPr>
          </a:p>
          <a:p>
            <a:pPr marL="12700" marR="158115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This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feedback</a:t>
            </a:r>
            <a:r>
              <a:rPr sz="1800" spc="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allows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business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users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quickly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review,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assess,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identify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potential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inconsistencies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or errors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source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79240" y="2205939"/>
            <a:ext cx="43192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Verdana"/>
                <a:cs typeface="Verdana"/>
              </a:rPr>
              <a:t>MANAGEMENT</a:t>
            </a:r>
            <a:r>
              <a:rPr sz="2800" b="1" spc="-35" dirty="0">
                <a:latin typeface="Verdana"/>
                <a:cs typeface="Verdana"/>
              </a:rPr>
              <a:t> </a:t>
            </a:r>
            <a:r>
              <a:rPr sz="2800" b="1" spc="-5" dirty="0">
                <a:latin typeface="Verdana"/>
                <a:cs typeface="Verdana"/>
              </a:rPr>
              <a:t>TOOLS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4100" y="285114"/>
            <a:ext cx="5777230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REPOSITORY</a:t>
            </a:r>
            <a:r>
              <a:rPr spc="-120" dirty="0"/>
              <a:t> </a:t>
            </a:r>
            <a:r>
              <a:rPr dirty="0"/>
              <a:t>MANAGER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4100" y="1628647"/>
            <a:ext cx="10013315" cy="1926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Repository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Manager</a:t>
            </a:r>
            <a:r>
              <a:rPr sz="1800" dirty="0">
                <a:latin typeface="Verdana"/>
                <a:cs typeface="Verdana"/>
              </a:rPr>
              <a:t> allows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you to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create,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upgrade,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5" dirty="0">
                <a:latin typeface="Verdana"/>
                <a:cs typeface="Verdana"/>
              </a:rPr>
              <a:t> check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versions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local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central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repositories.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800" spc="-5" dirty="0">
                <a:latin typeface="Verdana"/>
                <a:cs typeface="Verdana"/>
              </a:rPr>
              <a:t>There </a:t>
            </a:r>
            <a:r>
              <a:rPr sz="1800" dirty="0">
                <a:latin typeface="Verdana"/>
                <a:cs typeface="Verdana"/>
              </a:rPr>
              <a:t>are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three types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5" dirty="0">
                <a:latin typeface="Verdana"/>
                <a:cs typeface="Verdana"/>
              </a:rPr>
              <a:t> repositories: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49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dirty="0">
                <a:latin typeface="Verdana"/>
                <a:cs typeface="Verdana"/>
              </a:rPr>
              <a:t>Local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repository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10" dirty="0">
                <a:latin typeface="Verdana"/>
                <a:cs typeface="Verdana"/>
              </a:rPr>
              <a:t>Central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repository</a:t>
            </a:r>
            <a:endParaRPr sz="1800">
              <a:latin typeface="Verdana"/>
              <a:cs typeface="Verdana"/>
            </a:endParaRPr>
          </a:p>
          <a:p>
            <a:pPr marL="194945" indent="-182880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5580" algn="l"/>
              </a:tabLst>
            </a:pPr>
            <a:r>
              <a:rPr sz="1800" dirty="0">
                <a:latin typeface="Verdana"/>
                <a:cs typeface="Verdana"/>
              </a:rPr>
              <a:t>Profiler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repository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5803" y="491160"/>
            <a:ext cx="11825605" cy="389064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800" b="1" dirty="0">
                <a:latin typeface="Verdana"/>
                <a:cs typeface="Verdana"/>
              </a:rPr>
              <a:t>LOCAL</a:t>
            </a:r>
            <a:r>
              <a:rPr sz="1800" b="1" spc="-4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REPOSITORY</a:t>
            </a:r>
            <a:endParaRPr sz="1800">
              <a:latin typeface="Verdana"/>
              <a:cs typeface="Verdana"/>
            </a:endParaRPr>
          </a:p>
          <a:p>
            <a:pPr marL="12700" marR="59055">
              <a:lnSpc>
                <a:spcPct val="100000"/>
              </a:lnSpc>
              <a:spcBef>
                <a:spcPts val="509"/>
              </a:spcBef>
            </a:pPr>
            <a:r>
              <a:rPr sz="1800" dirty="0">
                <a:latin typeface="Verdana"/>
                <a:cs typeface="Verdana"/>
              </a:rPr>
              <a:t>A local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repository</a:t>
            </a:r>
            <a:r>
              <a:rPr sz="1800" spc="5" dirty="0">
                <a:latin typeface="Verdana"/>
                <a:cs typeface="Verdana"/>
              </a:rPr>
              <a:t> is</a:t>
            </a:r>
            <a:r>
              <a:rPr sz="1800" spc="-5" dirty="0">
                <a:latin typeface="Verdana"/>
                <a:cs typeface="Verdana"/>
              </a:rPr>
              <a:t> used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by</a:t>
            </a:r>
            <a:r>
              <a:rPr sz="1800" dirty="0">
                <a:latin typeface="Verdana"/>
                <a:cs typeface="Verdana"/>
              </a:rPr>
              <a:t> an </a:t>
            </a:r>
            <a:r>
              <a:rPr sz="1800" spc="-5" dirty="0">
                <a:latin typeface="Verdana"/>
                <a:cs typeface="Verdana"/>
              </a:rPr>
              <a:t>application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designer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store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definitions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objects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(like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projects,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jobs,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work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flows,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</a:t>
            </a:r>
            <a:r>
              <a:rPr sz="1800" dirty="0">
                <a:latin typeface="Verdana"/>
                <a:cs typeface="Verdana"/>
              </a:rPr>
              <a:t> flows)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source/target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metadata.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5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Verdana"/>
                <a:cs typeface="Verdana"/>
              </a:rPr>
              <a:t>CENTRAL</a:t>
            </a:r>
            <a:r>
              <a:rPr sz="1800" b="1" spc="-2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REPOSITORY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800" dirty="0">
                <a:latin typeface="Verdana"/>
                <a:cs typeface="Verdana"/>
              </a:rPr>
              <a:t>A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central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repository</a:t>
            </a:r>
            <a:r>
              <a:rPr sz="1800" spc="5" dirty="0">
                <a:latin typeface="Verdana"/>
                <a:cs typeface="Verdana"/>
              </a:rPr>
              <a:t> is </a:t>
            </a:r>
            <a:r>
              <a:rPr sz="1800" dirty="0">
                <a:latin typeface="Verdana"/>
                <a:cs typeface="Verdana"/>
              </a:rPr>
              <a:t>an </a:t>
            </a:r>
            <a:r>
              <a:rPr sz="1800" spc="-5" dirty="0">
                <a:latin typeface="Verdana"/>
                <a:cs typeface="Verdana"/>
              </a:rPr>
              <a:t>optional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component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that</a:t>
            </a:r>
            <a:r>
              <a:rPr sz="1800" dirty="0">
                <a:latin typeface="Verdana"/>
                <a:cs typeface="Verdana"/>
              </a:rPr>
              <a:t> can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used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support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multi-user</a:t>
            </a:r>
            <a:r>
              <a:rPr sz="1800" spc="-5" dirty="0">
                <a:latin typeface="Verdana"/>
                <a:cs typeface="Verdana"/>
              </a:rPr>
              <a:t> development.</a:t>
            </a:r>
            <a:endParaRPr sz="18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495"/>
              </a:spcBef>
            </a:pP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central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repository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provides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5" dirty="0">
                <a:latin typeface="Verdana"/>
                <a:cs typeface="Verdana"/>
              </a:rPr>
              <a:t> shared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object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library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allowing</a:t>
            </a:r>
            <a:r>
              <a:rPr sz="1800" spc="-5" dirty="0">
                <a:latin typeface="Verdana"/>
                <a:cs typeface="Verdana"/>
              </a:rPr>
              <a:t> developers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check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objects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out </a:t>
            </a:r>
            <a:r>
              <a:rPr sz="1800" spc="-6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5" dirty="0">
                <a:latin typeface="Verdana"/>
                <a:cs typeface="Verdana"/>
              </a:rPr>
              <a:t> their</a:t>
            </a:r>
            <a:r>
              <a:rPr sz="1800" dirty="0">
                <a:latin typeface="Verdana"/>
                <a:cs typeface="Verdana"/>
              </a:rPr>
              <a:t> local </a:t>
            </a:r>
            <a:r>
              <a:rPr sz="1800" spc="-5" dirty="0">
                <a:latin typeface="Verdana"/>
                <a:cs typeface="Verdana"/>
              </a:rPr>
              <a:t>repositories.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Verdana"/>
                <a:cs typeface="Verdana"/>
              </a:rPr>
              <a:t>PROFILER</a:t>
            </a:r>
            <a:r>
              <a:rPr sz="1800" b="1" spc="-4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REPOSITORY</a:t>
            </a:r>
            <a:endParaRPr sz="1800">
              <a:latin typeface="Verdana"/>
              <a:cs typeface="Verdana"/>
            </a:endParaRPr>
          </a:p>
          <a:p>
            <a:pPr marL="12700" marR="485775">
              <a:lnSpc>
                <a:spcPct val="100000"/>
              </a:lnSpc>
              <a:spcBef>
                <a:spcPts val="490"/>
              </a:spcBef>
            </a:pP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dirty="0">
                <a:latin typeface="Verdana"/>
                <a:cs typeface="Verdana"/>
              </a:rPr>
              <a:t> Data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Profiler </a:t>
            </a:r>
            <a:r>
              <a:rPr sz="1800" spc="-5" dirty="0">
                <a:latin typeface="Verdana"/>
                <a:cs typeface="Verdana"/>
              </a:rPr>
              <a:t>repository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is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5" dirty="0">
                <a:latin typeface="Verdana"/>
                <a:cs typeface="Verdana"/>
              </a:rPr>
              <a:t>set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tables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that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holds information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about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your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that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Data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Profiler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generates.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1052" y="213182"/>
            <a:ext cx="5851525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CREATING</a:t>
            </a:r>
            <a:r>
              <a:rPr spc="-60" dirty="0"/>
              <a:t> </a:t>
            </a:r>
            <a:r>
              <a:rPr spc="-15" dirty="0"/>
              <a:t>REPOSITORY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1052" y="1409572"/>
            <a:ext cx="9986010" cy="287655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6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45" dirty="0">
                <a:latin typeface="Verdana"/>
                <a:cs typeface="Verdana"/>
              </a:rPr>
              <a:t>You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create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repository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during</a:t>
            </a:r>
            <a:r>
              <a:rPr sz="1800" dirty="0">
                <a:latin typeface="Verdana"/>
                <a:cs typeface="Verdana"/>
              </a:rPr>
              <a:t> installation.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45" dirty="0">
                <a:latin typeface="Verdana"/>
                <a:cs typeface="Verdana"/>
              </a:rPr>
              <a:t>You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can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create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5" dirty="0">
                <a:latin typeface="Verdana"/>
                <a:cs typeface="Verdana"/>
              </a:rPr>
              <a:t>repository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at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any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time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using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Repository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Manager.</a:t>
            </a:r>
            <a:endParaRPr sz="18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49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dirty="0">
                <a:latin typeface="Verdana"/>
                <a:cs typeface="Verdana"/>
              </a:rPr>
              <a:t>If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you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creating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 new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repository,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ensure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that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you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created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5" dirty="0">
                <a:latin typeface="Verdana"/>
                <a:cs typeface="Verdana"/>
              </a:rPr>
              <a:t>database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dirty="0">
                <a:latin typeface="Verdana"/>
                <a:cs typeface="Verdana"/>
              </a:rPr>
              <a:t> new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repository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use.</a:t>
            </a:r>
            <a:endParaRPr sz="1800">
              <a:latin typeface="Verdana"/>
              <a:cs typeface="Verdana"/>
            </a:endParaRPr>
          </a:p>
          <a:p>
            <a:pPr marL="194945" indent="-182880">
              <a:lnSpc>
                <a:spcPct val="100000"/>
              </a:lnSpc>
              <a:spcBef>
                <a:spcPts val="500"/>
              </a:spcBef>
              <a:buSzPct val="94444"/>
              <a:buFont typeface="Wingdings"/>
              <a:buChar char=""/>
              <a:tabLst>
                <a:tab pos="195580" algn="l"/>
              </a:tabLst>
            </a:pPr>
            <a:r>
              <a:rPr sz="1800" dirty="0">
                <a:latin typeface="Verdana"/>
                <a:cs typeface="Verdana"/>
              </a:rPr>
              <a:t>From </a:t>
            </a:r>
            <a:r>
              <a:rPr sz="1800" spc="-5" dirty="0">
                <a:latin typeface="Verdana"/>
                <a:cs typeface="Verdana"/>
              </a:rPr>
              <a:t>the </a:t>
            </a:r>
            <a:r>
              <a:rPr sz="1800" b="1" spc="-5" dirty="0">
                <a:latin typeface="Verdana"/>
                <a:cs typeface="Verdana"/>
              </a:rPr>
              <a:t>Start</a:t>
            </a:r>
            <a:r>
              <a:rPr sz="1800" b="1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menu,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choose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Programs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&gt;</a:t>
            </a:r>
            <a:r>
              <a:rPr sz="1800" b="1" spc="-5" dirty="0">
                <a:latin typeface="Verdana"/>
                <a:cs typeface="Verdana"/>
              </a:rPr>
              <a:t> SAP Business</a:t>
            </a:r>
            <a:r>
              <a:rPr sz="1800" b="1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Objects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4.2</a:t>
            </a:r>
            <a:r>
              <a:rPr sz="1800" b="1" spc="-1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&gt;</a:t>
            </a:r>
            <a:r>
              <a:rPr sz="1800" b="1" spc="-5" dirty="0">
                <a:latin typeface="Verdana"/>
                <a:cs typeface="Verdana"/>
              </a:rPr>
              <a:t> SAP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Verdana"/>
                <a:cs typeface="Verdana"/>
              </a:rPr>
              <a:t>Business</a:t>
            </a:r>
            <a:r>
              <a:rPr sz="1800" b="1" spc="-5" dirty="0">
                <a:latin typeface="Verdana"/>
                <a:cs typeface="Verdana"/>
              </a:rPr>
              <a:t> Objects Data</a:t>
            </a:r>
            <a:r>
              <a:rPr sz="1800" b="1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Services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&gt;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Data</a:t>
            </a:r>
            <a:r>
              <a:rPr sz="1800" b="1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Services</a:t>
            </a:r>
            <a:r>
              <a:rPr sz="1800" b="1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Repository</a:t>
            </a:r>
            <a:r>
              <a:rPr sz="1800" b="1" spc="1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Manager.</a:t>
            </a:r>
            <a:endParaRPr sz="1800">
              <a:latin typeface="Verdana"/>
              <a:cs typeface="Verdana"/>
            </a:endParaRPr>
          </a:p>
          <a:p>
            <a:pPr marL="12700" marR="332105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dirty="0">
                <a:latin typeface="Verdana"/>
                <a:cs typeface="Verdana"/>
              </a:rPr>
              <a:t>In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Repository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Manager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window,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enter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database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connection</a:t>
            </a:r>
            <a:r>
              <a:rPr sz="1800" dirty="0">
                <a:latin typeface="Verdana"/>
                <a:cs typeface="Verdana"/>
              </a:rPr>
              <a:t> information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repository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select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Local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repository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type.</a:t>
            </a:r>
            <a:endParaRPr sz="1800">
              <a:latin typeface="Verdana"/>
              <a:cs typeface="Verdana"/>
            </a:endParaRPr>
          </a:p>
          <a:p>
            <a:pPr marL="194945" indent="-182880">
              <a:lnSpc>
                <a:spcPct val="100000"/>
              </a:lnSpc>
              <a:spcBef>
                <a:spcPts val="490"/>
              </a:spcBef>
              <a:buSzPct val="94444"/>
              <a:buFont typeface="Wingdings"/>
              <a:buChar char=""/>
              <a:tabLst>
                <a:tab pos="195580" algn="l"/>
              </a:tabLst>
            </a:pPr>
            <a:r>
              <a:rPr sz="1800" dirty="0">
                <a:latin typeface="Verdana"/>
                <a:cs typeface="Verdana"/>
              </a:rPr>
              <a:t>Click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Create</a:t>
            </a:r>
            <a:r>
              <a:rPr sz="1800" dirty="0">
                <a:latin typeface="Verdana"/>
                <a:cs typeface="Verdana"/>
              </a:rPr>
              <a:t>.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This </a:t>
            </a:r>
            <a:r>
              <a:rPr sz="1800" spc="-5" dirty="0">
                <a:latin typeface="Verdana"/>
                <a:cs typeface="Verdana"/>
              </a:rPr>
              <a:t>adds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repository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schema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specified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database.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7777" y="128396"/>
            <a:ext cx="584771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CREATING </a:t>
            </a:r>
            <a:r>
              <a:rPr spc="-20" dirty="0"/>
              <a:t>REPOSITORY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6020" y="1293875"/>
            <a:ext cx="6438900" cy="494233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1052" y="221361"/>
            <a:ext cx="458533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SERVER</a:t>
            </a:r>
            <a:r>
              <a:rPr spc="-80" dirty="0"/>
              <a:t> </a:t>
            </a:r>
            <a:r>
              <a:rPr dirty="0"/>
              <a:t>MANAGER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1052" y="1230884"/>
            <a:ext cx="9833610" cy="33610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Server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Manager</a:t>
            </a:r>
            <a:r>
              <a:rPr sz="1800" dirty="0">
                <a:latin typeface="Verdana"/>
                <a:cs typeface="Verdana"/>
              </a:rPr>
              <a:t> allows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you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add,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delete,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or</a:t>
            </a:r>
            <a:r>
              <a:rPr sz="1800" spc="-5" dirty="0">
                <a:latin typeface="Verdana"/>
                <a:cs typeface="Verdana"/>
              </a:rPr>
              <a:t> edit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properties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Job </a:t>
            </a:r>
            <a:r>
              <a:rPr sz="1800" spc="-5" dirty="0">
                <a:latin typeface="Verdana"/>
                <a:cs typeface="Verdana"/>
              </a:rPr>
              <a:t>Servers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Access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Servers.</a:t>
            </a:r>
            <a:endParaRPr sz="1800">
              <a:latin typeface="Verdana"/>
              <a:cs typeface="Verdana"/>
            </a:endParaRPr>
          </a:p>
          <a:p>
            <a:pPr marL="12700" marR="166370">
              <a:lnSpc>
                <a:spcPct val="100000"/>
              </a:lnSpc>
              <a:spcBef>
                <a:spcPts val="5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dirty="0">
                <a:latin typeface="Verdana"/>
                <a:cs typeface="Verdana"/>
              </a:rPr>
              <a:t>It is automatically installed on </a:t>
            </a:r>
            <a:r>
              <a:rPr sz="1800" spc="-5" dirty="0">
                <a:latin typeface="Verdana"/>
                <a:cs typeface="Verdana"/>
              </a:rPr>
              <a:t>each computer </a:t>
            </a:r>
            <a:r>
              <a:rPr sz="1800" dirty="0">
                <a:latin typeface="Verdana"/>
                <a:cs typeface="Verdana"/>
              </a:rPr>
              <a:t>on which </a:t>
            </a:r>
            <a:r>
              <a:rPr sz="1800" spc="-5" dirty="0">
                <a:latin typeface="Verdana"/>
                <a:cs typeface="Verdana"/>
              </a:rPr>
              <a:t>you </a:t>
            </a:r>
            <a:r>
              <a:rPr sz="1800" dirty="0">
                <a:latin typeface="Verdana"/>
                <a:cs typeface="Verdana"/>
              </a:rPr>
              <a:t>install a Job </a:t>
            </a:r>
            <a:r>
              <a:rPr sz="1800" spc="-5" dirty="0">
                <a:latin typeface="Verdana"/>
                <a:cs typeface="Verdana"/>
              </a:rPr>
              <a:t>Server </a:t>
            </a:r>
            <a:r>
              <a:rPr sz="1800" dirty="0">
                <a:latin typeface="Verdana"/>
                <a:cs typeface="Verdana"/>
              </a:rPr>
              <a:t>or </a:t>
            </a:r>
            <a:r>
              <a:rPr sz="1800" spc="-6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Access </a:t>
            </a:r>
            <a:r>
              <a:rPr sz="1800" spc="-40" dirty="0">
                <a:latin typeface="Verdana"/>
                <a:cs typeface="Verdana"/>
              </a:rPr>
              <a:t>Server.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49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dirty="0">
                <a:latin typeface="Verdana"/>
                <a:cs typeface="Verdana"/>
              </a:rPr>
              <a:t>Use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Server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Manager to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define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links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between</a:t>
            </a:r>
            <a:r>
              <a:rPr sz="1800" spc="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Job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Servers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repositories.</a:t>
            </a:r>
            <a:endParaRPr sz="1800">
              <a:latin typeface="Verdana"/>
              <a:cs typeface="Verdana"/>
            </a:endParaRPr>
          </a:p>
          <a:p>
            <a:pPr marL="12700" marR="222250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45" dirty="0">
                <a:latin typeface="Verdana"/>
                <a:cs typeface="Verdana"/>
              </a:rPr>
              <a:t>You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can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link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multiple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Job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Servers </a:t>
            </a:r>
            <a:r>
              <a:rPr sz="1800" dirty="0">
                <a:latin typeface="Verdana"/>
                <a:cs typeface="Verdana"/>
              </a:rPr>
              <a:t>on</a:t>
            </a:r>
            <a:r>
              <a:rPr sz="1800" spc="-5" dirty="0">
                <a:latin typeface="Verdana"/>
                <a:cs typeface="Verdana"/>
              </a:rPr>
              <a:t> different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machines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single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repository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(for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load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balancing)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or </a:t>
            </a:r>
            <a:r>
              <a:rPr sz="1800" spc="-5" dirty="0">
                <a:latin typeface="Verdana"/>
                <a:cs typeface="Verdana"/>
              </a:rPr>
              <a:t>each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Job</a:t>
            </a:r>
            <a:r>
              <a:rPr sz="1800" spc="-5" dirty="0">
                <a:latin typeface="Verdana"/>
                <a:cs typeface="Verdana"/>
              </a:rPr>
              <a:t> Server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multiple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repositories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(with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default)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 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support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individual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repositories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(separating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test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from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production,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 </a:t>
            </a:r>
            <a:r>
              <a:rPr sz="1800" spc="-5" dirty="0">
                <a:latin typeface="Verdana"/>
                <a:cs typeface="Verdana"/>
              </a:rPr>
              <a:t>example).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45" dirty="0">
                <a:latin typeface="Verdana"/>
                <a:cs typeface="Verdana"/>
              </a:rPr>
              <a:t>You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can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also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specify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Job </a:t>
            </a:r>
            <a:r>
              <a:rPr sz="1800" spc="-5" dirty="0">
                <a:latin typeface="Verdana"/>
                <a:cs typeface="Verdana"/>
              </a:rPr>
              <a:t>Server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as</a:t>
            </a:r>
            <a:r>
              <a:rPr sz="1800" spc="-5" dirty="0">
                <a:latin typeface="Verdana"/>
                <a:cs typeface="Verdana"/>
              </a:rPr>
              <a:t> SNMP-enabled.</a:t>
            </a:r>
            <a:endParaRPr sz="1800">
              <a:latin typeface="Verdana"/>
              <a:cs typeface="Verdana"/>
            </a:endParaRPr>
          </a:p>
          <a:p>
            <a:pPr marL="12700" marR="1004569">
              <a:lnSpc>
                <a:spcPct val="100000"/>
              </a:lnSpc>
              <a:spcBef>
                <a:spcPts val="49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Server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Manager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is</a:t>
            </a:r>
            <a:r>
              <a:rPr sz="1800" dirty="0">
                <a:latin typeface="Verdana"/>
                <a:cs typeface="Verdana"/>
              </a:rPr>
              <a:t> also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where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you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specify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SMTP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server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settings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smtp_toemail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function..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7147" y="219201"/>
            <a:ext cx="575500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CREATING</a:t>
            </a:r>
            <a:r>
              <a:rPr spc="-40" dirty="0"/>
              <a:t> </a:t>
            </a:r>
            <a:r>
              <a:rPr dirty="0"/>
              <a:t>JOB</a:t>
            </a:r>
            <a:r>
              <a:rPr spc="-60" dirty="0"/>
              <a:t> </a:t>
            </a:r>
            <a:r>
              <a:rPr dirty="0"/>
              <a:t>SERVER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2601" y="1585976"/>
            <a:ext cx="9749790" cy="131381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6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45" dirty="0">
                <a:latin typeface="Verdana"/>
                <a:cs typeface="Verdana"/>
              </a:rPr>
              <a:t>You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create</a:t>
            </a:r>
            <a:r>
              <a:rPr sz="1800" dirty="0">
                <a:latin typeface="Verdana"/>
                <a:cs typeface="Verdana"/>
              </a:rPr>
              <a:t> a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job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server during </a:t>
            </a:r>
            <a:r>
              <a:rPr sz="1800" dirty="0">
                <a:latin typeface="Verdana"/>
                <a:cs typeface="Verdana"/>
              </a:rPr>
              <a:t>installation.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45" dirty="0">
                <a:latin typeface="Verdana"/>
                <a:cs typeface="Verdana"/>
              </a:rPr>
              <a:t>You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can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create</a:t>
            </a:r>
            <a:r>
              <a:rPr sz="1800" dirty="0">
                <a:latin typeface="Verdana"/>
                <a:cs typeface="Verdana"/>
              </a:rPr>
              <a:t> a job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server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at </a:t>
            </a:r>
            <a:r>
              <a:rPr sz="1800" spc="-5" dirty="0">
                <a:latin typeface="Verdana"/>
                <a:cs typeface="Verdana"/>
              </a:rPr>
              <a:t>any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time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using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Server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Manager.</a:t>
            </a:r>
            <a:endParaRPr sz="1800">
              <a:latin typeface="Verdana"/>
              <a:cs typeface="Verdana"/>
            </a:endParaRPr>
          </a:p>
          <a:p>
            <a:pPr marL="194945" indent="-182880">
              <a:lnSpc>
                <a:spcPct val="100000"/>
              </a:lnSpc>
              <a:spcBef>
                <a:spcPts val="495"/>
              </a:spcBef>
              <a:buSzPct val="94444"/>
              <a:buFont typeface="Wingdings"/>
              <a:buChar char=""/>
              <a:tabLst>
                <a:tab pos="195580" algn="l"/>
              </a:tabLst>
            </a:pPr>
            <a:r>
              <a:rPr sz="1800" dirty="0">
                <a:latin typeface="Verdana"/>
                <a:cs typeface="Verdana"/>
              </a:rPr>
              <a:t>From </a:t>
            </a:r>
            <a:r>
              <a:rPr sz="1800" spc="-5" dirty="0">
                <a:latin typeface="Verdana"/>
                <a:cs typeface="Verdana"/>
              </a:rPr>
              <a:t>the </a:t>
            </a:r>
            <a:r>
              <a:rPr sz="1800" b="1" spc="-5" dirty="0">
                <a:latin typeface="Verdana"/>
                <a:cs typeface="Verdana"/>
              </a:rPr>
              <a:t>Start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menu,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choose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Programs</a:t>
            </a:r>
            <a:r>
              <a:rPr sz="1800" b="1" spc="-1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&gt;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SAP </a:t>
            </a:r>
            <a:r>
              <a:rPr sz="1800" b="1" dirty="0">
                <a:latin typeface="Verdana"/>
                <a:cs typeface="Verdana"/>
              </a:rPr>
              <a:t>Business</a:t>
            </a:r>
            <a:r>
              <a:rPr sz="1800" b="1" spc="-2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ObjectsXI</a:t>
            </a:r>
            <a:r>
              <a:rPr sz="1800" b="1" dirty="0">
                <a:latin typeface="Verdana"/>
                <a:cs typeface="Verdana"/>
              </a:rPr>
              <a:t> 3.2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&gt;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SAP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Verdana"/>
                <a:cs typeface="Verdana"/>
              </a:rPr>
              <a:t>Business</a:t>
            </a:r>
            <a:r>
              <a:rPr sz="1800" b="1" spc="-5" dirty="0">
                <a:latin typeface="Verdana"/>
                <a:cs typeface="Verdana"/>
              </a:rPr>
              <a:t> Objects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Data Services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&gt;</a:t>
            </a:r>
            <a:r>
              <a:rPr sz="1800" b="1" spc="-5" dirty="0">
                <a:latin typeface="Verdana"/>
                <a:cs typeface="Verdana"/>
              </a:rPr>
              <a:t> Data Services Server</a:t>
            </a:r>
            <a:r>
              <a:rPr sz="1800" b="1" dirty="0">
                <a:latin typeface="Verdana"/>
                <a:cs typeface="Verdana"/>
              </a:rPr>
              <a:t> Manager.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7328" y="166573"/>
            <a:ext cx="5750560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CREATING</a:t>
            </a:r>
            <a:r>
              <a:rPr spc="-30" dirty="0"/>
              <a:t> </a:t>
            </a:r>
            <a:r>
              <a:rPr dirty="0"/>
              <a:t>JOB</a:t>
            </a:r>
            <a:r>
              <a:rPr spc="-65" dirty="0"/>
              <a:t> </a:t>
            </a:r>
            <a:r>
              <a:rPr dirty="0"/>
              <a:t>SERVER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8379" y="1231391"/>
            <a:ext cx="6819900" cy="538429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 marR="5080">
              <a:lnSpc>
                <a:spcPts val="4100"/>
              </a:lnSpc>
              <a:spcBef>
                <a:spcPts val="625"/>
              </a:spcBef>
            </a:pPr>
            <a:r>
              <a:rPr spc="-25" dirty="0"/>
              <a:t>ASSOCIATING </a:t>
            </a:r>
            <a:r>
              <a:rPr spc="-5" dirty="0"/>
              <a:t>THE </a:t>
            </a:r>
            <a:r>
              <a:rPr spc="-15" dirty="0"/>
              <a:t>REPOSITORY </a:t>
            </a:r>
            <a:r>
              <a:rPr dirty="0"/>
              <a:t>WITH A </a:t>
            </a:r>
            <a:r>
              <a:rPr spc="-1330" dirty="0"/>
              <a:t> </a:t>
            </a:r>
            <a:r>
              <a:rPr dirty="0"/>
              <a:t>JOB</a:t>
            </a:r>
            <a:r>
              <a:rPr spc="-15" dirty="0"/>
              <a:t> </a:t>
            </a:r>
            <a:r>
              <a:rPr dirty="0"/>
              <a:t>SERVER: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7147" y="1595754"/>
            <a:ext cx="10050780" cy="2875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Each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repository</a:t>
            </a:r>
            <a:r>
              <a:rPr sz="1800" dirty="0">
                <a:latin typeface="Verdana"/>
                <a:cs typeface="Verdana"/>
              </a:rPr>
              <a:t> must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associated</a:t>
            </a:r>
            <a:r>
              <a:rPr sz="1800" dirty="0">
                <a:latin typeface="Verdana"/>
                <a:cs typeface="Verdana"/>
              </a:rPr>
              <a:t> with at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least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Job </a:t>
            </a:r>
            <a:r>
              <a:rPr sz="1800" spc="-40" dirty="0">
                <a:latin typeface="Verdana"/>
                <a:cs typeface="Verdana"/>
              </a:rPr>
              <a:t>Server,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which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process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that starts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jobs.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When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running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job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from a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repository,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you select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associated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repositories.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49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dirty="0">
                <a:latin typeface="Verdana"/>
                <a:cs typeface="Verdana"/>
              </a:rPr>
              <a:t>In </a:t>
            </a:r>
            <a:r>
              <a:rPr sz="1800" spc="-5" dirty="0">
                <a:latin typeface="Verdana"/>
                <a:cs typeface="Verdana"/>
              </a:rPr>
              <a:t>production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environments,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you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can balance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loads </a:t>
            </a:r>
            <a:r>
              <a:rPr sz="1800" spc="-15" dirty="0">
                <a:latin typeface="Verdana"/>
                <a:cs typeface="Verdana"/>
              </a:rPr>
              <a:t>appropriately.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45" dirty="0">
                <a:latin typeface="Verdana"/>
                <a:cs typeface="Verdana"/>
              </a:rPr>
              <a:t>You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can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link</a:t>
            </a:r>
            <a:r>
              <a:rPr sz="1800" spc="-5" dirty="0">
                <a:latin typeface="Verdana"/>
                <a:cs typeface="Verdana"/>
              </a:rPr>
              <a:t> any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number</a:t>
            </a:r>
            <a:r>
              <a:rPr sz="1800" dirty="0">
                <a:latin typeface="Verdana"/>
                <a:cs typeface="Verdana"/>
              </a:rPr>
              <a:t> of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repositories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dirty="0">
                <a:latin typeface="Verdana"/>
                <a:cs typeface="Verdana"/>
              </a:rPr>
              <a:t> a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single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Job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Server.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dirty="0">
                <a:latin typeface="Verdana"/>
                <a:cs typeface="Verdana"/>
              </a:rPr>
              <a:t> same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Job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Server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can run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jobs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stored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 multiple </a:t>
            </a:r>
            <a:r>
              <a:rPr sz="1800" spc="-5" dirty="0">
                <a:latin typeface="Verdana"/>
                <a:cs typeface="Verdana"/>
              </a:rPr>
              <a:t>repositories.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49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45" dirty="0">
                <a:latin typeface="Verdana"/>
                <a:cs typeface="Verdana"/>
              </a:rPr>
              <a:t>You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define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 Job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Server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link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it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dirty="0">
                <a:latin typeface="Verdana"/>
                <a:cs typeface="Verdana"/>
              </a:rPr>
              <a:t> a </a:t>
            </a:r>
            <a:r>
              <a:rPr sz="1800" spc="-5" dirty="0">
                <a:latin typeface="Verdana"/>
                <a:cs typeface="Verdana"/>
              </a:rPr>
              <a:t>repository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during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installation.</a:t>
            </a:r>
            <a:endParaRPr sz="1800">
              <a:latin typeface="Verdana"/>
              <a:cs typeface="Verdana"/>
            </a:endParaRPr>
          </a:p>
          <a:p>
            <a:pPr marL="12700" marR="287020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45" dirty="0">
                <a:latin typeface="Verdana"/>
                <a:cs typeface="Verdana"/>
              </a:rPr>
              <a:t>You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can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define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or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edit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Job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Servers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or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links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between</a:t>
            </a:r>
            <a:r>
              <a:rPr sz="1800" spc="4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repositories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Job Servers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at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any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time using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Server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Manager.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2200" y="467359"/>
            <a:ext cx="8093709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DIFFERENCE</a:t>
            </a:r>
            <a:r>
              <a:rPr spc="-20" dirty="0"/>
              <a:t> </a:t>
            </a:r>
            <a:r>
              <a:rPr dirty="0"/>
              <a:t>BETWEEN</a:t>
            </a:r>
            <a:r>
              <a:rPr spc="-15" dirty="0"/>
              <a:t> </a:t>
            </a:r>
            <a:r>
              <a:rPr spc="-5" dirty="0"/>
              <a:t>ETL</a:t>
            </a:r>
            <a:r>
              <a:rPr spc="-15" dirty="0"/>
              <a:t> </a:t>
            </a:r>
            <a:r>
              <a:rPr dirty="0"/>
              <a:t>/</a:t>
            </a:r>
            <a:r>
              <a:rPr spc="-20" dirty="0"/>
              <a:t> </a:t>
            </a:r>
            <a:r>
              <a:rPr spc="-110" dirty="0"/>
              <a:t>ELT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7328" y="2133422"/>
            <a:ext cx="5117465" cy="3134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Verdana"/>
                <a:cs typeface="Verdana"/>
              </a:rPr>
              <a:t>ETL</a:t>
            </a:r>
            <a:endParaRPr sz="24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1650"/>
              </a:spcBef>
            </a:pPr>
            <a:r>
              <a:rPr sz="1800" spc="-10" dirty="0">
                <a:latin typeface="Verdana"/>
                <a:cs typeface="Verdana"/>
              </a:rPr>
              <a:t>Extract, </a:t>
            </a:r>
            <a:r>
              <a:rPr sz="1800" spc="-25" dirty="0">
                <a:latin typeface="Verdana"/>
                <a:cs typeface="Verdana"/>
              </a:rPr>
              <a:t>Transform, </a:t>
            </a:r>
            <a:r>
              <a:rPr sz="1800" dirty="0">
                <a:latin typeface="Verdana"/>
                <a:cs typeface="Verdana"/>
              </a:rPr>
              <a:t>and Load </a:t>
            </a:r>
            <a:r>
              <a:rPr sz="1800" spc="-5" dirty="0">
                <a:latin typeface="Verdana"/>
                <a:cs typeface="Verdana"/>
              </a:rPr>
              <a:t>(ETL) </a:t>
            </a:r>
            <a:r>
              <a:rPr sz="1800" dirty="0">
                <a:latin typeface="Verdana"/>
                <a:cs typeface="Verdana"/>
              </a:rPr>
              <a:t>is a 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process that involves extracting data </a:t>
            </a:r>
            <a:r>
              <a:rPr sz="1800" dirty="0">
                <a:latin typeface="Verdana"/>
                <a:cs typeface="Verdana"/>
              </a:rPr>
              <a:t>from 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outside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sources,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transforming</a:t>
            </a:r>
            <a:r>
              <a:rPr sz="1800" dirty="0">
                <a:latin typeface="Verdana"/>
                <a:cs typeface="Verdana"/>
              </a:rPr>
              <a:t> it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fit 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operational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needs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(sometimes </a:t>
            </a:r>
            <a:r>
              <a:rPr sz="1800" dirty="0">
                <a:latin typeface="Verdana"/>
                <a:cs typeface="Verdana"/>
              </a:rPr>
              <a:t>using</a:t>
            </a:r>
            <a:r>
              <a:rPr sz="1800" spc="-5" dirty="0">
                <a:latin typeface="Verdana"/>
                <a:cs typeface="Verdana"/>
              </a:rPr>
              <a:t> staging </a:t>
            </a:r>
            <a:r>
              <a:rPr sz="1800" spc="-6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tables), then </a:t>
            </a:r>
            <a:r>
              <a:rPr sz="1800" dirty="0">
                <a:latin typeface="Verdana"/>
                <a:cs typeface="Verdana"/>
              </a:rPr>
              <a:t>loading it into </a:t>
            </a:r>
            <a:r>
              <a:rPr sz="1800" spc="-5" dirty="0">
                <a:latin typeface="Verdana"/>
                <a:cs typeface="Verdana"/>
              </a:rPr>
              <a:t>the </a:t>
            </a:r>
            <a:r>
              <a:rPr sz="1800" dirty="0">
                <a:latin typeface="Verdana"/>
                <a:cs typeface="Verdana"/>
              </a:rPr>
              <a:t>end </a:t>
            </a:r>
            <a:r>
              <a:rPr sz="1800" spc="-5" dirty="0">
                <a:latin typeface="Verdana"/>
                <a:cs typeface="Verdana"/>
              </a:rPr>
              <a:t>target 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database</a:t>
            </a:r>
            <a:r>
              <a:rPr sz="1800" dirty="0">
                <a:latin typeface="Verdana"/>
                <a:cs typeface="Verdana"/>
              </a:rPr>
              <a:t> or </a:t>
            </a:r>
            <a:r>
              <a:rPr sz="1800" spc="-5" dirty="0">
                <a:latin typeface="Verdana"/>
                <a:cs typeface="Verdana"/>
              </a:rPr>
              <a:t>data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warehouse.</a:t>
            </a:r>
            <a:endParaRPr sz="1800">
              <a:latin typeface="Verdana"/>
              <a:cs typeface="Verdana"/>
            </a:endParaRPr>
          </a:p>
          <a:p>
            <a:pPr marL="12700" marR="390525">
              <a:lnSpc>
                <a:spcPct val="100000"/>
              </a:lnSpc>
              <a:spcBef>
                <a:spcPts val="509"/>
              </a:spcBef>
            </a:pPr>
            <a:r>
              <a:rPr sz="1800" spc="-5" dirty="0">
                <a:latin typeface="Verdana"/>
                <a:cs typeface="Verdana"/>
              </a:rPr>
              <a:t>This approach </a:t>
            </a:r>
            <a:r>
              <a:rPr sz="1800" dirty="0">
                <a:latin typeface="Verdana"/>
                <a:cs typeface="Verdana"/>
              </a:rPr>
              <a:t>is </a:t>
            </a:r>
            <a:r>
              <a:rPr sz="1800" spc="-5" dirty="0">
                <a:latin typeface="Verdana"/>
                <a:cs typeface="Verdana"/>
              </a:rPr>
              <a:t>reasonable </a:t>
            </a:r>
            <a:r>
              <a:rPr sz="1800" dirty="0">
                <a:latin typeface="Verdana"/>
                <a:cs typeface="Verdana"/>
              </a:rPr>
              <a:t>as long as 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many different databases </a:t>
            </a:r>
            <a:r>
              <a:rPr sz="1800" dirty="0">
                <a:latin typeface="Verdana"/>
                <a:cs typeface="Verdana"/>
              </a:rPr>
              <a:t>are </a:t>
            </a:r>
            <a:r>
              <a:rPr sz="1800" spc="-5" dirty="0">
                <a:latin typeface="Verdana"/>
                <a:cs typeface="Verdana"/>
              </a:rPr>
              <a:t>involved </a:t>
            </a:r>
            <a:r>
              <a:rPr sz="1800" dirty="0">
                <a:latin typeface="Verdana"/>
                <a:cs typeface="Verdana"/>
              </a:rPr>
              <a:t>in </a:t>
            </a:r>
            <a:r>
              <a:rPr sz="1800" spc="-6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your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warehouse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landscape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ELT</a:t>
            </a:r>
          </a:p>
          <a:p>
            <a:pPr marL="12700" marR="41910">
              <a:lnSpc>
                <a:spcPct val="100000"/>
              </a:lnSpc>
              <a:spcBef>
                <a:spcPts val="1855"/>
              </a:spcBef>
            </a:pPr>
            <a:r>
              <a:rPr sz="1800" b="0" spc="-10" dirty="0">
                <a:latin typeface="Verdana"/>
                <a:cs typeface="Verdana"/>
              </a:rPr>
              <a:t>Extract, </a:t>
            </a:r>
            <a:r>
              <a:rPr sz="1800" b="0" spc="-5" dirty="0">
                <a:latin typeface="Verdana"/>
                <a:cs typeface="Verdana"/>
              </a:rPr>
              <a:t>Load, </a:t>
            </a:r>
            <a:r>
              <a:rPr sz="1800" b="0" spc="-30" dirty="0">
                <a:latin typeface="Verdana"/>
                <a:cs typeface="Verdana"/>
              </a:rPr>
              <a:t>Transform</a:t>
            </a:r>
            <a:r>
              <a:rPr sz="1800" b="0" spc="-10" dirty="0">
                <a:latin typeface="Verdana"/>
                <a:cs typeface="Verdana"/>
              </a:rPr>
              <a:t> </a:t>
            </a:r>
            <a:r>
              <a:rPr sz="1800" b="0" spc="-35" dirty="0">
                <a:latin typeface="Verdana"/>
                <a:cs typeface="Verdana"/>
              </a:rPr>
              <a:t>(ELT)</a:t>
            </a:r>
            <a:r>
              <a:rPr sz="1800" b="0" spc="-15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is a </a:t>
            </a:r>
            <a:r>
              <a:rPr sz="1800" b="0" spc="5" dirty="0">
                <a:latin typeface="Verdana"/>
                <a:cs typeface="Verdana"/>
              </a:rPr>
              <a:t> </a:t>
            </a:r>
            <a:r>
              <a:rPr sz="1800" b="0" spc="-5" dirty="0">
                <a:latin typeface="Verdana"/>
                <a:cs typeface="Verdana"/>
              </a:rPr>
              <a:t>process</a:t>
            </a:r>
            <a:r>
              <a:rPr sz="1800" b="0" dirty="0">
                <a:latin typeface="Verdana"/>
                <a:cs typeface="Verdana"/>
              </a:rPr>
              <a:t> where</a:t>
            </a:r>
            <a:r>
              <a:rPr sz="1800" b="0" spc="-5" dirty="0">
                <a:latin typeface="Verdana"/>
                <a:cs typeface="Verdana"/>
              </a:rPr>
              <a:t> data </a:t>
            </a:r>
            <a:r>
              <a:rPr sz="1800" b="0" dirty="0">
                <a:latin typeface="Verdana"/>
                <a:cs typeface="Verdana"/>
              </a:rPr>
              <a:t>is </a:t>
            </a:r>
            <a:r>
              <a:rPr sz="1800" b="0" spc="-10" dirty="0">
                <a:latin typeface="Verdana"/>
                <a:cs typeface="Verdana"/>
              </a:rPr>
              <a:t>extracted</a:t>
            </a:r>
            <a:r>
              <a:rPr sz="1800" b="0" spc="15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for</a:t>
            </a:r>
            <a:r>
              <a:rPr sz="1800" b="0" spc="-15" dirty="0">
                <a:latin typeface="Verdana"/>
                <a:cs typeface="Verdana"/>
              </a:rPr>
              <a:t> </a:t>
            </a:r>
            <a:r>
              <a:rPr sz="1800" b="0" spc="-5" dirty="0">
                <a:latin typeface="Verdana"/>
                <a:cs typeface="Verdana"/>
              </a:rPr>
              <a:t>the </a:t>
            </a:r>
            <a:r>
              <a:rPr sz="1800" b="0" dirty="0">
                <a:latin typeface="Verdana"/>
                <a:cs typeface="Verdana"/>
              </a:rPr>
              <a:t> </a:t>
            </a:r>
            <a:r>
              <a:rPr sz="1800" b="0" spc="-5" dirty="0">
                <a:latin typeface="Verdana"/>
                <a:cs typeface="Verdana"/>
              </a:rPr>
              <a:t>source,</a:t>
            </a:r>
            <a:r>
              <a:rPr sz="1800" b="0" dirty="0">
                <a:latin typeface="Verdana"/>
                <a:cs typeface="Verdana"/>
              </a:rPr>
              <a:t> </a:t>
            </a:r>
            <a:r>
              <a:rPr sz="1800" b="0" spc="-5" dirty="0">
                <a:latin typeface="Verdana"/>
                <a:cs typeface="Verdana"/>
              </a:rPr>
              <a:t>then</a:t>
            </a:r>
            <a:r>
              <a:rPr sz="1800" b="0" spc="10" dirty="0">
                <a:latin typeface="Verdana"/>
                <a:cs typeface="Verdana"/>
              </a:rPr>
              <a:t> </a:t>
            </a:r>
            <a:r>
              <a:rPr sz="1800" b="0" spc="-5" dirty="0">
                <a:latin typeface="Verdana"/>
                <a:cs typeface="Verdana"/>
              </a:rPr>
              <a:t>loaded</a:t>
            </a:r>
            <a:r>
              <a:rPr sz="1800" b="0" dirty="0">
                <a:latin typeface="Verdana"/>
                <a:cs typeface="Verdana"/>
              </a:rPr>
              <a:t> into</a:t>
            </a:r>
            <a:r>
              <a:rPr sz="1800" b="0" spc="-10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a </a:t>
            </a:r>
            <a:r>
              <a:rPr sz="1800" b="0" spc="-5" dirty="0">
                <a:latin typeface="Verdana"/>
                <a:cs typeface="Verdana"/>
              </a:rPr>
              <a:t>staging</a:t>
            </a:r>
            <a:r>
              <a:rPr sz="1800" b="0" spc="5" dirty="0">
                <a:latin typeface="Verdana"/>
                <a:cs typeface="Verdana"/>
              </a:rPr>
              <a:t> </a:t>
            </a:r>
            <a:r>
              <a:rPr sz="1800" b="0" spc="-5" dirty="0">
                <a:latin typeface="Verdana"/>
                <a:cs typeface="Verdana"/>
              </a:rPr>
              <a:t>table </a:t>
            </a:r>
            <a:r>
              <a:rPr sz="1800" b="0" dirty="0">
                <a:latin typeface="Verdana"/>
                <a:cs typeface="Verdana"/>
              </a:rPr>
              <a:t> in </a:t>
            </a:r>
            <a:r>
              <a:rPr sz="1800" b="0" spc="-5" dirty="0">
                <a:latin typeface="Verdana"/>
                <a:cs typeface="Verdana"/>
              </a:rPr>
              <a:t>the database, transforming </a:t>
            </a:r>
            <a:r>
              <a:rPr sz="1800" b="0" dirty="0">
                <a:latin typeface="Verdana"/>
                <a:cs typeface="Verdana"/>
              </a:rPr>
              <a:t>it where </a:t>
            </a:r>
            <a:r>
              <a:rPr sz="1800" b="0" spc="5" dirty="0">
                <a:latin typeface="Verdana"/>
                <a:cs typeface="Verdana"/>
              </a:rPr>
              <a:t>it </a:t>
            </a:r>
            <a:r>
              <a:rPr sz="1800" b="0" spc="-620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sits in </a:t>
            </a:r>
            <a:r>
              <a:rPr sz="1800" b="0" spc="-5" dirty="0">
                <a:latin typeface="Verdana"/>
                <a:cs typeface="Verdana"/>
              </a:rPr>
              <a:t>the database </a:t>
            </a:r>
            <a:r>
              <a:rPr sz="1800" b="0" dirty="0">
                <a:latin typeface="Verdana"/>
                <a:cs typeface="Verdana"/>
              </a:rPr>
              <a:t>and </a:t>
            </a:r>
            <a:r>
              <a:rPr sz="1800" b="0" spc="-5" dirty="0">
                <a:latin typeface="Verdana"/>
                <a:cs typeface="Verdana"/>
              </a:rPr>
              <a:t>then </a:t>
            </a:r>
            <a:r>
              <a:rPr sz="1800" b="0" dirty="0">
                <a:latin typeface="Verdana"/>
                <a:cs typeface="Verdana"/>
              </a:rPr>
              <a:t>loading it </a:t>
            </a:r>
            <a:r>
              <a:rPr sz="1800" b="0" spc="5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into</a:t>
            </a:r>
            <a:r>
              <a:rPr sz="1800" b="0" spc="-5" dirty="0">
                <a:latin typeface="Verdana"/>
                <a:cs typeface="Verdana"/>
              </a:rPr>
              <a:t> the target</a:t>
            </a:r>
            <a:r>
              <a:rPr sz="1800" b="0" spc="20" dirty="0">
                <a:latin typeface="Verdana"/>
                <a:cs typeface="Verdana"/>
              </a:rPr>
              <a:t> </a:t>
            </a:r>
            <a:r>
              <a:rPr sz="1800" b="0" spc="-5" dirty="0">
                <a:latin typeface="Verdana"/>
                <a:cs typeface="Verdana"/>
              </a:rPr>
              <a:t>database</a:t>
            </a:r>
            <a:r>
              <a:rPr sz="1800" b="0" spc="5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or</a:t>
            </a:r>
            <a:r>
              <a:rPr sz="1800" b="0" spc="-5" dirty="0">
                <a:latin typeface="Verdana"/>
                <a:cs typeface="Verdana"/>
              </a:rPr>
              <a:t> </a:t>
            </a:r>
            <a:r>
              <a:rPr sz="1800" b="0" spc="-10" dirty="0">
                <a:latin typeface="Verdana"/>
                <a:cs typeface="Verdana"/>
              </a:rPr>
              <a:t>data </a:t>
            </a:r>
            <a:r>
              <a:rPr sz="1800" b="0" spc="-5" dirty="0">
                <a:latin typeface="Verdana"/>
                <a:cs typeface="Verdana"/>
              </a:rPr>
              <a:t> warehouse.</a:t>
            </a:r>
            <a:endParaRPr sz="18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509"/>
              </a:spcBef>
            </a:pPr>
            <a:r>
              <a:rPr sz="1800" b="0" spc="-5" dirty="0">
                <a:latin typeface="Verdana"/>
                <a:cs typeface="Verdana"/>
              </a:rPr>
              <a:t>When the</a:t>
            </a:r>
            <a:r>
              <a:rPr sz="1800" b="0" spc="10" dirty="0">
                <a:latin typeface="Verdana"/>
                <a:cs typeface="Verdana"/>
              </a:rPr>
              <a:t> </a:t>
            </a:r>
            <a:r>
              <a:rPr sz="1800" b="0" spc="-5" dirty="0">
                <a:latin typeface="Verdana"/>
                <a:cs typeface="Verdana"/>
              </a:rPr>
              <a:t>data</a:t>
            </a:r>
            <a:r>
              <a:rPr sz="1800" b="0" dirty="0">
                <a:latin typeface="Verdana"/>
                <a:cs typeface="Verdana"/>
              </a:rPr>
              <a:t> is</a:t>
            </a:r>
            <a:r>
              <a:rPr sz="1800" b="0" spc="-10" dirty="0">
                <a:latin typeface="Verdana"/>
                <a:cs typeface="Verdana"/>
              </a:rPr>
              <a:t> extracted</a:t>
            </a:r>
            <a:r>
              <a:rPr sz="1800" b="0" spc="20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from </a:t>
            </a:r>
            <a:r>
              <a:rPr sz="1800" b="0" spc="-5" dirty="0">
                <a:latin typeface="Verdana"/>
                <a:cs typeface="Verdana"/>
              </a:rPr>
              <a:t>the </a:t>
            </a:r>
            <a:r>
              <a:rPr sz="1800" b="0" dirty="0">
                <a:latin typeface="Verdana"/>
                <a:cs typeface="Verdana"/>
              </a:rPr>
              <a:t> source into </a:t>
            </a:r>
            <a:r>
              <a:rPr sz="1800" b="0" spc="-5" dirty="0">
                <a:latin typeface="Verdana"/>
                <a:cs typeface="Verdana"/>
              </a:rPr>
              <a:t>the staging tables, </a:t>
            </a:r>
            <a:r>
              <a:rPr sz="1800" b="0" dirty="0">
                <a:latin typeface="Verdana"/>
                <a:cs typeface="Verdana"/>
              </a:rPr>
              <a:t>it </a:t>
            </a:r>
            <a:r>
              <a:rPr sz="1800" b="0" spc="5" dirty="0">
                <a:latin typeface="Verdana"/>
                <a:cs typeface="Verdana"/>
              </a:rPr>
              <a:t>is </a:t>
            </a:r>
            <a:r>
              <a:rPr sz="1800" b="0" dirty="0">
                <a:latin typeface="Verdana"/>
                <a:cs typeface="Verdana"/>
              </a:rPr>
              <a:t>a </a:t>
            </a:r>
            <a:r>
              <a:rPr sz="1800" b="0" spc="-20" dirty="0">
                <a:latin typeface="Verdana"/>
                <a:cs typeface="Verdana"/>
              </a:rPr>
              <a:t>raw </a:t>
            </a:r>
            <a:r>
              <a:rPr sz="1800" b="0" spc="-620" dirty="0">
                <a:latin typeface="Verdana"/>
                <a:cs typeface="Verdana"/>
              </a:rPr>
              <a:t> </a:t>
            </a:r>
            <a:r>
              <a:rPr sz="1800" b="0" spc="-40" dirty="0">
                <a:latin typeface="Verdana"/>
                <a:cs typeface="Verdana"/>
              </a:rPr>
              <a:t>copy,</a:t>
            </a:r>
            <a:r>
              <a:rPr sz="1800" b="0" spc="-10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meaning</a:t>
            </a:r>
            <a:r>
              <a:rPr sz="1800" b="0" spc="-15" dirty="0">
                <a:latin typeface="Verdana"/>
                <a:cs typeface="Verdana"/>
              </a:rPr>
              <a:t> </a:t>
            </a:r>
            <a:r>
              <a:rPr sz="1800" b="0" spc="-5" dirty="0">
                <a:latin typeface="Verdana"/>
                <a:cs typeface="Verdana"/>
              </a:rPr>
              <a:t>you</a:t>
            </a:r>
            <a:r>
              <a:rPr sz="1800" b="0" spc="-20" dirty="0">
                <a:latin typeface="Verdana"/>
                <a:cs typeface="Verdana"/>
              </a:rPr>
              <a:t> </a:t>
            </a:r>
            <a:r>
              <a:rPr sz="1800" b="0" spc="-5" dirty="0">
                <a:latin typeface="Verdana"/>
                <a:cs typeface="Verdana"/>
              </a:rPr>
              <a:t>keep</a:t>
            </a:r>
            <a:r>
              <a:rPr sz="1800" b="0" spc="5" dirty="0">
                <a:latin typeface="Verdana"/>
                <a:cs typeface="Verdana"/>
              </a:rPr>
              <a:t> </a:t>
            </a:r>
            <a:r>
              <a:rPr sz="1800" b="0" spc="-5" dirty="0">
                <a:latin typeface="Verdana"/>
                <a:cs typeface="Verdana"/>
              </a:rPr>
              <a:t>the</a:t>
            </a:r>
            <a:r>
              <a:rPr sz="1800" b="0" dirty="0">
                <a:latin typeface="Verdana"/>
                <a:cs typeface="Verdana"/>
              </a:rPr>
              <a:t> column </a:t>
            </a:r>
            <a:r>
              <a:rPr sz="1800" b="0" spc="5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names</a:t>
            </a:r>
            <a:r>
              <a:rPr sz="1800" b="0" spc="-10" dirty="0">
                <a:latin typeface="Verdana"/>
                <a:cs typeface="Verdana"/>
              </a:rPr>
              <a:t> </a:t>
            </a:r>
            <a:r>
              <a:rPr sz="1800" b="0" spc="-5" dirty="0">
                <a:latin typeface="Verdana"/>
                <a:cs typeface="Verdana"/>
              </a:rPr>
              <a:t>the</a:t>
            </a:r>
            <a:r>
              <a:rPr sz="1800" b="0" dirty="0">
                <a:latin typeface="Verdana"/>
                <a:cs typeface="Verdana"/>
              </a:rPr>
              <a:t> same</a:t>
            </a:r>
            <a:r>
              <a:rPr sz="1800" b="0" spc="-10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as</a:t>
            </a:r>
            <a:r>
              <a:rPr sz="1800" b="0" spc="-5" dirty="0">
                <a:latin typeface="Verdana"/>
                <a:cs typeface="Verdana"/>
              </a:rPr>
              <a:t> </a:t>
            </a:r>
            <a:r>
              <a:rPr sz="1800" b="0" spc="5" dirty="0">
                <a:latin typeface="Verdana"/>
                <a:cs typeface="Verdana"/>
              </a:rPr>
              <a:t>in</a:t>
            </a:r>
            <a:r>
              <a:rPr sz="1800" b="0" spc="-5" dirty="0">
                <a:latin typeface="Verdana"/>
                <a:cs typeface="Verdana"/>
              </a:rPr>
              <a:t> the </a:t>
            </a:r>
            <a:r>
              <a:rPr sz="1800" b="0" dirty="0">
                <a:latin typeface="Verdana"/>
                <a:cs typeface="Verdana"/>
              </a:rPr>
              <a:t>source</a:t>
            </a:r>
            <a:endParaRPr sz="1800">
              <a:latin typeface="Verdana"/>
              <a:cs typeface="Verdana"/>
            </a:endParaRPr>
          </a:p>
          <a:p>
            <a:pPr marL="12700" marR="398780">
              <a:lnSpc>
                <a:spcPct val="100000"/>
              </a:lnSpc>
              <a:spcBef>
                <a:spcPts val="5"/>
              </a:spcBef>
            </a:pPr>
            <a:r>
              <a:rPr sz="1800" b="0" spc="-5" dirty="0">
                <a:latin typeface="Verdana"/>
                <a:cs typeface="Verdana"/>
              </a:rPr>
              <a:t>database </a:t>
            </a:r>
            <a:r>
              <a:rPr sz="1800" b="0" dirty="0">
                <a:latin typeface="Verdana"/>
                <a:cs typeface="Verdana"/>
              </a:rPr>
              <a:t>and </a:t>
            </a:r>
            <a:r>
              <a:rPr sz="1800" b="0" spc="-5" dirty="0">
                <a:latin typeface="Verdana"/>
                <a:cs typeface="Verdana"/>
              </a:rPr>
              <a:t>you </a:t>
            </a:r>
            <a:r>
              <a:rPr sz="1800" b="0" dirty="0">
                <a:latin typeface="Verdana"/>
                <a:cs typeface="Verdana"/>
              </a:rPr>
              <a:t>don’t </a:t>
            </a:r>
            <a:r>
              <a:rPr sz="1800" b="0" spc="-5" dirty="0">
                <a:latin typeface="Verdana"/>
                <a:cs typeface="Verdana"/>
              </a:rPr>
              <a:t>convert data, </a:t>
            </a:r>
            <a:r>
              <a:rPr sz="1800" b="0" spc="-620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calculate</a:t>
            </a:r>
            <a:r>
              <a:rPr sz="1800" b="0" spc="-15" dirty="0">
                <a:latin typeface="Verdana"/>
                <a:cs typeface="Verdana"/>
              </a:rPr>
              <a:t> </a:t>
            </a:r>
            <a:r>
              <a:rPr sz="1800" b="0" dirty="0">
                <a:latin typeface="Verdana"/>
                <a:cs typeface="Verdana"/>
              </a:rPr>
              <a:t>new </a:t>
            </a:r>
            <a:r>
              <a:rPr sz="1800" b="0" spc="-5" dirty="0">
                <a:latin typeface="Verdana"/>
                <a:cs typeface="Verdana"/>
              </a:rPr>
              <a:t>data </a:t>
            </a:r>
            <a:r>
              <a:rPr sz="1800" b="0" dirty="0">
                <a:latin typeface="Verdana"/>
                <a:cs typeface="Verdana"/>
              </a:rPr>
              <a:t>fields,</a:t>
            </a:r>
            <a:r>
              <a:rPr sz="1800" b="0" spc="15" dirty="0">
                <a:latin typeface="Verdana"/>
                <a:cs typeface="Verdana"/>
              </a:rPr>
              <a:t> </a:t>
            </a:r>
            <a:r>
              <a:rPr sz="1800" b="0" spc="-5" dirty="0">
                <a:latin typeface="Verdana"/>
                <a:cs typeface="Verdana"/>
              </a:rPr>
              <a:t>etc.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96000" y="2206751"/>
            <a:ext cx="0" cy="4006215"/>
          </a:xfrm>
          <a:custGeom>
            <a:avLst/>
            <a:gdLst/>
            <a:ahLst/>
            <a:cxnLst/>
            <a:rect l="l" t="t" r="r" b="b"/>
            <a:pathLst>
              <a:path h="4006215">
                <a:moveTo>
                  <a:pt x="0" y="0"/>
                </a:moveTo>
                <a:lnTo>
                  <a:pt x="0" y="4005948"/>
                </a:lnTo>
              </a:path>
            </a:pathLst>
          </a:custGeom>
          <a:ln w="6096">
            <a:solidFill>
              <a:srgbClr val="006F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63261" y="2371470"/>
            <a:ext cx="23952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Verdana"/>
                <a:cs typeface="Verdana"/>
              </a:rPr>
              <a:t>THANK</a:t>
            </a:r>
            <a:r>
              <a:rPr sz="2800" b="1" spc="-40" dirty="0">
                <a:latin typeface="Verdana"/>
                <a:cs typeface="Verdana"/>
              </a:rPr>
              <a:t> </a:t>
            </a:r>
            <a:r>
              <a:rPr sz="2800" b="1" spc="-5" dirty="0">
                <a:latin typeface="Verdana"/>
                <a:cs typeface="Verdana"/>
              </a:rPr>
              <a:t>YOU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495544" y="3020567"/>
            <a:ext cx="927100" cy="927100"/>
            <a:chOff x="5495544" y="3020567"/>
            <a:chExt cx="927100" cy="927100"/>
          </a:xfrm>
        </p:grpSpPr>
        <p:sp>
          <p:nvSpPr>
            <p:cNvPr id="4" name="object 4"/>
            <p:cNvSpPr/>
            <p:nvPr/>
          </p:nvSpPr>
          <p:spPr>
            <a:xfrm>
              <a:off x="5501640" y="3026663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F7FF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64784" y="3299459"/>
              <a:ext cx="388620" cy="95250"/>
            </a:xfrm>
            <a:custGeom>
              <a:avLst/>
              <a:gdLst/>
              <a:ahLst/>
              <a:cxnLst/>
              <a:rect l="l" t="t" r="r" b="b"/>
              <a:pathLst>
                <a:path w="388620" h="95250">
                  <a:moveTo>
                    <a:pt x="47625" y="0"/>
                  </a:moveTo>
                  <a:lnTo>
                    <a:pt x="29092" y="3744"/>
                  </a:lnTo>
                  <a:lnTo>
                    <a:pt x="13954" y="13954"/>
                  </a:lnTo>
                  <a:lnTo>
                    <a:pt x="3744" y="29092"/>
                  </a:lnTo>
                  <a:lnTo>
                    <a:pt x="0" y="47625"/>
                  </a:lnTo>
                  <a:lnTo>
                    <a:pt x="3744" y="66157"/>
                  </a:lnTo>
                  <a:lnTo>
                    <a:pt x="13954" y="81295"/>
                  </a:lnTo>
                  <a:lnTo>
                    <a:pt x="29092" y="91505"/>
                  </a:lnTo>
                  <a:lnTo>
                    <a:pt x="47625" y="95250"/>
                  </a:lnTo>
                  <a:lnTo>
                    <a:pt x="66157" y="91505"/>
                  </a:lnTo>
                  <a:lnTo>
                    <a:pt x="81295" y="81295"/>
                  </a:lnTo>
                  <a:lnTo>
                    <a:pt x="91505" y="66157"/>
                  </a:lnTo>
                  <a:lnTo>
                    <a:pt x="95250" y="47625"/>
                  </a:lnTo>
                  <a:lnTo>
                    <a:pt x="91505" y="29092"/>
                  </a:lnTo>
                  <a:lnTo>
                    <a:pt x="81295" y="13954"/>
                  </a:lnTo>
                  <a:lnTo>
                    <a:pt x="66157" y="3744"/>
                  </a:lnTo>
                  <a:lnTo>
                    <a:pt x="47625" y="0"/>
                  </a:lnTo>
                  <a:close/>
                </a:path>
                <a:path w="388620" h="95250">
                  <a:moveTo>
                    <a:pt x="340487" y="0"/>
                  </a:moveTo>
                  <a:lnTo>
                    <a:pt x="321954" y="3744"/>
                  </a:lnTo>
                  <a:lnTo>
                    <a:pt x="306816" y="13954"/>
                  </a:lnTo>
                  <a:lnTo>
                    <a:pt x="296606" y="29092"/>
                  </a:lnTo>
                  <a:lnTo>
                    <a:pt x="292862" y="47625"/>
                  </a:lnTo>
                  <a:lnTo>
                    <a:pt x="296606" y="66157"/>
                  </a:lnTo>
                  <a:lnTo>
                    <a:pt x="306816" y="81295"/>
                  </a:lnTo>
                  <a:lnTo>
                    <a:pt x="321954" y="91505"/>
                  </a:lnTo>
                  <a:lnTo>
                    <a:pt x="340487" y="95250"/>
                  </a:lnTo>
                  <a:lnTo>
                    <a:pt x="359019" y="91505"/>
                  </a:lnTo>
                  <a:lnTo>
                    <a:pt x="374157" y="81295"/>
                  </a:lnTo>
                  <a:lnTo>
                    <a:pt x="384367" y="66157"/>
                  </a:lnTo>
                  <a:lnTo>
                    <a:pt x="388112" y="47625"/>
                  </a:lnTo>
                  <a:lnTo>
                    <a:pt x="384367" y="29092"/>
                  </a:lnTo>
                  <a:lnTo>
                    <a:pt x="374157" y="13954"/>
                  </a:lnTo>
                  <a:lnTo>
                    <a:pt x="359019" y="3744"/>
                  </a:lnTo>
                  <a:lnTo>
                    <a:pt x="340487" y="0"/>
                  </a:lnTo>
                  <a:close/>
                </a:path>
              </a:pathLst>
            </a:custGeom>
            <a:solidFill>
              <a:srgbClr val="C6CD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8688" y="3293363"/>
              <a:ext cx="107442" cy="10744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51550" y="3293363"/>
              <a:ext cx="107442" cy="10744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501640" y="3026663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209423" y="656590"/>
                  </a:moveTo>
                  <a:lnTo>
                    <a:pt x="254478" y="684708"/>
                  </a:lnTo>
                  <a:lnTo>
                    <a:pt x="299522" y="707203"/>
                  </a:lnTo>
                  <a:lnTo>
                    <a:pt x="344554" y="724074"/>
                  </a:lnTo>
                  <a:lnTo>
                    <a:pt x="389575" y="735321"/>
                  </a:lnTo>
                  <a:lnTo>
                    <a:pt x="434587" y="740945"/>
                  </a:lnTo>
                  <a:lnTo>
                    <a:pt x="479588" y="740945"/>
                  </a:lnTo>
                  <a:lnTo>
                    <a:pt x="524580" y="735321"/>
                  </a:lnTo>
                  <a:lnTo>
                    <a:pt x="569564" y="724074"/>
                  </a:lnTo>
                  <a:lnTo>
                    <a:pt x="614539" y="707203"/>
                  </a:lnTo>
                  <a:lnTo>
                    <a:pt x="659507" y="684708"/>
                  </a:lnTo>
                  <a:lnTo>
                    <a:pt x="704469" y="656590"/>
                  </a:lnTo>
                </a:path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12192">
              <a:solidFill>
                <a:srgbClr val="0050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8604E4B921FB4F93D8730230AA0870" ma:contentTypeVersion="14" ma:contentTypeDescription="Create a new document." ma:contentTypeScope="" ma:versionID="c969565bd0441f143c008ea4f71f08fa">
  <xsd:schema xmlns:xsd="http://www.w3.org/2001/XMLSchema" xmlns:xs="http://www.w3.org/2001/XMLSchema" xmlns:p="http://schemas.microsoft.com/office/2006/metadata/properties" xmlns:ns2="b5bd380f-4f72-4d40-8fc8-67f930036d20" xmlns:ns3="dd57703e-8384-4d8b-be02-c5599229607d" targetNamespace="http://schemas.microsoft.com/office/2006/metadata/properties" ma:root="true" ma:fieldsID="43b57f1948bdfaf8442f9e5286e9a92a" ns2:_="" ns3:_="">
    <xsd:import namespace="b5bd380f-4f72-4d40-8fc8-67f930036d20"/>
    <xsd:import namespace="dd57703e-8384-4d8b-be02-c5599229607d"/>
    <xsd:element name="properties">
      <xsd:complexType>
        <xsd:sequence>
          <xsd:element name="documentManagement">
            <xsd:complexType>
              <xsd:all>
                <xsd:element ref="ns2:Level"/>
                <xsd:element ref="ns2:Category"/>
                <xsd:element ref="ns2:Material_x0020_Type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bd380f-4f72-4d40-8fc8-67f930036d20" elementFormDefault="qualified">
    <xsd:import namespace="http://schemas.microsoft.com/office/2006/documentManagement/types"/>
    <xsd:import namespace="http://schemas.microsoft.com/office/infopath/2007/PartnerControls"/>
    <xsd:element name="Level" ma:index="8" ma:displayName="Level" ma:format="Dropdown" ma:internalName="Level">
      <xsd:simpleType>
        <xsd:restriction base="dms:Choice">
          <xsd:enumeration value="L1"/>
          <xsd:enumeration value="L2"/>
          <xsd:enumeration value="L3"/>
          <xsd:enumeration value="L4"/>
          <xsd:enumeration value="Common"/>
        </xsd:restriction>
      </xsd:simpleType>
    </xsd:element>
    <xsd:element name="Category" ma:index="9" ma:displayName="Category" ma:default="Module Artifact" ma:format="Dropdown" ma:internalName="Category">
      <xsd:simpleType>
        <xsd:restriction base="dms:Choice">
          <xsd:enumeration value="Module Artifact"/>
          <xsd:enumeration value="Assessment Component"/>
        </xsd:restriction>
      </xsd:simpleType>
    </xsd:element>
    <xsd:element name="Material_x0020_Type" ma:index="10" ma:displayName="Material Type" ma:default="Class book" ma:format="Dropdown" ma:internalName="Material_x0020_Type">
      <xsd:simpleType>
        <xsd:restriction base="dms:Choice">
          <xsd:enumeration value="Demos"/>
          <xsd:enumeration value="Extra Example"/>
          <xsd:enumeration value="Extra Material"/>
          <xsd:enumeration value="Suggestions"/>
          <xsd:enumeration value="General"/>
          <xsd:enumeration value="Module Test Practical"/>
          <xsd:enumeration value="Module Test Theory"/>
          <xsd:enumeration value="Quiz"/>
          <xsd:enumeration value="Class book"/>
          <xsd:enumeration value="Lab book"/>
          <xsd:enumeration value="Recordings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7703e-8384-4d8b-be02-c5599229607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aterial_x0020_Type xmlns="b5bd380f-4f72-4d40-8fc8-67f930036d20">Class book</Material_x0020_Type>
    <Category xmlns="b5bd380f-4f72-4d40-8fc8-67f930036d20">Module Artifact</Category>
    <Level xmlns="b5bd380f-4f72-4d40-8fc8-67f930036d20">L1</Level>
  </documentManagement>
</p:properties>
</file>

<file path=customXml/itemProps1.xml><?xml version="1.0" encoding="utf-8"?>
<ds:datastoreItem xmlns:ds="http://schemas.openxmlformats.org/officeDocument/2006/customXml" ds:itemID="{8FA2D795-9527-4C8C-A684-18B71C569E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54E407B-6F7A-4497-96BE-271F738322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5bd380f-4f72-4d40-8fc8-67f930036d20"/>
    <ds:schemaRef ds:uri="dd57703e-8384-4d8b-be02-c559922960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91D957E-1DE8-4EBC-B722-3AC78B39C6A2}">
  <ds:schemaRefs>
    <ds:schemaRef ds:uri="http://schemas.microsoft.com/office/2006/metadata/properties"/>
    <ds:schemaRef ds:uri="http://schemas.microsoft.com/office/infopath/2007/PartnerControls"/>
    <ds:schemaRef ds:uri="b5bd380f-4f72-4d40-8fc8-67f930036d2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2546</Words>
  <Application>Microsoft Office PowerPoint</Application>
  <PresentationFormat>Widescreen</PresentationFormat>
  <Paragraphs>201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Calibri</vt:lpstr>
      <vt:lpstr>Verdana</vt:lpstr>
      <vt:lpstr>Wingdings</vt:lpstr>
      <vt:lpstr>Office Theme</vt:lpstr>
      <vt:lpstr>Training Day 1</vt:lpstr>
      <vt:lpstr>AGENDA</vt:lpstr>
      <vt:lpstr>DATA WAREHOUSE</vt:lpstr>
      <vt:lpstr>WHAT IS DATA WAREHOUSING?</vt:lpstr>
      <vt:lpstr>WHY DATA WAREHOUSING ?</vt:lpstr>
      <vt:lpstr>DATA WAREHOUSE STRATEGIES</vt:lpstr>
      <vt:lpstr>DATA WAREHOUSE ARCHITECTURE</vt:lpstr>
      <vt:lpstr>DATA WAREHOUSE ARCHITECTURE</vt:lpstr>
      <vt:lpstr>DATA WAREHOUSING AND ETL</vt:lpstr>
      <vt:lpstr>ETL PROCESS</vt:lpstr>
      <vt:lpstr>ETL – EXTRACT, TRANSFORM, LOAD</vt:lpstr>
      <vt:lpstr>ETL PROCESS</vt:lpstr>
      <vt:lpstr>DATA EXTRACTION</vt:lpstr>
      <vt:lpstr>DATA EXTRACTION</vt:lpstr>
      <vt:lpstr>DATA TRANSFORMATION</vt:lpstr>
      <vt:lpstr>DATA LOADING</vt:lpstr>
      <vt:lpstr>BODS OVERVIEW - ARCHITECTURE / TOOL &amp;  FUNCTIONS</vt:lpstr>
      <vt:lpstr>DATA SERVICES ARCHITECTURE</vt:lpstr>
      <vt:lpstr>DISTRIBUTED ARCHITECTURE</vt:lpstr>
      <vt:lpstr>DISTRIBUTED ARCHITECTURE</vt:lpstr>
      <vt:lpstr>DATA SERVICES COMPONENTS AND  RELATIONSHIPS</vt:lpstr>
      <vt:lpstr>DATA SERVICES PRODUCT  COMPONENTS</vt:lpstr>
      <vt:lpstr>DESIGNER</vt:lpstr>
      <vt:lpstr>JOB SERVER</vt:lpstr>
      <vt:lpstr>ENGINE</vt:lpstr>
      <vt:lpstr>REPOSITORY</vt:lpstr>
      <vt:lpstr>ACCESS SERVER</vt:lpstr>
      <vt:lpstr>MANAGEMENT CONSOLE</vt:lpstr>
      <vt:lpstr>MANAGEMENT CONSOLE WINDOW  OVERVIEW</vt:lpstr>
      <vt:lpstr>ADMINISTRATOR</vt:lpstr>
      <vt:lpstr>IMPACT AND LINEAGE ANALYSIS  REPORTS</vt:lpstr>
      <vt:lpstr>OPERATIONAL DASHBOARD REPORTS</vt:lpstr>
      <vt:lpstr>AUTO DOCUMENTATION REPORTS</vt:lpstr>
      <vt:lpstr>DATA VALIDATION DASHBOARD</vt:lpstr>
      <vt:lpstr>MANAGEMENT TOOLS</vt:lpstr>
      <vt:lpstr>REPOSITORY MANAGER</vt:lpstr>
      <vt:lpstr>PowerPoint Presentation</vt:lpstr>
      <vt:lpstr>CREATING REPOSITORY</vt:lpstr>
      <vt:lpstr>CREATING REPOSITORY</vt:lpstr>
      <vt:lpstr>SERVER MANAGER</vt:lpstr>
      <vt:lpstr>CREATING JOB SERVER</vt:lpstr>
      <vt:lpstr>CREATING JOB SERVER</vt:lpstr>
      <vt:lpstr>ASSOCIATING THE REPOSITORY WITH A  JOB SERVER:</vt:lpstr>
      <vt:lpstr>DIFFERENCE BETWEEN ETL / ELT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 Data Services Training Day 1</dc:title>
  <dc:creator>Sahu, Monika</dc:creator>
  <cp:lastModifiedBy>Namasivayam, Manivasagan</cp:lastModifiedBy>
  <cp:revision>2</cp:revision>
  <dcterms:created xsi:type="dcterms:W3CDTF">2022-01-04T13:21:11Z</dcterms:created>
  <dcterms:modified xsi:type="dcterms:W3CDTF">2024-08-07T07:13:16Z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2019-01-15T00:00:00Z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2022-01-04T00:00:00Z</vt:filetime>
  </property>
  <property fmtid="{D5CDD505-2E9C-101B-9397-08002B2CF9AE}" pid="5" name="ContentTypeId">
    <vt:lpwstr>0x0101008E8604E4B921FB4F93D8730230AA0870</vt:lpwstr>
  </property>
</Properties>
</file>