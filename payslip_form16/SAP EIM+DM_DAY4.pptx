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2" r:id="rId27"/>
    <p:sldId id="301" r:id="rId2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78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1EB7C-5A97-4C3C-BE90-9F8F7139B7C0}" type="datetimeFigureOut">
              <a:rPr lang="en-IN" smtClean="0"/>
              <a:t>05-01-2022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E0C26-D28A-4349-9254-3A96F5EEA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0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5527" y="213436"/>
            <a:ext cx="9600945" cy="60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2"/>
            <a:ext cx="11700000" cy="446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604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48871" y="213486"/>
            <a:ext cx="423672" cy="434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4100" y="-17576"/>
            <a:ext cx="10083800" cy="176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193" y="1938654"/>
            <a:ext cx="10087610" cy="2411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0"/>
            <a:ext cx="7065263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1" y="6100571"/>
            <a:ext cx="2286000" cy="5120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5454" y="2618963"/>
            <a:ext cx="4479545" cy="60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7115">
              <a:lnSpc>
                <a:spcPct val="119700"/>
              </a:lnSpc>
              <a:spcBef>
                <a:spcPts val="95"/>
              </a:spcBef>
            </a:pPr>
            <a:r>
              <a:rPr sz="3200" b="1" spc="50" dirty="0" smtClean="0">
                <a:latin typeface="Arial"/>
                <a:cs typeface="Arial"/>
              </a:rPr>
              <a:t>T</a:t>
            </a:r>
            <a:r>
              <a:rPr sz="3200" b="1" dirty="0" smtClean="0">
                <a:latin typeface="Arial"/>
                <a:cs typeface="Arial"/>
              </a:rPr>
              <a:t>R</a:t>
            </a:r>
            <a:r>
              <a:rPr sz="3200" b="1" spc="60" dirty="0" smtClean="0">
                <a:latin typeface="Arial"/>
                <a:cs typeface="Arial"/>
              </a:rPr>
              <a:t>AI</a:t>
            </a:r>
            <a:r>
              <a:rPr sz="3200" b="1" spc="80" dirty="0" smtClean="0">
                <a:latin typeface="Arial"/>
                <a:cs typeface="Arial"/>
              </a:rPr>
              <a:t>N</a:t>
            </a:r>
            <a:r>
              <a:rPr sz="3200" b="1" spc="95" dirty="0" smtClean="0">
                <a:latin typeface="Arial"/>
                <a:cs typeface="Arial"/>
              </a:rPr>
              <a:t>ING</a:t>
            </a:r>
            <a:r>
              <a:rPr sz="3200" b="1" spc="-130" dirty="0" smtClean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D</a:t>
            </a:r>
            <a:r>
              <a:rPr sz="3200" b="1" spc="-200" dirty="0">
                <a:latin typeface="Arial"/>
                <a:cs typeface="Arial"/>
              </a:rPr>
              <a:t>A</a:t>
            </a:r>
            <a:r>
              <a:rPr sz="3200" b="1" spc="-135" dirty="0">
                <a:latin typeface="Arial"/>
                <a:cs typeface="Arial"/>
              </a:rPr>
              <a:t>Y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lang="en-IN" sz="3200" b="1" spc="125" dirty="0">
                <a:latin typeface="Arial"/>
                <a:cs typeface="Arial"/>
              </a:rPr>
              <a:t>4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627" y="472566"/>
            <a:ext cx="2666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Verdana"/>
                <a:cs typeface="Verdana"/>
              </a:rPr>
              <a:t>AGENDA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531746"/>
            <a:ext cx="7987665" cy="20601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b="1" spc="-5" dirty="0" smtClean="0">
                <a:latin typeface="Verdana"/>
                <a:cs typeface="Verdana"/>
              </a:rPr>
              <a:t>SAP</a:t>
            </a:r>
            <a:r>
              <a:rPr sz="1800" b="1" spc="-20" dirty="0" smtClean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Migration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using </a:t>
            </a:r>
            <a:r>
              <a:rPr sz="1800" b="1" dirty="0">
                <a:latin typeface="Verdana"/>
                <a:cs typeface="Verdana"/>
              </a:rPr>
              <a:t>BODS</a:t>
            </a:r>
            <a:endParaRPr sz="1800" dirty="0">
              <a:latin typeface="Verdana"/>
              <a:cs typeface="Verdana"/>
            </a:endParaRPr>
          </a:p>
          <a:p>
            <a:pPr marL="652145" lvl="1" indent="-182245"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dirty="0">
                <a:latin typeface="Verdana"/>
                <a:cs typeface="Verdana"/>
              </a:rPr>
              <a:t>Data</a:t>
            </a:r>
            <a:r>
              <a:rPr spc="-4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Migration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concepts</a:t>
            </a:r>
            <a:endParaRPr dirty="0">
              <a:latin typeface="Verdana"/>
              <a:cs typeface="Verdana"/>
            </a:endParaRPr>
          </a:p>
          <a:p>
            <a:pPr marL="652145" lvl="1" indent="-182245"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dirty="0">
                <a:latin typeface="Verdana"/>
                <a:cs typeface="Verdana"/>
              </a:rPr>
              <a:t>About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SAP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and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their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products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in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Data</a:t>
            </a:r>
            <a:r>
              <a:rPr spc="-5" dirty="0">
                <a:latin typeface="Verdana"/>
                <a:cs typeface="Verdana"/>
              </a:rPr>
              <a:t> Migration</a:t>
            </a:r>
            <a:endParaRPr dirty="0">
              <a:latin typeface="Verdana"/>
              <a:cs typeface="Verdana"/>
            </a:endParaRPr>
          </a:p>
          <a:p>
            <a:pPr marL="652145" lvl="1" indent="-182880"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dirty="0">
                <a:latin typeface="Verdana"/>
                <a:cs typeface="Verdana"/>
              </a:rPr>
              <a:t>Different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kind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Data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Migration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techniques</a:t>
            </a:r>
            <a:endParaRPr dirty="0">
              <a:latin typeface="Verdana"/>
              <a:cs typeface="Verdana"/>
            </a:endParaRPr>
          </a:p>
          <a:p>
            <a:pPr marL="652145" lvl="1" indent="-182245"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pc="-5" dirty="0">
                <a:latin typeface="Verdana"/>
                <a:cs typeface="Verdana"/>
              </a:rPr>
              <a:t>Customer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Case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 smtClean="0">
                <a:latin typeface="Verdana"/>
                <a:cs typeface="Verdana"/>
              </a:rPr>
              <a:t>study</a:t>
            </a:r>
            <a:endParaRPr lang="en-IN" spc="-5" dirty="0" smtClean="0">
              <a:latin typeface="Verdana"/>
              <a:cs typeface="Verdana"/>
            </a:endParaRPr>
          </a:p>
          <a:p>
            <a:pPr marL="0" lvl="1">
              <a:spcBef>
                <a:spcPts val="495"/>
              </a:spcBef>
              <a:buSzPct val="94444"/>
              <a:tabLst>
                <a:tab pos="194945" algn="l"/>
              </a:tabLst>
            </a:pPr>
            <a:r>
              <a:rPr lang="en-US" b="1" spc="-5" dirty="0" smtClean="0">
                <a:latin typeface="Verdana"/>
                <a:cs typeface="Verdana"/>
              </a:rPr>
              <a:t>Accelerated </a:t>
            </a:r>
            <a:r>
              <a:rPr lang="en-US" b="1" spc="-5" dirty="0">
                <a:latin typeface="Verdana"/>
                <a:cs typeface="Verdana"/>
              </a:rPr>
              <a:t>S/4HANA data migration powered by </a:t>
            </a:r>
            <a:r>
              <a:rPr lang="en-US" b="1" spc="-5" dirty="0" err="1">
                <a:latin typeface="Verdana"/>
                <a:cs typeface="Verdana"/>
              </a:rPr>
              <a:t>DataPath</a:t>
            </a:r>
            <a:endParaRPr b="1" spc="-5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66294"/>
            <a:ext cx="882586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SAP</a:t>
            </a:r>
            <a:r>
              <a:rPr spc="-25" dirty="0"/>
              <a:t> </a:t>
            </a:r>
            <a:r>
              <a:rPr spc="-114" dirty="0"/>
              <a:t>DATA</a:t>
            </a:r>
            <a:r>
              <a:rPr spc="-10" dirty="0"/>
              <a:t> </a:t>
            </a:r>
            <a:r>
              <a:rPr spc="-25" dirty="0"/>
              <a:t>MIGRATION</a:t>
            </a:r>
            <a:r>
              <a:rPr spc="-4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dirty="0"/>
              <a:t>BODS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20" y="893063"/>
            <a:ext cx="8290559" cy="58232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138760"/>
            <a:ext cx="470916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SAP</a:t>
            </a:r>
            <a:r>
              <a:rPr spc="-6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5" dirty="0"/>
              <a:t>Migration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348739"/>
            <a:ext cx="9654540" cy="4908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369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dirty="0"/>
              <a:t>What </a:t>
            </a:r>
            <a:r>
              <a:rPr spc="-15" dirty="0"/>
              <a:t>you </a:t>
            </a:r>
            <a:r>
              <a:rPr dirty="0"/>
              <a:t>get </a:t>
            </a:r>
            <a:r>
              <a:rPr spc="-5" dirty="0"/>
              <a:t>with </a:t>
            </a:r>
            <a:r>
              <a:rPr spc="-35" dirty="0"/>
              <a:t>SAP’s </a:t>
            </a:r>
            <a:r>
              <a:rPr dirty="0"/>
              <a:t>Data </a:t>
            </a:r>
            <a:r>
              <a:rPr spc="-5" dirty="0"/>
              <a:t>Migration </a:t>
            </a:r>
            <a:r>
              <a:rPr spc="-1325" dirty="0"/>
              <a:t> </a:t>
            </a:r>
            <a:r>
              <a:rPr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116" y="1502663"/>
            <a:ext cx="8811768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0"/>
            <a:ext cx="8193405" cy="11264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10" dirty="0"/>
              <a:t>SAP</a:t>
            </a:r>
            <a:r>
              <a:rPr spc="-35" dirty="0"/>
              <a:t> </a:t>
            </a:r>
            <a:r>
              <a:rPr spc="-114" dirty="0"/>
              <a:t>DATA</a:t>
            </a:r>
            <a:r>
              <a:rPr spc="-25" dirty="0"/>
              <a:t> MIGRATION</a:t>
            </a:r>
            <a:r>
              <a:rPr spc="-50" dirty="0"/>
              <a:t> </a:t>
            </a:r>
            <a:r>
              <a:rPr dirty="0"/>
              <a:t>SOLUTION </a:t>
            </a:r>
            <a:r>
              <a:rPr spc="-1325" dirty="0"/>
              <a:t> </a:t>
            </a:r>
            <a:r>
              <a:rPr spc="-40" dirty="0"/>
              <a:t>ANALYSIS</a:t>
            </a:r>
            <a:r>
              <a:rPr spc="-30" dirty="0"/>
              <a:t> </a:t>
            </a:r>
            <a:r>
              <a:rPr dirty="0"/>
              <a:t>&amp; </a:t>
            </a:r>
            <a:r>
              <a:rPr spc="-114" dirty="0"/>
              <a:t>DATA</a:t>
            </a:r>
            <a:r>
              <a:rPr dirty="0"/>
              <a:t> </a:t>
            </a:r>
            <a:r>
              <a:rPr spc="-5" dirty="0"/>
              <a:t>PROFILING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5479" y="1348739"/>
            <a:ext cx="8321040" cy="5155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549" y="0"/>
            <a:ext cx="9977120" cy="16484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Data analysis </a:t>
            </a:r>
            <a:r>
              <a:rPr dirty="0"/>
              <a:t>and </a:t>
            </a:r>
            <a:r>
              <a:rPr spc="-10" dirty="0"/>
              <a:t>profiling </a:t>
            </a:r>
            <a:r>
              <a:rPr spc="-5" dirty="0"/>
              <a:t>analyzes data </a:t>
            </a:r>
            <a:r>
              <a:rPr spc="-1325" dirty="0"/>
              <a:t> </a:t>
            </a:r>
            <a:r>
              <a:rPr dirty="0"/>
              <a:t>content, </a:t>
            </a:r>
            <a:r>
              <a:rPr spc="-50" dirty="0"/>
              <a:t>quality, </a:t>
            </a:r>
            <a:r>
              <a:rPr dirty="0"/>
              <a:t>structure and </a:t>
            </a:r>
            <a:r>
              <a:rPr spc="5" dirty="0"/>
              <a:t> </a:t>
            </a:r>
            <a:r>
              <a:rPr dirty="0"/>
              <a:t>relationships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3" y="1632204"/>
            <a:ext cx="11350752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078" y="229870"/>
            <a:ext cx="939228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SAP</a:t>
            </a:r>
            <a:r>
              <a:rPr spc="-20" dirty="0"/>
              <a:t> </a:t>
            </a:r>
            <a:r>
              <a:rPr dirty="0"/>
              <a:t>Data </a:t>
            </a:r>
            <a:r>
              <a:rPr spc="-10" dirty="0"/>
              <a:t>Migration </a:t>
            </a:r>
            <a:r>
              <a:rPr dirty="0"/>
              <a:t>solution</a:t>
            </a:r>
            <a:r>
              <a:rPr spc="-30" dirty="0"/>
              <a:t> </a:t>
            </a:r>
            <a:r>
              <a:rPr spc="-10" dirty="0"/>
              <a:t>Extraction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52" y="1193291"/>
            <a:ext cx="9794748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9050" y="130505"/>
            <a:ext cx="830262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SAP</a:t>
            </a:r>
            <a:r>
              <a:rPr spc="-30" dirty="0"/>
              <a:t> </a:t>
            </a: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Migration</a:t>
            </a:r>
            <a:r>
              <a:rPr spc="-25" dirty="0"/>
              <a:t> </a:t>
            </a:r>
            <a:r>
              <a:rPr dirty="0"/>
              <a:t>solution</a:t>
            </a:r>
            <a:r>
              <a:rPr spc="-35" dirty="0"/>
              <a:t> </a:t>
            </a:r>
            <a:r>
              <a:rPr spc="-5" dirty="0"/>
              <a:t>Clean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191" y="1130808"/>
            <a:ext cx="9589008" cy="4596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631" y="181101"/>
            <a:ext cx="9559290" cy="11264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cleansing</a:t>
            </a:r>
            <a:r>
              <a:rPr spc="-35" dirty="0"/>
              <a:t> </a:t>
            </a:r>
            <a:r>
              <a:rPr spc="-5" dirty="0"/>
              <a:t>to</a:t>
            </a:r>
            <a:r>
              <a:rPr dirty="0"/>
              <a:t> ensure</a:t>
            </a:r>
            <a:r>
              <a:rPr spc="-25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dirty="0"/>
              <a:t>right</a:t>
            </a:r>
            <a:r>
              <a:rPr spc="-30" dirty="0"/>
              <a:t> </a:t>
            </a:r>
            <a:r>
              <a:rPr spc="-5" dirty="0"/>
              <a:t>data </a:t>
            </a:r>
            <a:r>
              <a:rPr spc="-1325" dirty="0"/>
              <a:t> </a:t>
            </a:r>
            <a:r>
              <a:rPr spc="-5" dirty="0"/>
              <a:t>gets</a:t>
            </a:r>
            <a:r>
              <a:rPr spc="-30" dirty="0"/>
              <a:t> </a:t>
            </a:r>
            <a:r>
              <a:rPr spc="-10" dirty="0"/>
              <a:t>migrated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608" y="1569719"/>
            <a:ext cx="10844783" cy="48996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830" y="189687"/>
            <a:ext cx="888619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SAP</a:t>
            </a:r>
            <a:r>
              <a:rPr spc="-30" dirty="0"/>
              <a:t> </a:t>
            </a: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Migration</a:t>
            </a:r>
            <a:r>
              <a:rPr spc="-30" dirty="0"/>
              <a:t> </a:t>
            </a:r>
            <a:r>
              <a:rPr dirty="0"/>
              <a:t>solution</a:t>
            </a:r>
            <a:r>
              <a:rPr spc="-35" dirty="0"/>
              <a:t> </a:t>
            </a:r>
            <a:r>
              <a:rPr spc="-20" dirty="0"/>
              <a:t>Validate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244" y="1397507"/>
            <a:ext cx="9553956" cy="4780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148" rIns="0" bIns="0" rtlCol="0">
            <a:spAutoFit/>
          </a:bodyPr>
          <a:lstStyle/>
          <a:p>
            <a:pPr marL="209550" marR="5080">
              <a:lnSpc>
                <a:spcPts val="4100"/>
              </a:lnSpc>
              <a:spcBef>
                <a:spcPts val="625"/>
              </a:spcBef>
            </a:pPr>
            <a:r>
              <a:rPr dirty="0"/>
              <a:t>Data </a:t>
            </a:r>
            <a:r>
              <a:rPr spc="-10" dirty="0"/>
              <a:t>validation </a:t>
            </a:r>
            <a:r>
              <a:rPr spc="-5" dirty="0"/>
              <a:t>from </a:t>
            </a:r>
            <a:r>
              <a:rPr dirty="0"/>
              <a:t>source </a:t>
            </a:r>
            <a:r>
              <a:rPr spc="-5" dirty="0"/>
              <a:t>data to </a:t>
            </a:r>
            <a:r>
              <a:rPr spc="-1325" dirty="0"/>
              <a:t> </a:t>
            </a:r>
            <a:r>
              <a:rPr spc="-5" dirty="0"/>
              <a:t>target data</a:t>
            </a:r>
            <a:r>
              <a:rPr spc="-15" dirty="0"/>
              <a:t> </a:t>
            </a:r>
            <a:r>
              <a:rPr dirty="0"/>
              <a:t>structures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1735835"/>
            <a:ext cx="9665208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91516"/>
            <a:ext cx="6783705" cy="1127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10" dirty="0"/>
              <a:t>SAP</a:t>
            </a:r>
            <a:r>
              <a:rPr spc="-4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5" dirty="0"/>
              <a:t>Migration</a:t>
            </a:r>
            <a:r>
              <a:rPr spc="-40" dirty="0"/>
              <a:t> </a:t>
            </a:r>
            <a:r>
              <a:rPr dirty="0"/>
              <a:t>solution </a:t>
            </a:r>
            <a:r>
              <a:rPr spc="-1320" dirty="0"/>
              <a:t> </a:t>
            </a:r>
            <a:r>
              <a:rPr spc="-5" dirty="0"/>
              <a:t>Load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7735" y="1484375"/>
            <a:ext cx="8798052" cy="45598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97282"/>
            <a:ext cx="9429750" cy="11264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5" dirty="0"/>
              <a:t>Efficient loading </a:t>
            </a:r>
            <a:r>
              <a:rPr dirty="0"/>
              <a:t>of cleansed and </a:t>
            </a:r>
            <a:r>
              <a:rPr spc="5" dirty="0"/>
              <a:t> </a:t>
            </a:r>
            <a:r>
              <a:rPr spc="-5" dirty="0"/>
              <a:t>validated</a:t>
            </a:r>
            <a:r>
              <a:rPr spc="-50" dirty="0"/>
              <a:t> </a:t>
            </a:r>
            <a:r>
              <a:rPr dirty="0"/>
              <a:t>source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to</a:t>
            </a:r>
            <a:r>
              <a:rPr spc="-5" dirty="0"/>
              <a:t> target </a:t>
            </a:r>
            <a:r>
              <a:rPr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609344"/>
            <a:ext cx="9144000" cy="45659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349122"/>
            <a:ext cx="921829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SAP</a:t>
            </a:r>
            <a:r>
              <a:rPr spc="-15" dirty="0"/>
              <a:t> </a:t>
            </a:r>
            <a:r>
              <a:rPr dirty="0"/>
              <a:t>Data </a:t>
            </a:r>
            <a:r>
              <a:rPr spc="-10" dirty="0"/>
              <a:t>Migration</a:t>
            </a:r>
            <a:r>
              <a:rPr spc="-15" dirty="0"/>
              <a:t> </a:t>
            </a:r>
            <a:r>
              <a:rPr dirty="0"/>
              <a:t>solution</a:t>
            </a:r>
            <a:r>
              <a:rPr spc="-30" dirty="0"/>
              <a:t> </a:t>
            </a:r>
            <a:r>
              <a:rPr spc="-10" dirty="0"/>
              <a:t>Reconcile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630679"/>
            <a:ext cx="8991600" cy="43007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355" y="189687"/>
            <a:ext cx="9824085" cy="1127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10" dirty="0"/>
              <a:t>Reconcile </a:t>
            </a:r>
            <a:r>
              <a:rPr dirty="0"/>
              <a:t>to ensure the </a:t>
            </a:r>
            <a:r>
              <a:rPr spc="-5" dirty="0"/>
              <a:t>data </a:t>
            </a:r>
            <a:r>
              <a:rPr spc="-15" dirty="0"/>
              <a:t>was </a:t>
            </a:r>
            <a:r>
              <a:rPr spc="-10" dirty="0"/>
              <a:t>loaded </a:t>
            </a:r>
            <a:r>
              <a:rPr spc="-1325" dirty="0"/>
              <a:t> </a:t>
            </a:r>
            <a:r>
              <a:rPr spc="-5" dirty="0"/>
              <a:t>correctly</a:t>
            </a:r>
            <a:r>
              <a:rPr spc="10" dirty="0"/>
              <a:t> </a:t>
            </a:r>
            <a:r>
              <a:rPr spc="-5" dirty="0"/>
              <a:t>and</a:t>
            </a:r>
            <a:r>
              <a:rPr dirty="0"/>
              <a:t> completely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670304"/>
            <a:ext cx="100584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283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dirty="0"/>
              <a:t>Visualization</a:t>
            </a:r>
            <a:r>
              <a:rPr spc="-40" dirty="0"/>
              <a:t> </a:t>
            </a:r>
            <a:r>
              <a:rPr dirty="0"/>
              <a:t>of the</a:t>
            </a:r>
            <a:r>
              <a:rPr spc="-20" dirty="0"/>
              <a:t> </a:t>
            </a:r>
            <a:r>
              <a:rPr dirty="0"/>
              <a:t>status</a:t>
            </a:r>
            <a:r>
              <a:rPr spc="-30" dirty="0"/>
              <a:t> </a:t>
            </a:r>
            <a:r>
              <a:rPr dirty="0"/>
              <a:t>of the</a:t>
            </a:r>
            <a:r>
              <a:rPr spc="-20" dirty="0"/>
              <a:t> </a:t>
            </a:r>
            <a:r>
              <a:rPr spc="-5" dirty="0"/>
              <a:t>data </a:t>
            </a:r>
            <a:r>
              <a:rPr spc="-1320" dirty="0"/>
              <a:t> </a:t>
            </a:r>
            <a:r>
              <a:rPr spc="-10" dirty="0"/>
              <a:t>migration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2" y="1623060"/>
            <a:ext cx="8662416" cy="44820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527" y="213436"/>
            <a:ext cx="6525259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5" dirty="0">
                <a:solidFill>
                  <a:srgbClr val="006FAC"/>
                </a:solidFill>
                <a:latin typeface="Verdana"/>
                <a:cs typeface="Verdana"/>
              </a:rPr>
              <a:t>RDS:</a:t>
            </a:r>
            <a:r>
              <a:rPr sz="3800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3800" spc="-15" dirty="0">
                <a:solidFill>
                  <a:srgbClr val="006FAC"/>
                </a:solidFill>
                <a:latin typeface="Verdana"/>
                <a:cs typeface="Verdana"/>
              </a:rPr>
              <a:t>Rapid</a:t>
            </a:r>
            <a:r>
              <a:rPr sz="3800" spc="-3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3800" spc="-5" dirty="0">
                <a:solidFill>
                  <a:srgbClr val="006FAC"/>
                </a:solidFill>
                <a:latin typeface="Verdana"/>
                <a:cs typeface="Verdana"/>
              </a:rPr>
              <a:t>data</a:t>
            </a:r>
            <a:r>
              <a:rPr sz="3800" spc="-10" dirty="0">
                <a:solidFill>
                  <a:srgbClr val="006FAC"/>
                </a:solidFill>
                <a:latin typeface="Verdana"/>
                <a:cs typeface="Verdana"/>
              </a:rPr>
              <a:t> migration</a:t>
            </a:r>
            <a:endParaRPr sz="3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911" y="2101595"/>
            <a:ext cx="6742176" cy="43510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6966" y="1283588"/>
            <a:ext cx="86340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212121"/>
                </a:solidFill>
                <a:latin typeface="Arial MT"/>
                <a:cs typeface="Arial MT"/>
              </a:rPr>
              <a:t>SAP</a:t>
            </a:r>
            <a:r>
              <a:rPr sz="20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Rapid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Deployment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Solutions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(RDS)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pre-configured</a:t>
            </a:r>
            <a:r>
              <a:rPr sz="20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applications</a:t>
            </a:r>
            <a:r>
              <a:rPr sz="20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that </a:t>
            </a:r>
            <a:r>
              <a:rPr sz="2000" spc="-5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allow</a:t>
            </a:r>
            <a:r>
              <a:rPr sz="200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companies</a:t>
            </a:r>
            <a:r>
              <a:rPr sz="20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deploy</a:t>
            </a:r>
            <a:r>
              <a:rPr sz="20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software</a:t>
            </a:r>
            <a:r>
              <a:rPr sz="20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in weeks</a:t>
            </a:r>
            <a:r>
              <a:rPr sz="20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months</a:t>
            </a:r>
            <a:r>
              <a:rPr sz="20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set</a:t>
            </a:r>
            <a:r>
              <a:rPr sz="20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2121"/>
                </a:solidFill>
                <a:latin typeface="Arial MT"/>
                <a:cs typeface="Arial MT"/>
              </a:rPr>
              <a:t>price.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250697"/>
            <a:ext cx="716089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Rapid</a:t>
            </a:r>
            <a:r>
              <a:rPr spc="-20" dirty="0"/>
              <a:t> </a:t>
            </a:r>
            <a:r>
              <a:rPr spc="-5" dirty="0"/>
              <a:t>Development</a:t>
            </a:r>
            <a:r>
              <a:rPr spc="-30" dirty="0"/>
              <a:t> </a:t>
            </a:r>
            <a:r>
              <a:rPr spc="-5" dirty="0"/>
              <a:t>Solutions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19" y="1537716"/>
            <a:ext cx="9281160" cy="44698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0"/>
            <a:ext cx="9710420" cy="176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RDS </a:t>
            </a:r>
            <a:r>
              <a:rPr spc="-5" dirty="0"/>
              <a:t>Content for </a:t>
            </a:r>
            <a:r>
              <a:rPr dirty="0"/>
              <a:t>Data </a:t>
            </a:r>
            <a:r>
              <a:rPr spc="-5" dirty="0"/>
              <a:t>Migration </a:t>
            </a:r>
            <a:r>
              <a:rPr dirty="0"/>
              <a:t>content </a:t>
            </a:r>
            <a:r>
              <a:rPr spc="-1325" dirty="0"/>
              <a:t> </a:t>
            </a:r>
            <a:r>
              <a:rPr spc="-5" dirty="0"/>
              <a:t>provided in </a:t>
            </a:r>
            <a:r>
              <a:rPr spc="-10" dirty="0"/>
              <a:t>SAP </a:t>
            </a:r>
            <a:r>
              <a:rPr spc="-5" dirty="0"/>
              <a:t>Data </a:t>
            </a:r>
            <a:r>
              <a:rPr dirty="0"/>
              <a:t>Services &amp; </a:t>
            </a:r>
            <a:r>
              <a:rPr spc="-10" dirty="0"/>
              <a:t>SAP </a:t>
            </a:r>
            <a:r>
              <a:rPr dirty="0"/>
              <a:t>BI </a:t>
            </a:r>
            <a:r>
              <a:rPr spc="-1325" dirty="0"/>
              <a:t> </a:t>
            </a:r>
            <a:r>
              <a:rPr spc="-5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865" y="1864740"/>
            <a:ext cx="11395710" cy="16522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Verdana"/>
                <a:cs typeface="Verdana"/>
              </a:rPr>
              <a:t>Key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Features: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00" spc="-5" dirty="0">
                <a:latin typeface="Verdana"/>
                <a:cs typeface="Verdana"/>
              </a:rPr>
              <a:t>Predefined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Migration Content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delivered</a:t>
            </a:r>
            <a:r>
              <a:rPr sz="1800" dirty="0">
                <a:latin typeface="Verdana"/>
                <a:cs typeface="Verdana"/>
              </a:rPr>
              <a:t> for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90"/>
              </a:spcBef>
              <a:buSzPct val="94444"/>
              <a:buFont typeface="Arial MT"/>
              <a:buChar char="•"/>
              <a:tabLst>
                <a:tab pos="93980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validation</a:t>
            </a:r>
            <a:r>
              <a:rPr sz="1800" spc="2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content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enables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mapping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customer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SAP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data,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including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validation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key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values. Content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ERP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CRM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5" dirty="0">
                <a:latin typeface="Verdana"/>
                <a:cs typeface="Verdana"/>
              </a:rPr>
              <a:t> included.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Examples are: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-5" dirty="0">
                <a:latin typeface="Verdana"/>
                <a:cs typeface="Verdana"/>
              </a:rPr>
              <a:t> partner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content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customer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vendor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masters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6523" y="3555872"/>
            <a:ext cx="35388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7640" algn="l"/>
                <a:tab pos="2949575" algn="l"/>
              </a:tabLst>
            </a:pP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urcha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ng	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ocum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nts,	sa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865" y="3555872"/>
            <a:ext cx="771080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  <a:tab pos="1349375" algn="l"/>
                <a:tab pos="2382520" algn="l"/>
                <a:tab pos="3082290" algn="l"/>
                <a:tab pos="3510279" algn="l"/>
                <a:tab pos="4629150" algn="l"/>
                <a:tab pos="5655310" algn="l"/>
                <a:tab pos="6278245" algn="l"/>
                <a:tab pos="6670040" algn="l"/>
              </a:tabLst>
            </a:pPr>
            <a:r>
              <a:rPr sz="1800" dirty="0">
                <a:latin typeface="Verdana"/>
                <a:cs typeface="Verdana"/>
              </a:rPr>
              <a:t>Lo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cs	co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	such	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s	mat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al	mast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254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,	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ill</a:t>
            </a:r>
            <a:r>
              <a:rPr sz="1800" dirty="0">
                <a:latin typeface="Verdana"/>
                <a:cs typeface="Verdana"/>
              </a:rPr>
              <a:t>s	</a:t>
            </a:r>
            <a:r>
              <a:rPr sz="1800" spc="-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f	mat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l,  documents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Financial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content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receivables,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payables,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cost</a:t>
            </a:r>
            <a:r>
              <a:rPr sz="1800" spc="-5" dirty="0">
                <a:latin typeface="Verdana"/>
                <a:cs typeface="Verdana"/>
              </a:rPr>
              <a:t> elements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Sales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content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such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activities,</a:t>
            </a:r>
            <a:r>
              <a:rPr sz="1800" spc="-5" dirty="0">
                <a:latin typeface="Verdana"/>
                <a:cs typeface="Verdana"/>
              </a:rPr>
              <a:t> leads,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opportunities,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contracts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147" y="157429"/>
            <a:ext cx="9718040" cy="16484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algn="just">
              <a:lnSpc>
                <a:spcPts val="4110"/>
              </a:lnSpc>
              <a:spcBef>
                <a:spcPts val="615"/>
              </a:spcBef>
            </a:pPr>
            <a:r>
              <a:rPr dirty="0"/>
              <a:t>RDS Content for Data </a:t>
            </a:r>
            <a:r>
              <a:rPr spc="-5" dirty="0"/>
              <a:t>Migration </a:t>
            </a:r>
            <a:r>
              <a:rPr dirty="0"/>
              <a:t>content </a:t>
            </a:r>
            <a:r>
              <a:rPr spc="-1325" dirty="0"/>
              <a:t> </a:t>
            </a:r>
            <a:r>
              <a:rPr spc="-5" dirty="0"/>
              <a:t>provided in </a:t>
            </a:r>
            <a:r>
              <a:rPr spc="-10" dirty="0"/>
              <a:t>SAP </a:t>
            </a:r>
            <a:r>
              <a:rPr dirty="0"/>
              <a:t>Data Services &amp; </a:t>
            </a:r>
            <a:r>
              <a:rPr spc="-10" dirty="0"/>
              <a:t>SAP </a:t>
            </a:r>
            <a:r>
              <a:rPr dirty="0"/>
              <a:t>BI </a:t>
            </a:r>
            <a:r>
              <a:rPr spc="-1325" dirty="0"/>
              <a:t> </a:t>
            </a:r>
            <a:r>
              <a:rPr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2244978"/>
            <a:ext cx="10086975" cy="18624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spc="-5" dirty="0">
                <a:latin typeface="Verdana"/>
                <a:cs typeface="Verdana"/>
              </a:rPr>
              <a:t>Documentation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Business </a:t>
            </a:r>
            <a:r>
              <a:rPr sz="1800" spc="-5" dirty="0">
                <a:latin typeface="Verdana"/>
                <a:cs typeface="Verdana"/>
              </a:rPr>
              <a:t>Process </a:t>
            </a:r>
            <a:r>
              <a:rPr sz="1800" dirty="0">
                <a:latin typeface="Verdana"/>
                <a:cs typeface="Verdana"/>
              </a:rPr>
              <a:t>Document for Data </a:t>
            </a:r>
            <a:r>
              <a:rPr sz="1800" spc="-5" dirty="0">
                <a:latin typeface="Verdana"/>
                <a:cs typeface="Verdana"/>
              </a:rPr>
              <a:t>Migration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process guide that provides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 </a:t>
            </a:r>
            <a:r>
              <a:rPr sz="1800" dirty="0">
                <a:latin typeface="Verdana"/>
                <a:cs typeface="Verdana"/>
              </a:rPr>
              <a:t>flow and the sequence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which </a:t>
            </a:r>
            <a:r>
              <a:rPr sz="1800" spc="-5" dirty="0">
                <a:latin typeface="Verdana"/>
                <a:cs typeface="Verdana"/>
              </a:rPr>
              <a:t>the objects </a:t>
            </a:r>
            <a:r>
              <a:rPr sz="1800" dirty="0">
                <a:latin typeface="Verdana"/>
                <a:cs typeface="Verdana"/>
              </a:rPr>
              <a:t>need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be loaded into Data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 marL="12700" marR="6350" algn="just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Extension </a:t>
            </a:r>
            <a:r>
              <a:rPr sz="1800" spc="-10" dirty="0">
                <a:latin typeface="Verdana"/>
                <a:cs typeface="Verdana"/>
              </a:rPr>
              <a:t>Guide </a:t>
            </a:r>
            <a:r>
              <a:rPr sz="1800" spc="-5" dirty="0">
                <a:latin typeface="Verdana"/>
                <a:cs typeface="Verdana"/>
              </a:rPr>
              <a:t>provides the </a:t>
            </a:r>
            <a:r>
              <a:rPr sz="1800" dirty="0">
                <a:latin typeface="Verdana"/>
                <a:cs typeface="Verdana"/>
              </a:rPr>
              <a:t>information </a:t>
            </a:r>
            <a:r>
              <a:rPr sz="1800" spc="-5" dirty="0">
                <a:latin typeface="Verdana"/>
                <a:cs typeface="Verdana"/>
              </a:rPr>
              <a:t>you need to extend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modify the content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according 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specific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needs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817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5" dirty="0"/>
              <a:t>DIFFERENT</a:t>
            </a:r>
            <a:r>
              <a:rPr spc="-15" dirty="0"/>
              <a:t> </a:t>
            </a:r>
            <a:r>
              <a:rPr spc="-5" dirty="0"/>
              <a:t>TYPE </a:t>
            </a:r>
            <a:r>
              <a:rPr dirty="0"/>
              <a:t>OF</a:t>
            </a:r>
            <a:r>
              <a:rPr spc="-10" dirty="0"/>
              <a:t> </a:t>
            </a:r>
            <a:r>
              <a:rPr spc="-114" dirty="0"/>
              <a:t>DATA</a:t>
            </a:r>
            <a:r>
              <a:rPr dirty="0"/>
              <a:t> </a:t>
            </a:r>
            <a:r>
              <a:rPr spc="-30" dirty="0"/>
              <a:t>MIGRATION </a:t>
            </a:r>
            <a:r>
              <a:rPr spc="-132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865" y="1534295"/>
            <a:ext cx="11398250" cy="17411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94945" indent="-182245" algn="just">
              <a:lnSpc>
                <a:spcPct val="100000"/>
              </a:lnSpc>
              <a:spcBef>
                <a:spcPts val="6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5" dirty="0">
                <a:latin typeface="Verdana"/>
                <a:cs typeface="Verdana"/>
              </a:rPr>
              <a:t>Four</a:t>
            </a:r>
            <a:r>
              <a:rPr sz="1800" dirty="0">
                <a:latin typeface="Verdana"/>
                <a:cs typeface="Verdana"/>
              </a:rPr>
              <a:t> major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migration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categories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proposed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5" dirty="0">
                <a:latin typeface="Verdana"/>
                <a:cs typeface="Verdana"/>
              </a:rPr>
              <a:t> basis: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05"/>
              </a:spcBef>
            </a:pPr>
            <a:r>
              <a:rPr sz="1800" b="1" dirty="0">
                <a:latin typeface="Verdana"/>
                <a:cs typeface="Verdana"/>
              </a:rPr>
              <a:t>1.</a:t>
            </a:r>
            <a:r>
              <a:rPr sz="1800" b="1" spc="-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Storage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migration</a:t>
            </a:r>
            <a:endParaRPr sz="1800">
              <a:latin typeface="Verdana"/>
              <a:cs typeface="Verdana"/>
            </a:endParaRPr>
          </a:p>
          <a:p>
            <a:pPr marL="187325" marR="5080" indent="-172720" algn="just">
              <a:lnSpc>
                <a:spcPct val="100000"/>
              </a:lnSpc>
              <a:spcBef>
                <a:spcPts val="500"/>
              </a:spcBef>
              <a:buClr>
                <a:srgbClr val="006FAC"/>
              </a:buClr>
              <a:buFont typeface="Wingdings"/>
              <a:buChar char=""/>
              <a:tabLst>
                <a:tab pos="187960" algn="l"/>
              </a:tabLst>
            </a:pPr>
            <a:r>
              <a:rPr sz="1600" spc="-5" dirty="0">
                <a:latin typeface="Verdana"/>
                <a:cs typeface="Verdana"/>
              </a:rPr>
              <a:t>A business </a:t>
            </a:r>
            <a:r>
              <a:rPr sz="1600" spc="-10" dirty="0">
                <a:latin typeface="Verdana"/>
                <a:cs typeface="Verdana"/>
              </a:rPr>
              <a:t>may </a:t>
            </a:r>
            <a:r>
              <a:rPr sz="1600" dirty="0">
                <a:latin typeface="Verdana"/>
                <a:cs typeface="Verdana"/>
              </a:rPr>
              <a:t>choose </a:t>
            </a:r>
            <a:r>
              <a:rPr sz="1600" spc="-5" dirty="0">
                <a:latin typeface="Verdana"/>
                <a:cs typeface="Verdana"/>
              </a:rPr>
              <a:t>to rationalize the physical media to </a:t>
            </a:r>
            <a:r>
              <a:rPr sz="1600" spc="-10" dirty="0">
                <a:latin typeface="Verdana"/>
                <a:cs typeface="Verdana"/>
              </a:rPr>
              <a:t>take advantage </a:t>
            </a:r>
            <a:r>
              <a:rPr sz="1600" spc="-5" dirty="0">
                <a:latin typeface="Verdana"/>
                <a:cs typeface="Verdana"/>
              </a:rPr>
              <a:t>of more efficient storage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technologies.</a:t>
            </a:r>
            <a:r>
              <a:rPr sz="1600" spc="2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This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will</a:t>
            </a:r>
            <a:r>
              <a:rPr sz="1600" spc="2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result</a:t>
            </a:r>
            <a:r>
              <a:rPr sz="1600" spc="2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having</a:t>
            </a:r>
            <a:r>
              <a:rPr sz="1600" spc="2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</a:t>
            </a:r>
            <a:r>
              <a:rPr sz="1600" spc="2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move</a:t>
            </a:r>
            <a:r>
              <a:rPr sz="1600" spc="229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physical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blocks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of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data</a:t>
            </a:r>
            <a:r>
              <a:rPr sz="1600" spc="2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from</a:t>
            </a:r>
            <a:r>
              <a:rPr sz="1600" spc="2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one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tape</a:t>
            </a:r>
            <a:r>
              <a:rPr sz="1600" spc="2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or</a:t>
            </a:r>
            <a:r>
              <a:rPr sz="1600" spc="2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disk</a:t>
            </a:r>
            <a:r>
              <a:rPr sz="1600" spc="2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</a:t>
            </a:r>
            <a:r>
              <a:rPr sz="1600" spc="24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another,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often using virtualization techniques. </a:t>
            </a:r>
            <a:r>
              <a:rPr sz="1600" spc="-10" dirty="0">
                <a:latin typeface="Verdana"/>
                <a:cs typeface="Verdana"/>
              </a:rPr>
              <a:t>The </a:t>
            </a:r>
            <a:r>
              <a:rPr sz="1600" dirty="0">
                <a:latin typeface="Verdana"/>
                <a:cs typeface="Verdana"/>
              </a:rPr>
              <a:t>data </a:t>
            </a:r>
            <a:r>
              <a:rPr sz="1600" spc="-5" dirty="0">
                <a:latin typeface="Verdana"/>
                <a:cs typeface="Verdana"/>
              </a:rPr>
              <a:t>format </a:t>
            </a:r>
            <a:r>
              <a:rPr sz="1600" dirty="0">
                <a:latin typeface="Verdana"/>
                <a:cs typeface="Verdana"/>
              </a:rPr>
              <a:t>and </a:t>
            </a:r>
            <a:r>
              <a:rPr sz="1600" spc="-5" dirty="0">
                <a:latin typeface="Verdana"/>
                <a:cs typeface="Verdana"/>
              </a:rPr>
              <a:t>content itself </a:t>
            </a:r>
            <a:r>
              <a:rPr sz="1600" spc="-10" dirty="0">
                <a:latin typeface="Verdana"/>
                <a:cs typeface="Verdana"/>
              </a:rPr>
              <a:t>will </a:t>
            </a:r>
            <a:r>
              <a:rPr sz="1600" spc="-5" dirty="0">
                <a:latin typeface="Verdana"/>
                <a:cs typeface="Verdana"/>
              </a:rPr>
              <a:t>not usually be changed </a:t>
            </a:r>
            <a:r>
              <a:rPr sz="1600" spc="-10" dirty="0">
                <a:latin typeface="Verdana"/>
                <a:cs typeface="Verdana"/>
              </a:rPr>
              <a:t>in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process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and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can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normally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be </a:t>
            </a:r>
            <a:r>
              <a:rPr sz="1600" spc="-10" dirty="0">
                <a:latin typeface="Verdana"/>
                <a:cs typeface="Verdana"/>
              </a:rPr>
              <a:t>achieved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with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minimal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or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no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impact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to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spc="-10" dirty="0">
                <a:latin typeface="Verdana"/>
                <a:cs typeface="Verdana"/>
              </a:rPr>
              <a:t>layers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above.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238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DIFFERENT</a:t>
            </a:r>
            <a:r>
              <a:rPr spc="-25" dirty="0"/>
              <a:t> </a:t>
            </a:r>
            <a:r>
              <a:rPr dirty="0"/>
              <a:t>TYPE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14" dirty="0"/>
              <a:t>DATA</a:t>
            </a:r>
            <a:r>
              <a:rPr dirty="0"/>
              <a:t> </a:t>
            </a:r>
            <a:r>
              <a:rPr spc="-30" dirty="0"/>
              <a:t>MIGRATION </a:t>
            </a:r>
            <a:r>
              <a:rPr spc="-132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865" y="1636954"/>
            <a:ext cx="11398250" cy="15259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Verdana"/>
                <a:cs typeface="Verdana"/>
              </a:rPr>
              <a:t>2.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migration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9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20" dirty="0">
                <a:latin typeface="Verdana"/>
                <a:cs typeface="Verdana"/>
              </a:rPr>
              <a:t>Similarly, </a:t>
            </a:r>
            <a:r>
              <a:rPr sz="1800" spc="5" dirty="0">
                <a:latin typeface="Verdana"/>
                <a:cs typeface="Verdana"/>
              </a:rPr>
              <a:t>it </a:t>
            </a:r>
            <a:r>
              <a:rPr sz="1800" spc="-5" dirty="0">
                <a:latin typeface="Verdana"/>
                <a:cs typeface="Verdana"/>
              </a:rPr>
              <a:t>may be necessary to </a:t>
            </a:r>
            <a:r>
              <a:rPr sz="1800" spc="-15" dirty="0">
                <a:latin typeface="Verdana"/>
                <a:cs typeface="Verdana"/>
              </a:rPr>
              <a:t>move </a:t>
            </a:r>
            <a:r>
              <a:rPr sz="1800" dirty="0">
                <a:latin typeface="Verdana"/>
                <a:cs typeface="Verdana"/>
              </a:rPr>
              <a:t>from one </a:t>
            </a:r>
            <a:r>
              <a:rPr sz="1800" spc="-5" dirty="0">
                <a:latin typeface="Verdana"/>
                <a:cs typeface="Verdana"/>
              </a:rPr>
              <a:t>database vendor to </a:t>
            </a:r>
            <a:r>
              <a:rPr sz="1800" spc="-35" dirty="0">
                <a:latin typeface="Verdana"/>
                <a:cs typeface="Verdana"/>
              </a:rPr>
              <a:t>another, </a:t>
            </a:r>
            <a:r>
              <a:rPr sz="1800" spc="-5" dirty="0">
                <a:latin typeface="Verdana"/>
                <a:cs typeface="Verdana"/>
              </a:rPr>
              <a:t>or to </a:t>
            </a:r>
            <a:r>
              <a:rPr sz="1800" spc="-10" dirty="0">
                <a:latin typeface="Verdana"/>
                <a:cs typeface="Verdana"/>
              </a:rPr>
              <a:t>upgrade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version of database </a:t>
            </a:r>
            <a:r>
              <a:rPr sz="1800" dirty="0">
                <a:latin typeface="Verdana"/>
                <a:cs typeface="Verdana"/>
              </a:rPr>
              <a:t>software </a:t>
            </a:r>
            <a:r>
              <a:rPr sz="1800" spc="-5" dirty="0">
                <a:latin typeface="Verdana"/>
                <a:cs typeface="Verdana"/>
              </a:rPr>
              <a:t>being used. </a:t>
            </a:r>
            <a:r>
              <a:rPr sz="1800" dirty="0">
                <a:latin typeface="Verdana"/>
                <a:cs typeface="Verdana"/>
              </a:rPr>
              <a:t>The latter </a:t>
            </a:r>
            <a:r>
              <a:rPr sz="1800" spc="-5" dirty="0">
                <a:latin typeface="Verdana"/>
                <a:cs typeface="Verdana"/>
              </a:rPr>
              <a:t>case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less </a:t>
            </a:r>
            <a:r>
              <a:rPr sz="1800" dirty="0">
                <a:latin typeface="Verdana"/>
                <a:cs typeface="Verdana"/>
              </a:rPr>
              <a:t>likely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require a </a:t>
            </a:r>
            <a:r>
              <a:rPr sz="1800" spc="-5" dirty="0">
                <a:latin typeface="Verdana"/>
                <a:cs typeface="Verdana"/>
              </a:rPr>
              <a:t>physical data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migration, but </a:t>
            </a:r>
            <a:r>
              <a:rPr sz="1800" dirty="0">
                <a:latin typeface="Verdana"/>
                <a:cs typeface="Verdana"/>
              </a:rPr>
              <a:t>this </a:t>
            </a:r>
            <a:r>
              <a:rPr sz="1800" spc="-5" dirty="0">
                <a:latin typeface="Verdana"/>
                <a:cs typeface="Verdana"/>
              </a:rPr>
              <a:t>can happen </a:t>
            </a:r>
            <a:r>
              <a:rPr sz="1800" dirty="0">
                <a:latin typeface="Verdana"/>
                <a:cs typeface="Verdana"/>
              </a:rPr>
              <a:t>with </a:t>
            </a:r>
            <a:r>
              <a:rPr sz="1800" spc="-5" dirty="0">
                <a:latin typeface="Verdana"/>
                <a:cs typeface="Verdana"/>
              </a:rPr>
              <a:t>major </a:t>
            </a:r>
            <a:r>
              <a:rPr sz="1800" spc="-10" dirty="0">
                <a:latin typeface="Verdana"/>
                <a:cs typeface="Verdana"/>
              </a:rPr>
              <a:t>upgrades. </a:t>
            </a:r>
            <a:r>
              <a:rPr sz="1800" spc="-5" dirty="0">
                <a:latin typeface="Verdana"/>
                <a:cs typeface="Verdana"/>
              </a:rPr>
              <a:t>In these cases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physical </a:t>
            </a:r>
            <a:r>
              <a:rPr sz="1800" spc="-10" dirty="0">
                <a:latin typeface="Verdana"/>
                <a:cs typeface="Verdana"/>
              </a:rPr>
              <a:t>transformation </a:t>
            </a:r>
            <a:r>
              <a:rPr sz="1800" spc="-5" dirty="0">
                <a:latin typeface="Verdana"/>
                <a:cs typeface="Verdana"/>
              </a:rPr>
              <a:t> process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since</a:t>
            </a:r>
            <a:r>
              <a:rPr sz="1800" spc="-5" dirty="0">
                <a:latin typeface="Verdana"/>
                <a:cs typeface="Verdana"/>
              </a:rPr>
              <a:t> 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underlying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format </a:t>
            </a:r>
            <a:r>
              <a:rPr sz="1800" spc="-5" dirty="0">
                <a:latin typeface="Verdana"/>
                <a:cs typeface="Verdana"/>
              </a:rPr>
              <a:t>can change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significantly.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0777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5" dirty="0"/>
              <a:t>DIFFERENT</a:t>
            </a:r>
            <a:r>
              <a:rPr spc="-15" dirty="0"/>
              <a:t> </a:t>
            </a:r>
            <a:r>
              <a:rPr spc="-5" dirty="0"/>
              <a:t>TYPE </a:t>
            </a:r>
            <a:r>
              <a:rPr dirty="0"/>
              <a:t>OF</a:t>
            </a:r>
            <a:r>
              <a:rPr spc="-10" dirty="0"/>
              <a:t> </a:t>
            </a:r>
            <a:r>
              <a:rPr spc="-114" dirty="0"/>
              <a:t>DATA</a:t>
            </a:r>
            <a:r>
              <a:rPr dirty="0"/>
              <a:t> </a:t>
            </a:r>
            <a:r>
              <a:rPr spc="-30" dirty="0"/>
              <a:t>MIGRATION </a:t>
            </a:r>
            <a:r>
              <a:rPr spc="-132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865" y="1626870"/>
            <a:ext cx="11398250" cy="15252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Verdana"/>
                <a:cs typeface="Verdana"/>
              </a:rPr>
              <a:t>3.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Application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migration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Changing </a:t>
            </a:r>
            <a:r>
              <a:rPr sz="1800" dirty="0">
                <a:latin typeface="Verdana"/>
                <a:cs typeface="Verdana"/>
              </a:rPr>
              <a:t>application </a:t>
            </a:r>
            <a:r>
              <a:rPr sz="1800" spc="-10" dirty="0">
                <a:latin typeface="Verdana"/>
                <a:cs typeface="Verdana"/>
              </a:rPr>
              <a:t>vendor </a:t>
            </a:r>
            <a:r>
              <a:rPr sz="1800" dirty="0">
                <a:latin typeface="Verdana"/>
                <a:cs typeface="Verdana"/>
              </a:rPr>
              <a:t>– for </a:t>
            </a:r>
            <a:r>
              <a:rPr sz="1800" spc="-5" dirty="0">
                <a:latin typeface="Verdana"/>
                <a:cs typeface="Verdana"/>
              </a:rPr>
              <a:t>instance </a:t>
            </a:r>
            <a:r>
              <a:rPr sz="1800" dirty="0">
                <a:latin typeface="Verdana"/>
                <a:cs typeface="Verdana"/>
              </a:rPr>
              <a:t>a new </a:t>
            </a:r>
            <a:r>
              <a:rPr sz="1800" spc="-5" dirty="0">
                <a:latin typeface="Verdana"/>
                <a:cs typeface="Verdana"/>
              </a:rPr>
              <a:t>CRM or ERP platform </a:t>
            </a:r>
            <a:r>
              <a:rPr sz="1800" dirty="0">
                <a:latin typeface="Verdana"/>
                <a:cs typeface="Verdana"/>
              </a:rPr>
              <a:t>– </a:t>
            </a:r>
            <a:r>
              <a:rPr sz="1800" spc="5" dirty="0">
                <a:latin typeface="Verdana"/>
                <a:cs typeface="Verdana"/>
              </a:rPr>
              <a:t>will </a:t>
            </a:r>
            <a:r>
              <a:rPr sz="1800" dirty="0">
                <a:latin typeface="Verdana"/>
                <a:cs typeface="Verdana"/>
              </a:rPr>
              <a:t>inevitably </a:t>
            </a:r>
            <a:r>
              <a:rPr sz="1800" spc="-10" dirty="0">
                <a:latin typeface="Verdana"/>
                <a:cs typeface="Verdana"/>
              </a:rPr>
              <a:t>involve </a:t>
            </a:r>
            <a:r>
              <a:rPr sz="1800" spc="-5" dirty="0">
                <a:latin typeface="Verdana"/>
                <a:cs typeface="Verdana"/>
              </a:rPr>
              <a:t> substantial transformation as almost </a:t>
            </a:r>
            <a:r>
              <a:rPr sz="1800" spc="-10" dirty="0">
                <a:latin typeface="Verdana"/>
                <a:cs typeface="Verdana"/>
              </a:rPr>
              <a:t>every </a:t>
            </a:r>
            <a:r>
              <a:rPr sz="1800" spc="-5" dirty="0">
                <a:latin typeface="Verdana"/>
                <a:cs typeface="Verdana"/>
              </a:rPr>
              <a:t>application or suite </a:t>
            </a:r>
            <a:r>
              <a:rPr sz="1800" spc="-10" dirty="0">
                <a:latin typeface="Verdana"/>
                <a:cs typeface="Verdana"/>
              </a:rPr>
              <a:t>operates </a:t>
            </a:r>
            <a:r>
              <a:rPr sz="1800" spc="-5" dirty="0">
                <a:latin typeface="Verdana"/>
                <a:cs typeface="Verdana"/>
              </a:rPr>
              <a:t>on its </a:t>
            </a:r>
            <a:r>
              <a:rPr sz="1800" dirty="0">
                <a:latin typeface="Verdana"/>
                <a:cs typeface="Verdana"/>
              </a:rPr>
              <a:t>own specific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model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6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interacts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6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other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applications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and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systems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within</a:t>
            </a:r>
            <a:r>
              <a:rPr sz="1800" spc="6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enterprise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integration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environment.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8826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DIFFERENT</a:t>
            </a:r>
            <a:r>
              <a:rPr spc="-25" dirty="0"/>
              <a:t> </a:t>
            </a:r>
            <a:r>
              <a:rPr dirty="0"/>
              <a:t>TYPE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14" dirty="0"/>
              <a:t>DATA</a:t>
            </a:r>
            <a:r>
              <a:rPr dirty="0"/>
              <a:t> </a:t>
            </a:r>
            <a:r>
              <a:rPr spc="-30" dirty="0"/>
              <a:t>MIGRATION </a:t>
            </a:r>
            <a:r>
              <a:rPr spc="-132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251" y="1953006"/>
            <a:ext cx="10086340" cy="23482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Verdana"/>
                <a:cs typeface="Verdana"/>
              </a:rPr>
              <a:t>4.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Business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process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migration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Business </a:t>
            </a:r>
            <a:r>
              <a:rPr sz="1800" spc="-5" dirty="0">
                <a:latin typeface="Verdana"/>
                <a:cs typeface="Verdana"/>
              </a:rPr>
              <a:t>processes </a:t>
            </a:r>
            <a:r>
              <a:rPr sz="1800" spc="-10" dirty="0">
                <a:latin typeface="Verdana"/>
                <a:cs typeface="Verdana"/>
              </a:rPr>
              <a:t>operate </a:t>
            </a:r>
            <a:r>
              <a:rPr sz="1800" spc="-5" dirty="0">
                <a:latin typeface="Verdana"/>
                <a:cs typeface="Verdana"/>
              </a:rPr>
              <a:t>through </a:t>
            </a:r>
            <a:r>
              <a:rPr sz="1800" dirty="0">
                <a:latin typeface="Verdana"/>
                <a:cs typeface="Verdana"/>
              </a:rPr>
              <a:t>a combination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dirty="0">
                <a:latin typeface="Verdana"/>
                <a:cs typeface="Verdana"/>
              </a:rPr>
              <a:t>human </a:t>
            </a:r>
            <a:r>
              <a:rPr sz="1800" spc="-5" dirty="0">
                <a:latin typeface="Verdana"/>
                <a:cs typeface="Verdana"/>
              </a:rPr>
              <a:t>and </a:t>
            </a:r>
            <a:r>
              <a:rPr sz="1800" dirty="0">
                <a:latin typeface="Verdana"/>
                <a:cs typeface="Verdana"/>
              </a:rPr>
              <a:t>application </a:t>
            </a:r>
            <a:r>
              <a:rPr sz="1800" spc="-5" dirty="0">
                <a:latin typeface="Verdana"/>
                <a:cs typeface="Verdana"/>
              </a:rPr>
              <a:t>systems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actions,</a:t>
            </a:r>
            <a:r>
              <a:rPr sz="1800" dirty="0">
                <a:latin typeface="Verdana"/>
                <a:cs typeface="Verdana"/>
              </a:rPr>
              <a:t> often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orchestrated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management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tools.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When</a:t>
            </a:r>
            <a:r>
              <a:rPr sz="1800" spc="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these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change they can require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movement of data </a:t>
            </a:r>
            <a:r>
              <a:rPr sz="1800" dirty="0">
                <a:latin typeface="Verdana"/>
                <a:cs typeface="Verdana"/>
              </a:rPr>
              <a:t>from one </a:t>
            </a:r>
            <a:r>
              <a:rPr sz="1800" spc="-5" dirty="0">
                <a:latin typeface="Verdana"/>
                <a:cs typeface="Verdana"/>
              </a:rPr>
              <a:t>store, database or application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another to </a:t>
            </a:r>
            <a:r>
              <a:rPr sz="1800" dirty="0">
                <a:latin typeface="Verdana"/>
                <a:cs typeface="Verdana"/>
              </a:rPr>
              <a:t>reflect the </a:t>
            </a:r>
            <a:r>
              <a:rPr sz="1800" spc="-5" dirty="0">
                <a:latin typeface="Verdana"/>
                <a:cs typeface="Verdana"/>
              </a:rPr>
              <a:t>changes to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organization </a:t>
            </a:r>
            <a:r>
              <a:rPr sz="1800" dirty="0">
                <a:latin typeface="Verdana"/>
                <a:cs typeface="Verdana"/>
              </a:rPr>
              <a:t>and information </a:t>
            </a:r>
            <a:r>
              <a:rPr sz="1800" spc="-5" dirty="0">
                <a:latin typeface="Verdana"/>
                <a:cs typeface="Verdana"/>
              </a:rPr>
              <a:t>about customers,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products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operations.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Examples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dirty="0">
                <a:latin typeface="Verdana"/>
                <a:cs typeface="Verdana"/>
              </a:rPr>
              <a:t> such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migration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drivers</a:t>
            </a:r>
            <a:r>
              <a:rPr sz="1800" dirty="0">
                <a:latin typeface="Verdana"/>
                <a:cs typeface="Verdana"/>
              </a:rPr>
              <a:t> are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mergers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acquisitions,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</a:t>
            </a:r>
            <a:r>
              <a:rPr sz="1800" dirty="0">
                <a:latin typeface="Verdana"/>
                <a:cs typeface="Verdana"/>
              </a:rPr>
              <a:t> optimization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reorganization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attack</a:t>
            </a:r>
            <a:r>
              <a:rPr sz="1800" dirty="0">
                <a:latin typeface="Verdana"/>
                <a:cs typeface="Verdana"/>
              </a:rPr>
              <a:t> new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markets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respond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competitive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threat.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EEA015-4A35-42A1-B71C-42DE4D32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008"/>
            <a:ext cx="10916914" cy="6850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Accelerated S/4HANA data migration powered by </a:t>
            </a:r>
            <a:r>
              <a:rPr lang="en-US" sz="2800" dirty="0" err="1">
                <a:solidFill>
                  <a:schemeClr val="tx2"/>
                </a:solidFill>
              </a:rPr>
              <a:t>DataPath</a:t>
            </a:r>
            <a:endParaRPr lang="en-US" sz="32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4A68A4-D0D6-4CB1-9C92-363A61B2D860}"/>
              </a:ext>
            </a:extLst>
          </p:cNvPr>
          <p:cNvGrpSpPr/>
          <p:nvPr/>
        </p:nvGrpSpPr>
        <p:grpSpPr>
          <a:xfrm>
            <a:off x="457200" y="998579"/>
            <a:ext cx="11506200" cy="5173621"/>
            <a:chOff x="304800" y="1447800"/>
            <a:chExt cx="11506200" cy="5173621"/>
          </a:xfrm>
        </p:grpSpPr>
        <p:sp>
          <p:nvSpPr>
            <p:cNvPr id="51" name="Arrow: Pentagon 21">
              <a:extLst>
                <a:ext uri="{FF2B5EF4-FFF2-40B4-BE49-F238E27FC236}">
                  <a16:creationId xmlns:a16="http://schemas.microsoft.com/office/drawing/2014/main" id="{4CB0D85F-4C62-421D-8FE7-0AE757538E8B}"/>
                </a:ext>
              </a:extLst>
            </p:cNvPr>
            <p:cNvSpPr/>
            <p:nvPr/>
          </p:nvSpPr>
          <p:spPr>
            <a:xfrm>
              <a:off x="321300" y="1447800"/>
              <a:ext cx="1872207" cy="365760"/>
            </a:xfrm>
            <a:prstGeom prst="homePlate">
              <a:avLst/>
            </a:prstGeom>
            <a:solidFill>
              <a:schemeClr val="accent3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Legacy source</a:t>
              </a:r>
            </a:p>
          </p:txBody>
        </p:sp>
        <p:sp>
          <p:nvSpPr>
            <p:cNvPr id="52" name="Arrow: Chevron 22">
              <a:extLst>
                <a:ext uri="{FF2B5EF4-FFF2-40B4-BE49-F238E27FC236}">
                  <a16:creationId xmlns:a16="http://schemas.microsoft.com/office/drawing/2014/main" id="{64239365-B386-4737-B318-45B9CC254563}"/>
                </a:ext>
              </a:extLst>
            </p:cNvPr>
            <p:cNvSpPr/>
            <p:nvPr/>
          </p:nvSpPr>
          <p:spPr>
            <a:xfrm>
              <a:off x="2070900" y="1449729"/>
              <a:ext cx="2448021" cy="365760"/>
            </a:xfrm>
            <a:prstGeom prst="chevron">
              <a:avLst/>
            </a:prstGeom>
            <a:solidFill>
              <a:schemeClr val="accent4"/>
            </a:soli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Data quality management</a:t>
              </a:r>
            </a:p>
          </p:txBody>
        </p:sp>
        <p:sp>
          <p:nvSpPr>
            <p:cNvPr id="53" name="Arrow: Chevron 23">
              <a:extLst>
                <a:ext uri="{FF2B5EF4-FFF2-40B4-BE49-F238E27FC236}">
                  <a16:creationId xmlns:a16="http://schemas.microsoft.com/office/drawing/2014/main" id="{56D4D3AD-E1BA-45BA-807A-C45F1AE26092}"/>
                </a:ext>
              </a:extLst>
            </p:cNvPr>
            <p:cNvSpPr/>
            <p:nvPr/>
          </p:nvSpPr>
          <p:spPr>
            <a:xfrm>
              <a:off x="4402370" y="1451394"/>
              <a:ext cx="4966352" cy="365760"/>
            </a:xfrm>
            <a:prstGeom prst="chevron">
              <a:avLst/>
            </a:prstGeom>
            <a:solidFill>
              <a:schemeClr val="accent5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Data-migration design, development, and testing</a:t>
              </a:r>
            </a:p>
          </p:txBody>
        </p:sp>
        <p:sp>
          <p:nvSpPr>
            <p:cNvPr id="54" name="Arrow: Chevron 24">
              <a:extLst>
                <a:ext uri="{FF2B5EF4-FFF2-40B4-BE49-F238E27FC236}">
                  <a16:creationId xmlns:a16="http://schemas.microsoft.com/office/drawing/2014/main" id="{41DA41CD-B1F7-4985-B288-47540D8BC8DD}"/>
                </a:ext>
              </a:extLst>
            </p:cNvPr>
            <p:cNvSpPr/>
            <p:nvPr/>
          </p:nvSpPr>
          <p:spPr>
            <a:xfrm>
              <a:off x="9256825" y="1451394"/>
              <a:ext cx="1964889" cy="365760"/>
            </a:xfrm>
            <a:prstGeom prst="chevron">
              <a:avLst/>
            </a:prstGeom>
            <a:solidFill>
              <a:schemeClr val="accent6"/>
            </a:solidFill>
            <a:ln/>
            <a:effectLst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tx1"/>
                  </a:solidFill>
                </a:rPr>
                <a:t>S/4HANA platform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DECEC0D-32E8-49C3-A1F7-29D40E3FA42D}"/>
                </a:ext>
              </a:extLst>
            </p:cNvPr>
            <p:cNvCxnSpPr>
              <a:cxnSpLocks/>
            </p:cNvCxnSpPr>
            <p:nvPr/>
          </p:nvCxnSpPr>
          <p:spPr>
            <a:xfrm>
              <a:off x="2003930" y="1827414"/>
              <a:ext cx="0" cy="3728977"/>
            </a:xfrm>
            <a:prstGeom prst="line">
              <a:avLst/>
            </a:prstGeom>
            <a:ln w="19050" cap="rnd">
              <a:solidFill>
                <a:schemeClr val="bg2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EE0AB09-0F2D-4EBB-8DBF-F972E2281487}"/>
                </a:ext>
              </a:extLst>
            </p:cNvPr>
            <p:cNvCxnSpPr>
              <a:cxnSpLocks/>
            </p:cNvCxnSpPr>
            <p:nvPr/>
          </p:nvCxnSpPr>
          <p:spPr>
            <a:xfrm>
              <a:off x="4290716" y="1899087"/>
              <a:ext cx="0" cy="3728977"/>
            </a:xfrm>
            <a:prstGeom prst="line">
              <a:avLst/>
            </a:prstGeom>
            <a:ln w="19050" cap="rnd">
              <a:solidFill>
                <a:schemeClr val="bg2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FAAFE8D-8350-4396-9EF3-772B937D1600}"/>
                </a:ext>
              </a:extLst>
            </p:cNvPr>
            <p:cNvCxnSpPr>
              <a:cxnSpLocks/>
            </p:cNvCxnSpPr>
            <p:nvPr/>
          </p:nvCxnSpPr>
          <p:spPr>
            <a:xfrm>
              <a:off x="9577801" y="1937798"/>
              <a:ext cx="0" cy="3690266"/>
            </a:xfrm>
            <a:prstGeom prst="line">
              <a:avLst/>
            </a:prstGeom>
            <a:ln w="19050" cap="rnd">
              <a:solidFill>
                <a:schemeClr val="bg2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: Rounded Corners 32">
              <a:extLst>
                <a:ext uri="{FF2B5EF4-FFF2-40B4-BE49-F238E27FC236}">
                  <a16:creationId xmlns:a16="http://schemas.microsoft.com/office/drawing/2014/main" id="{37DB9E5C-B006-42CE-912B-949FE9433959}"/>
                </a:ext>
              </a:extLst>
            </p:cNvPr>
            <p:cNvSpPr/>
            <p:nvPr/>
          </p:nvSpPr>
          <p:spPr>
            <a:xfrm>
              <a:off x="2293549" y="2952431"/>
              <a:ext cx="1681665" cy="48184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Data quality assessment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572D1CC-F1DB-4DF6-AB27-5E5394D40C89}"/>
                </a:ext>
              </a:extLst>
            </p:cNvPr>
            <p:cNvSpPr/>
            <p:nvPr/>
          </p:nvSpPr>
          <p:spPr>
            <a:xfrm>
              <a:off x="3130272" y="2049421"/>
              <a:ext cx="908328" cy="153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rgbClr val="002060"/>
                  </a:solidFill>
                </a:rPr>
                <a:t>iCAPDQ</a:t>
              </a:r>
            </a:p>
          </p:txBody>
        </p:sp>
        <p:sp>
          <p:nvSpPr>
            <p:cNvPr id="61" name="Rectangle: Rounded Corners 50">
              <a:extLst>
                <a:ext uri="{FF2B5EF4-FFF2-40B4-BE49-F238E27FC236}">
                  <a16:creationId xmlns:a16="http://schemas.microsoft.com/office/drawing/2014/main" id="{2B988F29-4CA9-4A4C-969A-DC6BC9A01954}"/>
                </a:ext>
              </a:extLst>
            </p:cNvPr>
            <p:cNvSpPr/>
            <p:nvPr/>
          </p:nvSpPr>
          <p:spPr>
            <a:xfrm>
              <a:off x="6144067" y="5351746"/>
              <a:ext cx="1722138" cy="47331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Audit and reconciliation</a:t>
              </a:r>
            </a:p>
          </p:txBody>
        </p:sp>
        <p:cxnSp>
          <p:nvCxnSpPr>
            <p:cNvPr id="62" name="Connector: Elbow 52">
              <a:extLst>
                <a:ext uri="{FF2B5EF4-FFF2-40B4-BE49-F238E27FC236}">
                  <a16:creationId xmlns:a16="http://schemas.microsoft.com/office/drawing/2014/main" id="{A86D2352-20B6-4CCC-82FB-99C57EA0D49F}"/>
                </a:ext>
              </a:extLst>
            </p:cNvPr>
            <p:cNvCxnSpPr>
              <a:cxnSpLocks/>
              <a:stCxn id="75" idx="2"/>
              <a:endCxn id="61" idx="1"/>
            </p:cNvCxnSpPr>
            <p:nvPr/>
          </p:nvCxnSpPr>
          <p:spPr>
            <a:xfrm rot="16200000" flipH="1">
              <a:off x="4475420" y="3919758"/>
              <a:ext cx="130612" cy="3206682"/>
            </a:xfrm>
            <a:prstGeom prst="bentConnector2">
              <a:avLst/>
            </a:prstGeom>
            <a:ln w="95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54">
              <a:extLst>
                <a:ext uri="{FF2B5EF4-FFF2-40B4-BE49-F238E27FC236}">
                  <a16:creationId xmlns:a16="http://schemas.microsoft.com/office/drawing/2014/main" id="{74DC6C08-9949-4FC4-9175-D1AD3E26E278}"/>
                </a:ext>
              </a:extLst>
            </p:cNvPr>
            <p:cNvCxnSpPr>
              <a:cxnSpLocks/>
              <a:stCxn id="127" idx="2"/>
              <a:endCxn id="61" idx="3"/>
            </p:cNvCxnSpPr>
            <p:nvPr/>
          </p:nvCxnSpPr>
          <p:spPr>
            <a:xfrm rot="5400000">
              <a:off x="8775629" y="4021151"/>
              <a:ext cx="657831" cy="2476677"/>
            </a:xfrm>
            <a:prstGeom prst="bentConnector2">
              <a:avLst/>
            </a:prstGeom>
            <a:ln w="95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82FC3F-68B3-4C56-8FF9-D18FD18A1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699176" y="4456893"/>
              <a:ext cx="582934" cy="620477"/>
            </a:xfrm>
            <a:prstGeom prst="rect">
              <a:avLst/>
            </a:prstGeom>
          </p:spPr>
        </p:pic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288D2C8-DD95-4E8A-8D1E-D81CBC9EF7A9}"/>
                </a:ext>
              </a:extLst>
            </p:cNvPr>
            <p:cNvSpPr/>
            <p:nvPr/>
          </p:nvSpPr>
          <p:spPr>
            <a:xfrm>
              <a:off x="877323" y="3931330"/>
              <a:ext cx="901570" cy="124789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Non-SAP systems</a:t>
              </a:r>
            </a:p>
          </p:txBody>
        </p:sp>
        <p:sp>
          <p:nvSpPr>
            <p:cNvPr id="71" name="Arrow: Down 70">
              <a:extLst>
                <a:ext uri="{FF2B5EF4-FFF2-40B4-BE49-F238E27FC236}">
                  <a16:creationId xmlns:a16="http://schemas.microsoft.com/office/drawing/2014/main" id="{89CC4294-4CF6-47E8-A7D7-FB795E9D126E}"/>
                </a:ext>
              </a:extLst>
            </p:cNvPr>
            <p:cNvSpPr/>
            <p:nvPr/>
          </p:nvSpPr>
          <p:spPr>
            <a:xfrm>
              <a:off x="2849139" y="3550191"/>
              <a:ext cx="241265" cy="857924"/>
            </a:xfrm>
            <a:prstGeom prst="downArrow">
              <a:avLst>
                <a:gd name="adj1" fmla="val 22933"/>
                <a:gd name="adj2" fmla="val 55205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1CBEA3-EB83-47EB-9309-5D0DEF0D5F95}"/>
                </a:ext>
              </a:extLst>
            </p:cNvPr>
            <p:cNvGrpSpPr/>
            <p:nvPr/>
          </p:nvGrpSpPr>
          <p:grpSpPr>
            <a:xfrm>
              <a:off x="3065482" y="3554792"/>
              <a:ext cx="1098966" cy="525191"/>
              <a:chOff x="3196746" y="3384380"/>
              <a:chExt cx="1098966" cy="525191"/>
            </a:xfrm>
          </p:grpSpPr>
          <p:sp>
            <p:nvSpPr>
              <p:cNvPr id="72" name="Rectangle: Rounded Corners 33">
                <a:extLst>
                  <a:ext uri="{FF2B5EF4-FFF2-40B4-BE49-F238E27FC236}">
                    <a16:creationId xmlns:a16="http://schemas.microsoft.com/office/drawing/2014/main" id="{2764D8E9-A907-4190-AE58-97BE3AC233BB}"/>
                  </a:ext>
                </a:extLst>
              </p:cNvPr>
              <p:cNvSpPr/>
              <p:nvPr/>
            </p:nvSpPr>
            <p:spPr>
              <a:xfrm>
                <a:off x="3196746" y="3756338"/>
                <a:ext cx="1098966" cy="153233"/>
              </a:xfrm>
              <a:prstGeom prst="round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17475" indent="-117475">
                  <a:buFont typeface="Wingdings" panose="05000000000000000000" pitchFamily="2" charset="2"/>
                  <a:buChar char="§"/>
                </a:pPr>
                <a:r>
                  <a:rPr lang="en-US" sz="900" dirty="0"/>
                  <a:t>Data enrichment</a:t>
                </a:r>
              </a:p>
            </p:txBody>
          </p:sp>
          <p:sp>
            <p:nvSpPr>
              <p:cNvPr id="73" name="Rectangle: Rounded Corners 34">
                <a:extLst>
                  <a:ext uri="{FF2B5EF4-FFF2-40B4-BE49-F238E27FC236}">
                    <a16:creationId xmlns:a16="http://schemas.microsoft.com/office/drawing/2014/main" id="{9E2134C7-7709-454D-AE8E-934A831D04AA}"/>
                  </a:ext>
                </a:extLst>
              </p:cNvPr>
              <p:cNvSpPr/>
              <p:nvPr/>
            </p:nvSpPr>
            <p:spPr>
              <a:xfrm>
                <a:off x="3196746" y="3556811"/>
                <a:ext cx="909600" cy="153233"/>
              </a:xfrm>
              <a:prstGeom prst="round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17475" indent="-117475">
                  <a:buFont typeface="Wingdings" panose="05000000000000000000" pitchFamily="2" charset="2"/>
                  <a:buChar char="§"/>
                </a:pPr>
                <a:r>
                  <a:rPr lang="en-US" sz="900" dirty="0"/>
                  <a:t>Consolidation</a:t>
                </a:r>
              </a:p>
            </p:txBody>
          </p:sp>
          <p:sp>
            <p:nvSpPr>
              <p:cNvPr id="74" name="Rectangle: Rounded Corners 34">
                <a:extLst>
                  <a:ext uri="{FF2B5EF4-FFF2-40B4-BE49-F238E27FC236}">
                    <a16:creationId xmlns:a16="http://schemas.microsoft.com/office/drawing/2014/main" id="{C8CE9FC8-F5E7-42F2-8FB6-4F30F07F93F0}"/>
                  </a:ext>
                </a:extLst>
              </p:cNvPr>
              <p:cNvSpPr/>
              <p:nvPr/>
            </p:nvSpPr>
            <p:spPr>
              <a:xfrm>
                <a:off x="3196746" y="3384380"/>
                <a:ext cx="982434" cy="153233"/>
              </a:xfrm>
              <a:prstGeom prst="round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17475" indent="-117475">
                  <a:buFont typeface="Wingdings" panose="05000000000000000000" pitchFamily="2" charset="2"/>
                  <a:buChar char="§"/>
                </a:pPr>
                <a:r>
                  <a:rPr lang="en-US" sz="900" dirty="0">
                    <a:solidFill>
                      <a:schemeClr val="tx1"/>
                    </a:solidFill>
                  </a:rPr>
                  <a:t>Data cleansing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6B658E7-E700-4CDB-9ED6-7F0CB3BBF2DC}"/>
                </a:ext>
              </a:extLst>
            </p:cNvPr>
            <p:cNvSpPr/>
            <p:nvPr/>
          </p:nvSpPr>
          <p:spPr>
            <a:xfrm>
              <a:off x="2369194" y="5109684"/>
              <a:ext cx="1136382" cy="348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Legacy</a:t>
              </a: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staging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151B486-23F6-46EC-AC6D-C7844F358415}"/>
                </a:ext>
              </a:extLst>
            </p:cNvPr>
            <p:cNvSpPr/>
            <p:nvPr/>
          </p:nvSpPr>
          <p:spPr>
            <a:xfrm>
              <a:off x="4827171" y="2129575"/>
              <a:ext cx="1019510" cy="48474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Data-mapping</a:t>
              </a:r>
            </a:p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Accelerator by </a:t>
              </a:r>
            </a:p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Industry Path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139E928-E3B2-44F0-84E7-A9AC530ADDCF}"/>
                </a:ext>
              </a:extLst>
            </p:cNvPr>
            <p:cNvSpPr/>
            <p:nvPr/>
          </p:nvSpPr>
          <p:spPr>
            <a:xfrm>
              <a:off x="6515583" y="2100495"/>
              <a:ext cx="1350622" cy="48474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Data-quality</a:t>
              </a:r>
              <a:br>
                <a:rPr lang="en-US" sz="1050" dirty="0">
                  <a:solidFill>
                    <a:srgbClr val="002060"/>
                  </a:solidFill>
                </a:rPr>
              </a:br>
              <a:r>
                <a:rPr lang="en-US" sz="1050" dirty="0">
                  <a:solidFill>
                    <a:srgbClr val="002060"/>
                  </a:solidFill>
                </a:rPr>
                <a:t>dashboards </a:t>
              </a:r>
            </a:p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using SAP IS</a:t>
              </a:r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312797AD-2268-4CB2-8884-E4E50C4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7049" y="2996303"/>
              <a:ext cx="1371600" cy="43881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  Transform</a:t>
              </a:r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C4DC54C7-4D3E-479D-9798-7FA18DDD7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6737" y="2995463"/>
              <a:ext cx="1371600" cy="43881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Load</a:t>
              </a:r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5B942698-7B1A-4C26-B192-3FACE8A77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6425" y="2995463"/>
              <a:ext cx="1371600" cy="43881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Validate</a:t>
              </a:r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2BC7A9CB-D42B-467A-8D0C-907F89F9B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361" y="2996643"/>
              <a:ext cx="1371600" cy="43881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Data </a:t>
              </a:r>
            </a:p>
            <a:p>
              <a:pPr algn="ctr"/>
              <a:r>
                <a:rPr lang="en-US" sz="1100" b="1" dirty="0">
                  <a:solidFill>
                    <a:prstClr val="white"/>
                  </a:solidFill>
                </a:rPr>
                <a:t>mapping</a:t>
              </a: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AAFB417-A265-477E-93B0-BAB44AA7A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669596" y="4221317"/>
              <a:ext cx="525223" cy="588384"/>
            </a:xfrm>
            <a:prstGeom prst="rect">
              <a:avLst/>
            </a:prstGeom>
          </p:spPr>
        </p:pic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62F4493-8949-457F-A85F-D61E13121E5A}"/>
                </a:ext>
              </a:extLst>
            </p:cNvPr>
            <p:cNvSpPr/>
            <p:nvPr/>
          </p:nvSpPr>
          <p:spPr>
            <a:xfrm>
              <a:off x="6515869" y="4871445"/>
              <a:ext cx="78803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S/4HANA  </a:t>
              </a: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Staging</a:t>
              </a:r>
            </a:p>
          </p:txBody>
        </p:sp>
        <p:sp>
          <p:nvSpPr>
            <p:cNvPr id="122" name="Arrow: Left-Up 121">
              <a:extLst>
                <a:ext uri="{FF2B5EF4-FFF2-40B4-BE49-F238E27FC236}">
                  <a16:creationId xmlns:a16="http://schemas.microsoft.com/office/drawing/2014/main" id="{02638AE7-0659-466C-9A9E-BF8B2D80F242}"/>
                </a:ext>
              </a:extLst>
            </p:cNvPr>
            <p:cNvSpPr/>
            <p:nvPr/>
          </p:nvSpPr>
          <p:spPr>
            <a:xfrm rot="2716481">
              <a:off x="6595424" y="3374629"/>
              <a:ext cx="690478" cy="776756"/>
            </a:xfrm>
            <a:prstGeom prst="left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B113CD0-5157-40F3-A950-ABDE37FE9CB7}"/>
                </a:ext>
              </a:extLst>
            </p:cNvPr>
            <p:cNvSpPr/>
            <p:nvPr/>
          </p:nvSpPr>
          <p:spPr>
            <a:xfrm>
              <a:off x="8220148" y="2210368"/>
              <a:ext cx="1032334" cy="32316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2060"/>
                  </a:solidFill>
                </a:rPr>
                <a:t>Data-validation</a:t>
              </a:r>
              <a:br>
                <a:rPr lang="en-US" sz="1050" dirty="0">
                  <a:solidFill>
                    <a:srgbClr val="002060"/>
                  </a:solidFill>
                </a:rPr>
              </a:br>
              <a:r>
                <a:rPr lang="en-US" sz="1050" dirty="0">
                  <a:solidFill>
                    <a:srgbClr val="002060"/>
                  </a:solidFill>
                </a:rPr>
                <a:t>scripts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EB891E7-AC1E-47B4-B8BC-E2099F5B9BBF}"/>
                </a:ext>
              </a:extLst>
            </p:cNvPr>
            <p:cNvSpPr/>
            <p:nvPr/>
          </p:nvSpPr>
          <p:spPr>
            <a:xfrm>
              <a:off x="9729915" y="2970457"/>
              <a:ext cx="1225933" cy="19601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050" b="1" dirty="0">
                  <a:solidFill>
                    <a:schemeClr val="tx2">
                      <a:lumMod val="50000"/>
                    </a:schemeClr>
                  </a:solidFill>
                </a:rPr>
                <a:t>Target systems</a:t>
              </a:r>
            </a:p>
          </p:txBody>
        </p:sp>
        <p:grpSp>
          <p:nvGrpSpPr>
            <p:cNvPr id="128" name="Group 8">
              <a:extLst>
                <a:ext uri="{FF2B5EF4-FFF2-40B4-BE49-F238E27FC236}">
                  <a16:creationId xmlns:a16="http://schemas.microsoft.com/office/drawing/2014/main" id="{0D9FBF51-F169-449B-96D6-09FE827AFC44}"/>
                </a:ext>
              </a:extLst>
            </p:cNvPr>
            <p:cNvGrpSpPr/>
            <p:nvPr/>
          </p:nvGrpSpPr>
          <p:grpSpPr>
            <a:xfrm>
              <a:off x="10451427" y="3579559"/>
              <a:ext cx="319948" cy="309436"/>
              <a:chOff x="4010024" y="1488492"/>
              <a:chExt cx="503411" cy="610344"/>
            </a:xfrm>
            <a:solidFill>
              <a:schemeClr val="accent1"/>
            </a:solidFill>
          </p:grpSpPr>
          <p:sp>
            <p:nvSpPr>
              <p:cNvPr id="129" name="Can 22">
                <a:extLst>
                  <a:ext uri="{FF2B5EF4-FFF2-40B4-BE49-F238E27FC236}">
                    <a16:creationId xmlns:a16="http://schemas.microsoft.com/office/drawing/2014/main" id="{067C111E-374E-4629-820B-D77BFDB9CBC0}"/>
                  </a:ext>
                </a:extLst>
              </p:cNvPr>
              <p:cNvSpPr/>
              <p:nvPr/>
            </p:nvSpPr>
            <p:spPr>
              <a:xfrm>
                <a:off x="4075285" y="1490814"/>
                <a:ext cx="438150" cy="608022"/>
              </a:xfrm>
              <a:custGeom>
                <a:avLst/>
                <a:gdLst>
                  <a:gd name="connsiteX0" fmla="*/ 69057 w 438150"/>
                  <a:gd name="connsiteY0" fmla="*/ 29373 h 607212"/>
                  <a:gd name="connsiteX1" fmla="*/ 69057 w 438150"/>
                  <a:gd name="connsiteY1" fmla="*/ 15217 h 607212"/>
                  <a:gd name="connsiteX2" fmla="*/ 219075 w 438150"/>
                  <a:gd name="connsiteY2" fmla="*/ 0 h 607212"/>
                  <a:gd name="connsiteX3" fmla="*/ 438150 w 438150"/>
                  <a:gd name="connsiteY3" fmla="*/ 54769 h 607212"/>
                  <a:gd name="connsiteX4" fmla="*/ 438150 w 438150"/>
                  <a:gd name="connsiteY4" fmla="*/ 552443 h 607212"/>
                  <a:gd name="connsiteX5" fmla="*/ 219075 w 438150"/>
                  <a:gd name="connsiteY5" fmla="*/ 607212 h 607212"/>
                  <a:gd name="connsiteX6" fmla="*/ 0 w 438150"/>
                  <a:gd name="connsiteY6" fmla="*/ 552443 h 607212"/>
                  <a:gd name="connsiteX7" fmla="*/ 0 w 438150"/>
                  <a:gd name="connsiteY7" fmla="*/ 54769 h 607212"/>
                  <a:gd name="connsiteX8" fmla="*/ 28212 w 438150"/>
                  <a:gd name="connsiteY8" fmla="*/ 29373 h 607212"/>
                  <a:gd name="connsiteX9" fmla="*/ 160497 w 438150"/>
                  <a:gd name="connsiteY9" fmla="*/ 120813 h 607212"/>
                  <a:gd name="connsiteX0" fmla="*/ 69057 w 438150"/>
                  <a:gd name="connsiteY0" fmla="*/ 29373 h 607212"/>
                  <a:gd name="connsiteX1" fmla="*/ 69057 w 438150"/>
                  <a:gd name="connsiteY1" fmla="*/ 15217 h 607212"/>
                  <a:gd name="connsiteX2" fmla="*/ 219075 w 438150"/>
                  <a:gd name="connsiteY2" fmla="*/ 0 h 607212"/>
                  <a:gd name="connsiteX3" fmla="*/ 438150 w 438150"/>
                  <a:gd name="connsiteY3" fmla="*/ 54769 h 607212"/>
                  <a:gd name="connsiteX4" fmla="*/ 438150 w 438150"/>
                  <a:gd name="connsiteY4" fmla="*/ 552443 h 607212"/>
                  <a:gd name="connsiteX5" fmla="*/ 219075 w 438150"/>
                  <a:gd name="connsiteY5" fmla="*/ 607212 h 607212"/>
                  <a:gd name="connsiteX6" fmla="*/ 0 w 438150"/>
                  <a:gd name="connsiteY6" fmla="*/ 552443 h 607212"/>
                  <a:gd name="connsiteX7" fmla="*/ 0 w 438150"/>
                  <a:gd name="connsiteY7" fmla="*/ 54769 h 607212"/>
                  <a:gd name="connsiteX8" fmla="*/ 28212 w 438150"/>
                  <a:gd name="connsiteY8" fmla="*/ 29373 h 607212"/>
                  <a:gd name="connsiteX0" fmla="*/ 69057 w 438150"/>
                  <a:gd name="connsiteY0" fmla="*/ 15217 h 607212"/>
                  <a:gd name="connsiteX1" fmla="*/ 219075 w 438150"/>
                  <a:gd name="connsiteY1" fmla="*/ 0 h 607212"/>
                  <a:gd name="connsiteX2" fmla="*/ 438150 w 438150"/>
                  <a:gd name="connsiteY2" fmla="*/ 54769 h 607212"/>
                  <a:gd name="connsiteX3" fmla="*/ 438150 w 438150"/>
                  <a:gd name="connsiteY3" fmla="*/ 552443 h 607212"/>
                  <a:gd name="connsiteX4" fmla="*/ 219075 w 438150"/>
                  <a:gd name="connsiteY4" fmla="*/ 607212 h 607212"/>
                  <a:gd name="connsiteX5" fmla="*/ 0 w 438150"/>
                  <a:gd name="connsiteY5" fmla="*/ 552443 h 607212"/>
                  <a:gd name="connsiteX6" fmla="*/ 0 w 438150"/>
                  <a:gd name="connsiteY6" fmla="*/ 54769 h 607212"/>
                  <a:gd name="connsiteX7" fmla="*/ 28212 w 438150"/>
                  <a:gd name="connsiteY7" fmla="*/ 29373 h 607212"/>
                  <a:gd name="connsiteX0" fmla="*/ 31672 w 438150"/>
                  <a:gd name="connsiteY0" fmla="*/ 25231 h 608021"/>
                  <a:gd name="connsiteX1" fmla="*/ 219075 w 438150"/>
                  <a:gd name="connsiteY1" fmla="*/ 809 h 608021"/>
                  <a:gd name="connsiteX2" fmla="*/ 438150 w 438150"/>
                  <a:gd name="connsiteY2" fmla="*/ 55578 h 608021"/>
                  <a:gd name="connsiteX3" fmla="*/ 438150 w 438150"/>
                  <a:gd name="connsiteY3" fmla="*/ 553252 h 608021"/>
                  <a:gd name="connsiteX4" fmla="*/ 219075 w 438150"/>
                  <a:gd name="connsiteY4" fmla="*/ 608021 h 608021"/>
                  <a:gd name="connsiteX5" fmla="*/ 0 w 438150"/>
                  <a:gd name="connsiteY5" fmla="*/ 553252 h 608021"/>
                  <a:gd name="connsiteX6" fmla="*/ 0 w 438150"/>
                  <a:gd name="connsiteY6" fmla="*/ 55578 h 608021"/>
                  <a:gd name="connsiteX7" fmla="*/ 28212 w 438150"/>
                  <a:gd name="connsiteY7" fmla="*/ 30182 h 608021"/>
                  <a:gd name="connsiteX0" fmla="*/ 31672 w 438150"/>
                  <a:gd name="connsiteY0" fmla="*/ 25231 h 608021"/>
                  <a:gd name="connsiteX1" fmla="*/ 219075 w 438150"/>
                  <a:gd name="connsiteY1" fmla="*/ 809 h 608021"/>
                  <a:gd name="connsiteX2" fmla="*/ 438150 w 438150"/>
                  <a:gd name="connsiteY2" fmla="*/ 55578 h 608021"/>
                  <a:gd name="connsiteX3" fmla="*/ 438150 w 438150"/>
                  <a:gd name="connsiteY3" fmla="*/ 553252 h 608021"/>
                  <a:gd name="connsiteX4" fmla="*/ 219075 w 438150"/>
                  <a:gd name="connsiteY4" fmla="*/ 608021 h 608021"/>
                  <a:gd name="connsiteX5" fmla="*/ 0 w 438150"/>
                  <a:gd name="connsiteY5" fmla="*/ 553252 h 608021"/>
                  <a:gd name="connsiteX6" fmla="*/ 0 w 438150"/>
                  <a:gd name="connsiteY6" fmla="*/ 55578 h 608021"/>
                  <a:gd name="connsiteX7" fmla="*/ 41807 w 438150"/>
                  <a:gd name="connsiteY7" fmla="*/ 22819 h 60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150" h="608021">
                    <a:moveTo>
                      <a:pt x="31672" y="25231"/>
                    </a:moveTo>
                    <a:cubicBezTo>
                      <a:pt x="70800" y="15665"/>
                      <a:pt x="151329" y="-4249"/>
                      <a:pt x="219075" y="809"/>
                    </a:cubicBezTo>
                    <a:cubicBezTo>
                      <a:pt x="286821" y="5867"/>
                      <a:pt x="438150" y="25330"/>
                      <a:pt x="438150" y="55578"/>
                    </a:cubicBezTo>
                    <a:lnTo>
                      <a:pt x="438150" y="553252"/>
                    </a:lnTo>
                    <a:cubicBezTo>
                      <a:pt x="438150" y="583500"/>
                      <a:pt x="340067" y="608021"/>
                      <a:pt x="219075" y="608021"/>
                    </a:cubicBezTo>
                    <a:cubicBezTo>
                      <a:pt x="98083" y="608021"/>
                      <a:pt x="0" y="583500"/>
                      <a:pt x="0" y="553252"/>
                    </a:cubicBezTo>
                    <a:lnTo>
                      <a:pt x="0" y="55578"/>
                    </a:lnTo>
                    <a:cubicBezTo>
                      <a:pt x="0" y="45902"/>
                      <a:pt x="23632" y="29449"/>
                      <a:pt x="41807" y="22819"/>
                    </a:cubicBezTo>
                  </a:path>
                </a:pathLst>
              </a:custGeom>
              <a:grp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2977" tIns="31489" rIns="62977" bIns="3148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  <p:sp>
            <p:nvSpPr>
              <p:cNvPr id="130" name="Arc 129">
                <a:extLst>
                  <a:ext uri="{FF2B5EF4-FFF2-40B4-BE49-F238E27FC236}">
                    <a16:creationId xmlns:a16="http://schemas.microsoft.com/office/drawing/2014/main" id="{745A9758-AE0A-4FBE-A120-D9F9DB074A06}"/>
                  </a:ext>
                </a:extLst>
              </p:cNvPr>
              <p:cNvSpPr/>
              <p:nvPr/>
            </p:nvSpPr>
            <p:spPr>
              <a:xfrm>
                <a:off x="4010024" y="1488492"/>
                <a:ext cx="438150" cy="117709"/>
              </a:xfrm>
              <a:prstGeom prst="arc">
                <a:avLst>
                  <a:gd name="adj1" fmla="val 121739"/>
                  <a:gd name="adj2" fmla="val 10777442"/>
                </a:avLst>
              </a:prstGeom>
              <a:grp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2977" tIns="31489" rIns="62977" bIns="3148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E5F90BC5-9299-48E8-91F4-7CE2244AD5C6}"/>
                  </a:ext>
                </a:extLst>
              </p:cNvPr>
              <p:cNvSpPr/>
              <p:nvPr/>
            </p:nvSpPr>
            <p:spPr>
              <a:xfrm>
                <a:off x="4010024" y="1652168"/>
                <a:ext cx="438150" cy="117709"/>
              </a:xfrm>
              <a:prstGeom prst="arc">
                <a:avLst>
                  <a:gd name="adj1" fmla="val 121739"/>
                  <a:gd name="adj2" fmla="val 10777442"/>
                </a:avLst>
              </a:prstGeom>
              <a:grp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2977" tIns="31489" rIns="62977" bIns="3148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17378621-8187-4804-B1C0-F0E9D3928D2F}"/>
                  </a:ext>
                </a:extLst>
              </p:cNvPr>
              <p:cNvSpPr/>
              <p:nvPr/>
            </p:nvSpPr>
            <p:spPr>
              <a:xfrm>
                <a:off x="4010024" y="1821441"/>
                <a:ext cx="438150" cy="117709"/>
              </a:xfrm>
              <a:prstGeom prst="arc">
                <a:avLst>
                  <a:gd name="adj1" fmla="val 121739"/>
                  <a:gd name="adj2" fmla="val 10777442"/>
                </a:avLst>
              </a:prstGeom>
              <a:grp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2977" tIns="31489" rIns="62977" bIns="3148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6FAD3CF-6E79-472B-A5A5-C13CEBE5B736}"/>
                </a:ext>
              </a:extLst>
            </p:cNvPr>
            <p:cNvGrpSpPr/>
            <p:nvPr/>
          </p:nvGrpSpPr>
          <p:grpSpPr>
            <a:xfrm>
              <a:off x="9914476" y="3496305"/>
              <a:ext cx="536951" cy="384709"/>
              <a:chOff x="-265939" y="3485280"/>
              <a:chExt cx="365977" cy="303425"/>
            </a:xfrm>
            <a:solidFill>
              <a:schemeClr val="accent1"/>
            </a:solidFill>
          </p:grpSpPr>
          <p:sp>
            <p:nvSpPr>
              <p:cNvPr id="134" name="Freeform 122">
                <a:extLst>
                  <a:ext uri="{FF2B5EF4-FFF2-40B4-BE49-F238E27FC236}">
                    <a16:creationId xmlns:a16="http://schemas.microsoft.com/office/drawing/2014/main" id="{B9CE1CF1-2C68-4BE7-92DC-6E746FF4F1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265939" y="3581492"/>
                <a:ext cx="142063" cy="207213"/>
              </a:xfrm>
              <a:custGeom>
                <a:avLst/>
                <a:gdLst>
                  <a:gd name="T0" fmla="*/ 63 w 68"/>
                  <a:gd name="T1" fmla="*/ 0 h 99"/>
                  <a:gd name="T2" fmla="*/ 5 w 68"/>
                  <a:gd name="T3" fmla="*/ 0 h 99"/>
                  <a:gd name="T4" fmla="*/ 0 w 68"/>
                  <a:gd name="T5" fmla="*/ 4 h 99"/>
                  <a:gd name="T6" fmla="*/ 0 w 68"/>
                  <a:gd name="T7" fmla="*/ 95 h 99"/>
                  <a:gd name="T8" fmla="*/ 5 w 68"/>
                  <a:gd name="T9" fmla="*/ 99 h 99"/>
                  <a:gd name="T10" fmla="*/ 63 w 68"/>
                  <a:gd name="T11" fmla="*/ 99 h 99"/>
                  <a:gd name="T12" fmla="*/ 68 w 68"/>
                  <a:gd name="T13" fmla="*/ 95 h 99"/>
                  <a:gd name="T14" fmla="*/ 68 w 68"/>
                  <a:gd name="T15" fmla="*/ 4 h 99"/>
                  <a:gd name="T16" fmla="*/ 63 w 68"/>
                  <a:gd name="T17" fmla="*/ 0 h 99"/>
                  <a:gd name="T18" fmla="*/ 53 w 68"/>
                  <a:gd name="T19" fmla="*/ 52 h 99"/>
                  <a:gd name="T20" fmla="*/ 15 w 68"/>
                  <a:gd name="T21" fmla="*/ 52 h 99"/>
                  <a:gd name="T22" fmla="*/ 11 w 68"/>
                  <a:gd name="T23" fmla="*/ 47 h 99"/>
                  <a:gd name="T24" fmla="*/ 15 w 68"/>
                  <a:gd name="T25" fmla="*/ 43 h 99"/>
                  <a:gd name="T26" fmla="*/ 53 w 68"/>
                  <a:gd name="T27" fmla="*/ 43 h 99"/>
                  <a:gd name="T28" fmla="*/ 57 w 68"/>
                  <a:gd name="T29" fmla="*/ 47 h 99"/>
                  <a:gd name="T30" fmla="*/ 53 w 68"/>
                  <a:gd name="T31" fmla="*/ 52 h 99"/>
                  <a:gd name="T32" fmla="*/ 53 w 68"/>
                  <a:gd name="T33" fmla="*/ 37 h 99"/>
                  <a:gd name="T34" fmla="*/ 15 w 68"/>
                  <a:gd name="T35" fmla="*/ 37 h 99"/>
                  <a:gd name="T36" fmla="*/ 11 w 68"/>
                  <a:gd name="T37" fmla="*/ 32 h 99"/>
                  <a:gd name="T38" fmla="*/ 15 w 68"/>
                  <a:gd name="T39" fmla="*/ 28 h 99"/>
                  <a:gd name="T40" fmla="*/ 53 w 68"/>
                  <a:gd name="T41" fmla="*/ 28 h 99"/>
                  <a:gd name="T42" fmla="*/ 57 w 68"/>
                  <a:gd name="T43" fmla="*/ 32 h 99"/>
                  <a:gd name="T44" fmla="*/ 53 w 68"/>
                  <a:gd name="T45" fmla="*/ 37 h 99"/>
                  <a:gd name="T46" fmla="*/ 53 w 68"/>
                  <a:gd name="T47" fmla="*/ 22 h 99"/>
                  <a:gd name="T48" fmla="*/ 15 w 68"/>
                  <a:gd name="T49" fmla="*/ 22 h 99"/>
                  <a:gd name="T50" fmla="*/ 11 w 68"/>
                  <a:gd name="T51" fmla="*/ 18 h 99"/>
                  <a:gd name="T52" fmla="*/ 15 w 68"/>
                  <a:gd name="T53" fmla="*/ 13 h 99"/>
                  <a:gd name="T54" fmla="*/ 53 w 68"/>
                  <a:gd name="T55" fmla="*/ 13 h 99"/>
                  <a:gd name="T56" fmla="*/ 57 w 68"/>
                  <a:gd name="T57" fmla="*/ 18 h 99"/>
                  <a:gd name="T58" fmla="*/ 53 w 68"/>
                  <a:gd name="T59" fmla="*/ 2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" h="99">
                    <a:moveTo>
                      <a:pt x="6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97"/>
                      <a:pt x="3" y="99"/>
                      <a:pt x="5" y="99"/>
                    </a:cubicBezTo>
                    <a:cubicBezTo>
                      <a:pt x="63" y="99"/>
                      <a:pt x="63" y="99"/>
                      <a:pt x="63" y="99"/>
                    </a:cubicBezTo>
                    <a:cubicBezTo>
                      <a:pt x="66" y="99"/>
                      <a:pt x="68" y="97"/>
                      <a:pt x="68" y="95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3" y="0"/>
                    </a:cubicBezTo>
                    <a:close/>
                    <a:moveTo>
                      <a:pt x="53" y="52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3" y="52"/>
                      <a:pt x="11" y="50"/>
                      <a:pt x="11" y="47"/>
                    </a:cubicBezTo>
                    <a:cubicBezTo>
                      <a:pt x="11" y="45"/>
                      <a:pt x="13" y="43"/>
                      <a:pt x="15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5" y="43"/>
                      <a:pt x="57" y="45"/>
                      <a:pt x="57" y="47"/>
                    </a:cubicBezTo>
                    <a:cubicBezTo>
                      <a:pt x="57" y="50"/>
                      <a:pt x="55" y="52"/>
                      <a:pt x="53" y="52"/>
                    </a:cubicBezTo>
                    <a:close/>
                    <a:moveTo>
                      <a:pt x="53" y="37"/>
                    </a:moveTo>
                    <a:cubicBezTo>
                      <a:pt x="15" y="37"/>
                      <a:pt x="15" y="37"/>
                      <a:pt x="15" y="37"/>
                    </a:cubicBezTo>
                    <a:cubicBezTo>
                      <a:pt x="13" y="37"/>
                      <a:pt x="11" y="35"/>
                      <a:pt x="11" y="32"/>
                    </a:cubicBezTo>
                    <a:cubicBezTo>
                      <a:pt x="11" y="30"/>
                      <a:pt x="13" y="28"/>
                      <a:pt x="15" y="28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8"/>
                      <a:pt x="57" y="30"/>
                      <a:pt x="57" y="32"/>
                    </a:cubicBezTo>
                    <a:cubicBezTo>
                      <a:pt x="57" y="35"/>
                      <a:pt x="55" y="37"/>
                      <a:pt x="53" y="37"/>
                    </a:cubicBezTo>
                    <a:close/>
                    <a:moveTo>
                      <a:pt x="53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2"/>
                      <a:pt x="11" y="20"/>
                      <a:pt x="11" y="18"/>
                    </a:cubicBezTo>
                    <a:cubicBezTo>
                      <a:pt x="11" y="15"/>
                      <a:pt x="13" y="13"/>
                      <a:pt x="15" y="13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5" y="13"/>
                      <a:pt x="57" y="15"/>
                      <a:pt x="57" y="18"/>
                    </a:cubicBezTo>
                    <a:cubicBezTo>
                      <a:pt x="57" y="20"/>
                      <a:pt x="55" y="22"/>
                      <a:pt x="5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  <p:sp>
            <p:nvSpPr>
              <p:cNvPr id="135" name="Freeform 122">
                <a:extLst>
                  <a:ext uri="{FF2B5EF4-FFF2-40B4-BE49-F238E27FC236}">
                    <a16:creationId xmlns:a16="http://schemas.microsoft.com/office/drawing/2014/main" id="{C9F83651-D0E2-4F6B-8DA2-4A15D9FD9D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07987" y="3485280"/>
                <a:ext cx="208025" cy="303425"/>
              </a:xfrm>
              <a:custGeom>
                <a:avLst/>
                <a:gdLst>
                  <a:gd name="T0" fmla="*/ 63 w 68"/>
                  <a:gd name="T1" fmla="*/ 0 h 99"/>
                  <a:gd name="T2" fmla="*/ 5 w 68"/>
                  <a:gd name="T3" fmla="*/ 0 h 99"/>
                  <a:gd name="T4" fmla="*/ 0 w 68"/>
                  <a:gd name="T5" fmla="*/ 4 h 99"/>
                  <a:gd name="T6" fmla="*/ 0 w 68"/>
                  <a:gd name="T7" fmla="*/ 95 h 99"/>
                  <a:gd name="T8" fmla="*/ 5 w 68"/>
                  <a:gd name="T9" fmla="*/ 99 h 99"/>
                  <a:gd name="T10" fmla="*/ 63 w 68"/>
                  <a:gd name="T11" fmla="*/ 99 h 99"/>
                  <a:gd name="T12" fmla="*/ 68 w 68"/>
                  <a:gd name="T13" fmla="*/ 95 h 99"/>
                  <a:gd name="T14" fmla="*/ 68 w 68"/>
                  <a:gd name="T15" fmla="*/ 4 h 99"/>
                  <a:gd name="T16" fmla="*/ 63 w 68"/>
                  <a:gd name="T17" fmla="*/ 0 h 99"/>
                  <a:gd name="T18" fmla="*/ 53 w 68"/>
                  <a:gd name="T19" fmla="*/ 52 h 99"/>
                  <a:gd name="T20" fmla="*/ 15 w 68"/>
                  <a:gd name="T21" fmla="*/ 52 h 99"/>
                  <a:gd name="T22" fmla="*/ 11 w 68"/>
                  <a:gd name="T23" fmla="*/ 47 h 99"/>
                  <a:gd name="T24" fmla="*/ 15 w 68"/>
                  <a:gd name="T25" fmla="*/ 43 h 99"/>
                  <a:gd name="T26" fmla="*/ 53 w 68"/>
                  <a:gd name="T27" fmla="*/ 43 h 99"/>
                  <a:gd name="T28" fmla="*/ 57 w 68"/>
                  <a:gd name="T29" fmla="*/ 47 h 99"/>
                  <a:gd name="T30" fmla="*/ 53 w 68"/>
                  <a:gd name="T31" fmla="*/ 52 h 99"/>
                  <a:gd name="T32" fmla="*/ 53 w 68"/>
                  <a:gd name="T33" fmla="*/ 37 h 99"/>
                  <a:gd name="T34" fmla="*/ 15 w 68"/>
                  <a:gd name="T35" fmla="*/ 37 h 99"/>
                  <a:gd name="T36" fmla="*/ 11 w 68"/>
                  <a:gd name="T37" fmla="*/ 32 h 99"/>
                  <a:gd name="T38" fmla="*/ 15 w 68"/>
                  <a:gd name="T39" fmla="*/ 28 h 99"/>
                  <a:gd name="T40" fmla="*/ 53 w 68"/>
                  <a:gd name="T41" fmla="*/ 28 h 99"/>
                  <a:gd name="T42" fmla="*/ 57 w 68"/>
                  <a:gd name="T43" fmla="*/ 32 h 99"/>
                  <a:gd name="T44" fmla="*/ 53 w 68"/>
                  <a:gd name="T45" fmla="*/ 37 h 99"/>
                  <a:gd name="T46" fmla="*/ 53 w 68"/>
                  <a:gd name="T47" fmla="*/ 22 h 99"/>
                  <a:gd name="T48" fmla="*/ 15 w 68"/>
                  <a:gd name="T49" fmla="*/ 22 h 99"/>
                  <a:gd name="T50" fmla="*/ 11 w 68"/>
                  <a:gd name="T51" fmla="*/ 18 h 99"/>
                  <a:gd name="T52" fmla="*/ 15 w 68"/>
                  <a:gd name="T53" fmla="*/ 13 h 99"/>
                  <a:gd name="T54" fmla="*/ 53 w 68"/>
                  <a:gd name="T55" fmla="*/ 13 h 99"/>
                  <a:gd name="T56" fmla="*/ 57 w 68"/>
                  <a:gd name="T57" fmla="*/ 18 h 99"/>
                  <a:gd name="T58" fmla="*/ 53 w 68"/>
                  <a:gd name="T59" fmla="*/ 2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" h="99">
                    <a:moveTo>
                      <a:pt x="6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97"/>
                      <a:pt x="3" y="99"/>
                      <a:pt x="5" y="99"/>
                    </a:cubicBezTo>
                    <a:cubicBezTo>
                      <a:pt x="63" y="99"/>
                      <a:pt x="63" y="99"/>
                      <a:pt x="63" y="99"/>
                    </a:cubicBezTo>
                    <a:cubicBezTo>
                      <a:pt x="66" y="99"/>
                      <a:pt x="68" y="97"/>
                      <a:pt x="68" y="95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3" y="0"/>
                    </a:cubicBezTo>
                    <a:close/>
                    <a:moveTo>
                      <a:pt x="53" y="52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3" y="52"/>
                      <a:pt x="11" y="50"/>
                      <a:pt x="11" y="47"/>
                    </a:cubicBezTo>
                    <a:cubicBezTo>
                      <a:pt x="11" y="45"/>
                      <a:pt x="13" y="43"/>
                      <a:pt x="15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5" y="43"/>
                      <a:pt x="57" y="45"/>
                      <a:pt x="57" y="47"/>
                    </a:cubicBezTo>
                    <a:cubicBezTo>
                      <a:pt x="57" y="50"/>
                      <a:pt x="55" y="52"/>
                      <a:pt x="53" y="52"/>
                    </a:cubicBezTo>
                    <a:close/>
                    <a:moveTo>
                      <a:pt x="53" y="37"/>
                    </a:moveTo>
                    <a:cubicBezTo>
                      <a:pt x="15" y="37"/>
                      <a:pt x="15" y="37"/>
                      <a:pt x="15" y="37"/>
                    </a:cubicBezTo>
                    <a:cubicBezTo>
                      <a:pt x="13" y="37"/>
                      <a:pt x="11" y="35"/>
                      <a:pt x="11" y="32"/>
                    </a:cubicBezTo>
                    <a:cubicBezTo>
                      <a:pt x="11" y="30"/>
                      <a:pt x="13" y="28"/>
                      <a:pt x="15" y="28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5" y="28"/>
                      <a:pt x="57" y="30"/>
                      <a:pt x="57" y="32"/>
                    </a:cubicBezTo>
                    <a:cubicBezTo>
                      <a:pt x="57" y="35"/>
                      <a:pt x="55" y="37"/>
                      <a:pt x="53" y="37"/>
                    </a:cubicBezTo>
                    <a:close/>
                    <a:moveTo>
                      <a:pt x="53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2"/>
                      <a:pt x="11" y="20"/>
                      <a:pt x="11" y="18"/>
                    </a:cubicBezTo>
                    <a:cubicBezTo>
                      <a:pt x="11" y="15"/>
                      <a:pt x="13" y="13"/>
                      <a:pt x="15" y="13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5" y="13"/>
                      <a:pt x="57" y="15"/>
                      <a:pt x="57" y="18"/>
                    </a:cubicBezTo>
                    <a:cubicBezTo>
                      <a:pt x="57" y="20"/>
                      <a:pt x="55" y="22"/>
                      <a:pt x="5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dirty="0"/>
              </a:p>
            </p:txBody>
          </p:sp>
        </p:grpSp>
        <p:pic>
          <p:nvPicPr>
            <p:cNvPr id="136" name="Picture 21" descr="Image result for SAP 2019 logo">
              <a:extLst>
                <a:ext uri="{FF2B5EF4-FFF2-40B4-BE49-F238E27FC236}">
                  <a16:creationId xmlns:a16="http://schemas.microsoft.com/office/drawing/2014/main" id="{4A5DD857-B33B-47D8-B3F3-3AE0488991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1199" y="3057709"/>
              <a:ext cx="546231" cy="240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55D7256E-6EC0-40D4-A985-9A906D5DF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603" y="3984046"/>
              <a:ext cx="932559" cy="564573"/>
            </a:xfrm>
            <a:prstGeom prst="rect">
              <a:avLst/>
            </a:prstGeom>
          </p:spPr>
        </p:pic>
        <p:sp>
          <p:nvSpPr>
            <p:cNvPr id="139" name="Rounded Rectangle 97">
              <a:extLst>
                <a:ext uri="{FF2B5EF4-FFF2-40B4-BE49-F238E27FC236}">
                  <a16:creationId xmlns:a16="http://schemas.microsoft.com/office/drawing/2014/main" id="{C7090294-920E-4A7D-8225-CF01E60D6052}"/>
                </a:ext>
              </a:extLst>
            </p:cNvPr>
            <p:cNvSpPr/>
            <p:nvPr/>
          </p:nvSpPr>
          <p:spPr>
            <a:xfrm>
              <a:off x="7472288" y="4057788"/>
              <a:ext cx="1938190" cy="800946"/>
            </a:xfrm>
            <a:prstGeom prst="roundRect">
              <a:avLst>
                <a:gd name="adj" fmla="val 5837"/>
              </a:avLst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t"/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1050" b="1" kern="0" dirty="0">
                  <a:solidFill>
                    <a:prstClr val="black"/>
                  </a:solidFill>
                  <a:cs typeface="Arial" pitchFamily="34" charset="0"/>
                </a:rPr>
                <a:t>Technology solution</a:t>
              </a:r>
            </a:p>
          </p:txBody>
        </p:sp>
        <p:pic>
          <p:nvPicPr>
            <p:cNvPr id="140" name="Picture 2" descr="http://www.softwarethinktank.com/wp-content/uploads/what-can-a-SAP-field-services-solution-do-for-your-business-1024x560.jpg">
              <a:extLst>
                <a:ext uri="{FF2B5EF4-FFF2-40B4-BE49-F238E27FC236}">
                  <a16:creationId xmlns:a16="http://schemas.microsoft.com/office/drawing/2014/main" id="{A84E7B8E-3D97-4B30-90CA-89F9A48833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6051" y="4373646"/>
              <a:ext cx="762281" cy="354704"/>
            </a:xfrm>
            <a:prstGeom prst="rect">
              <a:avLst/>
            </a:prstGeom>
            <a:noFill/>
          </p:spPr>
        </p:pic>
        <p:sp>
          <p:nvSpPr>
            <p:cNvPr id="181" name="TextBox 100">
              <a:extLst>
                <a:ext uri="{FF2B5EF4-FFF2-40B4-BE49-F238E27FC236}">
                  <a16:creationId xmlns:a16="http://schemas.microsoft.com/office/drawing/2014/main" id="{E2528747-7425-4EFD-A323-EDBD5AAEE101}"/>
                </a:ext>
              </a:extLst>
            </p:cNvPr>
            <p:cNvSpPr txBox="1"/>
            <p:nvPr/>
          </p:nvSpPr>
          <p:spPr>
            <a:xfrm>
              <a:off x="8529062" y="4364723"/>
              <a:ext cx="72776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b="1" dirty="0">
                  <a:solidFill>
                    <a:schemeClr val="tx2">
                      <a:lumMod val="50000"/>
                    </a:schemeClr>
                  </a:solidFill>
                </a:rPr>
                <a:t>Migration </a:t>
              </a:r>
              <a:br>
                <a:rPr lang="en-US" sz="1000" b="1" dirty="0">
                  <a:solidFill>
                    <a:schemeClr val="tx2">
                      <a:lumMod val="50000"/>
                    </a:schemeClr>
                  </a:solidFill>
                </a:rPr>
              </a:br>
              <a:r>
                <a:rPr lang="en-US" sz="1000" b="1" dirty="0">
                  <a:solidFill>
                    <a:schemeClr val="tx2">
                      <a:lumMod val="50000"/>
                    </a:schemeClr>
                  </a:solidFill>
                </a:rPr>
                <a:t>cockpit</a:t>
              </a:r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02065B1A-63E4-4E0B-B0FD-22D7E9434FF9}"/>
                </a:ext>
              </a:extLst>
            </p:cNvPr>
            <p:cNvSpPr/>
            <p:nvPr/>
          </p:nvSpPr>
          <p:spPr>
            <a:xfrm>
              <a:off x="2070900" y="1924040"/>
              <a:ext cx="8955165" cy="837959"/>
            </a:xfrm>
            <a:prstGeom prst="roundRect">
              <a:avLst>
                <a:gd name="adj" fmla="val 7574"/>
              </a:avLst>
            </a:prstGeom>
            <a:noFill/>
            <a:ln w="22225" cap="sq" cmpd="sng" algn="ctr">
              <a:solidFill>
                <a:schemeClr val="accent2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83" name="Rounded Rectangle 97">
              <a:extLst>
                <a:ext uri="{FF2B5EF4-FFF2-40B4-BE49-F238E27FC236}">
                  <a16:creationId xmlns:a16="http://schemas.microsoft.com/office/drawing/2014/main" id="{0637D01F-D471-4D4B-A926-86CF62436598}"/>
                </a:ext>
              </a:extLst>
            </p:cNvPr>
            <p:cNvSpPr/>
            <p:nvPr/>
          </p:nvSpPr>
          <p:spPr>
            <a:xfrm>
              <a:off x="4410355" y="4072837"/>
              <a:ext cx="1938191" cy="800946"/>
            </a:xfrm>
            <a:prstGeom prst="roundRect">
              <a:avLst>
                <a:gd name="adj" fmla="val 5837"/>
              </a:avLst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en-US" sz="1050" b="1" kern="0" dirty="0">
                  <a:solidFill>
                    <a:prstClr val="black"/>
                  </a:solidFill>
                  <a:cs typeface="Arial" pitchFamily="34" charset="0"/>
                </a:rPr>
                <a:t>Accelerated </a:t>
              </a:r>
              <a:br>
                <a:rPr lang="en-US" sz="1050" b="1" kern="0" dirty="0">
                  <a:solidFill>
                    <a:prstClr val="black"/>
                  </a:solidFill>
                  <a:cs typeface="Arial" pitchFamily="34" charset="0"/>
                </a:rPr>
              </a:br>
              <a:r>
                <a:rPr lang="en-US" sz="1050" b="1" kern="0" dirty="0">
                  <a:solidFill>
                    <a:prstClr val="black"/>
                  </a:solidFill>
                  <a:cs typeface="Arial" pitchFamily="34" charset="0"/>
                </a:rPr>
                <a:t>solutions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876BD09-D77F-4EA3-9F0B-8F99837E03D3}"/>
                </a:ext>
              </a:extLst>
            </p:cNvPr>
            <p:cNvGrpSpPr/>
            <p:nvPr/>
          </p:nvGrpSpPr>
          <p:grpSpPr>
            <a:xfrm>
              <a:off x="5503560" y="4170043"/>
              <a:ext cx="701569" cy="646671"/>
              <a:chOff x="5410917" y="4324656"/>
              <a:chExt cx="640873" cy="558094"/>
            </a:xfrm>
          </p:grpSpPr>
          <p:sp>
            <p:nvSpPr>
              <p:cNvPr id="185" name="Freeform 188">
                <a:extLst>
                  <a:ext uri="{FF2B5EF4-FFF2-40B4-BE49-F238E27FC236}">
                    <a16:creationId xmlns:a16="http://schemas.microsoft.com/office/drawing/2014/main" id="{88C08CA2-7929-4BDA-BE8B-D0F754AAA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917" y="4324656"/>
                <a:ext cx="640873" cy="558094"/>
              </a:xfrm>
              <a:custGeom>
                <a:avLst/>
                <a:gdLst>
                  <a:gd name="T0" fmla="*/ 0 w 250"/>
                  <a:gd name="T1" fmla="*/ 118 h 241"/>
                  <a:gd name="T2" fmla="*/ 125 w 250"/>
                  <a:gd name="T3" fmla="*/ 0 h 241"/>
                  <a:gd name="T4" fmla="*/ 250 w 250"/>
                  <a:gd name="T5" fmla="*/ 118 h 241"/>
                  <a:gd name="T6" fmla="*/ 125 w 250"/>
                  <a:gd name="T7" fmla="*/ 237 h 241"/>
                  <a:gd name="T8" fmla="*/ 0 w 250"/>
                  <a:gd name="T9" fmla="*/ 118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0" h="241">
                    <a:moveTo>
                      <a:pt x="0" y="118"/>
                    </a:moveTo>
                    <a:cubicBezTo>
                      <a:pt x="0" y="53"/>
                      <a:pt x="58" y="1"/>
                      <a:pt x="125" y="0"/>
                    </a:cubicBezTo>
                    <a:cubicBezTo>
                      <a:pt x="199" y="0"/>
                      <a:pt x="250" y="53"/>
                      <a:pt x="250" y="118"/>
                    </a:cubicBezTo>
                    <a:cubicBezTo>
                      <a:pt x="250" y="184"/>
                      <a:pt x="179" y="233"/>
                      <a:pt x="125" y="237"/>
                    </a:cubicBezTo>
                    <a:cubicBezTo>
                      <a:pt x="50" y="241"/>
                      <a:pt x="0" y="184"/>
                      <a:pt x="0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/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89D366B4-7A13-4EF1-A833-BA4AA597A441}"/>
                  </a:ext>
                </a:extLst>
              </p:cNvPr>
              <p:cNvGrpSpPr/>
              <p:nvPr/>
            </p:nvGrpSpPr>
            <p:grpSpPr>
              <a:xfrm>
                <a:off x="5508945" y="4467121"/>
                <a:ext cx="423795" cy="300967"/>
                <a:chOff x="6601331" y="3623789"/>
                <a:chExt cx="306161" cy="240775"/>
              </a:xfrm>
            </p:grpSpPr>
            <p:sp>
              <p:nvSpPr>
                <p:cNvPr id="187" name="Freeform 73">
                  <a:extLst>
                    <a:ext uri="{FF2B5EF4-FFF2-40B4-BE49-F238E27FC236}">
                      <a16:creationId xmlns:a16="http://schemas.microsoft.com/office/drawing/2014/main" id="{C24EBC35-14D3-4624-A368-0AE41A9FEDE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698256" y="3704432"/>
                  <a:ext cx="89233" cy="91797"/>
                </a:xfrm>
                <a:custGeom>
                  <a:avLst/>
                  <a:gdLst>
                    <a:gd name="T0" fmla="*/ 282 w 294"/>
                    <a:gd name="T1" fmla="*/ 117 h 302"/>
                    <a:gd name="T2" fmla="*/ 264 w 294"/>
                    <a:gd name="T3" fmla="*/ 115 h 302"/>
                    <a:gd name="T4" fmla="*/ 252 w 294"/>
                    <a:gd name="T5" fmla="*/ 87 h 302"/>
                    <a:gd name="T6" fmla="*/ 264 w 294"/>
                    <a:gd name="T7" fmla="*/ 73 h 302"/>
                    <a:gd name="T8" fmla="*/ 263 w 294"/>
                    <a:gd name="T9" fmla="*/ 55 h 302"/>
                    <a:gd name="T10" fmla="*/ 240 w 294"/>
                    <a:gd name="T11" fmla="*/ 32 h 302"/>
                    <a:gd name="T12" fmla="*/ 222 w 294"/>
                    <a:gd name="T13" fmla="*/ 31 h 302"/>
                    <a:gd name="T14" fmla="*/ 208 w 294"/>
                    <a:gd name="T15" fmla="*/ 42 h 302"/>
                    <a:gd name="T16" fmla="*/ 179 w 294"/>
                    <a:gd name="T17" fmla="*/ 30 h 302"/>
                    <a:gd name="T18" fmla="*/ 177 w 294"/>
                    <a:gd name="T19" fmla="*/ 12 h 302"/>
                    <a:gd name="T20" fmla="*/ 163 w 294"/>
                    <a:gd name="T21" fmla="*/ 0 h 302"/>
                    <a:gd name="T22" fmla="*/ 132 w 294"/>
                    <a:gd name="T23" fmla="*/ 0 h 302"/>
                    <a:gd name="T24" fmla="*/ 118 w 294"/>
                    <a:gd name="T25" fmla="*/ 12 h 302"/>
                    <a:gd name="T26" fmla="*/ 116 w 294"/>
                    <a:gd name="T27" fmla="*/ 30 h 302"/>
                    <a:gd name="T28" fmla="*/ 86 w 294"/>
                    <a:gd name="T29" fmla="*/ 43 h 302"/>
                    <a:gd name="T30" fmla="*/ 71 w 294"/>
                    <a:gd name="T31" fmla="*/ 31 h 302"/>
                    <a:gd name="T32" fmla="*/ 54 w 294"/>
                    <a:gd name="T33" fmla="*/ 32 h 302"/>
                    <a:gd name="T34" fmla="*/ 31 w 294"/>
                    <a:gd name="T35" fmla="*/ 55 h 302"/>
                    <a:gd name="T36" fmla="*/ 30 w 294"/>
                    <a:gd name="T37" fmla="*/ 73 h 302"/>
                    <a:gd name="T38" fmla="*/ 42 w 294"/>
                    <a:gd name="T39" fmla="*/ 88 h 302"/>
                    <a:gd name="T40" fmla="*/ 31 w 294"/>
                    <a:gd name="T41" fmla="*/ 116 h 302"/>
                    <a:gd name="T42" fmla="*/ 11 w 294"/>
                    <a:gd name="T43" fmla="*/ 118 h 302"/>
                    <a:gd name="T44" fmla="*/ 0 w 294"/>
                    <a:gd name="T45" fmla="*/ 132 h 302"/>
                    <a:gd name="T46" fmla="*/ 0 w 294"/>
                    <a:gd name="T47" fmla="*/ 164 h 302"/>
                    <a:gd name="T48" fmla="*/ 11 w 294"/>
                    <a:gd name="T49" fmla="*/ 177 h 302"/>
                    <a:gd name="T50" fmla="*/ 32 w 294"/>
                    <a:gd name="T51" fmla="*/ 180 h 302"/>
                    <a:gd name="T52" fmla="*/ 43 w 294"/>
                    <a:gd name="T53" fmla="*/ 205 h 302"/>
                    <a:gd name="T54" fmla="*/ 30 w 294"/>
                    <a:gd name="T55" fmla="*/ 222 h 302"/>
                    <a:gd name="T56" fmla="*/ 31 w 294"/>
                    <a:gd name="T57" fmla="*/ 240 h 302"/>
                    <a:gd name="T58" fmla="*/ 54 w 294"/>
                    <a:gd name="T59" fmla="*/ 262 h 302"/>
                    <a:gd name="T60" fmla="*/ 71 w 294"/>
                    <a:gd name="T61" fmla="*/ 263 h 302"/>
                    <a:gd name="T62" fmla="*/ 88 w 294"/>
                    <a:gd name="T63" fmla="*/ 250 h 302"/>
                    <a:gd name="T64" fmla="*/ 114 w 294"/>
                    <a:gd name="T65" fmla="*/ 261 h 302"/>
                    <a:gd name="T66" fmla="*/ 117 w 294"/>
                    <a:gd name="T67" fmla="*/ 283 h 302"/>
                    <a:gd name="T68" fmla="*/ 117 w 294"/>
                    <a:gd name="T69" fmla="*/ 284 h 302"/>
                    <a:gd name="T70" fmla="*/ 118 w 294"/>
                    <a:gd name="T71" fmla="*/ 285 h 302"/>
                    <a:gd name="T72" fmla="*/ 156 w 294"/>
                    <a:gd name="T73" fmla="*/ 288 h 302"/>
                    <a:gd name="T74" fmla="*/ 177 w 294"/>
                    <a:gd name="T75" fmla="*/ 291 h 302"/>
                    <a:gd name="T76" fmla="*/ 177 w 294"/>
                    <a:gd name="T77" fmla="*/ 268 h 302"/>
                    <a:gd name="T78" fmla="*/ 178 w 294"/>
                    <a:gd name="T79" fmla="*/ 262 h 302"/>
                    <a:gd name="T80" fmla="*/ 207 w 294"/>
                    <a:gd name="T81" fmla="*/ 250 h 302"/>
                    <a:gd name="T82" fmla="*/ 222 w 294"/>
                    <a:gd name="T83" fmla="*/ 263 h 302"/>
                    <a:gd name="T84" fmla="*/ 240 w 294"/>
                    <a:gd name="T85" fmla="*/ 262 h 302"/>
                    <a:gd name="T86" fmla="*/ 263 w 294"/>
                    <a:gd name="T87" fmla="*/ 240 h 302"/>
                    <a:gd name="T88" fmla="*/ 264 w 294"/>
                    <a:gd name="T89" fmla="*/ 222 h 302"/>
                    <a:gd name="T90" fmla="*/ 251 w 294"/>
                    <a:gd name="T91" fmla="*/ 206 h 302"/>
                    <a:gd name="T92" fmla="*/ 263 w 294"/>
                    <a:gd name="T93" fmla="*/ 178 h 302"/>
                    <a:gd name="T94" fmla="*/ 282 w 294"/>
                    <a:gd name="T95" fmla="*/ 176 h 302"/>
                    <a:gd name="T96" fmla="*/ 294 w 294"/>
                    <a:gd name="T97" fmla="*/ 163 h 302"/>
                    <a:gd name="T98" fmla="*/ 294 w 294"/>
                    <a:gd name="T99" fmla="*/ 130 h 302"/>
                    <a:gd name="T100" fmla="*/ 282 w 294"/>
                    <a:gd name="T101" fmla="*/ 117 h 302"/>
                    <a:gd name="T102" fmla="*/ 147 w 294"/>
                    <a:gd name="T103" fmla="*/ 223 h 302"/>
                    <a:gd name="T104" fmla="*/ 71 w 294"/>
                    <a:gd name="T105" fmla="*/ 147 h 302"/>
                    <a:gd name="T106" fmla="*/ 147 w 294"/>
                    <a:gd name="T107" fmla="*/ 71 h 302"/>
                    <a:gd name="T108" fmla="*/ 223 w 294"/>
                    <a:gd name="T109" fmla="*/ 147 h 302"/>
                    <a:gd name="T110" fmla="*/ 147 w 294"/>
                    <a:gd name="T111" fmla="*/ 223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94" h="302">
                      <a:moveTo>
                        <a:pt x="282" y="117"/>
                      </a:moveTo>
                      <a:cubicBezTo>
                        <a:pt x="264" y="115"/>
                        <a:pt x="264" y="115"/>
                        <a:pt x="264" y="115"/>
                      </a:cubicBezTo>
                      <a:cubicBezTo>
                        <a:pt x="261" y="105"/>
                        <a:pt x="257" y="96"/>
                        <a:pt x="252" y="87"/>
                      </a:cubicBezTo>
                      <a:cubicBezTo>
                        <a:pt x="264" y="73"/>
                        <a:pt x="264" y="73"/>
                        <a:pt x="264" y="73"/>
                      </a:cubicBezTo>
                      <a:cubicBezTo>
                        <a:pt x="268" y="67"/>
                        <a:pt x="267" y="60"/>
                        <a:pt x="263" y="55"/>
                      </a:cubicBezTo>
                      <a:cubicBezTo>
                        <a:pt x="240" y="32"/>
                        <a:pt x="240" y="32"/>
                        <a:pt x="240" y="32"/>
                      </a:cubicBezTo>
                      <a:cubicBezTo>
                        <a:pt x="236" y="27"/>
                        <a:pt x="228" y="27"/>
                        <a:pt x="222" y="31"/>
                      </a:cubicBezTo>
                      <a:cubicBezTo>
                        <a:pt x="208" y="42"/>
                        <a:pt x="208" y="42"/>
                        <a:pt x="208" y="42"/>
                      </a:cubicBezTo>
                      <a:cubicBezTo>
                        <a:pt x="199" y="37"/>
                        <a:pt x="189" y="33"/>
                        <a:pt x="179" y="30"/>
                      </a:cubicBezTo>
                      <a:cubicBezTo>
                        <a:pt x="177" y="12"/>
                        <a:pt x="177" y="12"/>
                        <a:pt x="177" y="12"/>
                      </a:cubicBezTo>
                      <a:cubicBezTo>
                        <a:pt x="176" y="5"/>
                        <a:pt x="170" y="0"/>
                        <a:pt x="163" y="0"/>
                      </a:cubicBezTo>
                      <a:cubicBezTo>
                        <a:pt x="132" y="0"/>
                        <a:pt x="132" y="0"/>
                        <a:pt x="132" y="0"/>
                      </a:cubicBezTo>
                      <a:cubicBezTo>
                        <a:pt x="125" y="0"/>
                        <a:pt x="119" y="5"/>
                        <a:pt x="118" y="12"/>
                      </a:cubicBezTo>
                      <a:cubicBezTo>
                        <a:pt x="116" y="30"/>
                        <a:pt x="116" y="30"/>
                        <a:pt x="116" y="30"/>
                      </a:cubicBezTo>
                      <a:cubicBezTo>
                        <a:pt x="106" y="33"/>
                        <a:pt x="95" y="37"/>
                        <a:pt x="86" y="43"/>
                      </a:cubicBezTo>
                      <a:cubicBezTo>
                        <a:pt x="71" y="31"/>
                        <a:pt x="71" y="31"/>
                        <a:pt x="71" y="31"/>
                      </a:cubicBezTo>
                      <a:cubicBezTo>
                        <a:pt x="66" y="27"/>
                        <a:pt x="58" y="27"/>
                        <a:pt x="54" y="32"/>
                      </a:cubicBezTo>
                      <a:cubicBezTo>
                        <a:pt x="31" y="55"/>
                        <a:pt x="31" y="55"/>
                        <a:pt x="31" y="55"/>
                      </a:cubicBezTo>
                      <a:cubicBezTo>
                        <a:pt x="26" y="60"/>
                        <a:pt x="26" y="67"/>
                        <a:pt x="30" y="73"/>
                      </a:cubicBezTo>
                      <a:cubicBezTo>
                        <a:pt x="42" y="88"/>
                        <a:pt x="42" y="88"/>
                        <a:pt x="42" y="88"/>
                      </a:cubicBezTo>
                      <a:cubicBezTo>
                        <a:pt x="37" y="97"/>
                        <a:pt x="33" y="106"/>
                        <a:pt x="31" y="116"/>
                      </a:cubicBezTo>
                      <a:cubicBezTo>
                        <a:pt x="11" y="118"/>
                        <a:pt x="11" y="118"/>
                        <a:pt x="11" y="118"/>
                      </a:cubicBezTo>
                      <a:cubicBezTo>
                        <a:pt x="5" y="119"/>
                        <a:pt x="0" y="125"/>
                        <a:pt x="0" y="132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0" y="170"/>
                        <a:pt x="5" y="176"/>
                        <a:pt x="11" y="177"/>
                      </a:cubicBezTo>
                      <a:cubicBezTo>
                        <a:pt x="32" y="180"/>
                        <a:pt x="32" y="180"/>
                        <a:pt x="32" y="180"/>
                      </a:cubicBezTo>
                      <a:cubicBezTo>
                        <a:pt x="35" y="189"/>
                        <a:pt x="39" y="197"/>
                        <a:pt x="43" y="205"/>
                      </a:cubicBezTo>
                      <a:cubicBezTo>
                        <a:pt x="30" y="222"/>
                        <a:pt x="30" y="222"/>
                        <a:pt x="30" y="222"/>
                      </a:cubicBezTo>
                      <a:cubicBezTo>
                        <a:pt x="26" y="227"/>
                        <a:pt x="26" y="235"/>
                        <a:pt x="31" y="240"/>
                      </a:cubicBezTo>
                      <a:cubicBezTo>
                        <a:pt x="54" y="262"/>
                        <a:pt x="54" y="262"/>
                        <a:pt x="54" y="262"/>
                      </a:cubicBezTo>
                      <a:cubicBezTo>
                        <a:pt x="58" y="267"/>
                        <a:pt x="66" y="268"/>
                        <a:pt x="71" y="263"/>
                      </a:cubicBezTo>
                      <a:cubicBezTo>
                        <a:pt x="88" y="250"/>
                        <a:pt x="88" y="250"/>
                        <a:pt x="88" y="250"/>
                      </a:cubicBezTo>
                      <a:cubicBezTo>
                        <a:pt x="96" y="255"/>
                        <a:pt x="105" y="259"/>
                        <a:pt x="114" y="261"/>
                      </a:cubicBezTo>
                      <a:cubicBezTo>
                        <a:pt x="117" y="283"/>
                        <a:pt x="117" y="283"/>
                        <a:pt x="117" y="283"/>
                      </a:cubicBezTo>
                      <a:cubicBezTo>
                        <a:pt x="117" y="283"/>
                        <a:pt x="117" y="284"/>
                        <a:pt x="117" y="284"/>
                      </a:cubicBezTo>
                      <a:cubicBezTo>
                        <a:pt x="118" y="285"/>
                        <a:pt x="118" y="285"/>
                        <a:pt x="118" y="285"/>
                      </a:cubicBezTo>
                      <a:cubicBezTo>
                        <a:pt x="118" y="285"/>
                        <a:pt x="133" y="302"/>
                        <a:pt x="156" y="288"/>
                      </a:cubicBezTo>
                      <a:cubicBezTo>
                        <a:pt x="156" y="288"/>
                        <a:pt x="168" y="275"/>
                        <a:pt x="177" y="291"/>
                      </a:cubicBezTo>
                      <a:cubicBezTo>
                        <a:pt x="177" y="268"/>
                        <a:pt x="177" y="268"/>
                        <a:pt x="177" y="268"/>
                      </a:cubicBezTo>
                      <a:cubicBezTo>
                        <a:pt x="178" y="262"/>
                        <a:pt x="178" y="262"/>
                        <a:pt x="178" y="262"/>
                      </a:cubicBezTo>
                      <a:cubicBezTo>
                        <a:pt x="188" y="260"/>
                        <a:pt x="198" y="256"/>
                        <a:pt x="207" y="250"/>
                      </a:cubicBezTo>
                      <a:cubicBezTo>
                        <a:pt x="222" y="263"/>
                        <a:pt x="222" y="263"/>
                        <a:pt x="222" y="263"/>
                      </a:cubicBezTo>
                      <a:cubicBezTo>
                        <a:pt x="228" y="268"/>
                        <a:pt x="236" y="267"/>
                        <a:pt x="240" y="262"/>
                      </a:cubicBezTo>
                      <a:cubicBezTo>
                        <a:pt x="263" y="240"/>
                        <a:pt x="263" y="240"/>
                        <a:pt x="263" y="240"/>
                      </a:cubicBezTo>
                      <a:cubicBezTo>
                        <a:pt x="267" y="235"/>
                        <a:pt x="268" y="227"/>
                        <a:pt x="264" y="222"/>
                      </a:cubicBezTo>
                      <a:cubicBezTo>
                        <a:pt x="251" y="206"/>
                        <a:pt x="251" y="206"/>
                        <a:pt x="251" y="206"/>
                      </a:cubicBezTo>
                      <a:cubicBezTo>
                        <a:pt x="257" y="197"/>
                        <a:pt x="261" y="188"/>
                        <a:pt x="263" y="178"/>
                      </a:cubicBezTo>
                      <a:cubicBezTo>
                        <a:pt x="282" y="176"/>
                        <a:pt x="282" y="176"/>
                        <a:pt x="282" y="176"/>
                      </a:cubicBezTo>
                      <a:cubicBezTo>
                        <a:pt x="289" y="175"/>
                        <a:pt x="294" y="169"/>
                        <a:pt x="294" y="163"/>
                      </a:cubicBezTo>
                      <a:cubicBezTo>
                        <a:pt x="294" y="130"/>
                        <a:pt x="294" y="130"/>
                        <a:pt x="294" y="130"/>
                      </a:cubicBezTo>
                      <a:cubicBezTo>
                        <a:pt x="294" y="124"/>
                        <a:pt x="289" y="118"/>
                        <a:pt x="282" y="117"/>
                      </a:cubicBezTo>
                      <a:close/>
                      <a:moveTo>
                        <a:pt x="147" y="223"/>
                      </a:moveTo>
                      <a:cubicBezTo>
                        <a:pt x="105" y="223"/>
                        <a:pt x="71" y="189"/>
                        <a:pt x="71" y="147"/>
                      </a:cubicBezTo>
                      <a:cubicBezTo>
                        <a:pt x="71" y="105"/>
                        <a:pt x="105" y="71"/>
                        <a:pt x="147" y="71"/>
                      </a:cubicBezTo>
                      <a:cubicBezTo>
                        <a:pt x="189" y="71"/>
                        <a:pt x="223" y="105"/>
                        <a:pt x="223" y="147"/>
                      </a:cubicBezTo>
                      <a:cubicBezTo>
                        <a:pt x="223" y="189"/>
                        <a:pt x="189" y="223"/>
                        <a:pt x="147" y="2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8" name="Freeform 74">
                  <a:extLst>
                    <a:ext uri="{FF2B5EF4-FFF2-40B4-BE49-F238E27FC236}">
                      <a16:creationId xmlns:a16="http://schemas.microsoft.com/office/drawing/2014/main" id="{0731E91D-704A-40AA-9373-6546CBF21C6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84156" y="3685201"/>
                  <a:ext cx="61668" cy="62053"/>
                </a:xfrm>
                <a:custGeom>
                  <a:avLst/>
                  <a:gdLst>
                    <a:gd name="T0" fmla="*/ 197 w 203"/>
                    <a:gd name="T1" fmla="*/ 116 h 204"/>
                    <a:gd name="T2" fmla="*/ 185 w 203"/>
                    <a:gd name="T3" fmla="*/ 109 h 204"/>
                    <a:gd name="T4" fmla="*/ 185 w 203"/>
                    <a:gd name="T5" fmla="*/ 88 h 204"/>
                    <a:gd name="T6" fmla="*/ 196 w 203"/>
                    <a:gd name="T7" fmla="*/ 81 h 204"/>
                    <a:gd name="T8" fmla="*/ 200 w 203"/>
                    <a:gd name="T9" fmla="*/ 69 h 204"/>
                    <a:gd name="T10" fmla="*/ 191 w 203"/>
                    <a:gd name="T11" fmla="*/ 49 h 204"/>
                    <a:gd name="T12" fmla="*/ 180 w 203"/>
                    <a:gd name="T13" fmla="*/ 44 h 204"/>
                    <a:gd name="T14" fmla="*/ 167 w 203"/>
                    <a:gd name="T15" fmla="*/ 48 h 204"/>
                    <a:gd name="T16" fmla="*/ 152 w 203"/>
                    <a:gd name="T17" fmla="*/ 33 h 204"/>
                    <a:gd name="T18" fmla="*/ 155 w 203"/>
                    <a:gd name="T19" fmla="*/ 21 h 204"/>
                    <a:gd name="T20" fmla="*/ 150 w 203"/>
                    <a:gd name="T21" fmla="*/ 10 h 204"/>
                    <a:gd name="T22" fmla="*/ 129 w 203"/>
                    <a:gd name="T23" fmla="*/ 2 h 204"/>
                    <a:gd name="T24" fmla="*/ 117 w 203"/>
                    <a:gd name="T25" fmla="*/ 6 h 204"/>
                    <a:gd name="T26" fmla="*/ 111 w 203"/>
                    <a:gd name="T27" fmla="*/ 17 h 204"/>
                    <a:gd name="T28" fmla="*/ 89 w 203"/>
                    <a:gd name="T29" fmla="*/ 17 h 204"/>
                    <a:gd name="T30" fmla="*/ 83 w 203"/>
                    <a:gd name="T31" fmla="*/ 6 h 204"/>
                    <a:gd name="T32" fmla="*/ 71 w 203"/>
                    <a:gd name="T33" fmla="*/ 3 h 204"/>
                    <a:gd name="T34" fmla="*/ 51 w 203"/>
                    <a:gd name="T35" fmla="*/ 12 h 204"/>
                    <a:gd name="T36" fmla="*/ 46 w 203"/>
                    <a:gd name="T37" fmla="*/ 23 h 204"/>
                    <a:gd name="T38" fmla="*/ 49 w 203"/>
                    <a:gd name="T39" fmla="*/ 35 h 204"/>
                    <a:gd name="T40" fmla="*/ 34 w 203"/>
                    <a:gd name="T41" fmla="*/ 52 h 204"/>
                    <a:gd name="T42" fmla="*/ 21 w 203"/>
                    <a:gd name="T43" fmla="*/ 48 h 204"/>
                    <a:gd name="T44" fmla="*/ 10 w 203"/>
                    <a:gd name="T45" fmla="*/ 54 h 204"/>
                    <a:gd name="T46" fmla="*/ 2 w 203"/>
                    <a:gd name="T47" fmla="*/ 75 h 204"/>
                    <a:gd name="T48" fmla="*/ 6 w 203"/>
                    <a:gd name="T49" fmla="*/ 87 h 204"/>
                    <a:gd name="T50" fmla="*/ 19 w 203"/>
                    <a:gd name="T51" fmla="*/ 93 h 204"/>
                    <a:gd name="T52" fmla="*/ 20 w 203"/>
                    <a:gd name="T53" fmla="*/ 114 h 204"/>
                    <a:gd name="T54" fmla="*/ 8 w 203"/>
                    <a:gd name="T55" fmla="*/ 121 h 204"/>
                    <a:gd name="T56" fmla="*/ 4 w 203"/>
                    <a:gd name="T57" fmla="*/ 133 h 204"/>
                    <a:gd name="T58" fmla="*/ 13 w 203"/>
                    <a:gd name="T59" fmla="*/ 153 h 204"/>
                    <a:gd name="T60" fmla="*/ 24 w 203"/>
                    <a:gd name="T61" fmla="*/ 158 h 204"/>
                    <a:gd name="T62" fmla="*/ 38 w 203"/>
                    <a:gd name="T63" fmla="*/ 154 h 204"/>
                    <a:gd name="T64" fmla="*/ 52 w 203"/>
                    <a:gd name="T65" fmla="*/ 167 h 204"/>
                    <a:gd name="T66" fmla="*/ 48 w 203"/>
                    <a:gd name="T67" fmla="*/ 182 h 204"/>
                    <a:gd name="T68" fmla="*/ 54 w 203"/>
                    <a:gd name="T69" fmla="*/ 193 h 204"/>
                    <a:gd name="T70" fmla="*/ 75 w 203"/>
                    <a:gd name="T71" fmla="*/ 201 h 204"/>
                    <a:gd name="T72" fmla="*/ 86 w 203"/>
                    <a:gd name="T73" fmla="*/ 196 h 204"/>
                    <a:gd name="T74" fmla="*/ 93 w 203"/>
                    <a:gd name="T75" fmla="*/ 183 h 204"/>
                    <a:gd name="T76" fmla="*/ 113 w 203"/>
                    <a:gd name="T77" fmla="*/ 183 h 204"/>
                    <a:gd name="T78" fmla="*/ 121 w 203"/>
                    <a:gd name="T79" fmla="*/ 196 h 204"/>
                    <a:gd name="T80" fmla="*/ 122 w 203"/>
                    <a:gd name="T81" fmla="*/ 197 h 204"/>
                    <a:gd name="T82" fmla="*/ 122 w 203"/>
                    <a:gd name="T83" fmla="*/ 197 h 204"/>
                    <a:gd name="T84" fmla="*/ 147 w 203"/>
                    <a:gd name="T85" fmla="*/ 188 h 204"/>
                    <a:gd name="T86" fmla="*/ 161 w 203"/>
                    <a:gd name="T87" fmla="*/ 184 h 204"/>
                    <a:gd name="T88" fmla="*/ 155 w 203"/>
                    <a:gd name="T89" fmla="*/ 170 h 204"/>
                    <a:gd name="T90" fmla="*/ 154 w 203"/>
                    <a:gd name="T91" fmla="*/ 166 h 204"/>
                    <a:gd name="T92" fmla="*/ 169 w 203"/>
                    <a:gd name="T93" fmla="*/ 150 h 204"/>
                    <a:gd name="T94" fmla="*/ 182 w 203"/>
                    <a:gd name="T95" fmla="*/ 154 h 204"/>
                    <a:gd name="T96" fmla="*/ 194 w 203"/>
                    <a:gd name="T97" fmla="*/ 148 h 204"/>
                    <a:gd name="T98" fmla="*/ 202 w 203"/>
                    <a:gd name="T99" fmla="*/ 127 h 204"/>
                    <a:gd name="T100" fmla="*/ 197 w 203"/>
                    <a:gd name="T101" fmla="*/ 116 h 204"/>
                    <a:gd name="T102" fmla="*/ 123 w 203"/>
                    <a:gd name="T103" fmla="*/ 149 h 204"/>
                    <a:gd name="T104" fmla="*/ 54 w 203"/>
                    <a:gd name="T105" fmla="*/ 122 h 204"/>
                    <a:gd name="T106" fmla="*/ 81 w 203"/>
                    <a:gd name="T107" fmla="*/ 53 h 204"/>
                    <a:gd name="T108" fmla="*/ 150 w 203"/>
                    <a:gd name="T109" fmla="*/ 80 h 204"/>
                    <a:gd name="T110" fmla="*/ 123 w 203"/>
                    <a:gd name="T111" fmla="*/ 149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03" h="204">
                      <a:moveTo>
                        <a:pt x="197" y="116"/>
                      </a:moveTo>
                      <a:cubicBezTo>
                        <a:pt x="185" y="109"/>
                        <a:pt x="185" y="109"/>
                        <a:pt x="185" y="109"/>
                      </a:cubicBezTo>
                      <a:cubicBezTo>
                        <a:pt x="186" y="102"/>
                        <a:pt x="186" y="95"/>
                        <a:pt x="185" y="88"/>
                      </a:cubicBezTo>
                      <a:cubicBezTo>
                        <a:pt x="196" y="81"/>
                        <a:pt x="196" y="81"/>
                        <a:pt x="196" y="81"/>
                      </a:cubicBezTo>
                      <a:cubicBezTo>
                        <a:pt x="200" y="79"/>
                        <a:pt x="202" y="74"/>
                        <a:pt x="200" y="69"/>
                      </a:cubicBezTo>
                      <a:cubicBezTo>
                        <a:pt x="191" y="49"/>
                        <a:pt x="191" y="49"/>
                        <a:pt x="191" y="49"/>
                      </a:cubicBezTo>
                      <a:cubicBezTo>
                        <a:pt x="189" y="45"/>
                        <a:pt x="184" y="42"/>
                        <a:pt x="180" y="44"/>
                      </a:cubicBezTo>
                      <a:cubicBezTo>
                        <a:pt x="167" y="48"/>
                        <a:pt x="167" y="48"/>
                        <a:pt x="167" y="48"/>
                      </a:cubicBezTo>
                      <a:cubicBezTo>
                        <a:pt x="163" y="42"/>
                        <a:pt x="158" y="38"/>
                        <a:pt x="152" y="33"/>
                      </a:cubicBezTo>
                      <a:cubicBezTo>
                        <a:pt x="155" y="21"/>
                        <a:pt x="155" y="21"/>
                        <a:pt x="155" y="21"/>
                      </a:cubicBezTo>
                      <a:cubicBezTo>
                        <a:pt x="157" y="16"/>
                        <a:pt x="154" y="11"/>
                        <a:pt x="150" y="10"/>
                      </a:cubicBezTo>
                      <a:cubicBezTo>
                        <a:pt x="129" y="2"/>
                        <a:pt x="129" y="2"/>
                        <a:pt x="129" y="2"/>
                      </a:cubicBezTo>
                      <a:cubicBezTo>
                        <a:pt x="125" y="0"/>
                        <a:pt x="120" y="2"/>
                        <a:pt x="117" y="6"/>
                      </a:cubicBezTo>
                      <a:cubicBezTo>
                        <a:pt x="111" y="17"/>
                        <a:pt x="111" y="17"/>
                        <a:pt x="111" y="17"/>
                      </a:cubicBezTo>
                      <a:cubicBezTo>
                        <a:pt x="104" y="16"/>
                        <a:pt x="97" y="16"/>
                        <a:pt x="89" y="17"/>
                      </a:cubicBezTo>
                      <a:cubicBezTo>
                        <a:pt x="83" y="6"/>
                        <a:pt x="83" y="6"/>
                        <a:pt x="83" y="6"/>
                      </a:cubicBezTo>
                      <a:cubicBezTo>
                        <a:pt x="80" y="2"/>
                        <a:pt x="75" y="1"/>
                        <a:pt x="71" y="3"/>
                      </a:cubicBezTo>
                      <a:cubicBezTo>
                        <a:pt x="51" y="12"/>
                        <a:pt x="51" y="12"/>
                        <a:pt x="51" y="12"/>
                      </a:cubicBezTo>
                      <a:cubicBezTo>
                        <a:pt x="46" y="13"/>
                        <a:pt x="44" y="18"/>
                        <a:pt x="46" y="23"/>
                      </a:cubicBezTo>
                      <a:cubicBezTo>
                        <a:pt x="49" y="35"/>
                        <a:pt x="49" y="35"/>
                        <a:pt x="49" y="35"/>
                      </a:cubicBezTo>
                      <a:cubicBezTo>
                        <a:pt x="44" y="40"/>
                        <a:pt x="38" y="46"/>
                        <a:pt x="34" y="52"/>
                      </a:cubicBezTo>
                      <a:cubicBezTo>
                        <a:pt x="21" y="48"/>
                        <a:pt x="21" y="48"/>
                        <a:pt x="21" y="48"/>
                      </a:cubicBezTo>
                      <a:cubicBezTo>
                        <a:pt x="17" y="47"/>
                        <a:pt x="12" y="50"/>
                        <a:pt x="10" y="54"/>
                      </a:cubicBezTo>
                      <a:cubicBezTo>
                        <a:pt x="2" y="75"/>
                        <a:pt x="2" y="75"/>
                        <a:pt x="2" y="75"/>
                      </a:cubicBezTo>
                      <a:cubicBezTo>
                        <a:pt x="0" y="79"/>
                        <a:pt x="2" y="84"/>
                        <a:pt x="6" y="87"/>
                      </a:cubicBezTo>
                      <a:cubicBezTo>
                        <a:pt x="19" y="93"/>
                        <a:pt x="19" y="93"/>
                        <a:pt x="19" y="93"/>
                      </a:cubicBezTo>
                      <a:cubicBezTo>
                        <a:pt x="18" y="100"/>
                        <a:pt x="18" y="107"/>
                        <a:pt x="20" y="114"/>
                      </a:cubicBezTo>
                      <a:cubicBezTo>
                        <a:pt x="8" y="121"/>
                        <a:pt x="8" y="121"/>
                        <a:pt x="8" y="121"/>
                      </a:cubicBezTo>
                      <a:cubicBezTo>
                        <a:pt x="4" y="123"/>
                        <a:pt x="2" y="128"/>
                        <a:pt x="4" y="133"/>
                      </a:cubicBezTo>
                      <a:cubicBezTo>
                        <a:pt x="13" y="153"/>
                        <a:pt x="13" y="153"/>
                        <a:pt x="13" y="153"/>
                      </a:cubicBezTo>
                      <a:cubicBezTo>
                        <a:pt x="15" y="157"/>
                        <a:pt x="19" y="159"/>
                        <a:pt x="24" y="158"/>
                      </a:cubicBezTo>
                      <a:cubicBezTo>
                        <a:pt x="38" y="154"/>
                        <a:pt x="38" y="154"/>
                        <a:pt x="38" y="154"/>
                      </a:cubicBezTo>
                      <a:cubicBezTo>
                        <a:pt x="42" y="159"/>
                        <a:pt x="47" y="163"/>
                        <a:pt x="52" y="167"/>
                      </a:cubicBezTo>
                      <a:cubicBezTo>
                        <a:pt x="48" y="182"/>
                        <a:pt x="48" y="182"/>
                        <a:pt x="48" y="182"/>
                      </a:cubicBezTo>
                      <a:cubicBezTo>
                        <a:pt x="47" y="186"/>
                        <a:pt x="50" y="191"/>
                        <a:pt x="54" y="193"/>
                      </a:cubicBezTo>
                      <a:cubicBezTo>
                        <a:pt x="75" y="201"/>
                        <a:pt x="75" y="201"/>
                        <a:pt x="75" y="201"/>
                      </a:cubicBezTo>
                      <a:cubicBezTo>
                        <a:pt x="79" y="202"/>
                        <a:pt x="84" y="201"/>
                        <a:pt x="86" y="196"/>
                      </a:cubicBezTo>
                      <a:cubicBezTo>
                        <a:pt x="93" y="183"/>
                        <a:pt x="93" y="183"/>
                        <a:pt x="93" y="183"/>
                      </a:cubicBezTo>
                      <a:cubicBezTo>
                        <a:pt x="100" y="184"/>
                        <a:pt x="107" y="184"/>
                        <a:pt x="113" y="183"/>
                      </a:cubicBezTo>
                      <a:cubicBezTo>
                        <a:pt x="121" y="196"/>
                        <a:pt x="121" y="196"/>
                        <a:pt x="121" y="196"/>
                      </a:cubicBezTo>
                      <a:cubicBezTo>
                        <a:pt x="121" y="196"/>
                        <a:pt x="121" y="196"/>
                        <a:pt x="122" y="197"/>
                      </a:cubicBezTo>
                      <a:cubicBezTo>
                        <a:pt x="122" y="197"/>
                        <a:pt x="122" y="197"/>
                        <a:pt x="122" y="197"/>
                      </a:cubicBezTo>
                      <a:cubicBezTo>
                        <a:pt x="122" y="197"/>
                        <a:pt x="136" y="204"/>
                        <a:pt x="147" y="188"/>
                      </a:cubicBezTo>
                      <a:cubicBezTo>
                        <a:pt x="147" y="188"/>
                        <a:pt x="152" y="177"/>
                        <a:pt x="161" y="184"/>
                      </a:cubicBezTo>
                      <a:cubicBezTo>
                        <a:pt x="155" y="170"/>
                        <a:pt x="155" y="170"/>
                        <a:pt x="155" y="170"/>
                      </a:cubicBezTo>
                      <a:cubicBezTo>
                        <a:pt x="154" y="166"/>
                        <a:pt x="154" y="166"/>
                        <a:pt x="154" y="166"/>
                      </a:cubicBezTo>
                      <a:cubicBezTo>
                        <a:pt x="160" y="161"/>
                        <a:pt x="165" y="156"/>
                        <a:pt x="169" y="150"/>
                      </a:cubicBezTo>
                      <a:cubicBezTo>
                        <a:pt x="182" y="154"/>
                        <a:pt x="182" y="154"/>
                        <a:pt x="182" y="154"/>
                      </a:cubicBezTo>
                      <a:cubicBezTo>
                        <a:pt x="187" y="155"/>
                        <a:pt x="192" y="153"/>
                        <a:pt x="194" y="148"/>
                      </a:cubicBezTo>
                      <a:cubicBezTo>
                        <a:pt x="202" y="127"/>
                        <a:pt x="202" y="127"/>
                        <a:pt x="202" y="127"/>
                      </a:cubicBezTo>
                      <a:cubicBezTo>
                        <a:pt x="203" y="123"/>
                        <a:pt x="201" y="118"/>
                        <a:pt x="197" y="116"/>
                      </a:cubicBezTo>
                      <a:close/>
                      <a:moveTo>
                        <a:pt x="123" y="149"/>
                      </a:moveTo>
                      <a:cubicBezTo>
                        <a:pt x="97" y="161"/>
                        <a:pt x="66" y="149"/>
                        <a:pt x="54" y="122"/>
                      </a:cubicBezTo>
                      <a:cubicBezTo>
                        <a:pt x="42" y="96"/>
                        <a:pt x="54" y="65"/>
                        <a:pt x="81" y="53"/>
                      </a:cubicBezTo>
                      <a:cubicBezTo>
                        <a:pt x="107" y="41"/>
                        <a:pt x="138" y="53"/>
                        <a:pt x="150" y="80"/>
                      </a:cubicBezTo>
                      <a:cubicBezTo>
                        <a:pt x="162" y="107"/>
                        <a:pt x="150" y="138"/>
                        <a:pt x="123" y="14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9" name="Freeform 75">
                  <a:extLst>
                    <a:ext uri="{FF2B5EF4-FFF2-40B4-BE49-F238E27FC236}">
                      <a16:creationId xmlns:a16="http://schemas.microsoft.com/office/drawing/2014/main" id="{D9CD414E-79F6-47F5-9516-2D1F1055F48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40180" y="3648533"/>
                  <a:ext cx="47309" cy="47693"/>
                </a:xfrm>
                <a:custGeom>
                  <a:avLst/>
                  <a:gdLst>
                    <a:gd name="T0" fmla="*/ 4 w 156"/>
                    <a:gd name="T1" fmla="*/ 67 h 157"/>
                    <a:gd name="T2" fmla="*/ 14 w 156"/>
                    <a:gd name="T3" fmla="*/ 72 h 157"/>
                    <a:gd name="T4" fmla="*/ 15 w 156"/>
                    <a:gd name="T5" fmla="*/ 88 h 157"/>
                    <a:gd name="T6" fmla="*/ 5 w 156"/>
                    <a:gd name="T7" fmla="*/ 93 h 157"/>
                    <a:gd name="T8" fmla="*/ 2 w 156"/>
                    <a:gd name="T9" fmla="*/ 102 h 157"/>
                    <a:gd name="T10" fmla="*/ 9 w 156"/>
                    <a:gd name="T11" fmla="*/ 118 h 157"/>
                    <a:gd name="T12" fmla="*/ 18 w 156"/>
                    <a:gd name="T13" fmla="*/ 122 h 157"/>
                    <a:gd name="T14" fmla="*/ 29 w 156"/>
                    <a:gd name="T15" fmla="*/ 119 h 157"/>
                    <a:gd name="T16" fmla="*/ 40 w 156"/>
                    <a:gd name="T17" fmla="*/ 129 h 157"/>
                    <a:gd name="T18" fmla="*/ 37 w 156"/>
                    <a:gd name="T19" fmla="*/ 140 h 157"/>
                    <a:gd name="T20" fmla="*/ 41 w 156"/>
                    <a:gd name="T21" fmla="*/ 149 h 157"/>
                    <a:gd name="T22" fmla="*/ 57 w 156"/>
                    <a:gd name="T23" fmla="*/ 155 h 157"/>
                    <a:gd name="T24" fmla="*/ 66 w 156"/>
                    <a:gd name="T25" fmla="*/ 151 h 157"/>
                    <a:gd name="T26" fmla="*/ 72 w 156"/>
                    <a:gd name="T27" fmla="*/ 142 h 157"/>
                    <a:gd name="T28" fmla="*/ 87 w 156"/>
                    <a:gd name="T29" fmla="*/ 141 h 157"/>
                    <a:gd name="T30" fmla="*/ 93 w 156"/>
                    <a:gd name="T31" fmla="*/ 151 h 157"/>
                    <a:gd name="T32" fmla="*/ 93 w 156"/>
                    <a:gd name="T33" fmla="*/ 152 h 157"/>
                    <a:gd name="T34" fmla="*/ 94 w 156"/>
                    <a:gd name="T35" fmla="*/ 152 h 157"/>
                    <a:gd name="T36" fmla="*/ 113 w 156"/>
                    <a:gd name="T37" fmla="*/ 145 h 157"/>
                    <a:gd name="T38" fmla="*/ 124 w 156"/>
                    <a:gd name="T39" fmla="*/ 142 h 157"/>
                    <a:gd name="T40" fmla="*/ 119 w 156"/>
                    <a:gd name="T41" fmla="*/ 131 h 157"/>
                    <a:gd name="T42" fmla="*/ 118 w 156"/>
                    <a:gd name="T43" fmla="*/ 128 h 157"/>
                    <a:gd name="T44" fmla="*/ 130 w 156"/>
                    <a:gd name="T45" fmla="*/ 116 h 157"/>
                    <a:gd name="T46" fmla="*/ 140 w 156"/>
                    <a:gd name="T47" fmla="*/ 119 h 157"/>
                    <a:gd name="T48" fmla="*/ 149 w 156"/>
                    <a:gd name="T49" fmla="*/ 114 h 157"/>
                    <a:gd name="T50" fmla="*/ 155 w 156"/>
                    <a:gd name="T51" fmla="*/ 98 h 157"/>
                    <a:gd name="T52" fmla="*/ 152 w 156"/>
                    <a:gd name="T53" fmla="*/ 89 h 157"/>
                    <a:gd name="T54" fmla="*/ 142 w 156"/>
                    <a:gd name="T55" fmla="*/ 84 h 157"/>
                    <a:gd name="T56" fmla="*/ 142 w 156"/>
                    <a:gd name="T57" fmla="*/ 68 h 157"/>
                    <a:gd name="T58" fmla="*/ 151 w 156"/>
                    <a:gd name="T59" fmla="*/ 63 h 157"/>
                    <a:gd name="T60" fmla="*/ 154 w 156"/>
                    <a:gd name="T61" fmla="*/ 54 h 157"/>
                    <a:gd name="T62" fmla="*/ 147 w 156"/>
                    <a:gd name="T63" fmla="*/ 38 h 157"/>
                    <a:gd name="T64" fmla="*/ 138 w 156"/>
                    <a:gd name="T65" fmla="*/ 34 h 157"/>
                    <a:gd name="T66" fmla="*/ 129 w 156"/>
                    <a:gd name="T67" fmla="*/ 37 h 157"/>
                    <a:gd name="T68" fmla="*/ 117 w 156"/>
                    <a:gd name="T69" fmla="*/ 26 h 157"/>
                    <a:gd name="T70" fmla="*/ 119 w 156"/>
                    <a:gd name="T71" fmla="*/ 16 h 157"/>
                    <a:gd name="T72" fmla="*/ 115 w 156"/>
                    <a:gd name="T73" fmla="*/ 8 h 157"/>
                    <a:gd name="T74" fmla="*/ 99 w 156"/>
                    <a:gd name="T75" fmla="*/ 1 h 157"/>
                    <a:gd name="T76" fmla="*/ 90 w 156"/>
                    <a:gd name="T77" fmla="*/ 5 h 157"/>
                    <a:gd name="T78" fmla="*/ 86 w 156"/>
                    <a:gd name="T79" fmla="*/ 13 h 157"/>
                    <a:gd name="T80" fmla="*/ 69 w 156"/>
                    <a:gd name="T81" fmla="*/ 13 h 157"/>
                    <a:gd name="T82" fmla="*/ 64 w 156"/>
                    <a:gd name="T83" fmla="*/ 5 h 157"/>
                    <a:gd name="T84" fmla="*/ 54 w 156"/>
                    <a:gd name="T85" fmla="*/ 2 h 157"/>
                    <a:gd name="T86" fmla="*/ 39 w 156"/>
                    <a:gd name="T87" fmla="*/ 9 h 157"/>
                    <a:gd name="T88" fmla="*/ 35 w 156"/>
                    <a:gd name="T89" fmla="*/ 18 h 157"/>
                    <a:gd name="T90" fmla="*/ 38 w 156"/>
                    <a:gd name="T91" fmla="*/ 27 h 157"/>
                    <a:gd name="T92" fmla="*/ 26 w 156"/>
                    <a:gd name="T93" fmla="*/ 40 h 157"/>
                    <a:gd name="T94" fmla="*/ 16 w 156"/>
                    <a:gd name="T95" fmla="*/ 37 h 157"/>
                    <a:gd name="T96" fmla="*/ 7 w 156"/>
                    <a:gd name="T97" fmla="*/ 42 h 157"/>
                    <a:gd name="T98" fmla="*/ 1 w 156"/>
                    <a:gd name="T99" fmla="*/ 58 h 157"/>
                    <a:gd name="T100" fmla="*/ 4 w 156"/>
                    <a:gd name="T101" fmla="*/ 67 h 157"/>
                    <a:gd name="T102" fmla="*/ 62 w 156"/>
                    <a:gd name="T103" fmla="*/ 41 h 157"/>
                    <a:gd name="T104" fmla="*/ 115 w 156"/>
                    <a:gd name="T105" fmla="*/ 62 h 157"/>
                    <a:gd name="T106" fmla="*/ 95 w 156"/>
                    <a:gd name="T107" fmla="*/ 115 h 157"/>
                    <a:gd name="T108" fmla="*/ 41 w 156"/>
                    <a:gd name="T109" fmla="*/ 94 h 157"/>
                    <a:gd name="T110" fmla="*/ 62 w 156"/>
                    <a:gd name="T111" fmla="*/ 41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56" h="157">
                      <a:moveTo>
                        <a:pt x="4" y="67"/>
                      </a:moveTo>
                      <a:cubicBezTo>
                        <a:pt x="14" y="72"/>
                        <a:pt x="14" y="72"/>
                        <a:pt x="14" y="72"/>
                      </a:cubicBezTo>
                      <a:cubicBezTo>
                        <a:pt x="13" y="77"/>
                        <a:pt x="14" y="83"/>
                        <a:pt x="15" y="88"/>
                      </a:cubicBezTo>
                      <a:cubicBezTo>
                        <a:pt x="5" y="93"/>
                        <a:pt x="5" y="93"/>
                        <a:pt x="5" y="93"/>
                      </a:cubicBezTo>
                      <a:cubicBezTo>
                        <a:pt x="2" y="95"/>
                        <a:pt x="1" y="99"/>
                        <a:pt x="2" y="102"/>
                      </a:cubicBezTo>
                      <a:cubicBezTo>
                        <a:pt x="9" y="118"/>
                        <a:pt x="9" y="118"/>
                        <a:pt x="9" y="118"/>
                      </a:cubicBezTo>
                      <a:cubicBezTo>
                        <a:pt x="11" y="121"/>
                        <a:pt x="15" y="123"/>
                        <a:pt x="18" y="122"/>
                      </a:cubicBezTo>
                      <a:cubicBezTo>
                        <a:pt x="29" y="119"/>
                        <a:pt x="29" y="119"/>
                        <a:pt x="29" y="119"/>
                      </a:cubicBezTo>
                      <a:cubicBezTo>
                        <a:pt x="32" y="123"/>
                        <a:pt x="36" y="126"/>
                        <a:pt x="40" y="129"/>
                      </a:cubicBezTo>
                      <a:cubicBezTo>
                        <a:pt x="37" y="140"/>
                        <a:pt x="37" y="140"/>
                        <a:pt x="37" y="140"/>
                      </a:cubicBezTo>
                      <a:cubicBezTo>
                        <a:pt x="36" y="144"/>
                        <a:pt x="38" y="147"/>
                        <a:pt x="41" y="149"/>
                      </a:cubicBezTo>
                      <a:cubicBezTo>
                        <a:pt x="57" y="155"/>
                        <a:pt x="57" y="155"/>
                        <a:pt x="57" y="155"/>
                      </a:cubicBezTo>
                      <a:cubicBezTo>
                        <a:pt x="61" y="156"/>
                        <a:pt x="65" y="155"/>
                        <a:pt x="66" y="151"/>
                      </a:cubicBezTo>
                      <a:cubicBezTo>
                        <a:pt x="72" y="142"/>
                        <a:pt x="72" y="142"/>
                        <a:pt x="72" y="142"/>
                      </a:cubicBezTo>
                      <a:cubicBezTo>
                        <a:pt x="77" y="142"/>
                        <a:pt x="82" y="142"/>
                        <a:pt x="87" y="141"/>
                      </a:cubicBezTo>
                      <a:cubicBezTo>
                        <a:pt x="93" y="151"/>
                        <a:pt x="93" y="151"/>
                        <a:pt x="93" y="151"/>
                      </a:cubicBezTo>
                      <a:cubicBezTo>
                        <a:pt x="93" y="151"/>
                        <a:pt x="93" y="152"/>
                        <a:pt x="93" y="152"/>
                      </a:cubicBezTo>
                      <a:cubicBezTo>
                        <a:pt x="94" y="152"/>
                        <a:pt x="94" y="152"/>
                        <a:pt x="94" y="152"/>
                      </a:cubicBezTo>
                      <a:cubicBezTo>
                        <a:pt x="94" y="152"/>
                        <a:pt x="105" y="157"/>
                        <a:pt x="113" y="145"/>
                      </a:cubicBezTo>
                      <a:cubicBezTo>
                        <a:pt x="113" y="145"/>
                        <a:pt x="116" y="136"/>
                        <a:pt x="124" y="142"/>
                      </a:cubicBezTo>
                      <a:cubicBezTo>
                        <a:pt x="119" y="131"/>
                        <a:pt x="119" y="131"/>
                        <a:pt x="119" y="131"/>
                      </a:cubicBezTo>
                      <a:cubicBezTo>
                        <a:pt x="118" y="128"/>
                        <a:pt x="118" y="128"/>
                        <a:pt x="118" y="128"/>
                      </a:cubicBezTo>
                      <a:cubicBezTo>
                        <a:pt x="123" y="124"/>
                        <a:pt x="127" y="120"/>
                        <a:pt x="130" y="116"/>
                      </a:cubicBezTo>
                      <a:cubicBezTo>
                        <a:pt x="140" y="119"/>
                        <a:pt x="140" y="119"/>
                        <a:pt x="140" y="119"/>
                      </a:cubicBezTo>
                      <a:cubicBezTo>
                        <a:pt x="144" y="120"/>
                        <a:pt x="148" y="118"/>
                        <a:pt x="149" y="114"/>
                      </a:cubicBezTo>
                      <a:cubicBezTo>
                        <a:pt x="155" y="98"/>
                        <a:pt x="155" y="98"/>
                        <a:pt x="155" y="98"/>
                      </a:cubicBezTo>
                      <a:cubicBezTo>
                        <a:pt x="156" y="95"/>
                        <a:pt x="155" y="91"/>
                        <a:pt x="152" y="89"/>
                      </a:cubicBezTo>
                      <a:cubicBezTo>
                        <a:pt x="142" y="84"/>
                        <a:pt x="142" y="84"/>
                        <a:pt x="142" y="84"/>
                      </a:cubicBezTo>
                      <a:cubicBezTo>
                        <a:pt x="143" y="79"/>
                        <a:pt x="143" y="73"/>
                        <a:pt x="142" y="68"/>
                      </a:cubicBezTo>
                      <a:cubicBezTo>
                        <a:pt x="151" y="63"/>
                        <a:pt x="151" y="63"/>
                        <a:pt x="151" y="63"/>
                      </a:cubicBezTo>
                      <a:cubicBezTo>
                        <a:pt x="154" y="61"/>
                        <a:pt x="155" y="57"/>
                        <a:pt x="154" y="54"/>
                      </a:cubicBezTo>
                      <a:cubicBezTo>
                        <a:pt x="147" y="38"/>
                        <a:pt x="147" y="38"/>
                        <a:pt x="147" y="38"/>
                      </a:cubicBezTo>
                      <a:cubicBezTo>
                        <a:pt x="146" y="34"/>
                        <a:pt x="142" y="33"/>
                        <a:pt x="138" y="34"/>
                      </a:cubicBezTo>
                      <a:cubicBezTo>
                        <a:pt x="129" y="37"/>
                        <a:pt x="129" y="37"/>
                        <a:pt x="129" y="37"/>
                      </a:cubicBezTo>
                      <a:cubicBezTo>
                        <a:pt x="125" y="33"/>
                        <a:pt x="121" y="29"/>
                        <a:pt x="117" y="26"/>
                      </a:cubicBezTo>
                      <a:cubicBezTo>
                        <a:pt x="119" y="16"/>
                        <a:pt x="119" y="16"/>
                        <a:pt x="119" y="16"/>
                      </a:cubicBezTo>
                      <a:cubicBezTo>
                        <a:pt x="120" y="13"/>
                        <a:pt x="118" y="9"/>
                        <a:pt x="115" y="8"/>
                      </a:cubicBezTo>
                      <a:cubicBezTo>
                        <a:pt x="99" y="1"/>
                        <a:pt x="99" y="1"/>
                        <a:pt x="99" y="1"/>
                      </a:cubicBezTo>
                      <a:cubicBezTo>
                        <a:pt x="96" y="0"/>
                        <a:pt x="92" y="1"/>
                        <a:pt x="90" y="5"/>
                      </a:cubicBezTo>
                      <a:cubicBezTo>
                        <a:pt x="86" y="13"/>
                        <a:pt x="86" y="13"/>
                        <a:pt x="86" y="13"/>
                      </a:cubicBezTo>
                      <a:cubicBezTo>
                        <a:pt x="80" y="13"/>
                        <a:pt x="74" y="13"/>
                        <a:pt x="69" y="13"/>
                      </a:cubicBezTo>
                      <a:cubicBezTo>
                        <a:pt x="64" y="5"/>
                        <a:pt x="64" y="5"/>
                        <a:pt x="64" y="5"/>
                      </a:cubicBezTo>
                      <a:cubicBezTo>
                        <a:pt x="62" y="2"/>
                        <a:pt x="58" y="1"/>
                        <a:pt x="54" y="2"/>
                      </a:cubicBezTo>
                      <a:cubicBezTo>
                        <a:pt x="39" y="9"/>
                        <a:pt x="39" y="9"/>
                        <a:pt x="39" y="9"/>
                      </a:cubicBezTo>
                      <a:cubicBezTo>
                        <a:pt x="35" y="10"/>
                        <a:pt x="34" y="14"/>
                        <a:pt x="35" y="1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cubicBezTo>
                        <a:pt x="33" y="31"/>
                        <a:pt x="29" y="35"/>
                        <a:pt x="26" y="40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2" y="36"/>
                        <a:pt x="9" y="38"/>
                        <a:pt x="7" y="42"/>
                      </a:cubicBezTo>
                      <a:cubicBezTo>
                        <a:pt x="1" y="58"/>
                        <a:pt x="1" y="58"/>
                        <a:pt x="1" y="58"/>
                      </a:cubicBezTo>
                      <a:cubicBezTo>
                        <a:pt x="0" y="61"/>
                        <a:pt x="1" y="65"/>
                        <a:pt x="4" y="67"/>
                      </a:cubicBezTo>
                      <a:close/>
                      <a:moveTo>
                        <a:pt x="62" y="41"/>
                      </a:moveTo>
                      <a:cubicBezTo>
                        <a:pt x="82" y="32"/>
                        <a:pt x="106" y="41"/>
                        <a:pt x="115" y="62"/>
                      </a:cubicBezTo>
                      <a:cubicBezTo>
                        <a:pt x="124" y="82"/>
                        <a:pt x="115" y="106"/>
                        <a:pt x="95" y="115"/>
                      </a:cubicBezTo>
                      <a:cubicBezTo>
                        <a:pt x="74" y="124"/>
                        <a:pt x="50" y="115"/>
                        <a:pt x="41" y="94"/>
                      </a:cubicBezTo>
                      <a:cubicBezTo>
                        <a:pt x="32" y="74"/>
                        <a:pt x="41" y="50"/>
                        <a:pt x="62" y="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0" name="Freeform 76">
                  <a:extLst>
                    <a:ext uri="{FF2B5EF4-FFF2-40B4-BE49-F238E27FC236}">
                      <a16:creationId xmlns:a16="http://schemas.microsoft.com/office/drawing/2014/main" id="{AE7F8BBC-2DDE-4D77-9732-7FF2E93E0E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616844" y="3623789"/>
                  <a:ext cx="275135" cy="196800"/>
                </a:xfrm>
                <a:custGeom>
                  <a:avLst/>
                  <a:gdLst>
                    <a:gd name="T0" fmla="*/ 56 w 906"/>
                    <a:gd name="T1" fmla="*/ 647 h 647"/>
                    <a:gd name="T2" fmla="*/ 850 w 906"/>
                    <a:gd name="T3" fmla="*/ 647 h 647"/>
                    <a:gd name="T4" fmla="*/ 906 w 906"/>
                    <a:gd name="T5" fmla="*/ 591 h 647"/>
                    <a:gd name="T6" fmla="*/ 906 w 906"/>
                    <a:gd name="T7" fmla="*/ 56 h 647"/>
                    <a:gd name="T8" fmla="*/ 850 w 906"/>
                    <a:gd name="T9" fmla="*/ 0 h 647"/>
                    <a:gd name="T10" fmla="*/ 56 w 906"/>
                    <a:gd name="T11" fmla="*/ 0 h 647"/>
                    <a:gd name="T12" fmla="*/ 0 w 906"/>
                    <a:gd name="T13" fmla="*/ 56 h 647"/>
                    <a:gd name="T14" fmla="*/ 0 w 906"/>
                    <a:gd name="T15" fmla="*/ 591 h 647"/>
                    <a:gd name="T16" fmla="*/ 56 w 906"/>
                    <a:gd name="T17" fmla="*/ 647 h 647"/>
                    <a:gd name="T18" fmla="*/ 51 w 906"/>
                    <a:gd name="T19" fmla="*/ 50 h 647"/>
                    <a:gd name="T20" fmla="*/ 856 w 906"/>
                    <a:gd name="T21" fmla="*/ 50 h 647"/>
                    <a:gd name="T22" fmla="*/ 856 w 906"/>
                    <a:gd name="T23" fmla="*/ 596 h 647"/>
                    <a:gd name="T24" fmla="*/ 51 w 906"/>
                    <a:gd name="T25" fmla="*/ 596 h 647"/>
                    <a:gd name="T26" fmla="*/ 51 w 906"/>
                    <a:gd name="T27" fmla="*/ 50 h 6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06" h="647">
                      <a:moveTo>
                        <a:pt x="56" y="647"/>
                      </a:moveTo>
                      <a:cubicBezTo>
                        <a:pt x="850" y="647"/>
                        <a:pt x="850" y="647"/>
                        <a:pt x="850" y="647"/>
                      </a:cubicBezTo>
                      <a:cubicBezTo>
                        <a:pt x="881" y="647"/>
                        <a:pt x="906" y="622"/>
                        <a:pt x="906" y="591"/>
                      </a:cubicBezTo>
                      <a:cubicBezTo>
                        <a:pt x="906" y="56"/>
                        <a:pt x="906" y="56"/>
                        <a:pt x="906" y="56"/>
                      </a:cubicBezTo>
                      <a:cubicBezTo>
                        <a:pt x="906" y="25"/>
                        <a:pt x="881" y="0"/>
                        <a:pt x="850" y="0"/>
                      </a:cubicBezTo>
                      <a:cubicBezTo>
                        <a:pt x="56" y="0"/>
                        <a:pt x="56" y="0"/>
                        <a:pt x="56" y="0"/>
                      </a:cubicBezTo>
                      <a:cubicBezTo>
                        <a:pt x="25" y="0"/>
                        <a:pt x="0" y="25"/>
                        <a:pt x="0" y="56"/>
                      </a:cubicBezTo>
                      <a:cubicBezTo>
                        <a:pt x="0" y="591"/>
                        <a:pt x="0" y="591"/>
                        <a:pt x="0" y="591"/>
                      </a:cubicBezTo>
                      <a:cubicBezTo>
                        <a:pt x="0" y="622"/>
                        <a:pt x="25" y="647"/>
                        <a:pt x="56" y="647"/>
                      </a:cubicBezTo>
                      <a:close/>
                      <a:moveTo>
                        <a:pt x="51" y="50"/>
                      </a:moveTo>
                      <a:cubicBezTo>
                        <a:pt x="856" y="50"/>
                        <a:pt x="856" y="50"/>
                        <a:pt x="856" y="50"/>
                      </a:cubicBezTo>
                      <a:cubicBezTo>
                        <a:pt x="856" y="596"/>
                        <a:pt x="856" y="596"/>
                        <a:pt x="856" y="596"/>
                      </a:cubicBezTo>
                      <a:cubicBezTo>
                        <a:pt x="51" y="596"/>
                        <a:pt x="51" y="596"/>
                        <a:pt x="51" y="596"/>
                      </a:cubicBezTo>
                      <a:lnTo>
                        <a:pt x="51" y="50"/>
                      </a:lnTo>
                      <a:close/>
                    </a:path>
                  </a:pathLst>
                </a:custGeom>
                <a:solidFill>
                  <a:srgbClr val="8608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1" name="Freeform 77">
                  <a:extLst>
                    <a:ext uri="{FF2B5EF4-FFF2-40B4-BE49-F238E27FC236}">
                      <a16:creationId xmlns:a16="http://schemas.microsoft.com/office/drawing/2014/main" id="{D5FAB11B-072E-4ABB-A968-C0E422F73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601331" y="3827896"/>
                  <a:ext cx="306161" cy="36668"/>
                </a:xfrm>
                <a:custGeom>
                  <a:avLst/>
                  <a:gdLst>
                    <a:gd name="T0" fmla="*/ 963 w 1008"/>
                    <a:gd name="T1" fmla="*/ 0 h 121"/>
                    <a:gd name="T2" fmla="*/ 622 w 1008"/>
                    <a:gd name="T3" fmla="*/ 0 h 121"/>
                    <a:gd name="T4" fmla="*/ 386 w 1008"/>
                    <a:gd name="T5" fmla="*/ 0 h 121"/>
                    <a:gd name="T6" fmla="*/ 46 w 1008"/>
                    <a:gd name="T7" fmla="*/ 0 h 121"/>
                    <a:gd name="T8" fmla="*/ 0 w 1008"/>
                    <a:gd name="T9" fmla="*/ 46 h 121"/>
                    <a:gd name="T10" fmla="*/ 62 w 1008"/>
                    <a:gd name="T11" fmla="*/ 121 h 121"/>
                    <a:gd name="T12" fmla="*/ 386 w 1008"/>
                    <a:gd name="T13" fmla="*/ 121 h 121"/>
                    <a:gd name="T14" fmla="*/ 622 w 1008"/>
                    <a:gd name="T15" fmla="*/ 121 h 121"/>
                    <a:gd name="T16" fmla="*/ 946 w 1008"/>
                    <a:gd name="T17" fmla="*/ 121 h 121"/>
                    <a:gd name="T18" fmla="*/ 1008 w 1008"/>
                    <a:gd name="T19" fmla="*/ 46 h 121"/>
                    <a:gd name="T20" fmla="*/ 963 w 1008"/>
                    <a:gd name="T21" fmla="*/ 0 h 121"/>
                    <a:gd name="T22" fmla="*/ 614 w 1008"/>
                    <a:gd name="T23" fmla="*/ 66 h 121"/>
                    <a:gd name="T24" fmla="*/ 394 w 1008"/>
                    <a:gd name="T25" fmla="*/ 66 h 121"/>
                    <a:gd name="T26" fmla="*/ 378 w 1008"/>
                    <a:gd name="T27" fmla="*/ 50 h 121"/>
                    <a:gd name="T28" fmla="*/ 394 w 1008"/>
                    <a:gd name="T29" fmla="*/ 34 h 121"/>
                    <a:gd name="T30" fmla="*/ 614 w 1008"/>
                    <a:gd name="T31" fmla="*/ 34 h 121"/>
                    <a:gd name="T32" fmla="*/ 630 w 1008"/>
                    <a:gd name="T33" fmla="*/ 50 h 121"/>
                    <a:gd name="T34" fmla="*/ 614 w 1008"/>
                    <a:gd name="T35" fmla="*/ 66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08" h="121">
                      <a:moveTo>
                        <a:pt x="963" y="0"/>
                      </a:moveTo>
                      <a:cubicBezTo>
                        <a:pt x="622" y="0"/>
                        <a:pt x="622" y="0"/>
                        <a:pt x="622" y="0"/>
                      </a:cubicBezTo>
                      <a:cubicBezTo>
                        <a:pt x="386" y="0"/>
                        <a:pt x="386" y="0"/>
                        <a:pt x="38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20" y="0"/>
                        <a:pt x="0" y="21"/>
                        <a:pt x="0" y="46"/>
                      </a:cubicBezTo>
                      <a:cubicBezTo>
                        <a:pt x="0" y="78"/>
                        <a:pt x="24" y="121"/>
                        <a:pt x="62" y="121"/>
                      </a:cubicBezTo>
                      <a:cubicBezTo>
                        <a:pt x="386" y="121"/>
                        <a:pt x="386" y="121"/>
                        <a:pt x="386" y="121"/>
                      </a:cubicBezTo>
                      <a:cubicBezTo>
                        <a:pt x="622" y="121"/>
                        <a:pt x="622" y="121"/>
                        <a:pt x="622" y="121"/>
                      </a:cubicBezTo>
                      <a:cubicBezTo>
                        <a:pt x="946" y="121"/>
                        <a:pt x="946" y="121"/>
                        <a:pt x="946" y="121"/>
                      </a:cubicBezTo>
                      <a:cubicBezTo>
                        <a:pt x="984" y="121"/>
                        <a:pt x="1008" y="78"/>
                        <a:pt x="1008" y="46"/>
                      </a:cubicBezTo>
                      <a:cubicBezTo>
                        <a:pt x="1008" y="21"/>
                        <a:pt x="988" y="0"/>
                        <a:pt x="963" y="0"/>
                      </a:cubicBezTo>
                      <a:close/>
                      <a:moveTo>
                        <a:pt x="614" y="66"/>
                      </a:moveTo>
                      <a:cubicBezTo>
                        <a:pt x="394" y="66"/>
                        <a:pt x="394" y="66"/>
                        <a:pt x="394" y="66"/>
                      </a:cubicBezTo>
                      <a:cubicBezTo>
                        <a:pt x="385" y="66"/>
                        <a:pt x="378" y="59"/>
                        <a:pt x="378" y="50"/>
                      </a:cubicBezTo>
                      <a:cubicBezTo>
                        <a:pt x="378" y="41"/>
                        <a:pt x="385" y="34"/>
                        <a:pt x="394" y="34"/>
                      </a:cubicBezTo>
                      <a:cubicBezTo>
                        <a:pt x="614" y="34"/>
                        <a:pt x="614" y="34"/>
                        <a:pt x="614" y="34"/>
                      </a:cubicBezTo>
                      <a:cubicBezTo>
                        <a:pt x="623" y="34"/>
                        <a:pt x="630" y="41"/>
                        <a:pt x="630" y="50"/>
                      </a:cubicBezTo>
                      <a:cubicBezTo>
                        <a:pt x="630" y="59"/>
                        <a:pt x="623" y="66"/>
                        <a:pt x="614" y="66"/>
                      </a:cubicBezTo>
                      <a:close/>
                    </a:path>
                  </a:pathLst>
                </a:custGeom>
                <a:solidFill>
                  <a:srgbClr val="8608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E95D9E9-5836-48D3-A1AF-9DD9B7D0E3DB}"/>
                </a:ext>
              </a:extLst>
            </p:cNvPr>
            <p:cNvSpPr/>
            <p:nvPr/>
          </p:nvSpPr>
          <p:spPr>
            <a:xfrm>
              <a:off x="313612" y="5730974"/>
              <a:ext cx="3577903" cy="1692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r>
                <a:rPr lang="en-US" sz="1100" dirty="0">
                  <a:solidFill>
                    <a:schemeClr val="accent1"/>
                  </a:solidFill>
                </a:rPr>
                <a:t>Capgemini proprietary enablers for data migration</a:t>
              </a: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E66EDCA-E9C5-4FFA-A54B-6250854C97E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328056" y="2343974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88316F57-BB79-4879-9B2E-9A037DF52BCC}"/>
                </a:ext>
              </a:extLst>
            </p:cNvPr>
            <p:cNvSpPr/>
            <p:nvPr/>
          </p:nvSpPr>
          <p:spPr>
            <a:xfrm>
              <a:off x="877323" y="1924039"/>
              <a:ext cx="918305" cy="83795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SAP</a:t>
              </a:r>
              <a:b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systems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72FE046-D5F0-413F-81C3-A459AC6732B9}"/>
                </a:ext>
              </a:extLst>
            </p:cNvPr>
            <p:cNvGrpSpPr/>
            <p:nvPr/>
          </p:nvGrpSpPr>
          <p:grpSpPr>
            <a:xfrm>
              <a:off x="2622780" y="2342869"/>
              <a:ext cx="316738" cy="358852"/>
              <a:chOff x="2565979" y="2170889"/>
              <a:chExt cx="316738" cy="358852"/>
            </a:xfrm>
          </p:grpSpPr>
          <p:grpSp>
            <p:nvGrpSpPr>
              <p:cNvPr id="196" name="Group 8">
                <a:extLst>
                  <a:ext uri="{FF2B5EF4-FFF2-40B4-BE49-F238E27FC236}">
                    <a16:creationId xmlns:a16="http://schemas.microsoft.com/office/drawing/2014/main" id="{7BC500B5-7DE5-4CEF-8C04-CEAD71863C4C}"/>
                  </a:ext>
                </a:extLst>
              </p:cNvPr>
              <p:cNvGrpSpPr/>
              <p:nvPr/>
            </p:nvGrpSpPr>
            <p:grpSpPr>
              <a:xfrm>
                <a:off x="2565979" y="2170889"/>
                <a:ext cx="236826" cy="301959"/>
                <a:chOff x="4010024" y="1488492"/>
                <a:chExt cx="438150" cy="610344"/>
              </a:xfrm>
              <a:solidFill>
                <a:schemeClr val="accent1"/>
              </a:solidFill>
            </p:grpSpPr>
            <p:sp>
              <p:nvSpPr>
                <p:cNvPr id="209" name="Can 22">
                  <a:extLst>
                    <a:ext uri="{FF2B5EF4-FFF2-40B4-BE49-F238E27FC236}">
                      <a16:creationId xmlns:a16="http://schemas.microsoft.com/office/drawing/2014/main" id="{E254261F-0301-4DA0-9A61-454F4B78FF3F}"/>
                    </a:ext>
                  </a:extLst>
                </p:cNvPr>
                <p:cNvSpPr/>
                <p:nvPr/>
              </p:nvSpPr>
              <p:spPr>
                <a:xfrm>
                  <a:off x="4010024" y="1491624"/>
                  <a:ext cx="438150" cy="607212"/>
                </a:xfrm>
                <a:custGeom>
                  <a:avLst/>
                  <a:gdLst>
                    <a:gd name="connsiteX0" fmla="*/ 69057 w 438150"/>
                    <a:gd name="connsiteY0" fmla="*/ 29373 h 607212"/>
                    <a:gd name="connsiteX1" fmla="*/ 69057 w 438150"/>
                    <a:gd name="connsiteY1" fmla="*/ 15217 h 607212"/>
                    <a:gd name="connsiteX2" fmla="*/ 219075 w 438150"/>
                    <a:gd name="connsiteY2" fmla="*/ 0 h 607212"/>
                    <a:gd name="connsiteX3" fmla="*/ 438150 w 438150"/>
                    <a:gd name="connsiteY3" fmla="*/ 54769 h 607212"/>
                    <a:gd name="connsiteX4" fmla="*/ 438150 w 438150"/>
                    <a:gd name="connsiteY4" fmla="*/ 552443 h 607212"/>
                    <a:gd name="connsiteX5" fmla="*/ 219075 w 438150"/>
                    <a:gd name="connsiteY5" fmla="*/ 607212 h 607212"/>
                    <a:gd name="connsiteX6" fmla="*/ 0 w 438150"/>
                    <a:gd name="connsiteY6" fmla="*/ 552443 h 607212"/>
                    <a:gd name="connsiteX7" fmla="*/ 0 w 438150"/>
                    <a:gd name="connsiteY7" fmla="*/ 54769 h 607212"/>
                    <a:gd name="connsiteX8" fmla="*/ 28212 w 438150"/>
                    <a:gd name="connsiteY8" fmla="*/ 29373 h 607212"/>
                    <a:gd name="connsiteX9" fmla="*/ 160497 w 438150"/>
                    <a:gd name="connsiteY9" fmla="*/ 120813 h 607212"/>
                    <a:gd name="connsiteX0" fmla="*/ 69057 w 438150"/>
                    <a:gd name="connsiteY0" fmla="*/ 29373 h 607212"/>
                    <a:gd name="connsiteX1" fmla="*/ 69057 w 438150"/>
                    <a:gd name="connsiteY1" fmla="*/ 15217 h 607212"/>
                    <a:gd name="connsiteX2" fmla="*/ 219075 w 438150"/>
                    <a:gd name="connsiteY2" fmla="*/ 0 h 607212"/>
                    <a:gd name="connsiteX3" fmla="*/ 438150 w 438150"/>
                    <a:gd name="connsiteY3" fmla="*/ 54769 h 607212"/>
                    <a:gd name="connsiteX4" fmla="*/ 438150 w 438150"/>
                    <a:gd name="connsiteY4" fmla="*/ 552443 h 607212"/>
                    <a:gd name="connsiteX5" fmla="*/ 219075 w 438150"/>
                    <a:gd name="connsiteY5" fmla="*/ 607212 h 607212"/>
                    <a:gd name="connsiteX6" fmla="*/ 0 w 438150"/>
                    <a:gd name="connsiteY6" fmla="*/ 552443 h 607212"/>
                    <a:gd name="connsiteX7" fmla="*/ 0 w 438150"/>
                    <a:gd name="connsiteY7" fmla="*/ 54769 h 607212"/>
                    <a:gd name="connsiteX8" fmla="*/ 28212 w 438150"/>
                    <a:gd name="connsiteY8" fmla="*/ 29373 h 607212"/>
                    <a:gd name="connsiteX0" fmla="*/ 69057 w 438150"/>
                    <a:gd name="connsiteY0" fmla="*/ 15217 h 607212"/>
                    <a:gd name="connsiteX1" fmla="*/ 219075 w 438150"/>
                    <a:gd name="connsiteY1" fmla="*/ 0 h 607212"/>
                    <a:gd name="connsiteX2" fmla="*/ 438150 w 438150"/>
                    <a:gd name="connsiteY2" fmla="*/ 54769 h 607212"/>
                    <a:gd name="connsiteX3" fmla="*/ 438150 w 438150"/>
                    <a:gd name="connsiteY3" fmla="*/ 552443 h 607212"/>
                    <a:gd name="connsiteX4" fmla="*/ 219075 w 438150"/>
                    <a:gd name="connsiteY4" fmla="*/ 607212 h 607212"/>
                    <a:gd name="connsiteX5" fmla="*/ 0 w 438150"/>
                    <a:gd name="connsiteY5" fmla="*/ 552443 h 607212"/>
                    <a:gd name="connsiteX6" fmla="*/ 0 w 438150"/>
                    <a:gd name="connsiteY6" fmla="*/ 54769 h 607212"/>
                    <a:gd name="connsiteX7" fmla="*/ 28212 w 438150"/>
                    <a:gd name="connsiteY7" fmla="*/ 29373 h 607212"/>
                    <a:gd name="connsiteX0" fmla="*/ 69057 w 438150"/>
                    <a:gd name="connsiteY0" fmla="*/ 15217 h 607212"/>
                    <a:gd name="connsiteX1" fmla="*/ 219075 w 438150"/>
                    <a:gd name="connsiteY1" fmla="*/ 0 h 607212"/>
                    <a:gd name="connsiteX2" fmla="*/ 438150 w 438150"/>
                    <a:gd name="connsiteY2" fmla="*/ 54769 h 607212"/>
                    <a:gd name="connsiteX3" fmla="*/ 438150 w 438150"/>
                    <a:gd name="connsiteY3" fmla="*/ 552443 h 607212"/>
                    <a:gd name="connsiteX4" fmla="*/ 219075 w 438150"/>
                    <a:gd name="connsiteY4" fmla="*/ 607212 h 607212"/>
                    <a:gd name="connsiteX5" fmla="*/ 0 w 438150"/>
                    <a:gd name="connsiteY5" fmla="*/ 552443 h 607212"/>
                    <a:gd name="connsiteX6" fmla="*/ 0 w 438150"/>
                    <a:gd name="connsiteY6" fmla="*/ 54769 h 607212"/>
                    <a:gd name="connsiteX7" fmla="*/ 28212 w 438150"/>
                    <a:gd name="connsiteY7" fmla="*/ 29373 h 607212"/>
                    <a:gd name="connsiteX8" fmla="*/ 69057 w 438150"/>
                    <a:gd name="connsiteY8" fmla="*/ 15217 h 60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8150" h="607212">
                      <a:moveTo>
                        <a:pt x="69057" y="15217"/>
                      </a:moveTo>
                      <a:cubicBezTo>
                        <a:pt x="108185" y="5651"/>
                        <a:pt x="160990" y="0"/>
                        <a:pt x="219075" y="0"/>
                      </a:cubicBezTo>
                      <a:cubicBezTo>
                        <a:pt x="340067" y="0"/>
                        <a:pt x="438150" y="24521"/>
                        <a:pt x="438150" y="54769"/>
                      </a:cubicBezTo>
                      <a:lnTo>
                        <a:pt x="438150" y="552443"/>
                      </a:lnTo>
                      <a:cubicBezTo>
                        <a:pt x="438150" y="582691"/>
                        <a:pt x="340067" y="607212"/>
                        <a:pt x="219075" y="607212"/>
                      </a:cubicBezTo>
                      <a:cubicBezTo>
                        <a:pt x="98083" y="607212"/>
                        <a:pt x="0" y="582691"/>
                        <a:pt x="0" y="552443"/>
                      </a:cubicBezTo>
                      <a:lnTo>
                        <a:pt x="0" y="54769"/>
                      </a:lnTo>
                      <a:cubicBezTo>
                        <a:pt x="0" y="45093"/>
                        <a:pt x="10037" y="36003"/>
                        <a:pt x="28212" y="29373"/>
                      </a:cubicBezTo>
                      <a:lnTo>
                        <a:pt x="69057" y="15217"/>
                      </a:lnTo>
                      <a:close/>
                    </a:path>
                  </a:pathLst>
                </a:custGeom>
                <a:grpFill/>
                <a:ln w="1905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83969" tIns="41985" rIns="83969" bIns="4198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0" name="Arc 209">
                  <a:extLst>
                    <a:ext uri="{FF2B5EF4-FFF2-40B4-BE49-F238E27FC236}">
                      <a16:creationId xmlns:a16="http://schemas.microsoft.com/office/drawing/2014/main" id="{C042D372-1010-42F4-B693-9E27EF4C9A92}"/>
                    </a:ext>
                  </a:extLst>
                </p:cNvPr>
                <p:cNvSpPr/>
                <p:nvPr/>
              </p:nvSpPr>
              <p:spPr>
                <a:xfrm>
                  <a:off x="4010024" y="1488492"/>
                  <a:ext cx="438150" cy="117709"/>
                </a:xfrm>
                <a:prstGeom prst="arc">
                  <a:avLst>
                    <a:gd name="adj1" fmla="val 121739"/>
                    <a:gd name="adj2" fmla="val 10777442"/>
                  </a:avLst>
                </a:prstGeom>
                <a:grpFill/>
                <a:ln w="1905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83969" tIns="41985" rIns="83969" bIns="4198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1" name="Arc 210">
                  <a:extLst>
                    <a:ext uri="{FF2B5EF4-FFF2-40B4-BE49-F238E27FC236}">
                      <a16:creationId xmlns:a16="http://schemas.microsoft.com/office/drawing/2014/main" id="{958B5CB9-B232-45C5-8FAF-235E3B227E69}"/>
                    </a:ext>
                  </a:extLst>
                </p:cNvPr>
                <p:cNvSpPr/>
                <p:nvPr/>
              </p:nvSpPr>
              <p:spPr>
                <a:xfrm>
                  <a:off x="4010024" y="1652168"/>
                  <a:ext cx="438150" cy="117709"/>
                </a:xfrm>
                <a:prstGeom prst="arc">
                  <a:avLst>
                    <a:gd name="adj1" fmla="val 121739"/>
                    <a:gd name="adj2" fmla="val 10777442"/>
                  </a:avLst>
                </a:prstGeom>
                <a:grpFill/>
                <a:ln w="1905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83969" tIns="41985" rIns="83969" bIns="4198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2" name="Arc 211">
                  <a:extLst>
                    <a:ext uri="{FF2B5EF4-FFF2-40B4-BE49-F238E27FC236}">
                      <a16:creationId xmlns:a16="http://schemas.microsoft.com/office/drawing/2014/main" id="{B846496F-6769-483E-940E-18F264677D0F}"/>
                    </a:ext>
                  </a:extLst>
                </p:cNvPr>
                <p:cNvSpPr/>
                <p:nvPr/>
              </p:nvSpPr>
              <p:spPr>
                <a:xfrm>
                  <a:off x="4010024" y="1821441"/>
                  <a:ext cx="438150" cy="117709"/>
                </a:xfrm>
                <a:prstGeom prst="arc">
                  <a:avLst>
                    <a:gd name="adj1" fmla="val 121739"/>
                    <a:gd name="adj2" fmla="val 10777442"/>
                  </a:avLst>
                </a:prstGeom>
                <a:grpFill/>
                <a:ln w="1905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83969" tIns="41985" rIns="83969" bIns="4198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82A5ADFF-C883-4ABB-9190-FA465ED13583}"/>
                  </a:ext>
                </a:extLst>
              </p:cNvPr>
              <p:cNvGrpSpPr>
                <a:grpSpLocks/>
              </p:cNvGrpSpPr>
              <p:nvPr/>
            </p:nvGrpSpPr>
            <p:grpSpPr>
              <a:xfrm flipH="1">
                <a:off x="2695816" y="2324178"/>
                <a:ext cx="186901" cy="205563"/>
                <a:chOff x="4429125" y="4781551"/>
                <a:chExt cx="1466850" cy="1628775"/>
              </a:xfrm>
            </p:grpSpPr>
            <p:sp>
              <p:nvSpPr>
                <p:cNvPr id="198" name="Line 74">
                  <a:extLst>
                    <a:ext uri="{FF2B5EF4-FFF2-40B4-BE49-F238E27FC236}">
                      <a16:creationId xmlns:a16="http://schemas.microsoft.com/office/drawing/2014/main" id="{A4D9AB10-CFE2-42A7-8CEA-E38C742054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35513" y="5846763"/>
                  <a:ext cx="0" cy="307975"/>
                </a:xfrm>
                <a:prstGeom prst="line">
                  <a:avLst/>
                </a:prstGeom>
                <a:noFill/>
                <a:ln w="3175" cap="flat">
                  <a:noFill/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199" name="Freeform 75">
                  <a:extLst>
                    <a:ext uri="{FF2B5EF4-FFF2-40B4-BE49-F238E27FC236}">
                      <a16:creationId xmlns:a16="http://schemas.microsoft.com/office/drawing/2014/main" id="{9BB20BFE-A573-4347-A69F-1813238E66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9788" y="5811838"/>
                  <a:ext cx="85725" cy="444500"/>
                </a:xfrm>
                <a:custGeom>
                  <a:avLst/>
                  <a:gdLst>
                    <a:gd name="T0" fmla="*/ 54 w 54"/>
                    <a:gd name="T1" fmla="*/ 22 h 280"/>
                    <a:gd name="T2" fmla="*/ 54 w 54"/>
                    <a:gd name="T3" fmla="*/ 0 h 280"/>
                    <a:gd name="T4" fmla="*/ 0 w 54"/>
                    <a:gd name="T5" fmla="*/ 0 h 280"/>
                    <a:gd name="T6" fmla="*/ 0 w 54"/>
                    <a:gd name="T7" fmla="*/ 280 h 280"/>
                    <a:gd name="T8" fmla="*/ 54 w 54"/>
                    <a:gd name="T9" fmla="*/ 280 h 280"/>
                    <a:gd name="T10" fmla="*/ 54 w 54"/>
                    <a:gd name="T11" fmla="*/ 216 h 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4" h="280">
                      <a:moveTo>
                        <a:pt x="54" y="22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0"/>
                      </a:lnTo>
                      <a:lnTo>
                        <a:pt x="54" y="280"/>
                      </a:lnTo>
                      <a:lnTo>
                        <a:pt x="54" y="216"/>
                      </a:lnTo>
                    </a:path>
                  </a:pathLst>
                </a:custGeom>
                <a:solidFill>
                  <a:srgbClr val="FFFFFF"/>
                </a:solidFill>
                <a:ln w="31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0" name="Freeform 76">
                  <a:extLst>
                    <a:ext uri="{FF2B5EF4-FFF2-40B4-BE49-F238E27FC236}">
                      <a16:creationId xmlns:a16="http://schemas.microsoft.com/office/drawing/2014/main" id="{4B5F8394-3DA2-4220-9CAA-034AD812CE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9125" y="5811838"/>
                  <a:ext cx="220662" cy="496888"/>
                </a:xfrm>
                <a:custGeom>
                  <a:avLst/>
                  <a:gdLst>
                    <a:gd name="T0" fmla="*/ 139 w 139"/>
                    <a:gd name="T1" fmla="*/ 280 h 313"/>
                    <a:gd name="T2" fmla="*/ 139 w 139"/>
                    <a:gd name="T3" fmla="*/ 0 h 313"/>
                    <a:gd name="T4" fmla="*/ 21 w 139"/>
                    <a:gd name="T5" fmla="*/ 0 h 313"/>
                    <a:gd name="T6" fmla="*/ 0 w 139"/>
                    <a:gd name="T7" fmla="*/ 0 h 313"/>
                    <a:gd name="T8" fmla="*/ 0 w 139"/>
                    <a:gd name="T9" fmla="*/ 313 h 313"/>
                    <a:gd name="T10" fmla="*/ 139 w 139"/>
                    <a:gd name="T11" fmla="*/ 313 h 313"/>
                    <a:gd name="T12" fmla="*/ 139 w 139"/>
                    <a:gd name="T13" fmla="*/ 280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9" h="313">
                      <a:moveTo>
                        <a:pt x="139" y="280"/>
                      </a:moveTo>
                      <a:lnTo>
                        <a:pt x="139" y="0"/>
                      </a:lnTo>
                      <a:lnTo>
                        <a:pt x="21" y="0"/>
                      </a:lnTo>
                      <a:lnTo>
                        <a:pt x="0" y="0"/>
                      </a:lnTo>
                      <a:lnTo>
                        <a:pt x="0" y="313"/>
                      </a:lnTo>
                      <a:lnTo>
                        <a:pt x="139" y="313"/>
                      </a:lnTo>
                      <a:lnTo>
                        <a:pt x="139" y="280"/>
                      </a:lnTo>
                    </a:path>
                  </a:pathLst>
                </a:custGeom>
                <a:solidFill>
                  <a:schemeClr val="accent3"/>
                </a:solidFill>
                <a:ln w="31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1" name="Oval 77">
                  <a:extLst>
                    <a:ext uri="{FF2B5EF4-FFF2-40B4-BE49-F238E27FC236}">
                      <a16:creationId xmlns:a16="http://schemas.microsoft.com/office/drawing/2014/main" id="{7A6B2962-1742-40AB-B173-FCC02F421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5963" y="6162676"/>
                  <a:ext cx="65087" cy="68263"/>
                </a:xfrm>
                <a:prstGeom prst="ellipse">
                  <a:avLst/>
                </a:prstGeom>
                <a:solidFill>
                  <a:srgbClr val="FFFFFF"/>
                </a:solidFill>
                <a:ln w="31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2" name="Freeform 78">
                  <a:extLst>
                    <a:ext uri="{FF2B5EF4-FFF2-40B4-BE49-F238E27FC236}">
                      <a16:creationId xmlns:a16="http://schemas.microsoft.com/office/drawing/2014/main" id="{F5848E2E-6672-4334-AE69-B87D6AA7DDB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08563" y="4781551"/>
                  <a:ext cx="887412" cy="842963"/>
                </a:xfrm>
                <a:custGeom>
                  <a:avLst/>
                  <a:gdLst>
                    <a:gd name="T0" fmla="*/ 12 w 208"/>
                    <a:gd name="T1" fmla="*/ 60 h 197"/>
                    <a:gd name="T2" fmla="*/ 65 w 208"/>
                    <a:gd name="T3" fmla="*/ 10 h 197"/>
                    <a:gd name="T4" fmla="*/ 138 w 208"/>
                    <a:gd name="T5" fmla="*/ 11 h 197"/>
                    <a:gd name="T6" fmla="*/ 189 w 208"/>
                    <a:gd name="T7" fmla="*/ 64 h 197"/>
                    <a:gd name="T8" fmla="*/ 133 w 208"/>
                    <a:gd name="T9" fmla="*/ 188 h 197"/>
                    <a:gd name="T10" fmla="*/ 60 w 208"/>
                    <a:gd name="T11" fmla="*/ 186 h 197"/>
                    <a:gd name="T12" fmla="*/ 9 w 208"/>
                    <a:gd name="T13" fmla="*/ 133 h 197"/>
                    <a:gd name="T14" fmla="*/ 12 w 208"/>
                    <a:gd name="T15" fmla="*/ 60 h 197"/>
                    <a:gd name="T16" fmla="*/ 67 w 208"/>
                    <a:gd name="T17" fmla="*/ 169 h 197"/>
                    <a:gd name="T18" fmla="*/ 127 w 208"/>
                    <a:gd name="T19" fmla="*/ 171 h 197"/>
                    <a:gd name="T20" fmla="*/ 173 w 208"/>
                    <a:gd name="T21" fmla="*/ 71 h 197"/>
                    <a:gd name="T22" fmla="*/ 132 w 208"/>
                    <a:gd name="T23" fmla="*/ 27 h 197"/>
                    <a:gd name="T24" fmla="*/ 72 w 208"/>
                    <a:gd name="T25" fmla="*/ 26 h 197"/>
                    <a:gd name="T26" fmla="*/ 28 w 208"/>
                    <a:gd name="T27" fmla="*/ 67 h 197"/>
                    <a:gd name="T28" fmla="*/ 26 w 208"/>
                    <a:gd name="T29" fmla="*/ 126 h 197"/>
                    <a:gd name="T30" fmla="*/ 67 w 208"/>
                    <a:gd name="T31" fmla="*/ 169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08" h="197">
                      <a:moveTo>
                        <a:pt x="12" y="60"/>
                      </a:moveTo>
                      <a:cubicBezTo>
                        <a:pt x="22" y="36"/>
                        <a:pt x="41" y="18"/>
                        <a:pt x="65" y="10"/>
                      </a:cubicBezTo>
                      <a:cubicBezTo>
                        <a:pt x="89" y="0"/>
                        <a:pt x="115" y="1"/>
                        <a:pt x="138" y="11"/>
                      </a:cubicBezTo>
                      <a:cubicBezTo>
                        <a:pt x="162" y="22"/>
                        <a:pt x="180" y="41"/>
                        <a:pt x="189" y="64"/>
                      </a:cubicBezTo>
                      <a:cubicBezTo>
                        <a:pt x="208" y="113"/>
                        <a:pt x="183" y="169"/>
                        <a:pt x="133" y="188"/>
                      </a:cubicBezTo>
                      <a:cubicBezTo>
                        <a:pt x="109" y="197"/>
                        <a:pt x="84" y="196"/>
                        <a:pt x="60" y="186"/>
                      </a:cubicBezTo>
                      <a:cubicBezTo>
                        <a:pt x="37" y="175"/>
                        <a:pt x="19" y="157"/>
                        <a:pt x="9" y="133"/>
                      </a:cubicBezTo>
                      <a:cubicBezTo>
                        <a:pt x="0" y="109"/>
                        <a:pt x="1" y="83"/>
                        <a:pt x="12" y="60"/>
                      </a:cubicBezTo>
                      <a:close/>
                      <a:moveTo>
                        <a:pt x="67" y="169"/>
                      </a:moveTo>
                      <a:cubicBezTo>
                        <a:pt x="86" y="178"/>
                        <a:pt x="108" y="179"/>
                        <a:pt x="127" y="171"/>
                      </a:cubicBezTo>
                      <a:cubicBezTo>
                        <a:pt x="167" y="156"/>
                        <a:pt x="188" y="111"/>
                        <a:pt x="173" y="71"/>
                      </a:cubicBezTo>
                      <a:cubicBezTo>
                        <a:pt x="165" y="51"/>
                        <a:pt x="150" y="36"/>
                        <a:pt x="132" y="27"/>
                      </a:cubicBezTo>
                      <a:cubicBezTo>
                        <a:pt x="112" y="19"/>
                        <a:pt x="90" y="18"/>
                        <a:pt x="72" y="26"/>
                      </a:cubicBezTo>
                      <a:cubicBezTo>
                        <a:pt x="52" y="33"/>
                        <a:pt x="37" y="48"/>
                        <a:pt x="28" y="67"/>
                      </a:cubicBezTo>
                      <a:cubicBezTo>
                        <a:pt x="19" y="86"/>
                        <a:pt x="19" y="106"/>
                        <a:pt x="26" y="126"/>
                      </a:cubicBezTo>
                      <a:cubicBezTo>
                        <a:pt x="33" y="146"/>
                        <a:pt x="48" y="161"/>
                        <a:pt x="67" y="16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3175" cap="flat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3" name="Freeform 79">
                  <a:extLst>
                    <a:ext uri="{FF2B5EF4-FFF2-40B4-BE49-F238E27FC236}">
                      <a16:creationId xmlns:a16="http://schemas.microsoft.com/office/drawing/2014/main" id="{FE4F3C9C-35E6-42BA-9405-8D17EEFBF5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3188" y="5556251"/>
                  <a:ext cx="133350" cy="106363"/>
                </a:xfrm>
                <a:custGeom>
                  <a:avLst/>
                  <a:gdLst>
                    <a:gd name="T0" fmla="*/ 31 w 31"/>
                    <a:gd name="T1" fmla="*/ 10 h 25"/>
                    <a:gd name="T2" fmla="*/ 18 w 31"/>
                    <a:gd name="T3" fmla="*/ 6 h 25"/>
                    <a:gd name="T4" fmla="*/ 6 w 31"/>
                    <a:gd name="T5" fmla="*/ 0 h 25"/>
                    <a:gd name="T6" fmla="*/ 0 w 31"/>
                    <a:gd name="T7" fmla="*/ 14 h 25"/>
                    <a:gd name="T8" fmla="*/ 24 w 31"/>
                    <a:gd name="T9" fmla="*/ 25 h 25"/>
                    <a:gd name="T10" fmla="*/ 31 w 31"/>
                    <a:gd name="T11" fmla="*/ 1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" h="25">
                      <a:moveTo>
                        <a:pt x="31" y="10"/>
                      </a:moveTo>
                      <a:cubicBezTo>
                        <a:pt x="26" y="10"/>
                        <a:pt x="23" y="8"/>
                        <a:pt x="18" y="6"/>
                      </a:cubicBezTo>
                      <a:cubicBezTo>
                        <a:pt x="14" y="4"/>
                        <a:pt x="10" y="2"/>
                        <a:pt x="6" y="0"/>
                      </a:cubicBezTo>
                      <a:cubicBezTo>
                        <a:pt x="5" y="5"/>
                        <a:pt x="2" y="10"/>
                        <a:pt x="0" y="14"/>
                      </a:cubicBezTo>
                      <a:cubicBezTo>
                        <a:pt x="24" y="25"/>
                        <a:pt x="24" y="25"/>
                        <a:pt x="24" y="25"/>
                      </a:cubicBezTo>
                      <a:cubicBezTo>
                        <a:pt x="26" y="20"/>
                        <a:pt x="28" y="15"/>
                        <a:pt x="31" y="1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3175" cap="flat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4" name="Freeform 80">
                  <a:extLst>
                    <a:ext uri="{FF2B5EF4-FFF2-40B4-BE49-F238E27FC236}">
                      <a16:creationId xmlns:a16="http://schemas.microsoft.com/office/drawing/2014/main" id="{A100E469-5D98-422A-9078-6909974565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81638" y="5119688"/>
                  <a:ext cx="277812" cy="115888"/>
                </a:xfrm>
                <a:custGeom>
                  <a:avLst/>
                  <a:gdLst>
                    <a:gd name="T0" fmla="*/ 3 w 175"/>
                    <a:gd name="T1" fmla="*/ 73 h 73"/>
                    <a:gd name="T2" fmla="*/ 0 w 175"/>
                    <a:gd name="T3" fmla="*/ 65 h 73"/>
                    <a:gd name="T4" fmla="*/ 172 w 175"/>
                    <a:gd name="T5" fmla="*/ 0 h 73"/>
                    <a:gd name="T6" fmla="*/ 175 w 175"/>
                    <a:gd name="T7" fmla="*/ 8 h 73"/>
                    <a:gd name="T8" fmla="*/ 3 w 175"/>
                    <a:gd name="T9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5" h="73">
                      <a:moveTo>
                        <a:pt x="3" y="73"/>
                      </a:moveTo>
                      <a:lnTo>
                        <a:pt x="0" y="65"/>
                      </a:lnTo>
                      <a:lnTo>
                        <a:pt x="172" y="0"/>
                      </a:lnTo>
                      <a:lnTo>
                        <a:pt x="175" y="8"/>
                      </a:lnTo>
                      <a:lnTo>
                        <a:pt x="3" y="7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5" name="Freeform 81">
                  <a:extLst>
                    <a:ext uri="{FF2B5EF4-FFF2-40B4-BE49-F238E27FC236}">
                      <a16:creationId xmlns:a16="http://schemas.microsoft.com/office/drawing/2014/main" id="{54641132-F999-4C00-B46F-F13CF65F4C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43513" y="5033963"/>
                  <a:ext cx="482600" cy="201613"/>
                </a:xfrm>
                <a:custGeom>
                  <a:avLst/>
                  <a:gdLst>
                    <a:gd name="T0" fmla="*/ 3 w 304"/>
                    <a:gd name="T1" fmla="*/ 127 h 127"/>
                    <a:gd name="T2" fmla="*/ 0 w 304"/>
                    <a:gd name="T3" fmla="*/ 119 h 127"/>
                    <a:gd name="T4" fmla="*/ 301 w 304"/>
                    <a:gd name="T5" fmla="*/ 0 h 127"/>
                    <a:gd name="T6" fmla="*/ 304 w 304"/>
                    <a:gd name="T7" fmla="*/ 8 h 127"/>
                    <a:gd name="T8" fmla="*/ 3 w 304"/>
                    <a:gd name="T9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4" h="127">
                      <a:moveTo>
                        <a:pt x="3" y="127"/>
                      </a:moveTo>
                      <a:lnTo>
                        <a:pt x="0" y="119"/>
                      </a:lnTo>
                      <a:lnTo>
                        <a:pt x="301" y="0"/>
                      </a:lnTo>
                      <a:lnTo>
                        <a:pt x="304" y="8"/>
                      </a:lnTo>
                      <a:lnTo>
                        <a:pt x="3" y="12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6" name="Freeform 82">
                  <a:extLst>
                    <a:ext uri="{FF2B5EF4-FFF2-40B4-BE49-F238E27FC236}">
                      <a16:creationId xmlns:a16="http://schemas.microsoft.com/office/drawing/2014/main" id="{C4E3F2F4-C1E0-4448-A3BC-C6462FB655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1750" y="5607051"/>
                  <a:ext cx="204787" cy="103188"/>
                </a:xfrm>
                <a:custGeom>
                  <a:avLst/>
                  <a:gdLst>
                    <a:gd name="T0" fmla="*/ 41 w 48"/>
                    <a:gd name="T1" fmla="*/ 13 h 24"/>
                    <a:gd name="T2" fmla="*/ 18 w 48"/>
                    <a:gd name="T3" fmla="*/ 3 h 24"/>
                    <a:gd name="T4" fmla="*/ 17 w 48"/>
                    <a:gd name="T5" fmla="*/ 2 h 24"/>
                    <a:gd name="T6" fmla="*/ 11 w 48"/>
                    <a:gd name="T7" fmla="*/ 0 h 24"/>
                    <a:gd name="T8" fmla="*/ 0 w 48"/>
                    <a:gd name="T9" fmla="*/ 24 h 24"/>
                    <a:gd name="T10" fmla="*/ 18 w 48"/>
                    <a:gd name="T11" fmla="*/ 24 h 24"/>
                    <a:gd name="T12" fmla="*/ 41 w 48"/>
                    <a:gd name="T13" fmla="*/ 24 h 24"/>
                    <a:gd name="T14" fmla="*/ 44 w 48"/>
                    <a:gd name="T15" fmla="*/ 24 h 24"/>
                    <a:gd name="T16" fmla="*/ 48 w 48"/>
                    <a:gd name="T17" fmla="*/ 16 h 24"/>
                    <a:gd name="T18" fmla="*/ 41 w 48"/>
                    <a:gd name="T19" fmla="*/ 13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8" h="24">
                      <a:moveTo>
                        <a:pt x="41" y="13"/>
                      </a:moveTo>
                      <a:cubicBezTo>
                        <a:pt x="18" y="3"/>
                        <a:pt x="18" y="3"/>
                        <a:pt x="18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5" y="24"/>
                        <a:pt x="11" y="24"/>
                        <a:pt x="18" y="24"/>
                      </a:cubicBezTo>
                      <a:cubicBezTo>
                        <a:pt x="24" y="24"/>
                        <a:pt x="32" y="24"/>
                        <a:pt x="41" y="24"/>
                      </a:cubicBezTo>
                      <a:cubicBezTo>
                        <a:pt x="42" y="24"/>
                        <a:pt x="43" y="24"/>
                        <a:pt x="44" y="24"/>
                      </a:cubicBezTo>
                      <a:cubicBezTo>
                        <a:pt x="48" y="16"/>
                        <a:pt x="48" y="16"/>
                        <a:pt x="48" y="16"/>
                      </a:cubicBezTo>
                      <a:lnTo>
                        <a:pt x="41" y="1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3175" cap="flat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7" name="Freeform 83">
                  <a:extLst>
                    <a:ext uri="{FF2B5EF4-FFF2-40B4-BE49-F238E27FC236}">
                      <a16:creationId xmlns:a16="http://schemas.microsoft.com/office/drawing/2014/main" id="{D5A30A78-23C8-4702-BC08-4AB3CB055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513" y="5589588"/>
                  <a:ext cx="649287" cy="633413"/>
                </a:xfrm>
                <a:custGeom>
                  <a:avLst/>
                  <a:gdLst>
                    <a:gd name="T0" fmla="*/ 152 w 152"/>
                    <a:gd name="T1" fmla="*/ 73 h 148"/>
                    <a:gd name="T2" fmla="*/ 137 w 152"/>
                    <a:gd name="T3" fmla="*/ 58 h 148"/>
                    <a:gd name="T4" fmla="*/ 130 w 152"/>
                    <a:gd name="T5" fmla="*/ 58 h 148"/>
                    <a:gd name="T6" fmla="*/ 143 w 152"/>
                    <a:gd name="T7" fmla="*/ 43 h 148"/>
                    <a:gd name="T8" fmla="*/ 132 w 152"/>
                    <a:gd name="T9" fmla="*/ 28 h 148"/>
                    <a:gd name="T10" fmla="*/ 129 w 152"/>
                    <a:gd name="T11" fmla="*/ 28 h 148"/>
                    <a:gd name="T12" fmla="*/ 106 w 152"/>
                    <a:gd name="T13" fmla="*/ 28 h 148"/>
                    <a:gd name="T14" fmla="*/ 88 w 152"/>
                    <a:gd name="T15" fmla="*/ 28 h 148"/>
                    <a:gd name="T16" fmla="*/ 99 w 152"/>
                    <a:gd name="T17" fmla="*/ 4 h 148"/>
                    <a:gd name="T18" fmla="*/ 105 w 152"/>
                    <a:gd name="T19" fmla="*/ 6 h 148"/>
                    <a:gd name="T20" fmla="*/ 106 w 152"/>
                    <a:gd name="T21" fmla="*/ 7 h 148"/>
                    <a:gd name="T22" fmla="*/ 106 w 152"/>
                    <a:gd name="T23" fmla="*/ 0 h 148"/>
                    <a:gd name="T24" fmla="*/ 74 w 152"/>
                    <a:gd name="T25" fmla="*/ 0 h 148"/>
                    <a:gd name="T26" fmla="*/ 61 w 152"/>
                    <a:gd name="T27" fmla="*/ 0 h 148"/>
                    <a:gd name="T28" fmla="*/ 12 w 152"/>
                    <a:gd name="T29" fmla="*/ 42 h 148"/>
                    <a:gd name="T30" fmla="*/ 2 w 152"/>
                    <a:gd name="T31" fmla="*/ 60 h 148"/>
                    <a:gd name="T32" fmla="*/ 0 w 152"/>
                    <a:gd name="T33" fmla="*/ 60 h 148"/>
                    <a:gd name="T34" fmla="*/ 0 w 152"/>
                    <a:gd name="T35" fmla="*/ 132 h 148"/>
                    <a:gd name="T36" fmla="*/ 9 w 152"/>
                    <a:gd name="T37" fmla="*/ 132 h 148"/>
                    <a:gd name="T38" fmla="*/ 35 w 152"/>
                    <a:gd name="T39" fmla="*/ 147 h 148"/>
                    <a:gd name="T40" fmla="*/ 41 w 152"/>
                    <a:gd name="T41" fmla="*/ 148 h 148"/>
                    <a:gd name="T42" fmla="*/ 80 w 152"/>
                    <a:gd name="T43" fmla="*/ 148 h 148"/>
                    <a:gd name="T44" fmla="*/ 108 w 152"/>
                    <a:gd name="T45" fmla="*/ 148 h 148"/>
                    <a:gd name="T46" fmla="*/ 123 w 152"/>
                    <a:gd name="T47" fmla="*/ 148 h 148"/>
                    <a:gd name="T48" fmla="*/ 137 w 152"/>
                    <a:gd name="T49" fmla="*/ 133 h 148"/>
                    <a:gd name="T50" fmla="*/ 127 w 152"/>
                    <a:gd name="T51" fmla="*/ 118 h 148"/>
                    <a:gd name="T52" fmla="*/ 130 w 152"/>
                    <a:gd name="T53" fmla="*/ 118 h 148"/>
                    <a:gd name="T54" fmla="*/ 145 w 152"/>
                    <a:gd name="T55" fmla="*/ 103 h 148"/>
                    <a:gd name="T56" fmla="*/ 130 w 152"/>
                    <a:gd name="T57" fmla="*/ 88 h 148"/>
                    <a:gd name="T58" fmla="*/ 137 w 152"/>
                    <a:gd name="T59" fmla="*/ 88 h 148"/>
                    <a:gd name="T60" fmla="*/ 152 w 152"/>
                    <a:gd name="T61" fmla="*/ 73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52" h="148">
                      <a:moveTo>
                        <a:pt x="152" y="73"/>
                      </a:moveTo>
                      <a:cubicBezTo>
                        <a:pt x="152" y="64"/>
                        <a:pt x="146" y="58"/>
                        <a:pt x="137" y="58"/>
                      </a:cubicBezTo>
                      <a:cubicBezTo>
                        <a:pt x="130" y="58"/>
                        <a:pt x="130" y="58"/>
                        <a:pt x="130" y="58"/>
                      </a:cubicBezTo>
                      <a:cubicBezTo>
                        <a:pt x="136" y="58"/>
                        <a:pt x="143" y="51"/>
                        <a:pt x="143" y="43"/>
                      </a:cubicBezTo>
                      <a:cubicBezTo>
                        <a:pt x="143" y="36"/>
                        <a:pt x="138" y="30"/>
                        <a:pt x="132" y="28"/>
                      </a:cubicBezTo>
                      <a:cubicBezTo>
                        <a:pt x="131" y="28"/>
                        <a:pt x="130" y="28"/>
                        <a:pt x="129" y="28"/>
                      </a:cubicBezTo>
                      <a:cubicBezTo>
                        <a:pt x="120" y="28"/>
                        <a:pt x="112" y="28"/>
                        <a:pt x="106" y="28"/>
                      </a:cubicBezTo>
                      <a:cubicBezTo>
                        <a:pt x="99" y="28"/>
                        <a:pt x="93" y="28"/>
                        <a:pt x="88" y="28"/>
                      </a:cubicBezTo>
                      <a:cubicBezTo>
                        <a:pt x="99" y="4"/>
                        <a:pt x="99" y="4"/>
                        <a:pt x="99" y="4"/>
                      </a:cubicBezTo>
                      <a:cubicBezTo>
                        <a:pt x="105" y="6"/>
                        <a:pt x="105" y="6"/>
                        <a:pt x="105" y="6"/>
                      </a:cubicBezTo>
                      <a:cubicBezTo>
                        <a:pt x="106" y="7"/>
                        <a:pt x="106" y="7"/>
                        <a:pt x="106" y="7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cubicBezTo>
                        <a:pt x="90" y="0"/>
                        <a:pt x="80" y="0"/>
                        <a:pt x="74" y="0"/>
                      </a:cubicBezTo>
                      <a:cubicBezTo>
                        <a:pt x="61" y="0"/>
                        <a:pt x="61" y="0"/>
                        <a:pt x="61" y="0"/>
                      </a:cubicBezTo>
                      <a:cubicBezTo>
                        <a:pt x="12" y="42"/>
                        <a:pt x="12" y="42"/>
                        <a:pt x="12" y="42"/>
                      </a:cubicBezTo>
                      <a:cubicBezTo>
                        <a:pt x="7" y="47"/>
                        <a:pt x="2" y="60"/>
                        <a:pt x="2" y="60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0" y="132"/>
                        <a:pt x="0" y="132"/>
                        <a:pt x="0" y="132"/>
                      </a:cubicBezTo>
                      <a:cubicBezTo>
                        <a:pt x="4" y="132"/>
                        <a:pt x="9" y="132"/>
                        <a:pt x="9" y="132"/>
                      </a:cubicBezTo>
                      <a:cubicBezTo>
                        <a:pt x="16" y="140"/>
                        <a:pt x="25" y="146"/>
                        <a:pt x="35" y="147"/>
                      </a:cubicBezTo>
                      <a:cubicBezTo>
                        <a:pt x="37" y="148"/>
                        <a:pt x="39" y="148"/>
                        <a:pt x="41" y="148"/>
                      </a:cubicBezTo>
                      <a:cubicBezTo>
                        <a:pt x="57" y="148"/>
                        <a:pt x="70" y="148"/>
                        <a:pt x="80" y="148"/>
                      </a:cubicBezTo>
                      <a:cubicBezTo>
                        <a:pt x="108" y="148"/>
                        <a:pt x="108" y="148"/>
                        <a:pt x="108" y="148"/>
                      </a:cubicBezTo>
                      <a:cubicBezTo>
                        <a:pt x="123" y="148"/>
                        <a:pt x="123" y="148"/>
                        <a:pt x="123" y="148"/>
                      </a:cubicBezTo>
                      <a:cubicBezTo>
                        <a:pt x="131" y="148"/>
                        <a:pt x="137" y="141"/>
                        <a:pt x="137" y="133"/>
                      </a:cubicBezTo>
                      <a:cubicBezTo>
                        <a:pt x="137" y="124"/>
                        <a:pt x="135" y="118"/>
                        <a:pt x="127" y="118"/>
                      </a:cubicBezTo>
                      <a:cubicBezTo>
                        <a:pt x="130" y="118"/>
                        <a:pt x="130" y="118"/>
                        <a:pt x="130" y="118"/>
                      </a:cubicBezTo>
                      <a:cubicBezTo>
                        <a:pt x="138" y="118"/>
                        <a:pt x="145" y="111"/>
                        <a:pt x="145" y="103"/>
                      </a:cubicBezTo>
                      <a:cubicBezTo>
                        <a:pt x="145" y="94"/>
                        <a:pt x="138" y="88"/>
                        <a:pt x="130" y="88"/>
                      </a:cubicBezTo>
                      <a:cubicBezTo>
                        <a:pt x="137" y="88"/>
                        <a:pt x="137" y="88"/>
                        <a:pt x="137" y="88"/>
                      </a:cubicBezTo>
                      <a:cubicBezTo>
                        <a:pt x="146" y="88"/>
                        <a:pt x="152" y="81"/>
                        <a:pt x="152" y="7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3175" cap="flat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08" name="Freeform 84">
                  <a:extLst>
                    <a:ext uri="{FF2B5EF4-FFF2-40B4-BE49-F238E27FC236}">
                      <a16:creationId xmlns:a16="http://schemas.microsoft.com/office/drawing/2014/main" id="{6A25871B-CF8B-40E9-8175-A8B8F03697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8700" y="6218238"/>
                  <a:ext cx="238125" cy="192088"/>
                </a:xfrm>
                <a:custGeom>
                  <a:avLst/>
                  <a:gdLst>
                    <a:gd name="T0" fmla="*/ 11 w 56"/>
                    <a:gd name="T1" fmla="*/ 0 h 45"/>
                    <a:gd name="T2" fmla="*/ 4 w 56"/>
                    <a:gd name="T3" fmla="*/ 17 h 45"/>
                    <a:gd name="T4" fmla="*/ 40 w 56"/>
                    <a:gd name="T5" fmla="*/ 37 h 45"/>
                    <a:gd name="T6" fmla="*/ 56 w 56"/>
                    <a:gd name="T7" fmla="*/ 1 h 45"/>
                    <a:gd name="T8" fmla="*/ 17 w 56"/>
                    <a:gd name="T9" fmla="*/ 1 h 45"/>
                    <a:gd name="T10" fmla="*/ 11 w 56"/>
                    <a:gd name="T11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" h="45">
                      <a:moveTo>
                        <a:pt x="11" y="0"/>
                      </a:move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0" y="37"/>
                        <a:pt x="30" y="45"/>
                        <a:pt x="40" y="37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46" y="1"/>
                        <a:pt x="33" y="1"/>
                        <a:pt x="17" y="1"/>
                      </a:cubicBezTo>
                      <a:cubicBezTo>
                        <a:pt x="15" y="1"/>
                        <a:pt x="13" y="1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3175" cap="flat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62F7505-0E16-46CE-92EC-7B9EA1595B61}"/>
                </a:ext>
              </a:extLst>
            </p:cNvPr>
            <p:cNvSpPr/>
            <p:nvPr/>
          </p:nvSpPr>
          <p:spPr>
            <a:xfrm>
              <a:off x="2181722" y="1955814"/>
              <a:ext cx="97943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02060"/>
                  </a:solidFill>
                </a:rPr>
                <a:t>Data-readiness</a:t>
              </a:r>
              <a:br>
                <a:rPr lang="en-US" sz="1000" dirty="0">
                  <a:solidFill>
                    <a:srgbClr val="002060"/>
                  </a:solidFill>
                </a:rPr>
              </a:br>
              <a:r>
                <a:rPr lang="en-US" sz="1000" dirty="0">
                  <a:solidFill>
                    <a:srgbClr val="002060"/>
                  </a:solidFill>
                </a:rPr>
                <a:t>assessment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7ED92E59-DA99-48A2-B9D0-76C529BDE9D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457615" y="2226607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354C4B6-18C8-4635-BBC4-D6C1D5EDE21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18212" y="2238378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5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44AAE3C1-56C8-48F5-912B-A523A831F6C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519849" y="4493039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1FD29D8D-A479-4166-A37A-DA503185224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166056" y="5349602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6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D6F1AE7-0488-4ED9-ABBE-4796CEC8C67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176372" y="2348435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2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DAF1BA71-1EEC-4351-8F4F-6C19FD96870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09865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4DC128DF-9C3C-44DF-BDD7-E956B22F9EE1}"/>
                </a:ext>
              </a:extLst>
            </p:cNvPr>
            <p:cNvSpPr txBox="1"/>
            <p:nvPr/>
          </p:nvSpPr>
          <p:spPr>
            <a:xfrm>
              <a:off x="899176" y="6113590"/>
              <a:ext cx="1067084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Data readiness assessment</a:t>
              </a: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9B339505-2F83-4167-90D4-1E6CEBFF1F0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167035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77D1B319-380A-47EB-9FA4-8DC0EE6F2A4E}"/>
                </a:ext>
              </a:extLst>
            </p:cNvPr>
            <p:cNvSpPr txBox="1"/>
            <p:nvPr/>
          </p:nvSpPr>
          <p:spPr>
            <a:xfrm>
              <a:off x="2578088" y="6113590"/>
              <a:ext cx="130488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 smtClean="0"/>
                <a:t>iCAPDQ SAP IS  solution</a:t>
              </a:r>
              <a:endParaRPr lang="en-US" dirty="0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E9B92138-4C8A-4E68-A2A6-24682968DFC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964730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7672F115-EAFA-453D-B612-5812EAD50522}"/>
                </a:ext>
              </a:extLst>
            </p:cNvPr>
            <p:cNvSpPr txBox="1"/>
            <p:nvPr/>
          </p:nvSpPr>
          <p:spPr>
            <a:xfrm>
              <a:off x="4329063" y="6113590"/>
              <a:ext cx="128180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/>
                <a:t>Migration objects </a:t>
              </a:r>
              <a:br>
                <a:rPr lang="en-US" dirty="0"/>
              </a:br>
              <a:r>
                <a:rPr lang="en-US" dirty="0"/>
                <a:t>by industry path</a:t>
              </a: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C4C9425-D306-4804-8389-5C8DE33C967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756912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DAB1726-9812-4234-BD04-72E23CB3FD7B}"/>
                </a:ext>
              </a:extLst>
            </p:cNvPr>
            <p:cNvSpPr txBox="1"/>
            <p:nvPr/>
          </p:nvSpPr>
          <p:spPr>
            <a:xfrm>
              <a:off x="6118098" y="6113590"/>
              <a:ext cx="1792827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/>
                <a:t>Automated Load program generation tailored to data objects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4CCF84B-68F1-4BC7-BBF1-160D70C7988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047422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5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62D92071-F1D1-4BB7-8BC1-1D345AB7954F}"/>
                </a:ext>
              </a:extLst>
            </p:cNvPr>
            <p:cNvSpPr txBox="1"/>
            <p:nvPr/>
          </p:nvSpPr>
          <p:spPr>
            <a:xfrm>
              <a:off x="8437208" y="6113590"/>
              <a:ext cx="119776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/>
                <a:t>DQ and profiling dashboards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4DAAC875-06BA-4375-953C-1389D36C4CE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00141" y="6113590"/>
              <a:ext cx="308024" cy="290685"/>
            </a:xfrm>
            <a:prstGeom prst="ellipse">
              <a:avLst/>
            </a:prstGeom>
            <a:solidFill>
              <a:schemeClr val="accent4"/>
            </a:solidFill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94791" tIns="75832" rIns="94791" bIns="75832" rtlCol="0" anchor="ctr"/>
            <a:lstStyle/>
            <a:p>
              <a:pPr algn="ctr" defTabSz="962958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00" b="1" kern="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6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4178A0E8-C8AD-4BE3-BFF6-4B800B6B2D60}"/>
                </a:ext>
              </a:extLst>
            </p:cNvPr>
            <p:cNvSpPr txBox="1"/>
            <p:nvPr/>
          </p:nvSpPr>
          <p:spPr>
            <a:xfrm>
              <a:off x="10210322" y="6113590"/>
              <a:ext cx="1600678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/>
                <a:t>Data reconciliation automation</a:t>
              </a:r>
            </a:p>
          </p:txBody>
        </p: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C83E5193-335E-43F3-AE10-B13E48FD924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" y="5992892"/>
              <a:ext cx="11296385" cy="26763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D31A63E-B48F-4055-A90E-80C9FC2D5F6A}"/>
                </a:ext>
              </a:extLst>
            </p:cNvPr>
            <p:cNvSpPr txBox="1"/>
            <p:nvPr/>
          </p:nvSpPr>
          <p:spPr>
            <a:xfrm>
              <a:off x="2264083" y="3563473"/>
              <a:ext cx="664161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pt-PT"/>
              </a:defPPr>
              <a:lvl1pPr>
                <a:defRPr sz="1100"/>
              </a:lvl1pPr>
            </a:lstStyle>
            <a:p>
              <a:r>
                <a:rPr lang="en-US" dirty="0"/>
                <a:t>Extract and profile</a:t>
              </a: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0B44D6B7-F1C4-45F5-8BF9-09ECC1ACC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1784568" y="3580748"/>
              <a:ext cx="455407" cy="455407"/>
            </a:xfrm>
            <a:prstGeom prst="rect">
              <a:avLst/>
            </a:prstGeom>
          </p:spPr>
        </p:pic>
        <p:pic>
          <p:nvPicPr>
            <p:cNvPr id="235" name="Graphic 234">
              <a:extLst>
                <a:ext uri="{FF2B5EF4-FFF2-40B4-BE49-F238E27FC236}">
                  <a16:creationId xmlns:a16="http://schemas.microsoft.com/office/drawing/2014/main" id="{DD6C3415-00E1-4150-8F3F-4D9BFD792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8396619" y="5360205"/>
              <a:ext cx="455407" cy="455407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8000DB-4C84-4D8E-B914-F618C822ACCC}"/>
              </a:ext>
            </a:extLst>
          </p:cNvPr>
          <p:cNvSpPr/>
          <p:nvPr/>
        </p:nvSpPr>
        <p:spPr>
          <a:xfrm>
            <a:off x="228600" y="837050"/>
            <a:ext cx="11734800" cy="5563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20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6007" y="2172081"/>
            <a:ext cx="19189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45" dirty="0">
                <a:solidFill>
                  <a:srgbClr val="000000"/>
                </a:solidFill>
                <a:latin typeface="Microsoft Sans Serif"/>
                <a:cs typeface="Microsoft Sans Serif"/>
              </a:rPr>
              <a:t>Tha</a:t>
            </a:r>
            <a:r>
              <a:rPr spc="-425" dirty="0">
                <a:solidFill>
                  <a:srgbClr val="000000"/>
                </a:solidFill>
                <a:latin typeface="Microsoft Sans Serif"/>
                <a:cs typeface="Microsoft Sans Serif"/>
              </a:rPr>
              <a:t>n</a:t>
            </a:r>
            <a:r>
              <a:rPr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k </a:t>
            </a:r>
            <a:r>
              <a:rPr spc="-780" dirty="0">
                <a:solidFill>
                  <a:srgbClr val="000000"/>
                </a:solidFill>
                <a:latin typeface="Microsoft Sans Serif"/>
                <a:cs typeface="Microsoft Sans Serif"/>
              </a:rPr>
              <a:t>Y</a:t>
            </a:r>
            <a:r>
              <a:rPr spc="-375" dirty="0">
                <a:solidFill>
                  <a:srgbClr val="000000"/>
                </a:solidFill>
                <a:latin typeface="Microsoft Sans Serif"/>
                <a:cs typeface="Microsoft Sans Serif"/>
              </a:rPr>
              <a:t>ou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32703" y="2965704"/>
            <a:ext cx="927100" cy="927100"/>
            <a:chOff x="5632703" y="2965704"/>
            <a:chExt cx="927100" cy="927100"/>
          </a:xfrm>
        </p:grpSpPr>
        <p:sp>
          <p:nvSpPr>
            <p:cNvPr id="4" name="object 4"/>
            <p:cNvSpPr/>
            <p:nvPr/>
          </p:nvSpPr>
          <p:spPr>
            <a:xfrm>
              <a:off x="5638799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4FF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01943" y="3244596"/>
              <a:ext cx="388620" cy="95250"/>
            </a:xfrm>
            <a:custGeom>
              <a:avLst/>
              <a:gdLst/>
              <a:ahLst/>
              <a:cxnLst/>
              <a:rect l="l" t="t" r="r" b="b"/>
              <a:pathLst>
                <a:path w="388620" h="952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3744" y="66157"/>
                  </a:lnTo>
                  <a:lnTo>
                    <a:pt x="13954" y="81295"/>
                  </a:lnTo>
                  <a:lnTo>
                    <a:pt x="29092" y="91505"/>
                  </a:lnTo>
                  <a:lnTo>
                    <a:pt x="47625" y="95250"/>
                  </a:lnTo>
                  <a:lnTo>
                    <a:pt x="66157" y="91505"/>
                  </a:lnTo>
                  <a:lnTo>
                    <a:pt x="81295" y="81295"/>
                  </a:lnTo>
                  <a:lnTo>
                    <a:pt x="91505" y="66157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  <a:path w="388620" h="95250">
                  <a:moveTo>
                    <a:pt x="340486" y="0"/>
                  </a:moveTo>
                  <a:lnTo>
                    <a:pt x="321954" y="3744"/>
                  </a:lnTo>
                  <a:lnTo>
                    <a:pt x="306816" y="13954"/>
                  </a:lnTo>
                  <a:lnTo>
                    <a:pt x="296606" y="29092"/>
                  </a:lnTo>
                  <a:lnTo>
                    <a:pt x="292861" y="47625"/>
                  </a:lnTo>
                  <a:lnTo>
                    <a:pt x="296606" y="66157"/>
                  </a:lnTo>
                  <a:lnTo>
                    <a:pt x="306816" y="81295"/>
                  </a:lnTo>
                  <a:lnTo>
                    <a:pt x="321954" y="91505"/>
                  </a:lnTo>
                  <a:lnTo>
                    <a:pt x="340486" y="95250"/>
                  </a:lnTo>
                  <a:lnTo>
                    <a:pt x="359019" y="91505"/>
                  </a:lnTo>
                  <a:lnTo>
                    <a:pt x="374157" y="81295"/>
                  </a:lnTo>
                  <a:lnTo>
                    <a:pt x="384367" y="66157"/>
                  </a:lnTo>
                  <a:lnTo>
                    <a:pt x="388111" y="47625"/>
                  </a:lnTo>
                  <a:lnTo>
                    <a:pt x="384367" y="29092"/>
                  </a:lnTo>
                  <a:lnTo>
                    <a:pt x="374157" y="13954"/>
                  </a:lnTo>
                  <a:lnTo>
                    <a:pt x="359019" y="3744"/>
                  </a:lnTo>
                  <a:lnTo>
                    <a:pt x="340486" y="0"/>
                  </a:lnTo>
                  <a:close/>
                </a:path>
              </a:pathLst>
            </a:custGeom>
            <a:solidFill>
              <a:srgbClr val="C4C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5847" y="3238500"/>
              <a:ext cx="107442" cy="1074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709" y="3238500"/>
              <a:ext cx="107442" cy="107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38799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09423" y="656589"/>
                  </a:moveTo>
                  <a:lnTo>
                    <a:pt x="254478" y="684708"/>
                  </a:lnTo>
                  <a:lnTo>
                    <a:pt x="299522" y="707203"/>
                  </a:lnTo>
                  <a:lnTo>
                    <a:pt x="344554" y="724074"/>
                  </a:lnTo>
                  <a:lnTo>
                    <a:pt x="389575" y="735321"/>
                  </a:lnTo>
                  <a:lnTo>
                    <a:pt x="434587" y="740945"/>
                  </a:lnTo>
                  <a:lnTo>
                    <a:pt x="479588" y="740945"/>
                  </a:lnTo>
                  <a:lnTo>
                    <a:pt x="524580" y="735321"/>
                  </a:lnTo>
                  <a:lnTo>
                    <a:pt x="569564" y="724074"/>
                  </a:lnTo>
                  <a:lnTo>
                    <a:pt x="614539" y="707203"/>
                  </a:lnTo>
                  <a:lnTo>
                    <a:pt x="659507" y="684708"/>
                  </a:lnTo>
                  <a:lnTo>
                    <a:pt x="704469" y="656589"/>
                  </a:lnTo>
                </a:path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005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8604E4B921FB4F93D8730230AA0870" ma:contentTypeVersion="14" ma:contentTypeDescription="Create a new document." ma:contentTypeScope="" ma:versionID="c969565bd0441f143c008ea4f71f08fa">
  <xsd:schema xmlns:xsd="http://www.w3.org/2001/XMLSchema" xmlns:xs="http://www.w3.org/2001/XMLSchema" xmlns:p="http://schemas.microsoft.com/office/2006/metadata/properties" xmlns:ns2="b5bd380f-4f72-4d40-8fc8-67f930036d20" xmlns:ns3="dd57703e-8384-4d8b-be02-c5599229607d" targetNamespace="http://schemas.microsoft.com/office/2006/metadata/properties" ma:root="true" ma:fieldsID="43b57f1948bdfaf8442f9e5286e9a92a" ns2:_="" ns3:_="">
    <xsd:import namespace="b5bd380f-4f72-4d40-8fc8-67f930036d20"/>
    <xsd:import namespace="dd57703e-8384-4d8b-be02-c5599229607d"/>
    <xsd:element name="properties">
      <xsd:complexType>
        <xsd:sequence>
          <xsd:element name="documentManagement">
            <xsd:complexType>
              <xsd:all>
                <xsd:element ref="ns2:Level"/>
                <xsd:element ref="ns2:Category"/>
                <xsd:element ref="ns2:Material_x0020_Type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bd380f-4f72-4d40-8fc8-67f930036d20" elementFormDefault="qualified">
    <xsd:import namespace="http://schemas.microsoft.com/office/2006/documentManagement/types"/>
    <xsd:import namespace="http://schemas.microsoft.com/office/infopath/2007/PartnerControls"/>
    <xsd:element name="Level" ma:index="8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9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0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7703e-8384-4d8b-be02-c559922960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b5bd380f-4f72-4d40-8fc8-67f930036d20">Class book</Material_x0020_Type>
    <Category xmlns="b5bd380f-4f72-4d40-8fc8-67f930036d20">Module Artifact</Category>
    <Level xmlns="b5bd380f-4f72-4d40-8fc8-67f930036d20">L1</Level>
  </documentManagement>
</p:properties>
</file>

<file path=customXml/itemProps1.xml><?xml version="1.0" encoding="utf-8"?>
<ds:datastoreItem xmlns:ds="http://schemas.openxmlformats.org/officeDocument/2006/customXml" ds:itemID="{ECC43BF4-59CC-4029-8946-F84B3B659C85}"/>
</file>

<file path=customXml/itemProps2.xml><?xml version="1.0" encoding="utf-8"?>
<ds:datastoreItem xmlns:ds="http://schemas.openxmlformats.org/officeDocument/2006/customXml" ds:itemID="{BCC2440D-F023-4DDD-BD54-DB9F05E410F6}"/>
</file>

<file path=customXml/itemProps3.xml><?xml version="1.0" encoding="utf-8"?>
<ds:datastoreItem xmlns:ds="http://schemas.openxmlformats.org/officeDocument/2006/customXml" ds:itemID="{C46B39BC-8001-4104-AD65-6D19E59DADB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789</Words>
  <Application>Microsoft Office PowerPoint</Application>
  <PresentationFormat>Widescreen</PresentationFormat>
  <Paragraphs>106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MT</vt:lpstr>
      <vt:lpstr>Arial Unicode MS</vt:lpstr>
      <vt:lpstr>Calibri</vt:lpstr>
      <vt:lpstr>Microsoft Sans Serif</vt:lpstr>
      <vt:lpstr>Verdana</vt:lpstr>
      <vt:lpstr>Wingdings</vt:lpstr>
      <vt:lpstr>Office Theme</vt:lpstr>
      <vt:lpstr>TRAINING DAY 4</vt:lpstr>
      <vt:lpstr>AGENDA</vt:lpstr>
      <vt:lpstr>SAP DATA MIGRATION USING BODS</vt:lpstr>
      <vt:lpstr>SAP Data Migration</vt:lpstr>
      <vt:lpstr>What you get with SAP’s Data Migration  solution</vt:lpstr>
      <vt:lpstr>SAP DATA MIGRATION SOLUTION  ANALYSIS &amp; DATA PROFILING</vt:lpstr>
      <vt:lpstr>Data analysis and profiling analyzes data  content, quality, structure and  relationships</vt:lpstr>
      <vt:lpstr>SAP Data Migration solution Extraction</vt:lpstr>
      <vt:lpstr>SAP Data Migration solution Clean</vt:lpstr>
      <vt:lpstr>Data cleansing to ensure the right data  gets migrated</vt:lpstr>
      <vt:lpstr>SAP Data Migration solution Validate</vt:lpstr>
      <vt:lpstr>Data validation from source data to  target data structures</vt:lpstr>
      <vt:lpstr>SAP Data Migration solution  Load</vt:lpstr>
      <vt:lpstr>Efficient loading of cleansed and  validated source data to target system</vt:lpstr>
      <vt:lpstr>SAP Data Migration solution Reconcile</vt:lpstr>
      <vt:lpstr>Reconcile to ensure the data was loaded  correctly and completely</vt:lpstr>
      <vt:lpstr>Visualization of the status of the data  migration</vt:lpstr>
      <vt:lpstr>PowerPoint Presentation</vt:lpstr>
      <vt:lpstr>Rapid Development Solutions</vt:lpstr>
      <vt:lpstr>RDS Content for Data Migration content  provided in SAP Data Services &amp; SAP BI  platform</vt:lpstr>
      <vt:lpstr>RDS Content for Data Migration content  provided in SAP Data Services &amp; SAP BI  platform</vt:lpstr>
      <vt:lpstr>DIFFERENT TYPE OF DATA MIGRATION  PROCESS</vt:lpstr>
      <vt:lpstr>DIFFERENT TYPE OF DATA MIGRATION  PROCESS</vt:lpstr>
      <vt:lpstr>DIFFERENT TYPE OF DATA MIGRATION  PROCESS</vt:lpstr>
      <vt:lpstr>DIFFERENT TYPE OF DATA MIGRATION  PROCESS</vt:lpstr>
      <vt:lpstr>Accelerated S/4HANA data migration powered by DataPath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Sahu, Monika</dc:creator>
  <cp:lastModifiedBy>Mohammad, Fareed</cp:lastModifiedBy>
  <cp:revision>2</cp:revision>
  <dcterms:created xsi:type="dcterms:W3CDTF">2022-01-04T13:20:09Z</dcterms:created>
  <dcterms:modified xsi:type="dcterms:W3CDTF">2022-01-05T15:29:17Z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2022-01-04T00:00:00Z</vt:filetime>
  </property>
  <property fmtid="{D5CDD505-2E9C-101B-9397-08002B2CF9AE}" pid="5" name="ContentTypeId">
    <vt:lpwstr>0x0101008E8604E4B921FB4F93D8730230AA0870</vt:lpwstr>
  </property>
</Properties>
</file>