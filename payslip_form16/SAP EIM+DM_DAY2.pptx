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47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48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3" r:id="rId4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78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0"/>
            <a:ext cx="7065263" cy="6857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1" y="6100571"/>
            <a:ext cx="2286000" cy="5120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48871" y="213486"/>
            <a:ext cx="423672" cy="434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865" y="547242"/>
            <a:ext cx="11396268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5045" y="1441450"/>
            <a:ext cx="10201909" cy="382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5454" y="2618963"/>
            <a:ext cx="4936746" cy="548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7115" algn="l">
              <a:lnSpc>
                <a:spcPct val="119700"/>
              </a:lnSpc>
              <a:spcBef>
                <a:spcPts val="95"/>
              </a:spcBef>
            </a:pPr>
            <a:r>
              <a:rPr sz="3200" b="1" spc="50" dirty="0" smtClean="0">
                <a:solidFill>
                  <a:srgbClr val="006FAC"/>
                </a:solidFill>
                <a:latin typeface="Arial"/>
                <a:cs typeface="Arial"/>
              </a:rPr>
              <a:t>T</a:t>
            </a:r>
            <a:r>
              <a:rPr sz="3200" b="1" dirty="0" smtClean="0">
                <a:solidFill>
                  <a:srgbClr val="006FAC"/>
                </a:solidFill>
                <a:latin typeface="Arial"/>
                <a:cs typeface="Arial"/>
              </a:rPr>
              <a:t>R</a:t>
            </a:r>
            <a:r>
              <a:rPr sz="3200" b="1" spc="60" dirty="0" smtClean="0">
                <a:solidFill>
                  <a:srgbClr val="006FAC"/>
                </a:solidFill>
                <a:latin typeface="Arial"/>
                <a:cs typeface="Arial"/>
              </a:rPr>
              <a:t>AI</a:t>
            </a:r>
            <a:r>
              <a:rPr sz="3200" b="1" spc="80" dirty="0" smtClean="0">
                <a:solidFill>
                  <a:srgbClr val="006FAC"/>
                </a:solidFill>
                <a:latin typeface="Arial"/>
                <a:cs typeface="Arial"/>
              </a:rPr>
              <a:t>N</a:t>
            </a:r>
            <a:r>
              <a:rPr sz="3200" b="1" spc="95" dirty="0" smtClean="0">
                <a:solidFill>
                  <a:srgbClr val="006FAC"/>
                </a:solidFill>
                <a:latin typeface="Arial"/>
                <a:cs typeface="Arial"/>
              </a:rPr>
              <a:t>ING</a:t>
            </a:r>
            <a:r>
              <a:rPr sz="3200" b="1" spc="-130" dirty="0" smtClean="0">
                <a:solidFill>
                  <a:srgbClr val="006FAC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006FAC"/>
                </a:solidFill>
                <a:latin typeface="Arial"/>
                <a:cs typeface="Arial"/>
              </a:rPr>
              <a:t>D</a:t>
            </a:r>
            <a:r>
              <a:rPr sz="3200" b="1" spc="-200" dirty="0">
                <a:solidFill>
                  <a:srgbClr val="006FAC"/>
                </a:solidFill>
                <a:latin typeface="Arial"/>
                <a:cs typeface="Arial"/>
              </a:rPr>
              <a:t>A</a:t>
            </a:r>
            <a:r>
              <a:rPr sz="3200" b="1" spc="-135" dirty="0">
                <a:solidFill>
                  <a:srgbClr val="006FAC"/>
                </a:solidFill>
                <a:latin typeface="Arial"/>
                <a:cs typeface="Arial"/>
              </a:rPr>
              <a:t>Y</a:t>
            </a:r>
            <a:r>
              <a:rPr sz="3200" b="1" spc="-120" dirty="0">
                <a:solidFill>
                  <a:srgbClr val="006FAC"/>
                </a:solidFill>
                <a:latin typeface="Arial"/>
                <a:cs typeface="Arial"/>
              </a:rPr>
              <a:t> </a:t>
            </a:r>
            <a:r>
              <a:rPr sz="3200" b="1" spc="125" dirty="0">
                <a:solidFill>
                  <a:srgbClr val="006FAC"/>
                </a:solidFill>
                <a:latin typeface="Arial"/>
                <a:cs typeface="Arial"/>
              </a:rPr>
              <a:t>2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9766" y="335026"/>
            <a:ext cx="2429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3094" y="1298854"/>
            <a:ext cx="6243320" cy="2309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lang="en-IN" sz="2800" spc="-5" dirty="0" smtClean="0">
                <a:latin typeface="Verdana"/>
                <a:cs typeface="Verdana"/>
              </a:rPr>
              <a:t>BODS Transformations</a:t>
            </a:r>
          </a:p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lang="en-IN" sz="2800" spc="-5" dirty="0" smtClean="0">
                <a:latin typeface="Verdana"/>
                <a:cs typeface="Verdana"/>
              </a:rPr>
              <a:t>Functions</a:t>
            </a:r>
          </a:p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lang="en-IN" sz="2800" spc="-5" dirty="0" smtClean="0">
                <a:latin typeface="Verdana"/>
                <a:cs typeface="Verdana"/>
              </a:rPr>
              <a:t>Scripts</a:t>
            </a:r>
          </a:p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sz="2800" spc="-10" dirty="0" smtClean="0">
                <a:latin typeface="Verdana"/>
                <a:cs typeface="Verdana"/>
              </a:rPr>
              <a:t>Questions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9550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1142" y="282321"/>
            <a:ext cx="3072258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60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BODS</a:t>
            </a:r>
            <a:r>
              <a:rPr sz="2800" spc="-60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60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75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</a:t>
            </a:r>
            <a:r>
              <a:rPr sz="2800" spc="-70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spc="-250" dirty="0">
                <a:solidFill>
                  <a:srgbClr val="006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1675" y="1242822"/>
            <a:ext cx="10054590" cy="4250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767676"/>
                </a:solidFill>
                <a:latin typeface="Times New Roman"/>
                <a:cs typeface="Times New Roman"/>
              </a:rPr>
              <a:t>1.</a:t>
            </a:r>
            <a:r>
              <a:rPr sz="2200" b="1" spc="-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767676"/>
                </a:solidFill>
                <a:latin typeface="Times New Roman"/>
                <a:cs typeface="Times New Roman"/>
              </a:rPr>
              <a:t>QUERY</a:t>
            </a:r>
            <a:r>
              <a:rPr sz="2200" b="1" spc="-10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767676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Retrieves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satisfies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conditions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you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specify.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similar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statement.</a:t>
            </a:r>
            <a:endParaRPr sz="2000" dirty="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operations:</a:t>
            </a: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(filter)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to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sources.</a:t>
            </a: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Join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multiple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</a:t>
            </a:r>
          </a:p>
          <a:p>
            <a:pPr marL="102235" indent="-90170">
              <a:lnSpc>
                <a:spcPct val="100000"/>
              </a:lnSpc>
              <a:spcBef>
                <a:spcPts val="49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-5" dirty="0">
                <a:latin typeface="Times New Roman"/>
                <a:cs typeface="Times New Roman"/>
              </a:rPr>
              <a:t> columns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output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schemas</a:t>
            </a:r>
            <a:endParaRPr sz="2000" dirty="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functions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nesting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un-nesting</a:t>
            </a:r>
          </a:p>
          <a:p>
            <a:pPr marL="102235" indent="-90170">
              <a:lnSpc>
                <a:spcPct val="100000"/>
              </a:lnSpc>
              <a:spcBef>
                <a:spcPts val="49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5" dirty="0">
                <a:latin typeface="Times New Roman"/>
                <a:cs typeface="Times New Roman"/>
              </a:rPr>
              <a:t>Add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 </a:t>
            </a:r>
            <a:r>
              <a:rPr sz="2000" spc="-5" dirty="0">
                <a:latin typeface="Times New Roman"/>
                <a:cs typeface="Times New Roman"/>
              </a:rPr>
              <a:t>columns,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nested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schemas,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schema</a:t>
            </a:r>
            <a:endParaRPr sz="2000" dirty="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9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Assign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primary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columns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3100" y="926609"/>
            <a:ext cx="794054" cy="588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5171" y="3686302"/>
            <a:ext cx="209168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1.1: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Query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227" y="2647188"/>
            <a:ext cx="10695432" cy="7818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785" y="672211"/>
            <a:ext cx="1400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b="1" dirty="0">
                <a:solidFill>
                  <a:srgbClr val="35B8FF"/>
                </a:solidFill>
              </a:rPr>
              <a:t>2.	</a:t>
            </a:r>
            <a:r>
              <a:rPr b="1" spc="-5" dirty="0">
                <a:solidFill>
                  <a:srgbClr val="35B8FF"/>
                </a:solidFill>
                <a:uFill>
                  <a:solidFill>
                    <a:srgbClr val="35B8FF"/>
                  </a:solidFill>
                </a:uFill>
              </a:rPr>
              <a:t>CASE</a:t>
            </a:r>
            <a:r>
              <a:rPr b="1" spc="-85" dirty="0">
                <a:solidFill>
                  <a:srgbClr val="35B8FF"/>
                </a:solidFill>
                <a:uFill>
                  <a:solidFill>
                    <a:srgbClr val="35B8FF"/>
                  </a:solidFill>
                </a:uFill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7785" y="1618310"/>
            <a:ext cx="9111615" cy="382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Transform</a:t>
            </a:r>
            <a:r>
              <a:rPr sz="2000" spc="-5" dirty="0">
                <a:latin typeface="Times New Roman"/>
                <a:cs typeface="Times New Roman"/>
              </a:rPr>
              <a:t> is</a:t>
            </a:r>
            <a:r>
              <a:rPr sz="2000" dirty="0">
                <a:latin typeface="Times New Roman"/>
                <a:cs typeface="Times New Roman"/>
              </a:rPr>
              <a:t> 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row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5" dirty="0">
                <a:latin typeface="Times New Roman"/>
                <a:cs typeface="Times New Roman"/>
              </a:rPr>
              <a:t> outputs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depending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 conditions. Specifies multiple paths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single transform </a:t>
            </a:r>
            <a:r>
              <a:rPr sz="2000" spc="-10" dirty="0">
                <a:latin typeface="Times New Roman"/>
                <a:cs typeface="Times New Roman"/>
              </a:rPr>
              <a:t>(different </a:t>
            </a:r>
            <a:r>
              <a:rPr sz="2000" dirty="0">
                <a:latin typeface="Times New Roman"/>
                <a:cs typeface="Times New Roman"/>
              </a:rPr>
              <a:t>rows are </a:t>
            </a:r>
            <a:r>
              <a:rPr sz="2000" spc="-5" dirty="0">
                <a:latin typeface="Times New Roman"/>
                <a:cs typeface="Times New Roman"/>
              </a:rPr>
              <a:t>processed </a:t>
            </a:r>
            <a:r>
              <a:rPr sz="2000" spc="-20" dirty="0">
                <a:latin typeface="Times New Roman"/>
                <a:cs typeface="Times New Roman"/>
              </a:rPr>
              <a:t>in 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ways).</a:t>
            </a:r>
            <a:endParaRPr sz="2000">
              <a:latin typeface="Times New Roman"/>
              <a:cs typeface="Times New Roman"/>
            </a:endParaRPr>
          </a:p>
          <a:p>
            <a:pPr marL="215265" indent="-203200" algn="just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simplifies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branch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logic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flows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consolidating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decision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Paths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 marL="215900" marR="2912745" indent="-215900" algn="just">
              <a:lnSpc>
                <a:spcPts val="2900"/>
              </a:lnSpc>
              <a:spcBef>
                <a:spcPts val="17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have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load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give: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countries: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US</a:t>
            </a:r>
            <a:endParaRPr sz="2000">
              <a:latin typeface="Times New Roman"/>
              <a:cs typeface="Times New Roman"/>
            </a:endParaRPr>
          </a:p>
          <a:p>
            <a:pPr marL="698500" marR="3098165">
              <a:lnSpc>
                <a:spcPts val="2890"/>
              </a:lnSpc>
              <a:spcBef>
                <a:spcPts val="15"/>
              </a:spcBef>
            </a:pPr>
            <a:r>
              <a:rPr sz="2000" i="1" dirty="0">
                <a:latin typeface="Times New Roman"/>
                <a:cs typeface="Times New Roman"/>
              </a:rPr>
              <a:t>If </a:t>
            </a:r>
            <a:r>
              <a:rPr sz="2000" i="1" spc="-5" dirty="0">
                <a:latin typeface="Times New Roman"/>
                <a:cs typeface="Times New Roman"/>
              </a:rPr>
              <a:t>LOCATION=IN </a:t>
            </a:r>
            <a:r>
              <a:rPr sz="2000" i="1" dirty="0">
                <a:latin typeface="Times New Roman"/>
                <a:cs typeface="Times New Roman"/>
              </a:rPr>
              <a:t>then load the data into IN_EMP 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LOCATION=SG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load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data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into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SG_EMP</a:t>
            </a:r>
            <a:endParaRPr sz="20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330"/>
              </a:spcBef>
            </a:pPr>
            <a:r>
              <a:rPr sz="2000" i="1" dirty="0">
                <a:latin typeface="Times New Roman"/>
                <a:cs typeface="Times New Roman"/>
              </a:rPr>
              <a:t>If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LOCATION=US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load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data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into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US_EMP</a:t>
            </a:r>
            <a:endParaRPr sz="20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505"/>
              </a:spcBef>
              <a:tabLst>
                <a:tab pos="7557134" algn="l"/>
              </a:tabLst>
            </a:pPr>
            <a:r>
              <a:rPr sz="2000" i="1" dirty="0">
                <a:latin typeface="Times New Roman"/>
                <a:cs typeface="Times New Roman"/>
              </a:rPr>
              <a:t>If</a:t>
            </a:r>
            <a:r>
              <a:rPr sz="2000" i="1" spc="-10" dirty="0">
                <a:latin typeface="Times New Roman"/>
                <a:cs typeface="Times New Roman"/>
              </a:rPr>
              <a:t> LOCATION</a:t>
            </a:r>
            <a:r>
              <a:rPr sz="2000" i="1" spc="-5" dirty="0">
                <a:latin typeface="Times New Roman"/>
                <a:cs typeface="Times New Roman"/>
              </a:rPr>
              <a:t> is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other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than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IN,SG </a:t>
            </a:r>
            <a:r>
              <a:rPr sz="2000" i="1" spc="5" dirty="0">
                <a:latin typeface="Times New Roman"/>
                <a:cs typeface="Times New Roman"/>
              </a:rPr>
              <a:t>and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then load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data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into	OTHER_EMP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4392" y="562355"/>
            <a:ext cx="865631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3827" y="656844"/>
            <a:ext cx="8407908" cy="47457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92521" y="5755030"/>
            <a:ext cx="201866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2.1: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Case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4635" y="728217"/>
            <a:ext cx="2711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3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.</a:t>
            </a:r>
            <a:r>
              <a:rPr b="1" spc="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D</a:t>
            </a:r>
            <a:r>
              <a:rPr b="1" spc="-180" dirty="0">
                <a:solidFill>
                  <a:srgbClr val="35B8FF"/>
                </a:solidFill>
                <a:latin typeface="Times New Roman"/>
                <a:cs typeface="Times New Roman"/>
              </a:rPr>
              <a:t>A</a:t>
            </a:r>
            <a:r>
              <a:rPr b="1" spc="-175" dirty="0">
                <a:solidFill>
                  <a:srgbClr val="35B8FF"/>
                </a:solidFill>
                <a:latin typeface="Times New Roman"/>
                <a:cs typeface="Times New Roman"/>
              </a:rPr>
              <a:t>T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A</a:t>
            </a:r>
            <a:r>
              <a:rPr b="1" spc="-14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TRANSFER</a:t>
            </a:r>
            <a:r>
              <a:rPr sz="180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4635" y="1396111"/>
            <a:ext cx="9027795" cy="326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transfer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extensively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optimize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performance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job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pushing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down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level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level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Data </a:t>
            </a:r>
            <a:r>
              <a:rPr sz="2000" spc="-5" dirty="0">
                <a:latin typeface="Times New Roman"/>
                <a:cs typeface="Times New Roman"/>
              </a:rPr>
              <a:t>transfer </a:t>
            </a:r>
            <a:r>
              <a:rPr sz="2000" spc="-10" dirty="0">
                <a:latin typeface="Times New Roman"/>
                <a:cs typeface="Times New Roman"/>
              </a:rPr>
              <a:t>transformation </a:t>
            </a:r>
            <a:r>
              <a:rPr sz="2000" spc="-5" dirty="0">
                <a:latin typeface="Times New Roman"/>
                <a:cs typeface="Times New Roman"/>
              </a:rPr>
              <a:t>insures the operations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‘push down’. </a:t>
            </a:r>
            <a:r>
              <a:rPr sz="2000" spc="-10" dirty="0">
                <a:latin typeface="Times New Roman"/>
                <a:cs typeface="Times New Roman"/>
              </a:rPr>
              <a:t>This is </a:t>
            </a:r>
            <a:r>
              <a:rPr sz="2000" spc="-5" dirty="0">
                <a:latin typeface="Times New Roman"/>
                <a:cs typeface="Times New Roman"/>
              </a:rPr>
              <a:t>performed </a:t>
            </a:r>
            <a:r>
              <a:rPr sz="2000" dirty="0">
                <a:latin typeface="Times New Roman"/>
                <a:cs typeface="Times New Roman"/>
              </a:rPr>
              <a:t> by </a:t>
            </a:r>
            <a:r>
              <a:rPr sz="2000" spc="-5" dirty="0">
                <a:latin typeface="Times New Roman"/>
                <a:cs typeface="Times New Roman"/>
              </a:rPr>
              <a:t>the underlying database instead of Data services engine if the transfer type is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 marL="215265" indent="-203200" algn="just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transfer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transformation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creates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temporary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Database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staging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insuring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push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down.</a:t>
            </a: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09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By pushing </a:t>
            </a:r>
            <a:r>
              <a:rPr sz="2000" dirty="0">
                <a:latin typeface="Times New Roman"/>
                <a:cs typeface="Times New Roman"/>
              </a:rPr>
              <a:t>down </a:t>
            </a:r>
            <a:r>
              <a:rPr sz="2000" spc="-5" dirty="0">
                <a:latin typeface="Times New Roman"/>
                <a:cs typeface="Times New Roman"/>
              </a:rPr>
              <a:t>operations to the source </a:t>
            </a:r>
            <a:r>
              <a:rPr sz="2000" dirty="0">
                <a:latin typeface="Times New Roman"/>
                <a:cs typeface="Times New Roman"/>
              </a:rPr>
              <a:t>database, Data </a:t>
            </a:r>
            <a:r>
              <a:rPr sz="2000" spc="-5" dirty="0">
                <a:latin typeface="Times New Roman"/>
                <a:cs typeface="Times New Roman"/>
              </a:rPr>
              <a:t>services reduce </a:t>
            </a:r>
            <a:r>
              <a:rPr sz="2000" dirty="0">
                <a:latin typeface="Times New Roman"/>
                <a:cs typeface="Times New Roman"/>
              </a:rPr>
              <a:t>the no. </a:t>
            </a:r>
            <a:r>
              <a:rPr sz="2000" spc="-1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 </a:t>
            </a:r>
            <a:r>
              <a:rPr sz="2000" spc="-5" dirty="0">
                <a:latin typeface="Times New Roman"/>
                <a:cs typeface="Times New Roman"/>
              </a:rPr>
              <a:t>and operations that the </a:t>
            </a:r>
            <a:r>
              <a:rPr sz="2000" dirty="0">
                <a:latin typeface="Times New Roman"/>
                <a:cs typeface="Times New Roman"/>
              </a:rPr>
              <a:t>engine </a:t>
            </a:r>
            <a:r>
              <a:rPr sz="2000" spc="-5" dirty="0">
                <a:latin typeface="Times New Roman"/>
                <a:cs typeface="Times New Roman"/>
              </a:rPr>
              <a:t>must retrieve and process, which improves the </a:t>
            </a:r>
            <a:r>
              <a:rPr sz="2000" dirty="0">
                <a:latin typeface="Times New Roman"/>
                <a:cs typeface="Times New Roman"/>
              </a:rPr>
              <a:t> performance.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3243" y="704087"/>
            <a:ext cx="803148" cy="688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032" y="1363980"/>
            <a:ext cx="7897368" cy="42976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04257" y="5811723"/>
            <a:ext cx="267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3.1: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Data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transfer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829" y="527684"/>
            <a:ext cx="2780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4.</a:t>
            </a:r>
            <a:r>
              <a:rPr sz="2000" b="1" spc="-2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ROW</a:t>
            </a:r>
            <a:r>
              <a:rPr sz="2000" b="1" spc="-6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35B8FF"/>
                </a:solidFill>
                <a:latin typeface="Times New Roman"/>
                <a:cs typeface="Times New Roman"/>
              </a:rPr>
              <a:t>GENERATION: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829" y="1201292"/>
            <a:ext cx="8773160" cy="57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 indent="-192405">
              <a:lnSpc>
                <a:spcPts val="2165"/>
              </a:lnSpc>
              <a:spcBef>
                <a:spcPts val="95"/>
              </a:spcBef>
              <a:buSzPct val="94736"/>
              <a:buFont typeface="Wingdings"/>
              <a:buChar char=""/>
              <a:tabLst>
                <a:tab pos="205104" algn="l"/>
              </a:tabLst>
            </a:pP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Row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Generation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does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nothing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else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than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generating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row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after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other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65"/>
              </a:lnSpc>
            </a:pPr>
            <a:r>
              <a:rPr sz="1900" spc="-5" dirty="0">
                <a:latin typeface="Times New Roman"/>
                <a:cs typeface="Times New Roman"/>
              </a:rPr>
              <a:t>with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INTEGER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column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only.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6829" y="4670196"/>
            <a:ext cx="6083935" cy="99631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97155" indent="-85090">
              <a:lnSpc>
                <a:spcPct val="100000"/>
              </a:lnSpc>
              <a:spcBef>
                <a:spcPts val="365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1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Drag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row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generation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from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platform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transform.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260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2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 Drag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query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 create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temporary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table.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280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 3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Connect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 the picture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run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job.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688" y="1970532"/>
            <a:ext cx="8625840" cy="2235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3421" y="5280152"/>
            <a:ext cx="29102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4.1: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Row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generation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60" y="1607865"/>
            <a:ext cx="10125047" cy="34699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829" y="207644"/>
            <a:ext cx="22872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5.</a:t>
            </a:r>
            <a:r>
              <a:rPr b="1" spc="-3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Date</a:t>
            </a:r>
            <a:r>
              <a:rPr b="1" spc="-4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generation</a:t>
            </a:r>
            <a:r>
              <a:rPr sz="1900" b="1" dirty="0">
                <a:solidFill>
                  <a:srgbClr val="35B8FF"/>
                </a:solidFill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829" y="877061"/>
            <a:ext cx="867473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SzPct val="94736"/>
              <a:buFont typeface="Wingdings"/>
              <a:buChar char=""/>
              <a:tabLst>
                <a:tab pos="205104" algn="l"/>
              </a:tabLst>
            </a:pPr>
            <a:r>
              <a:rPr sz="1900" spc="-5" dirty="0">
                <a:latin typeface="Times New Roman"/>
                <a:cs typeface="Times New Roman"/>
              </a:rPr>
              <a:t>This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generates a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column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which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holds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date values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based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start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&amp;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end </a:t>
            </a:r>
            <a:r>
              <a:rPr sz="1900" spc="-459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dates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provided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input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considering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increment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provided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it.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6829" y="4632477"/>
            <a:ext cx="6411595" cy="17926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97155" indent="-85090">
              <a:lnSpc>
                <a:spcPct val="100000"/>
              </a:lnSpc>
              <a:spcBef>
                <a:spcPts val="605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1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Drag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date generation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from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Local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object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library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500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 2 :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Place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query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505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3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Map</a:t>
            </a:r>
            <a:r>
              <a:rPr sz="1900" spc="-5" dirty="0">
                <a:latin typeface="Times New Roman"/>
                <a:cs typeface="Times New Roman"/>
              </a:rPr>
              <a:t> date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generation to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query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transform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495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4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 Create a</a:t>
            </a:r>
            <a:r>
              <a:rPr sz="1900" spc="-10" dirty="0">
                <a:latin typeface="Times New Roman"/>
                <a:cs typeface="Times New Roman"/>
              </a:rPr>
              <a:t> target</a:t>
            </a:r>
            <a:r>
              <a:rPr sz="1900" spc="-5" dirty="0">
                <a:latin typeface="Times New Roman"/>
                <a:cs typeface="Times New Roman"/>
              </a:rPr>
              <a:t> table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connect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from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query</a:t>
            </a:r>
            <a:endParaRPr sz="1900">
              <a:latin typeface="Times New Roman"/>
              <a:cs typeface="Times New Roman"/>
            </a:endParaRPr>
          </a:p>
          <a:p>
            <a:pPr marL="97155" indent="-85090">
              <a:lnSpc>
                <a:spcPct val="100000"/>
              </a:lnSpc>
              <a:spcBef>
                <a:spcPts val="505"/>
              </a:spcBef>
              <a:buSzPct val="94736"/>
              <a:buFont typeface="Arial MT"/>
              <a:buChar char="•"/>
              <a:tabLst>
                <a:tab pos="97790" algn="l"/>
              </a:tabLst>
            </a:pPr>
            <a:r>
              <a:rPr sz="1900" spc="-5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5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Run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</a:t>
            </a:r>
            <a:r>
              <a:rPr sz="1900" dirty="0">
                <a:latin typeface="Times New Roman"/>
                <a:cs typeface="Times New Roman"/>
              </a:rPr>
              <a:t>job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see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output in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target.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1758695"/>
            <a:ext cx="8528304" cy="24048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420" y="2183901"/>
            <a:ext cx="9704009" cy="27111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77866" y="5039055"/>
            <a:ext cx="29305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5.1: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Date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generation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829" y="497789"/>
            <a:ext cx="28041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6.</a:t>
            </a:r>
            <a:r>
              <a:rPr b="1" spc="-2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EFFECTIVE</a:t>
            </a:r>
            <a:r>
              <a:rPr b="1" spc="-2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40" dirty="0">
                <a:solidFill>
                  <a:srgbClr val="35B8FF"/>
                </a:solidFill>
                <a:latin typeface="Times New Roman"/>
                <a:cs typeface="Times New Roman"/>
              </a:rPr>
              <a:t>DATE</a:t>
            </a:r>
            <a:r>
              <a:rPr spc="-40" dirty="0">
                <a:solidFill>
                  <a:srgbClr val="35B8FF"/>
                </a:solidFill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6829" y="1165987"/>
            <a:ext cx="847026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Effective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Time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6829" y="4354169"/>
            <a:ext cx="6779259" cy="1130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60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Step2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effective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49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target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effective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1964435"/>
            <a:ext cx="8278368" cy="23820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03" y="1851764"/>
            <a:ext cx="10244536" cy="24672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34254" y="4531232"/>
            <a:ext cx="27216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6.1: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Effective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date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5629" y="711454"/>
            <a:ext cx="29089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7.</a:t>
            </a:r>
            <a:r>
              <a:rPr b="1" spc="-3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35B8FF"/>
                </a:solidFill>
                <a:latin typeface="Times New Roman"/>
                <a:cs typeface="Times New Roman"/>
              </a:rPr>
              <a:t>Hierarchy</a:t>
            </a:r>
            <a:r>
              <a:rPr b="1" spc="-1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Flattening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5629" y="1378661"/>
            <a:ext cx="879411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 hierarchy flattening transform can </a:t>
            </a:r>
            <a:r>
              <a:rPr sz="2000" spc="-5" dirty="0">
                <a:latin typeface="Times New Roman"/>
                <a:cs typeface="Times New Roman"/>
              </a:rPr>
              <a:t>analyze </a:t>
            </a:r>
            <a:r>
              <a:rPr sz="2000" dirty="0">
                <a:latin typeface="Times New Roman"/>
                <a:cs typeface="Times New Roman"/>
              </a:rPr>
              <a:t>a parent-child relationship and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 a description of the hierarchy in a </a:t>
            </a:r>
            <a:r>
              <a:rPr sz="2000" spc="-5" dirty="0">
                <a:latin typeface="Times New Roman"/>
                <a:cs typeface="Times New Roman"/>
              </a:rPr>
              <a:t>flattened format </a:t>
            </a:r>
            <a:r>
              <a:rPr sz="2000" dirty="0">
                <a:latin typeface="Times New Roman"/>
                <a:cs typeface="Times New Roman"/>
              </a:rPr>
              <a:t>(vertically flattened/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horizontally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flattened).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parent-child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5532" y="2721863"/>
            <a:ext cx="5029200" cy="32948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53761" y="6276238"/>
            <a:ext cx="32175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6.1: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Heirarchy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flattening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6369" y="544448"/>
            <a:ext cx="20662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8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.</a:t>
            </a:r>
            <a:r>
              <a:rPr b="1" spc="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X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ML</a:t>
            </a:r>
            <a:r>
              <a:rPr b="1" spc="-13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Pipeline: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6369" y="1211961"/>
            <a:ext cx="9577705" cy="3087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Pipeline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readymade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logic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helps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extract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dynamically.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(nested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Nested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multiple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pipeline.</a:t>
            </a:r>
            <a:endParaRPr sz="20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XML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Pipeline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source,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either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DTD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(Document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Type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XSD (XML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Schema</a:t>
            </a:r>
            <a:r>
              <a:rPr sz="2000" dirty="0">
                <a:latin typeface="Times New Roman"/>
                <a:cs typeface="Times New Roman"/>
              </a:rPr>
              <a:t> Definition).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pipeline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level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(part)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extraction,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i.e.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level,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columns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extract.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9428" y="469391"/>
            <a:ext cx="1018031" cy="7589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1398" y="977264"/>
            <a:ext cx="9250045" cy="3087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98475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  <a:tab pos="172275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	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sample </a:t>
            </a:r>
            <a:r>
              <a:rPr sz="2000" dirty="0">
                <a:latin typeface="Times New Roman"/>
                <a:cs typeface="Times New Roman"/>
              </a:rPr>
              <a:t>XSD </a:t>
            </a:r>
            <a:r>
              <a:rPr sz="2000" spc="-5" dirty="0">
                <a:latin typeface="Times New Roman"/>
                <a:cs typeface="Times New Roman"/>
              </a:rPr>
              <a:t>file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Sample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selected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editor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properties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11811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8.1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clear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XML-XSD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9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Item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Ship-to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(Delivery)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 the</a:t>
            </a:r>
            <a:r>
              <a:rPr sz="2000" spc="-5" dirty="0">
                <a:latin typeface="Times New Roman"/>
                <a:cs typeface="Times New Roman"/>
              </a:rPr>
              <a:t> 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source.</a:t>
            </a:r>
            <a:endParaRPr sz="2000">
              <a:latin typeface="Times New Roman"/>
              <a:cs typeface="Times New Roman"/>
            </a:endParaRPr>
          </a:p>
          <a:p>
            <a:pPr marL="273050" indent="-260985">
              <a:lnSpc>
                <a:spcPct val="100000"/>
              </a:lnSpc>
              <a:spcBef>
                <a:spcPts val="500"/>
              </a:spcBef>
              <a:buSzPct val="95000"/>
              <a:buFont typeface="Wingdings"/>
              <a:buChar char=""/>
              <a:tabLst>
                <a:tab pos="273685" algn="l"/>
              </a:tabLst>
            </a:pPr>
            <a:r>
              <a:rPr sz="2000" spc="-50" dirty="0">
                <a:latin typeface="Times New Roman"/>
                <a:cs typeface="Times New Roman"/>
              </a:rPr>
              <a:t>Two</a:t>
            </a:r>
            <a:r>
              <a:rPr sz="2000" dirty="0">
                <a:latin typeface="Times New Roman"/>
                <a:cs typeface="Times New Roman"/>
              </a:rPr>
              <a:t> XML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fields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 nodes.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‘join’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single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structure.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420" y="1449324"/>
            <a:ext cx="9258300" cy="3221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23053" y="4868926"/>
            <a:ext cx="2689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8.1: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XML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Pipeline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5638" y="428701"/>
            <a:ext cx="9811385" cy="4455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9</a:t>
            </a:r>
            <a:r>
              <a:rPr sz="2000" b="1" spc="-10" dirty="0">
                <a:solidFill>
                  <a:srgbClr val="35B8FF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HIS</a:t>
            </a:r>
            <a:r>
              <a:rPr sz="2000" b="1" spc="-45" dirty="0">
                <a:solidFill>
                  <a:srgbClr val="35B8FF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O</a:t>
            </a:r>
            <a:r>
              <a:rPr sz="2000" b="1" spc="-75" dirty="0">
                <a:solidFill>
                  <a:srgbClr val="35B8FF"/>
                </a:solidFill>
                <a:latin typeface="Times New Roman"/>
                <a:cs typeface="Times New Roman"/>
              </a:rPr>
              <a:t>R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Y</a:t>
            </a:r>
            <a:r>
              <a:rPr sz="2000" b="1" spc="-10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PRES</a:t>
            </a:r>
            <a:r>
              <a:rPr sz="2000" b="1" spc="-10" dirty="0">
                <a:solidFill>
                  <a:srgbClr val="35B8FF"/>
                </a:solidFill>
                <a:latin typeface="Times New Roman"/>
                <a:cs typeface="Times New Roman"/>
              </a:rPr>
              <a:t>E</a:t>
            </a:r>
            <a:r>
              <a:rPr sz="2000" b="1" spc="-70" dirty="0">
                <a:solidFill>
                  <a:srgbClr val="35B8FF"/>
                </a:solidFill>
                <a:latin typeface="Times New Roman"/>
                <a:cs typeface="Times New Roman"/>
              </a:rPr>
              <a:t>R</a:t>
            </a:r>
            <a:r>
              <a:rPr sz="2000" b="1" spc="-250" dirty="0">
                <a:solidFill>
                  <a:srgbClr val="35B8FF"/>
                </a:solidFill>
                <a:latin typeface="Times New Roman"/>
                <a:cs typeface="Times New Roman"/>
              </a:rPr>
              <a:t>V</a:t>
            </a:r>
            <a:r>
              <a:rPr sz="2000" b="1" spc="-145" dirty="0">
                <a:solidFill>
                  <a:srgbClr val="35B8FF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35B8FF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35B8FF"/>
                </a:solidFill>
                <a:latin typeface="Times New Roman"/>
                <a:cs typeface="Times New Roman"/>
              </a:rPr>
              <a:t>ION</a:t>
            </a:r>
            <a:r>
              <a:rPr sz="180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Verdana"/>
              <a:cs typeface="Verdana"/>
            </a:endParaRPr>
          </a:p>
          <a:p>
            <a:pPr marL="12700" marR="276860" algn="just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History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preserving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warehouse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mart</a:t>
            </a:r>
            <a:r>
              <a:rPr sz="2000" dirty="0">
                <a:latin typeface="Times New Roman"/>
                <a:cs typeface="Times New Roman"/>
              </a:rPr>
              <a:t> to</a:t>
            </a:r>
            <a:r>
              <a:rPr sz="2000" spc="-5" dirty="0">
                <a:latin typeface="Times New Roman"/>
                <a:cs typeface="Times New Roman"/>
              </a:rPr>
              <a:t> maintain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can analyze </a:t>
            </a:r>
            <a:r>
              <a:rPr sz="2000" dirty="0">
                <a:latin typeface="Times New Roman"/>
                <a:cs typeface="Times New Roman"/>
              </a:rPr>
              <a:t>it over </a:t>
            </a:r>
            <a:r>
              <a:rPr sz="2000" spc="-10" dirty="0">
                <a:latin typeface="Times New Roman"/>
                <a:cs typeface="Times New Roman"/>
              </a:rPr>
              <a:t>time. </a:t>
            </a:r>
            <a:r>
              <a:rPr sz="2000" dirty="0">
                <a:latin typeface="Times New Roman"/>
                <a:cs typeface="Times New Roman"/>
              </a:rPr>
              <a:t>Most </a:t>
            </a:r>
            <a:r>
              <a:rPr sz="2000" spc="-20" dirty="0">
                <a:latin typeface="Times New Roman"/>
                <a:cs typeface="Times New Roman"/>
              </a:rPr>
              <a:t>likely, </a:t>
            </a:r>
            <a:r>
              <a:rPr sz="2000" spc="-5" dirty="0">
                <a:latin typeface="Times New Roman"/>
                <a:cs typeface="Times New Roman"/>
              </a:rPr>
              <a:t>you </a:t>
            </a:r>
            <a:r>
              <a:rPr sz="2000" dirty="0">
                <a:latin typeface="Times New Roman"/>
                <a:cs typeface="Times New Roman"/>
              </a:rPr>
              <a:t>will perform history preservation on </a:t>
            </a:r>
            <a:r>
              <a:rPr sz="2000" spc="-5" dirty="0">
                <a:latin typeface="Times New Roman"/>
                <a:cs typeface="Times New Roman"/>
              </a:rPr>
              <a:t>dimension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  <a:p>
            <a:pPr marL="12700" marR="201295">
              <a:lnSpc>
                <a:spcPct val="100000"/>
              </a:lnSpc>
              <a:spcBef>
                <a:spcPts val="49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example, </a:t>
            </a:r>
            <a:r>
              <a:rPr sz="2000" dirty="0">
                <a:latin typeface="Times New Roman"/>
                <a:cs typeface="Times New Roman"/>
              </a:rPr>
              <a:t>if a </a:t>
            </a:r>
            <a:r>
              <a:rPr sz="2000" spc="-5" dirty="0">
                <a:latin typeface="Times New Roman"/>
                <a:cs typeface="Times New Roman"/>
              </a:rPr>
              <a:t>customer moves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5" dirty="0">
                <a:latin typeface="Times New Roman"/>
                <a:cs typeface="Times New Roman"/>
              </a:rPr>
              <a:t>one </a:t>
            </a:r>
            <a:r>
              <a:rPr sz="2000" spc="-5" dirty="0">
                <a:latin typeface="Times New Roman"/>
                <a:cs typeface="Times New Roman"/>
              </a:rPr>
              <a:t>sales </a:t>
            </a:r>
            <a:r>
              <a:rPr sz="2000" dirty="0">
                <a:latin typeface="Times New Roman"/>
                <a:cs typeface="Times New Roman"/>
              </a:rPr>
              <a:t>region to </a:t>
            </a:r>
            <a:r>
              <a:rPr sz="2000" spc="-10" dirty="0">
                <a:latin typeface="Times New Roman"/>
                <a:cs typeface="Times New Roman"/>
              </a:rPr>
              <a:t>another, </a:t>
            </a:r>
            <a:r>
              <a:rPr sz="2000" spc="-5" dirty="0">
                <a:latin typeface="Times New Roman"/>
                <a:cs typeface="Times New Roman"/>
              </a:rPr>
              <a:t>simply </a:t>
            </a:r>
            <a:r>
              <a:rPr sz="2000" dirty="0">
                <a:latin typeface="Times New Roman"/>
                <a:cs typeface="Times New Roman"/>
              </a:rPr>
              <a:t>updating 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 </a:t>
            </a:r>
            <a:r>
              <a:rPr sz="2000" dirty="0">
                <a:latin typeface="Times New Roman"/>
                <a:cs typeface="Times New Roman"/>
              </a:rPr>
              <a:t>record to reflect the new region would give you </a:t>
            </a:r>
            <a:r>
              <a:rPr sz="2000" spc="-5" dirty="0">
                <a:latin typeface="Times New Roman"/>
                <a:cs typeface="Times New Roman"/>
              </a:rPr>
              <a:t>misleading </a:t>
            </a:r>
            <a:r>
              <a:rPr sz="2000" dirty="0">
                <a:latin typeface="Times New Roman"/>
                <a:cs typeface="Times New Roman"/>
              </a:rPr>
              <a:t>results in an </a:t>
            </a:r>
            <a:r>
              <a:rPr sz="2000" spc="-5" dirty="0">
                <a:latin typeface="Times New Roman"/>
                <a:cs typeface="Times New Roman"/>
              </a:rPr>
              <a:t>analysis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purchases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move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would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incorrectly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 region.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SAP Data Services provides a special transform that preserves data history to prevent this kind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History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Preserving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ignores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everything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flagged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UPDATE.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these rows, it compares the values of specified </a:t>
            </a:r>
            <a:r>
              <a:rPr sz="2000" spc="-5" dirty="0">
                <a:latin typeface="Times New Roman"/>
                <a:cs typeface="Times New Roman"/>
              </a:rPr>
              <a:t>columns </a:t>
            </a:r>
            <a:r>
              <a:rPr sz="2000" dirty="0">
                <a:latin typeface="Times New Roman"/>
                <a:cs typeface="Times New Roman"/>
              </a:rPr>
              <a:t>and, if the values have changed,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flags the row as </a:t>
            </a:r>
            <a:r>
              <a:rPr sz="2000" spc="-40" dirty="0">
                <a:latin typeface="Times New Roman"/>
                <a:cs typeface="Times New Roman"/>
              </a:rPr>
              <a:t>INSERT. </a:t>
            </a:r>
            <a:r>
              <a:rPr sz="2000" dirty="0">
                <a:latin typeface="Times New Roman"/>
                <a:cs typeface="Times New Roman"/>
              </a:rPr>
              <a:t>This produces a second row in the </a:t>
            </a:r>
            <a:r>
              <a:rPr sz="2000" spc="-10" dirty="0">
                <a:latin typeface="Times New Roman"/>
                <a:cs typeface="Times New Roman"/>
              </a:rPr>
              <a:t>target </a:t>
            </a:r>
            <a:r>
              <a:rPr sz="2000" dirty="0">
                <a:latin typeface="Times New Roman"/>
                <a:cs typeface="Times New Roman"/>
              </a:rPr>
              <a:t>instead of overwriting 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row.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1471" y="371856"/>
            <a:ext cx="815340" cy="7848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495" y="589787"/>
            <a:ext cx="8109204" cy="45171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31104" y="5166486"/>
            <a:ext cx="31299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9.1: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History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Preserving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80975" y="1418589"/>
            <a:ext cx="1028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pa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0451" y="986384"/>
            <a:ext cx="7759065" cy="18688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6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library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query,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comparison,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preserving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 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query,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comparison,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preserving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target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1598" y="852042"/>
            <a:ext cx="2466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10.</a:t>
            </a:r>
            <a:r>
              <a:rPr b="1" spc="26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35B8FF"/>
                </a:solidFill>
                <a:latin typeface="Times New Roman"/>
                <a:cs typeface="Times New Roman"/>
              </a:rPr>
              <a:t>Key</a:t>
            </a:r>
            <a:r>
              <a:rPr b="1" spc="-1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Generation</a:t>
            </a:r>
            <a:r>
              <a:rPr sz="2000" b="1" spc="-5" dirty="0">
                <a:solidFill>
                  <a:srgbClr val="35B8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1598" y="1587830"/>
            <a:ext cx="93179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artificial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1598" y="4720844"/>
            <a:ext cx="93211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 must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imported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DS repository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source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fully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qualified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Table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4" y="2034539"/>
            <a:ext cx="9288780" cy="2391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9552" y="536448"/>
            <a:ext cx="938783" cy="673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8196" y="1004414"/>
            <a:ext cx="9962985" cy="232095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8941" y="3562350"/>
            <a:ext cx="30029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10.1: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Key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Generation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2851" y="4400169"/>
            <a:ext cx="59931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08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: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-5" dirty="0">
                <a:latin typeface="Times New Roman"/>
                <a:cs typeface="Times New Roman"/>
              </a:rPr>
              <a:t> 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target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662" y="692277"/>
            <a:ext cx="3204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11.</a:t>
            </a:r>
            <a:r>
              <a:rPr b="1" spc="-4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Map_CDC_Operation: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662" y="1359788"/>
            <a:ext cx="11281410" cy="35706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32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Map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CDC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mainframe </a:t>
            </a:r>
            <a:r>
              <a:rPr sz="2000" dirty="0">
                <a:latin typeface="Times New Roman"/>
                <a:cs typeface="Times New Roman"/>
              </a:rPr>
              <a:t>changed-data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(CDC).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 transform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reads the source DML changes i.e. </a:t>
            </a:r>
            <a:r>
              <a:rPr sz="2000" spc="-15" dirty="0">
                <a:latin typeface="Times New Roman"/>
                <a:cs typeface="Times New Roman"/>
              </a:rPr>
              <a:t>INSERT/UPDATE/DELETE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reflects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in the </a:t>
            </a:r>
            <a:r>
              <a:rPr sz="2000" spc="-10" dirty="0">
                <a:latin typeface="Times New Roman"/>
                <a:cs typeface="Times New Roman"/>
              </a:rPr>
              <a:t>target </a:t>
            </a:r>
            <a:r>
              <a:rPr sz="2000" spc="-5" dirty="0">
                <a:latin typeface="Times New Roman"/>
                <a:cs typeface="Times New Roman"/>
              </a:rPr>
              <a:t>system. </a:t>
            </a:r>
            <a:r>
              <a:rPr sz="2000" dirty="0">
                <a:latin typeface="Times New Roman"/>
                <a:cs typeface="Times New Roman"/>
              </a:rPr>
              <a:t>So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transform </a:t>
            </a:r>
            <a:r>
              <a:rPr sz="2000" spc="-5" dirty="0">
                <a:latin typeface="Times New Roman"/>
                <a:cs typeface="Times New Roman"/>
              </a:rPr>
              <a:t>maps all </a:t>
            </a:r>
            <a:r>
              <a:rPr sz="2000" dirty="0">
                <a:latin typeface="Times New Roman"/>
                <a:cs typeface="Times New Roman"/>
              </a:rPr>
              <a:t>the source rows logged as insert to an </a:t>
            </a:r>
            <a:r>
              <a:rPr sz="2000" spc="-5" dirty="0">
                <a:latin typeface="Times New Roman"/>
                <a:cs typeface="Times New Roman"/>
              </a:rPr>
              <a:t>insert, all </a:t>
            </a:r>
            <a:r>
              <a:rPr sz="2000" dirty="0">
                <a:latin typeface="Times New Roman"/>
                <a:cs typeface="Times New Roman"/>
              </a:rPr>
              <a:t>updates to update and the deletes to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delete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target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Whenever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CDC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imported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more </a:t>
            </a:r>
            <a:r>
              <a:rPr sz="2000" dirty="0">
                <a:latin typeface="Times New Roman"/>
                <a:cs typeface="Times New Roman"/>
              </a:rPr>
              <a:t>additional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namely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DI_OPERATION_TYPE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DI_SEQUENCE_NUMBER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426084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b="1" spc="-10" dirty="0">
                <a:latin typeface="Times New Roman"/>
                <a:cs typeface="Times New Roman"/>
              </a:rPr>
              <a:t>DI_OPERATION_TYPE </a:t>
            </a:r>
            <a:r>
              <a:rPr sz="2000" spc="-5" dirty="0">
                <a:latin typeface="Times New Roman"/>
                <a:cs typeface="Times New Roman"/>
              </a:rPr>
              <a:t>column </a:t>
            </a:r>
            <a:r>
              <a:rPr sz="2000" dirty="0">
                <a:latin typeface="Times New Roman"/>
                <a:cs typeface="Times New Roman"/>
              </a:rPr>
              <a:t>holds the corresponding database DML operation codes for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insert,update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 </a:t>
            </a:r>
            <a:r>
              <a:rPr sz="2000" dirty="0">
                <a:latin typeface="Times New Roman"/>
                <a:cs typeface="Times New Roman"/>
              </a:rPr>
              <a:t>- Insert,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Image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 Update,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- Delete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DI_SEQUENCE_NUMBER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holds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order/sequence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DML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operations. For </a:t>
            </a:r>
            <a:r>
              <a:rPr sz="2000" spc="-5" dirty="0">
                <a:latin typeface="Times New Roman"/>
                <a:cs typeface="Times New Roman"/>
              </a:rPr>
              <a:t>example </a:t>
            </a:r>
            <a:r>
              <a:rPr sz="2000" dirty="0">
                <a:latin typeface="Times New Roman"/>
                <a:cs typeface="Times New Roman"/>
              </a:rPr>
              <a:t>if we want to update or </a:t>
            </a:r>
            <a:r>
              <a:rPr sz="2000" spc="-5" dirty="0">
                <a:latin typeface="Times New Roman"/>
                <a:cs typeface="Times New Roman"/>
              </a:rPr>
              <a:t>delete </a:t>
            </a:r>
            <a:r>
              <a:rPr sz="2000" dirty="0">
                <a:latin typeface="Times New Roman"/>
                <a:cs typeface="Times New Roman"/>
              </a:rPr>
              <a:t>the row first and then </a:t>
            </a:r>
            <a:r>
              <a:rPr sz="2000" spc="-5" dirty="0">
                <a:latin typeface="Times New Roman"/>
                <a:cs typeface="Times New Roman"/>
              </a:rPr>
              <a:t>insert it, </a:t>
            </a:r>
            <a:r>
              <a:rPr sz="2000" spc="-10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doesn't </a:t>
            </a:r>
            <a:r>
              <a:rPr sz="2000" spc="-5" dirty="0">
                <a:latin typeface="Times New Roman"/>
                <a:cs typeface="Times New Roman"/>
              </a:rPr>
              <a:t>makes </a:t>
            </a:r>
            <a:r>
              <a:rPr sz="2000" dirty="0">
                <a:latin typeface="Times New Roman"/>
                <a:cs typeface="Times New Roman"/>
              </a:rPr>
              <a:t>sense;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Hence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maintained.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DML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important.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9966" y="432942"/>
            <a:ext cx="2421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12.</a:t>
            </a:r>
            <a:r>
              <a:rPr b="1" spc="26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Map</a:t>
            </a:r>
            <a:r>
              <a:rPr b="1" spc="-2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Operation</a:t>
            </a:r>
            <a:r>
              <a:rPr sz="2000" b="1" spc="-5" dirty="0">
                <a:solidFill>
                  <a:srgbClr val="35B8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9966" y="1188542"/>
            <a:ext cx="96189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manipulation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like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like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40" dirty="0">
                <a:latin typeface="Times New Roman"/>
                <a:cs typeface="Times New Roman"/>
              </a:rPr>
              <a:t>INSERT,</a:t>
            </a:r>
            <a:r>
              <a:rPr sz="2000" spc="-30" dirty="0">
                <a:latin typeface="Times New Roman"/>
                <a:cs typeface="Times New Roman"/>
              </a:rPr>
              <a:t> UPDATE,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20" dirty="0">
                <a:latin typeface="Times New Roman"/>
                <a:cs typeface="Times New Roman"/>
              </a:rPr>
              <a:t> REJECT.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9966" y="4227067"/>
            <a:ext cx="969264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‘Map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Operation’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desired output. For </a:t>
            </a:r>
            <a:r>
              <a:rPr sz="2000" spc="-5" dirty="0">
                <a:latin typeface="Times New Roman"/>
                <a:cs typeface="Times New Roman"/>
              </a:rPr>
              <a:t>example, </a:t>
            </a:r>
            <a:r>
              <a:rPr sz="2000" dirty="0">
                <a:latin typeface="Times New Roman"/>
                <a:cs typeface="Times New Roman"/>
              </a:rPr>
              <a:t>if a row in the input data set has been updated in </a:t>
            </a:r>
            <a:r>
              <a:rPr sz="2000" spc="-5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 previous operation in the data </a:t>
            </a:r>
            <a:r>
              <a:rPr sz="2000" spc="-25" dirty="0">
                <a:latin typeface="Times New Roman"/>
                <a:cs typeface="Times New Roman"/>
              </a:rPr>
              <a:t>flow, </a:t>
            </a:r>
            <a:r>
              <a:rPr sz="2000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use this transform to </a:t>
            </a:r>
            <a:r>
              <a:rPr sz="2000" spc="-10" dirty="0">
                <a:latin typeface="Times New Roman"/>
                <a:cs typeface="Times New Roman"/>
              </a:rPr>
              <a:t>map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35" dirty="0">
                <a:latin typeface="Times New Roman"/>
                <a:cs typeface="Times New Roman"/>
              </a:rPr>
              <a:t>UPDATE </a:t>
            </a:r>
            <a:r>
              <a:rPr sz="2000" dirty="0">
                <a:latin typeface="Times New Roman"/>
                <a:cs typeface="Times New Roman"/>
              </a:rPr>
              <a:t>operation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an </a:t>
            </a:r>
            <a:r>
              <a:rPr sz="2000" spc="-40" dirty="0">
                <a:latin typeface="Times New Roman"/>
                <a:cs typeface="Times New Roman"/>
              </a:rPr>
              <a:t>INSERT. </a:t>
            </a:r>
            <a:r>
              <a:rPr sz="2000" dirty="0">
                <a:latin typeface="Times New Roman"/>
                <a:cs typeface="Times New Roman"/>
              </a:rPr>
              <a:t>The result could be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convert </a:t>
            </a:r>
            <a:r>
              <a:rPr sz="2000" spc="-35" dirty="0">
                <a:latin typeface="Times New Roman"/>
                <a:cs typeface="Times New Roman"/>
              </a:rPr>
              <a:t>UPDATE </a:t>
            </a:r>
            <a:r>
              <a:rPr sz="2000" dirty="0">
                <a:latin typeface="Times New Roman"/>
                <a:cs typeface="Times New Roman"/>
              </a:rPr>
              <a:t>rows to </a:t>
            </a:r>
            <a:r>
              <a:rPr sz="2000" spc="-20" dirty="0">
                <a:latin typeface="Times New Roman"/>
                <a:cs typeface="Times New Roman"/>
              </a:rPr>
              <a:t>INSERT </a:t>
            </a:r>
            <a:r>
              <a:rPr sz="2000" dirty="0">
                <a:latin typeface="Times New Roman"/>
                <a:cs typeface="Times New Roman"/>
              </a:rPr>
              <a:t>rows to preserve 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target.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1906523"/>
            <a:ext cx="8828531" cy="2095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2556" y="499872"/>
            <a:ext cx="795527" cy="6812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960" y="1013459"/>
            <a:ext cx="8854440" cy="19232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21891" y="3136138"/>
            <a:ext cx="8695055" cy="227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5275"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12.1: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Map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Operation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comparison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map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icons.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temporary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make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permanent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behaves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comparison.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temporary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map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0808" y="376554"/>
            <a:ext cx="1196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13.</a:t>
            </a:r>
            <a:r>
              <a:rPr b="1" spc="22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Pivot: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0808" y="1163193"/>
            <a:ext cx="8946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Pivot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Transformation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Convert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Values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table\file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0808" y="4847590"/>
            <a:ext cx="90538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column.</a:t>
            </a:r>
            <a:r>
              <a:rPr sz="2000" dirty="0">
                <a:latin typeface="Times New Roman"/>
                <a:cs typeface="Times New Roman"/>
              </a:rPr>
              <a:t> Observe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icon,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says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20" y="1865376"/>
            <a:ext cx="8758428" cy="26868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8052" y="454151"/>
            <a:ext cx="838200" cy="70256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116" y="3142488"/>
            <a:ext cx="7039356" cy="25237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011" y="597408"/>
            <a:ext cx="9307068" cy="24124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860" y="1345759"/>
            <a:ext cx="8915159" cy="14705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00045" y="2672918"/>
            <a:ext cx="7065645" cy="202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3845"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13.1: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Pivot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library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temporary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sequence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map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dirty="0">
                <a:latin typeface="Times New Roman"/>
                <a:cs typeface="Times New Roman"/>
              </a:rPr>
              <a:t> converted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target.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3689" y="778255"/>
            <a:ext cx="2211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14.</a:t>
            </a:r>
            <a:r>
              <a:rPr b="1" spc="254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Reverse</a:t>
            </a:r>
            <a:r>
              <a:rPr b="1" spc="-1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Pivot: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3689" y="1446021"/>
            <a:ext cx="91897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Reverse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Transformation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Convert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</a:t>
            </a:r>
            <a:r>
              <a:rPr sz="2000" spc="-40" dirty="0">
                <a:latin typeface="Times New Roman"/>
                <a:cs typeface="Times New Roman"/>
              </a:rPr>
              <a:t> Values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table\file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to</a:t>
            </a:r>
            <a:r>
              <a:rPr sz="2000" spc="-5" dirty="0">
                <a:latin typeface="Times New Roman"/>
                <a:cs typeface="Times New Roman"/>
              </a:rPr>
              <a:t> Column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Values.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new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111" y="2260092"/>
            <a:ext cx="6589776" cy="38420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1388" y="576072"/>
            <a:ext cx="768096" cy="6644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583" y="256031"/>
            <a:ext cx="9066276" cy="28666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5583" y="3180588"/>
            <a:ext cx="9066276" cy="34213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844" y="842756"/>
            <a:ext cx="9910388" cy="1943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14142" y="2814573"/>
            <a:ext cx="7947659" cy="1986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154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14.1: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Reverse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Pivot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library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Reverse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pivot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temporary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sequence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map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</a:t>
            </a:r>
            <a:r>
              <a:rPr sz="2000" dirty="0">
                <a:latin typeface="Times New Roman"/>
                <a:cs typeface="Times New Roman"/>
              </a:rPr>
              <a:t> values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target.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754" y="910793"/>
            <a:ext cx="13347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15.</a:t>
            </a:r>
            <a:r>
              <a:rPr b="1" spc="22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Merge</a:t>
            </a:r>
            <a:r>
              <a:rPr spc="-5" dirty="0">
                <a:solidFill>
                  <a:srgbClr val="35B8FF"/>
                </a:solidFill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1754" y="1578990"/>
            <a:ext cx="9541510" cy="1981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2197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0" dirty="0">
                <a:latin typeface="Times New Roman"/>
                <a:cs typeface="Times New Roman"/>
              </a:rPr>
              <a:t>Merge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combine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multiple incoming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produce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 structure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equivalent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UNION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order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eliminate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duplicate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 dataset basically to </a:t>
            </a:r>
            <a:r>
              <a:rPr sz="2000" spc="-5" dirty="0">
                <a:latin typeface="Times New Roman"/>
                <a:cs typeface="Times New Roman"/>
              </a:rPr>
              <a:t>attain </a:t>
            </a:r>
            <a:r>
              <a:rPr sz="2000" dirty="0">
                <a:latin typeface="Times New Roman"/>
                <a:cs typeface="Times New Roman"/>
              </a:rPr>
              <a:t>UNION operation, add a Query transform with DISTINCT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Merge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dirty="0">
                <a:latin typeface="Times New Roman"/>
                <a:cs typeface="Times New Roman"/>
              </a:rPr>
              <a:t> 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lengths.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816" y="3814571"/>
            <a:ext cx="8382000" cy="27721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5900" y="576072"/>
            <a:ext cx="1231392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88" y="1002832"/>
            <a:ext cx="8074717" cy="2644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7788" y="3799154"/>
            <a:ext cx="6924040" cy="1640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15.1: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Merge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Arial MT"/>
              <a:cs typeface="Arial MT"/>
            </a:endParaRPr>
          </a:p>
          <a:p>
            <a:pPr marL="215265" indent="-203200">
              <a:lnSpc>
                <a:spcPct val="100000"/>
              </a:lnSpc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multiple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make</a:t>
            </a:r>
            <a:r>
              <a:rPr sz="2000" dirty="0">
                <a:latin typeface="Times New Roman"/>
                <a:cs typeface="Times New Roman"/>
              </a:rPr>
              <a:t> it 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merge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temporary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929" y="859281"/>
            <a:ext cx="24638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16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.</a:t>
            </a: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26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SQL</a:t>
            </a:r>
            <a:r>
              <a:rPr b="1" spc="-160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175" dirty="0">
                <a:solidFill>
                  <a:srgbClr val="35B8FF"/>
                </a:solidFill>
                <a:latin typeface="Times New Roman"/>
                <a:cs typeface="Times New Roman"/>
              </a:rPr>
              <a:t>T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ransf</a:t>
            </a: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o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r</a:t>
            </a:r>
            <a:r>
              <a:rPr b="1" spc="-15" dirty="0">
                <a:solidFill>
                  <a:srgbClr val="35B8FF"/>
                </a:solidFill>
                <a:latin typeface="Times New Roman"/>
                <a:cs typeface="Times New Roman"/>
              </a:rPr>
              <a:t>m</a:t>
            </a:r>
            <a:r>
              <a:rPr b="1" spc="-5" dirty="0">
                <a:solidFill>
                  <a:srgbClr val="35B8FF"/>
                </a:solidFill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7929" y="1584706"/>
            <a:ext cx="9687560" cy="2350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submit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server.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only.</a:t>
            </a:r>
            <a:endParaRPr sz="2000">
              <a:latin typeface="Times New Roman"/>
              <a:cs typeface="Times New Roman"/>
            </a:endParaRPr>
          </a:p>
          <a:p>
            <a:pPr marL="12700" marR="159385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retrieval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(select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statements).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can’t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manipulate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(Insert,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12700" marR="291465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lookup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done</a:t>
            </a:r>
            <a:r>
              <a:rPr sz="2000" spc="-5" dirty="0">
                <a:latin typeface="Times New Roman"/>
                <a:cs typeface="Times New Roman"/>
              </a:rPr>
              <a:t> 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lookup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files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text.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116" y="4303776"/>
            <a:ext cx="6525768" cy="18653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8883" y="893063"/>
            <a:ext cx="883920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00" y="4308347"/>
            <a:ext cx="6781800" cy="1600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6292" y="118871"/>
            <a:ext cx="7911083" cy="39395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946393"/>
            <a:ext cx="8085443" cy="12983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55850" y="3137508"/>
            <a:ext cx="7673975" cy="1130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6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transformation.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query.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temporary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connect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picture.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3576" y="2273934"/>
            <a:ext cx="205358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16.1: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SQL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9719" y="823086"/>
            <a:ext cx="3152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35B8FF"/>
                </a:solidFill>
                <a:latin typeface="Times New Roman"/>
                <a:cs typeface="Times New Roman"/>
              </a:rPr>
              <a:t>17.</a:t>
            </a:r>
            <a:r>
              <a:rPr b="1" spc="254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35B8FF"/>
                </a:solidFill>
                <a:latin typeface="Times New Roman"/>
                <a:cs typeface="Times New Roman"/>
              </a:rPr>
              <a:t>Validation</a:t>
            </a:r>
            <a:r>
              <a:rPr b="1" spc="-55" dirty="0">
                <a:solidFill>
                  <a:srgbClr val="35B8FF"/>
                </a:solidFill>
                <a:latin typeface="Times New Roman"/>
                <a:cs typeface="Times New Roman"/>
              </a:rPr>
              <a:t> </a:t>
            </a:r>
            <a:r>
              <a:rPr b="1" spc="-20" dirty="0">
                <a:solidFill>
                  <a:srgbClr val="35B8FF"/>
                </a:solidFill>
                <a:latin typeface="Times New Roman"/>
                <a:cs typeface="Times New Roman"/>
              </a:rPr>
              <a:t>Transform: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9719" y="1617345"/>
            <a:ext cx="8916670" cy="152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Validation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filter 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replace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dataset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based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criteria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validation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rules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desired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output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dataset.</a:t>
            </a:r>
            <a:endParaRPr sz="1800">
              <a:latin typeface="Verdana"/>
              <a:cs typeface="Verdana"/>
            </a:endParaRPr>
          </a:p>
          <a:p>
            <a:pPr marL="12700" marR="60007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This transform </a:t>
            </a:r>
            <a:r>
              <a:rPr sz="1800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used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NULL </a:t>
            </a:r>
            <a:r>
              <a:rPr sz="1800" dirty="0">
                <a:latin typeface="Verdana"/>
                <a:cs typeface="Verdana"/>
              </a:rPr>
              <a:t>checking for </a:t>
            </a:r>
            <a:r>
              <a:rPr sz="1800" spc="-5" dirty="0">
                <a:latin typeface="Verdana"/>
                <a:cs typeface="Verdana"/>
              </a:rPr>
              <a:t>mandatory </a:t>
            </a:r>
            <a:r>
              <a:rPr sz="1800" dirty="0">
                <a:latin typeface="Verdana"/>
                <a:cs typeface="Verdana"/>
              </a:rPr>
              <a:t>fields, </a:t>
            </a:r>
            <a:r>
              <a:rPr sz="1800" spc="-10" dirty="0">
                <a:latin typeface="Verdana"/>
                <a:cs typeface="Verdana"/>
              </a:rPr>
              <a:t>Pattern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matching,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existence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5" dirty="0">
                <a:latin typeface="Verdana"/>
                <a:cs typeface="Verdana"/>
              </a:rPr>
              <a:t>value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reference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validate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type,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Validation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generate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two</a:t>
            </a:r>
            <a:r>
              <a:rPr sz="1800" dirty="0">
                <a:latin typeface="Verdana"/>
                <a:cs typeface="Verdana"/>
              </a:rPr>
              <a:t> output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dataset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Pass</a:t>
            </a:r>
            <a:r>
              <a:rPr sz="1800" spc="-5" dirty="0">
                <a:latin typeface="Verdana"/>
                <a:cs typeface="Verdana"/>
              </a:rPr>
              <a:t>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Fail.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0088" y="3429000"/>
            <a:ext cx="7606283" cy="2186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1992" y="664463"/>
            <a:ext cx="754379" cy="57759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4204" y="420623"/>
            <a:ext cx="7403592" cy="34152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4204" y="4131564"/>
            <a:ext cx="7470648" cy="206654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678277"/>
            <a:ext cx="7333359" cy="32177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63545" y="3926840"/>
            <a:ext cx="8011159" cy="187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570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MT"/>
                <a:cs typeface="Arial MT"/>
              </a:rPr>
              <a:t>Fig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17.1: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5" dirty="0">
                <a:latin typeface="Arial MT"/>
                <a:cs typeface="Arial MT"/>
              </a:rPr>
              <a:t>Validation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transform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Arial MT"/>
              <a:cs typeface="Arial MT"/>
            </a:endParaRPr>
          </a:p>
          <a:p>
            <a:pPr marL="215265" indent="-203200">
              <a:lnSpc>
                <a:spcPct val="100000"/>
              </a:lnSpc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,place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temporary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fail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violation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cases.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shown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0513" y="338074"/>
            <a:ext cx="2220087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95" dirty="0">
                <a:solidFill>
                  <a:srgbClr val="006FAC"/>
                </a:solidFill>
                <a:latin typeface="Microsoft Sans Serif"/>
                <a:cs typeface="Microsoft Sans Serif"/>
              </a:rPr>
              <a:t>Functions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6783" y="1389990"/>
            <a:ext cx="8674735" cy="37096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6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take</a:t>
            </a:r>
            <a:r>
              <a:rPr sz="2000" dirty="0">
                <a:latin typeface="Times New Roman"/>
                <a:cs typeface="Times New Roman"/>
              </a:rPr>
              <a:t> input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return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dirty="0">
                <a:latin typeface="Times New Roman"/>
                <a:cs typeface="Times New Roman"/>
              </a:rPr>
              <a:t> functions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similar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5" dirty="0">
                <a:latin typeface="Times New Roman"/>
                <a:cs typeface="Times New Roman"/>
              </a:rPr>
              <a:t>transforms.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0" dirty="0">
                <a:latin typeface="Times New Roman"/>
                <a:cs typeface="Times New Roman"/>
              </a:rPr>
              <a:t>However,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transforms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scope: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single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columns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9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Transforms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updating,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65" dirty="0">
                <a:latin typeface="Times New Roman"/>
                <a:cs typeface="Times New Roman"/>
              </a:rPr>
              <a:t>You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following:</a:t>
            </a:r>
            <a:endParaRPr sz="2000">
              <a:latin typeface="Times New Roman"/>
              <a:cs typeface="Times New Roman"/>
            </a:endParaRPr>
          </a:p>
          <a:p>
            <a:pPr marL="160020" indent="-14795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16065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Transforms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(Query,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SQL)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Script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Conditionals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1755" y="337285"/>
            <a:ext cx="9098280" cy="1068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Times New Roman"/>
                <a:cs typeface="Times New Roman"/>
              </a:rPr>
              <a:t>1.Pre-defined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Functions: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SAP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in-built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SAP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dirty="0">
                <a:latin typeface="Times New Roman"/>
                <a:cs typeface="Times New Roman"/>
              </a:rPr>
              <a:t> predefined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3988" y="1643040"/>
            <a:ext cx="6190691" cy="483091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607" y="610651"/>
            <a:ext cx="8633460" cy="55524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6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classified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5" dirty="0">
                <a:latin typeface="Times New Roman"/>
                <a:cs typeface="Times New Roman"/>
              </a:rPr>
              <a:t>listed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below: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Aggregate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Conversion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Cryptographic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Custom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Date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5" dirty="0">
                <a:latin typeface="Times New Roman"/>
                <a:cs typeface="Times New Roman"/>
              </a:rPr>
              <a:t>Lookup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Times New Roman"/>
                <a:cs typeface="Times New Roman"/>
              </a:rPr>
              <a:t>Math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Miscellaneous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SAP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25" dirty="0">
                <a:latin typeface="Times New Roman"/>
                <a:cs typeface="Times New Roman"/>
              </a:rPr>
              <a:t>Validation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0180" y="448462"/>
            <a:ext cx="5822315" cy="60083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605"/>
              </a:spcBef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10" dirty="0">
                <a:latin typeface="Times New Roman"/>
                <a:cs typeface="Times New Roman"/>
              </a:rPr>
              <a:t>Some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built functions are: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0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add_months(</a:t>
            </a:r>
            <a:r>
              <a:rPr sz="2200" i="1" spc="-5" dirty="0">
                <a:latin typeface="Times New Roman"/>
                <a:cs typeface="Times New Roman"/>
              </a:rPr>
              <a:t>original_date,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months_to_add)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49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avg(</a:t>
            </a:r>
            <a:r>
              <a:rPr sz="2200" i="1" spc="-5" dirty="0">
                <a:latin typeface="Times New Roman"/>
                <a:cs typeface="Times New Roman"/>
              </a:rPr>
              <a:t>value_list)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day_in_month(</a:t>
            </a:r>
            <a:r>
              <a:rPr sz="2200" i="1" dirty="0">
                <a:latin typeface="Times New Roman"/>
                <a:cs typeface="Times New Roman"/>
              </a:rPr>
              <a:t>date1)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day_in_year(</a:t>
            </a:r>
            <a:r>
              <a:rPr sz="2200" i="1" dirty="0">
                <a:latin typeface="Times New Roman"/>
                <a:cs typeface="Times New Roman"/>
              </a:rPr>
              <a:t>date1)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490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exec(</a:t>
            </a:r>
            <a:r>
              <a:rPr sz="2200" i="1" spc="-5" dirty="0">
                <a:latin typeface="Times New Roman"/>
                <a:cs typeface="Times New Roman"/>
              </a:rPr>
              <a:t>command_file,</a:t>
            </a:r>
            <a:r>
              <a:rPr sz="2200" i="1" spc="2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parameter_list,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flag)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get_error_filename()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job_name()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49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job_run_id()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key_generation(</a:t>
            </a:r>
            <a:r>
              <a:rPr sz="2200" i="1" dirty="0">
                <a:latin typeface="Times New Roman"/>
                <a:cs typeface="Times New Roman"/>
              </a:rPr>
              <a:t>table,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key_column,</a:t>
            </a:r>
            <a:r>
              <a:rPr sz="2200" i="1" spc="-10" dirty="0">
                <a:latin typeface="Times New Roman"/>
                <a:cs typeface="Times New Roman"/>
              </a:rPr>
              <a:t> key_increment)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lookup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490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lookup_ext()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raise_exception(</a:t>
            </a:r>
            <a:r>
              <a:rPr sz="2200" i="1" spc="-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50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dirty="0">
                <a:latin typeface="Times New Roman"/>
                <a:cs typeface="Times New Roman"/>
              </a:rPr>
              <a:t>sysdate()</a:t>
            </a:r>
            <a:endParaRPr sz="2200">
              <a:latin typeface="Times New Roman"/>
              <a:cs typeface="Times New Roman"/>
            </a:endParaRPr>
          </a:p>
          <a:p>
            <a:pPr marL="111760" indent="-99060">
              <a:lnSpc>
                <a:spcPct val="100000"/>
              </a:lnSpc>
              <a:spcBef>
                <a:spcPts val="495"/>
              </a:spcBef>
              <a:buSzPct val="95454"/>
              <a:buFont typeface="Arial MT"/>
              <a:buChar char="•"/>
              <a:tabLst>
                <a:tab pos="111760" algn="l"/>
              </a:tabLst>
            </a:pPr>
            <a:r>
              <a:rPr sz="2200" spc="-5" dirty="0">
                <a:latin typeface="Times New Roman"/>
                <a:cs typeface="Times New Roman"/>
              </a:rPr>
              <a:t>wait_for_file()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354" y="615187"/>
            <a:ext cx="35693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/>
              <a:t>2.	</a:t>
            </a:r>
            <a:r>
              <a:rPr spc="-5" dirty="0"/>
              <a:t>Custom</a:t>
            </a:r>
            <a:r>
              <a:rPr spc="-20" dirty="0"/>
              <a:t> </a:t>
            </a:r>
            <a:r>
              <a:rPr spc="-5" dirty="0"/>
              <a:t>Defined Functions: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354" y="1012951"/>
            <a:ext cx="9568815" cy="3456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65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own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writing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SAP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BusinessObjects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smart</a:t>
            </a:r>
            <a:r>
              <a:rPr sz="2000" spc="-15" dirty="0">
                <a:latin typeface="Times New Roman"/>
                <a:cs typeface="Times New Roman"/>
              </a:rPr>
              <a:t> editor.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guidelines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you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own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functions:</a:t>
            </a:r>
            <a:endParaRPr sz="2000">
              <a:latin typeface="Times New Roman"/>
              <a:cs typeface="Times New Roman"/>
            </a:endParaRPr>
          </a:p>
          <a:p>
            <a:pPr marL="277495" indent="-26543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7813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functions.</a:t>
            </a:r>
            <a:endParaRPr sz="2000">
              <a:latin typeface="Times New Roman"/>
              <a:cs typeface="Times New Roman"/>
            </a:endParaRPr>
          </a:p>
          <a:p>
            <a:pPr marL="277495" indent="-26543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7813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themselves.</a:t>
            </a:r>
            <a:endParaRPr sz="2000">
              <a:latin typeface="Times New Roman"/>
              <a:cs typeface="Times New Roman"/>
            </a:endParaRPr>
          </a:p>
          <a:p>
            <a:pPr marL="277495" indent="-265430">
              <a:lnSpc>
                <a:spcPct val="100000"/>
              </a:lnSpc>
              <a:spcBef>
                <a:spcPts val="490"/>
              </a:spcBef>
              <a:buSzPct val="95000"/>
              <a:buFont typeface="Wingdings"/>
              <a:buChar char=""/>
              <a:tabLst>
                <a:tab pos="27813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cycle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recursive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calls.</a:t>
            </a:r>
            <a:r>
              <a:rPr sz="2000" dirty="0">
                <a:latin typeface="Times New Roman"/>
                <a:cs typeface="Times New Roman"/>
              </a:rPr>
              <a:t> 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nction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B, 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nction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A.</a:t>
            </a:r>
            <a:endParaRPr sz="2000">
              <a:latin typeface="Times New Roman"/>
              <a:cs typeface="Times New Roman"/>
            </a:endParaRPr>
          </a:p>
          <a:p>
            <a:pPr marL="277495" indent="-26543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7813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However,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cannot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parameters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input/output.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354" y="555301"/>
            <a:ext cx="9660890" cy="50939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650"/>
              </a:spcBef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8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create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custom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function:</a:t>
            </a:r>
            <a:endParaRPr sz="22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1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Tools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&gt;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Custom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Functions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49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list,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right-click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New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9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description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49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-5" dirty="0">
                <a:latin typeface="Times New Roman"/>
                <a:cs typeface="Times New Roman"/>
              </a:rPr>
              <a:t>Click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Next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smart </a:t>
            </a:r>
            <a:r>
              <a:rPr sz="2000" spc="-15" dirty="0">
                <a:latin typeface="Times New Roman"/>
                <a:cs typeface="Times New Roman"/>
              </a:rPr>
              <a:t>editor.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right-click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Properties...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right-click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49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Define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 type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Parameter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(Input,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OK.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define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outside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right-click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500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Variable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click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OK.</a:t>
            </a:r>
            <a:endParaRPr sz="2000">
              <a:latin typeface="Times New Roman"/>
              <a:cs typeface="Times New Roman"/>
            </a:endParaRPr>
          </a:p>
          <a:p>
            <a:pPr marL="102235" indent="-90170">
              <a:lnSpc>
                <a:spcPct val="100000"/>
              </a:lnSpc>
              <a:spcBef>
                <a:spcPts val="495"/>
              </a:spcBef>
              <a:buSzPct val="95000"/>
              <a:buFont typeface="Arial MT"/>
              <a:buChar char="•"/>
              <a:tabLst>
                <a:tab pos="10287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Complete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text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click</a:t>
            </a:r>
            <a:r>
              <a:rPr sz="2000" dirty="0">
                <a:latin typeface="Times New Roman"/>
                <a:cs typeface="Times New Roman"/>
              </a:rPr>
              <a:t> OK.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829" y="215341"/>
            <a:ext cx="10490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0" dirty="0">
                <a:solidFill>
                  <a:srgbClr val="006FAC"/>
                </a:solidFill>
                <a:latin typeface="Microsoft Sans Serif"/>
                <a:cs typeface="Microsoft Sans Serif"/>
              </a:rPr>
              <a:t>Scripts</a:t>
            </a:r>
            <a:endParaRPr sz="32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829" y="1065758"/>
            <a:ext cx="8910955" cy="4957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Scripts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single-use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assign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flow.</a:t>
            </a:r>
            <a:endParaRPr sz="2000">
              <a:latin typeface="Times New Roman"/>
              <a:cs typeface="Times New Roman"/>
            </a:endParaRPr>
          </a:p>
          <a:p>
            <a:pPr marL="12700" marR="260985">
              <a:lnSpc>
                <a:spcPct val="110000"/>
              </a:lnSpc>
              <a:spcBef>
                <a:spcPts val="5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r>
              <a:rPr sz="2000" dirty="0">
                <a:latin typeface="Times New Roman"/>
                <a:cs typeface="Times New Roman"/>
              </a:rPr>
              <a:t> 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use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determine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most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73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65" dirty="0">
                <a:latin typeface="Times New Roman"/>
                <a:cs typeface="Times New Roman"/>
              </a:rPr>
              <a:t>You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source.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74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statements: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statements</a:t>
            </a:r>
            <a:endParaRPr sz="2000">
              <a:latin typeface="Times New Roman"/>
              <a:cs typeface="Times New Roman"/>
            </a:endParaRPr>
          </a:p>
          <a:p>
            <a:pPr marL="160020" indent="-14795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160655" algn="l"/>
              </a:tabLst>
            </a:pP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statements</a:t>
            </a:r>
            <a:endParaRPr sz="2000">
              <a:latin typeface="Times New Roman"/>
              <a:cs typeface="Times New Roman"/>
            </a:endParaRPr>
          </a:p>
          <a:p>
            <a:pPr marL="149860" indent="-13716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149860" algn="l"/>
              </a:tabLst>
            </a:pPr>
            <a:r>
              <a:rPr sz="2000" dirty="0">
                <a:latin typeface="Times New Roman"/>
                <a:cs typeface="Times New Roman"/>
              </a:rPr>
              <a:t>Assignment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Operators</a:t>
            </a:r>
            <a:endParaRPr sz="20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74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 </a:t>
            </a:r>
            <a:r>
              <a:rPr sz="2000" dirty="0">
                <a:latin typeface="Times New Roman"/>
                <a:cs typeface="Times New Roman"/>
              </a:rPr>
              <a:t>ends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semicolon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‘;’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3261" y="2371470"/>
            <a:ext cx="2395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Verdana"/>
                <a:cs typeface="Verdana"/>
              </a:rPr>
              <a:t>THANK</a:t>
            </a:r>
            <a:r>
              <a:rPr sz="2800" b="1" spc="-40" dirty="0">
                <a:latin typeface="Verdana"/>
                <a:cs typeface="Verdana"/>
              </a:rPr>
              <a:t> </a:t>
            </a:r>
            <a:r>
              <a:rPr sz="2800" b="1" spc="-5" dirty="0">
                <a:latin typeface="Verdana"/>
                <a:cs typeface="Verdana"/>
              </a:rPr>
              <a:t>YOU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95544" y="3020567"/>
            <a:ext cx="927100" cy="927100"/>
            <a:chOff x="5495544" y="3020567"/>
            <a:chExt cx="927100" cy="927100"/>
          </a:xfrm>
        </p:grpSpPr>
        <p:sp>
          <p:nvSpPr>
            <p:cNvPr id="4" name="object 4"/>
            <p:cNvSpPr/>
            <p:nvPr/>
          </p:nvSpPr>
          <p:spPr>
            <a:xfrm>
              <a:off x="5501640" y="302666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7F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4784" y="3299459"/>
              <a:ext cx="388620" cy="95250"/>
            </a:xfrm>
            <a:custGeom>
              <a:avLst/>
              <a:gdLst/>
              <a:ahLst/>
              <a:cxnLst/>
              <a:rect l="l" t="t" r="r" b="b"/>
              <a:pathLst>
                <a:path w="388620" h="952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3744" y="66157"/>
                  </a:lnTo>
                  <a:lnTo>
                    <a:pt x="13954" y="81295"/>
                  </a:lnTo>
                  <a:lnTo>
                    <a:pt x="29092" y="91505"/>
                  </a:lnTo>
                  <a:lnTo>
                    <a:pt x="47625" y="95250"/>
                  </a:lnTo>
                  <a:lnTo>
                    <a:pt x="66157" y="91505"/>
                  </a:lnTo>
                  <a:lnTo>
                    <a:pt x="81295" y="81295"/>
                  </a:lnTo>
                  <a:lnTo>
                    <a:pt x="91505" y="66157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  <a:path w="388620" h="95250">
                  <a:moveTo>
                    <a:pt x="340487" y="0"/>
                  </a:moveTo>
                  <a:lnTo>
                    <a:pt x="321954" y="3744"/>
                  </a:lnTo>
                  <a:lnTo>
                    <a:pt x="306816" y="13954"/>
                  </a:lnTo>
                  <a:lnTo>
                    <a:pt x="296606" y="29092"/>
                  </a:lnTo>
                  <a:lnTo>
                    <a:pt x="292862" y="47625"/>
                  </a:lnTo>
                  <a:lnTo>
                    <a:pt x="296606" y="66157"/>
                  </a:lnTo>
                  <a:lnTo>
                    <a:pt x="306816" y="81295"/>
                  </a:lnTo>
                  <a:lnTo>
                    <a:pt x="321954" y="91505"/>
                  </a:lnTo>
                  <a:lnTo>
                    <a:pt x="340487" y="95250"/>
                  </a:lnTo>
                  <a:lnTo>
                    <a:pt x="359019" y="91505"/>
                  </a:lnTo>
                  <a:lnTo>
                    <a:pt x="374157" y="81295"/>
                  </a:lnTo>
                  <a:lnTo>
                    <a:pt x="384367" y="66157"/>
                  </a:lnTo>
                  <a:lnTo>
                    <a:pt x="388112" y="47625"/>
                  </a:lnTo>
                  <a:lnTo>
                    <a:pt x="384367" y="29092"/>
                  </a:lnTo>
                  <a:lnTo>
                    <a:pt x="374157" y="13954"/>
                  </a:lnTo>
                  <a:lnTo>
                    <a:pt x="359019" y="3744"/>
                  </a:lnTo>
                  <a:lnTo>
                    <a:pt x="340487" y="0"/>
                  </a:lnTo>
                  <a:close/>
                </a:path>
              </a:pathLst>
            </a:custGeom>
            <a:solidFill>
              <a:srgbClr val="C6C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8688" y="3293363"/>
              <a:ext cx="107442" cy="1074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1550" y="3293363"/>
              <a:ext cx="107442" cy="107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01640" y="302666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09423" y="656590"/>
                  </a:moveTo>
                  <a:lnTo>
                    <a:pt x="254478" y="684708"/>
                  </a:lnTo>
                  <a:lnTo>
                    <a:pt x="299522" y="707203"/>
                  </a:lnTo>
                  <a:lnTo>
                    <a:pt x="344554" y="724074"/>
                  </a:lnTo>
                  <a:lnTo>
                    <a:pt x="389575" y="735321"/>
                  </a:lnTo>
                  <a:lnTo>
                    <a:pt x="434587" y="740945"/>
                  </a:lnTo>
                  <a:lnTo>
                    <a:pt x="479588" y="740945"/>
                  </a:lnTo>
                  <a:lnTo>
                    <a:pt x="524580" y="735321"/>
                  </a:lnTo>
                  <a:lnTo>
                    <a:pt x="569564" y="724074"/>
                  </a:lnTo>
                  <a:lnTo>
                    <a:pt x="614539" y="707203"/>
                  </a:lnTo>
                  <a:lnTo>
                    <a:pt x="659507" y="684708"/>
                  </a:lnTo>
                  <a:lnTo>
                    <a:pt x="704469" y="656590"/>
                  </a:lnTo>
                </a:path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005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4946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8604E4B921FB4F93D8730230AA0870" ma:contentTypeVersion="14" ma:contentTypeDescription="Create a new document." ma:contentTypeScope="" ma:versionID="c969565bd0441f143c008ea4f71f08fa">
  <xsd:schema xmlns:xsd="http://www.w3.org/2001/XMLSchema" xmlns:xs="http://www.w3.org/2001/XMLSchema" xmlns:p="http://schemas.microsoft.com/office/2006/metadata/properties" xmlns:ns2="b5bd380f-4f72-4d40-8fc8-67f930036d20" xmlns:ns3="dd57703e-8384-4d8b-be02-c5599229607d" targetNamespace="http://schemas.microsoft.com/office/2006/metadata/properties" ma:root="true" ma:fieldsID="43b57f1948bdfaf8442f9e5286e9a92a" ns2:_="" ns3:_="">
    <xsd:import namespace="b5bd380f-4f72-4d40-8fc8-67f930036d20"/>
    <xsd:import namespace="dd57703e-8384-4d8b-be02-c5599229607d"/>
    <xsd:element name="properties">
      <xsd:complexType>
        <xsd:sequence>
          <xsd:element name="documentManagement">
            <xsd:complexType>
              <xsd:all>
                <xsd:element ref="ns2:Level"/>
                <xsd:element ref="ns2:Category"/>
                <xsd:element ref="ns2:Material_x0020_Type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bd380f-4f72-4d40-8fc8-67f930036d20" elementFormDefault="qualified">
    <xsd:import namespace="http://schemas.microsoft.com/office/2006/documentManagement/types"/>
    <xsd:import namespace="http://schemas.microsoft.com/office/infopath/2007/PartnerControls"/>
    <xsd:element name="Level" ma:index="8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9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0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7703e-8384-4d8b-be02-c559922960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b5bd380f-4f72-4d40-8fc8-67f930036d20">Class book</Material_x0020_Type>
    <Category xmlns="b5bd380f-4f72-4d40-8fc8-67f930036d20">Module Artifact</Category>
    <Level xmlns="b5bd380f-4f72-4d40-8fc8-67f930036d20">L1</Level>
  </documentManagement>
</p:properties>
</file>

<file path=customXml/itemProps1.xml><?xml version="1.0" encoding="utf-8"?>
<ds:datastoreItem xmlns:ds="http://schemas.openxmlformats.org/officeDocument/2006/customXml" ds:itemID="{CA17021F-80DE-4D71-A5DE-18B018185C7F}"/>
</file>

<file path=customXml/itemProps2.xml><?xml version="1.0" encoding="utf-8"?>
<ds:datastoreItem xmlns:ds="http://schemas.openxmlformats.org/officeDocument/2006/customXml" ds:itemID="{D60AC0D7-A269-4062-833F-4E7FB853ED48}"/>
</file>

<file path=customXml/itemProps3.xml><?xml version="1.0" encoding="utf-8"?>
<ds:datastoreItem xmlns:ds="http://schemas.openxmlformats.org/officeDocument/2006/customXml" ds:itemID="{810518BC-72AC-4643-874B-839322C97F6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2645</Words>
  <Application>Microsoft Office PowerPoint</Application>
  <PresentationFormat>Widescreen</PresentationFormat>
  <Paragraphs>238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Arial MT</vt:lpstr>
      <vt:lpstr>Calibri</vt:lpstr>
      <vt:lpstr>Microsoft Sans Serif</vt:lpstr>
      <vt:lpstr>Times New Roman</vt:lpstr>
      <vt:lpstr>Verdana</vt:lpstr>
      <vt:lpstr>Wingdings</vt:lpstr>
      <vt:lpstr>Office Theme</vt:lpstr>
      <vt:lpstr>TRAINING DAY 2</vt:lpstr>
      <vt:lpstr>AGENDA</vt:lpstr>
      <vt:lpstr>BODS Transforms</vt:lpstr>
      <vt:lpstr>PowerPoint Presentation</vt:lpstr>
      <vt:lpstr>2. CASE :</vt:lpstr>
      <vt:lpstr>PowerPoint Presentation</vt:lpstr>
      <vt:lpstr>3. DATA TRANSFER:</vt:lpstr>
      <vt:lpstr>PowerPoint Presentation</vt:lpstr>
      <vt:lpstr>4. ROW GENERATION:</vt:lpstr>
      <vt:lpstr>PowerPoint Presentation</vt:lpstr>
      <vt:lpstr>5. Date generation:</vt:lpstr>
      <vt:lpstr>PowerPoint Presentation</vt:lpstr>
      <vt:lpstr>6. EFFECTIVE DATE:</vt:lpstr>
      <vt:lpstr>PowerPoint Presentation</vt:lpstr>
      <vt:lpstr>7. Hierarchy Flattening:</vt:lpstr>
      <vt:lpstr>8. XML Pipeline: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 Key Generation:</vt:lpstr>
      <vt:lpstr>PowerPoint Presentation</vt:lpstr>
      <vt:lpstr>11. Map_CDC_Operation:</vt:lpstr>
      <vt:lpstr>12. Map Operation:</vt:lpstr>
      <vt:lpstr>PowerPoint Presentation</vt:lpstr>
      <vt:lpstr>13. Pivot:</vt:lpstr>
      <vt:lpstr>PowerPoint Presentation</vt:lpstr>
      <vt:lpstr>PowerPoint Presentation</vt:lpstr>
      <vt:lpstr>14. Reverse Pivot:</vt:lpstr>
      <vt:lpstr>PowerPoint Presentation</vt:lpstr>
      <vt:lpstr>PowerPoint Presentation</vt:lpstr>
      <vt:lpstr>15. Merge:</vt:lpstr>
      <vt:lpstr>PowerPoint Presentation</vt:lpstr>
      <vt:lpstr>16.  SQL Transform:</vt:lpstr>
      <vt:lpstr>PowerPoint Presentation</vt:lpstr>
      <vt:lpstr>PowerPoint Presentation</vt:lpstr>
      <vt:lpstr>17. Validation Transform:</vt:lpstr>
      <vt:lpstr>PowerPoint Presentation</vt:lpstr>
      <vt:lpstr>PowerPoint Presentation</vt:lpstr>
      <vt:lpstr>Functions</vt:lpstr>
      <vt:lpstr>PowerPoint Presentation</vt:lpstr>
      <vt:lpstr>PowerPoint Presentation</vt:lpstr>
      <vt:lpstr>PowerPoint Presentation</vt:lpstr>
      <vt:lpstr>2. Custom Defined Functions:</vt:lpstr>
      <vt:lpstr>PowerPoint Presentation</vt:lpstr>
      <vt:lpstr>Scripts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BODS  TRAINING DAY 2</dc:title>
  <dc:creator>V, Akshay</dc:creator>
  <cp:lastModifiedBy>Mohammad, Fareed</cp:lastModifiedBy>
  <cp:revision>5</cp:revision>
  <dcterms:created xsi:type="dcterms:W3CDTF">2022-01-04T13:20:53Z</dcterms:created>
  <dcterms:modified xsi:type="dcterms:W3CDTF">2022-01-05T15:21:47Z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2022-01-04T00:00:00Z</vt:filetime>
  </property>
  <property fmtid="{D5CDD505-2E9C-101B-9397-08002B2CF9AE}" pid="5" name="ContentTypeId">
    <vt:lpwstr>0x0101008E8604E4B921FB4F93D8730230AA0870</vt:lpwstr>
  </property>
</Properties>
</file>