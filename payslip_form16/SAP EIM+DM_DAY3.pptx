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s/slide3.xml" ContentType="application/vnd.openxmlformats-officedocument.presentationml.slide+xml"/>
  <Override PartName="/ppt/slides/slide21.xml" ContentType="application/vnd.openxmlformats-officedocument.presentationml.slide+xml"/>
  <Override PartName="/ppt/slides/slide20.xml" ContentType="application/vnd.openxmlformats-officedocument.presentationml.slide+xml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25.xml" ContentType="application/vnd.openxmlformats-officedocument.presentationml.slide+xml"/>
  <Override PartName="/ppt/slides/slide14.xml" ContentType="application/vnd.openxmlformats-officedocument.presentationml.slide+xml"/>
  <Override PartName="/ppt/slides/slide17.xml" ContentType="application/vnd.openxmlformats-officedocument.presentationml.slide+xml"/>
  <Override PartName="/ppt/slides/slide1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302" r:id="rId24"/>
    <p:sldId id="312" r:id="rId25"/>
    <p:sldId id="311" r:id="rId26"/>
    <p:sldId id="313" r:id="rId27"/>
    <p:sldId id="301" r:id="rId28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1" d="100"/>
          <a:sy n="61" d="100"/>
        </p:scale>
        <p:origin x="788" y="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ustomXml" Target="../customXml/item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openxmlformats.org/officeDocument/2006/relationships/customXml" Target="../customXml/item2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1778B6-09B4-40DE-9795-8E6F59B0BA94}" type="datetimeFigureOut">
              <a:rPr lang="en-IN" smtClean="0"/>
              <a:t>05-01-2022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F4FDCD-AE0B-4ABB-A337-C5AF4BED9E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21612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295527" y="213436"/>
            <a:ext cx="9600945" cy="6057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1/5/2022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00" b="0" i="0">
                <a:solidFill>
                  <a:srgbClr val="006FAC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1/5/2022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00" b="0" i="0">
                <a:solidFill>
                  <a:srgbClr val="006FAC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1/5/2022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00" b="0" i="0">
                <a:solidFill>
                  <a:srgbClr val="006FAC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1/5/2022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1/5/2022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ECECE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548871" y="213486"/>
            <a:ext cx="423672" cy="43421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54100" y="-17576"/>
            <a:ext cx="10083800" cy="17640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00" b="0" i="0">
                <a:solidFill>
                  <a:srgbClr val="006FAC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36193" y="1938654"/>
            <a:ext cx="10087610" cy="2411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1/5/2022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49.svg"/><Relationship Id="rId18" Type="http://schemas.openxmlformats.org/officeDocument/2006/relationships/image" Target="../media/image28.png"/><Relationship Id="rId3" Type="http://schemas.openxmlformats.org/officeDocument/2006/relationships/image" Target="../media/image39.sv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17" Type="http://schemas.openxmlformats.org/officeDocument/2006/relationships/image" Target="../media/image27.png"/><Relationship Id="rId2" Type="http://schemas.openxmlformats.org/officeDocument/2006/relationships/image" Target="../media/image15.png"/><Relationship Id="rId16" Type="http://schemas.openxmlformats.org/officeDocument/2006/relationships/image" Target="../media/image2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5" Type="http://schemas.openxmlformats.org/officeDocument/2006/relationships/image" Target="../media/image51.sv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5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ECECE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26735" y="0"/>
            <a:ext cx="7065263" cy="68579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8431" y="6100571"/>
            <a:ext cx="2286000" cy="51206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35454" y="2618963"/>
            <a:ext cx="4631945" cy="6031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047115">
              <a:lnSpc>
                <a:spcPct val="119700"/>
              </a:lnSpc>
              <a:spcBef>
                <a:spcPts val="95"/>
              </a:spcBef>
            </a:pPr>
            <a:r>
              <a:rPr sz="3200" b="1" spc="50" dirty="0" smtClean="0">
                <a:latin typeface="Arial"/>
                <a:cs typeface="Arial"/>
              </a:rPr>
              <a:t>T</a:t>
            </a:r>
            <a:r>
              <a:rPr sz="3200" b="1" dirty="0" smtClean="0">
                <a:latin typeface="Arial"/>
                <a:cs typeface="Arial"/>
              </a:rPr>
              <a:t>R</a:t>
            </a:r>
            <a:r>
              <a:rPr sz="3200" b="1" spc="60" dirty="0" smtClean="0">
                <a:latin typeface="Arial"/>
                <a:cs typeface="Arial"/>
              </a:rPr>
              <a:t>AI</a:t>
            </a:r>
            <a:r>
              <a:rPr sz="3200" b="1" spc="80" dirty="0" smtClean="0">
                <a:latin typeface="Arial"/>
                <a:cs typeface="Arial"/>
              </a:rPr>
              <a:t>N</a:t>
            </a:r>
            <a:r>
              <a:rPr sz="3200" b="1" spc="95" dirty="0" smtClean="0">
                <a:latin typeface="Arial"/>
                <a:cs typeface="Arial"/>
              </a:rPr>
              <a:t>ING</a:t>
            </a:r>
            <a:r>
              <a:rPr sz="3200" b="1" spc="-130" dirty="0" smtClean="0">
                <a:latin typeface="Arial"/>
                <a:cs typeface="Arial"/>
              </a:rPr>
              <a:t> </a:t>
            </a:r>
            <a:r>
              <a:rPr sz="3200" b="1" spc="-50" dirty="0">
                <a:latin typeface="Arial"/>
                <a:cs typeface="Arial"/>
              </a:rPr>
              <a:t>D</a:t>
            </a:r>
            <a:r>
              <a:rPr sz="3200" b="1" spc="-200" dirty="0">
                <a:latin typeface="Arial"/>
                <a:cs typeface="Arial"/>
              </a:rPr>
              <a:t>A</a:t>
            </a:r>
            <a:r>
              <a:rPr sz="3200" b="1" spc="-135" dirty="0">
                <a:latin typeface="Arial"/>
                <a:cs typeface="Arial"/>
              </a:rPr>
              <a:t>Y</a:t>
            </a:r>
            <a:r>
              <a:rPr sz="3200" b="1" spc="-120" dirty="0">
                <a:latin typeface="Arial"/>
                <a:cs typeface="Arial"/>
              </a:rPr>
              <a:t> </a:t>
            </a:r>
            <a:r>
              <a:rPr sz="3200" b="1" spc="125" dirty="0">
                <a:latin typeface="Arial"/>
                <a:cs typeface="Arial"/>
              </a:rPr>
              <a:t>3</a:t>
            </a:r>
            <a:endParaRPr sz="32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62627" y="472566"/>
            <a:ext cx="266636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1" spc="-5" dirty="0">
                <a:latin typeface="Verdana"/>
                <a:cs typeface="Verdana"/>
              </a:rPr>
              <a:t>AGENDA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54100" y="1531746"/>
            <a:ext cx="7987665" cy="2337178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lang="en-IN" sz="1800" b="1" spc="-5" dirty="0" smtClean="0">
                <a:latin typeface="Verdana"/>
                <a:cs typeface="Verdana"/>
              </a:rPr>
              <a:t>BODS </a:t>
            </a:r>
            <a:r>
              <a:rPr sz="1800" b="1" spc="-5" dirty="0" smtClean="0">
                <a:latin typeface="Verdana"/>
                <a:cs typeface="Verdana"/>
              </a:rPr>
              <a:t>Performance</a:t>
            </a:r>
            <a:r>
              <a:rPr sz="1800" b="1" spc="5" dirty="0" smtClean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Management</a:t>
            </a:r>
            <a:r>
              <a:rPr sz="1800" b="1" spc="15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-</a:t>
            </a:r>
            <a:r>
              <a:rPr sz="1800" b="1" spc="-10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Analysis</a:t>
            </a:r>
            <a:r>
              <a:rPr sz="1800" b="1" dirty="0">
                <a:latin typeface="Verdana"/>
                <a:cs typeface="Verdana"/>
              </a:rPr>
              <a:t> /</a:t>
            </a:r>
            <a:r>
              <a:rPr sz="1800" b="1" spc="-15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Metadata</a:t>
            </a:r>
            <a:r>
              <a:rPr sz="1800" b="1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Management</a:t>
            </a:r>
            <a:endParaRPr sz="1800" dirty="0">
              <a:latin typeface="Verdana"/>
              <a:cs typeface="Verdana"/>
            </a:endParaRPr>
          </a:p>
          <a:p>
            <a:pPr marL="652145" lvl="1" indent="-182245">
              <a:spcBef>
                <a:spcPts val="500"/>
              </a:spcBef>
              <a:buSzPct val="94444"/>
              <a:buFont typeface="Wingdings"/>
              <a:buChar char=""/>
              <a:tabLst>
                <a:tab pos="194945" algn="l"/>
              </a:tabLst>
            </a:pPr>
            <a:r>
              <a:rPr dirty="0">
                <a:latin typeface="Verdana"/>
                <a:cs typeface="Verdana"/>
              </a:rPr>
              <a:t>BODS</a:t>
            </a:r>
            <a:r>
              <a:rPr spc="-5" dirty="0">
                <a:latin typeface="Verdana"/>
                <a:cs typeface="Verdana"/>
              </a:rPr>
              <a:t> </a:t>
            </a:r>
            <a:r>
              <a:rPr spc="-10" dirty="0">
                <a:latin typeface="Verdana"/>
                <a:cs typeface="Verdana"/>
              </a:rPr>
              <a:t>Performance</a:t>
            </a:r>
            <a:r>
              <a:rPr dirty="0">
                <a:latin typeface="Verdana"/>
                <a:cs typeface="Verdana"/>
              </a:rPr>
              <a:t> </a:t>
            </a:r>
            <a:r>
              <a:rPr spc="-5" dirty="0">
                <a:latin typeface="Verdana"/>
                <a:cs typeface="Verdana"/>
              </a:rPr>
              <a:t>tuning</a:t>
            </a:r>
            <a:r>
              <a:rPr dirty="0">
                <a:latin typeface="Verdana"/>
                <a:cs typeface="Verdana"/>
              </a:rPr>
              <a:t> </a:t>
            </a:r>
            <a:r>
              <a:rPr spc="-5" dirty="0">
                <a:latin typeface="Verdana"/>
                <a:cs typeface="Verdana"/>
              </a:rPr>
              <a:t>techniques</a:t>
            </a:r>
            <a:endParaRPr dirty="0">
              <a:latin typeface="Verdana"/>
              <a:cs typeface="Verdana"/>
            </a:endParaRPr>
          </a:p>
          <a:p>
            <a:pPr marL="652145" lvl="1" indent="-182245">
              <a:spcBef>
                <a:spcPts val="495"/>
              </a:spcBef>
              <a:buSzPct val="94444"/>
              <a:buFont typeface="Wingdings"/>
              <a:buChar char=""/>
              <a:tabLst>
                <a:tab pos="194945" algn="l"/>
              </a:tabLst>
            </a:pPr>
            <a:r>
              <a:rPr dirty="0">
                <a:latin typeface="Verdana"/>
                <a:cs typeface="Verdana"/>
              </a:rPr>
              <a:t>Introduction</a:t>
            </a:r>
            <a:r>
              <a:rPr spc="-15" dirty="0">
                <a:latin typeface="Verdana"/>
                <a:cs typeface="Verdana"/>
              </a:rPr>
              <a:t> </a:t>
            </a:r>
            <a:r>
              <a:rPr spc="-5" dirty="0">
                <a:latin typeface="Verdana"/>
                <a:cs typeface="Verdana"/>
              </a:rPr>
              <a:t>to</a:t>
            </a:r>
            <a:r>
              <a:rPr spc="-10" dirty="0">
                <a:latin typeface="Verdana"/>
                <a:cs typeface="Verdana"/>
              </a:rPr>
              <a:t> </a:t>
            </a:r>
            <a:r>
              <a:rPr spc="-5" dirty="0">
                <a:latin typeface="Verdana"/>
                <a:cs typeface="Verdana"/>
              </a:rPr>
              <a:t>the</a:t>
            </a:r>
            <a:r>
              <a:rPr dirty="0">
                <a:latin typeface="Verdana"/>
                <a:cs typeface="Verdana"/>
              </a:rPr>
              <a:t> </a:t>
            </a:r>
            <a:r>
              <a:rPr spc="-5" dirty="0">
                <a:latin typeface="Verdana"/>
                <a:cs typeface="Verdana"/>
              </a:rPr>
              <a:t>metadata tables</a:t>
            </a:r>
            <a:endParaRPr dirty="0">
              <a:latin typeface="Verdana"/>
              <a:cs typeface="Verdana"/>
            </a:endParaRPr>
          </a:p>
          <a:p>
            <a:pPr marL="652145" lvl="1" indent="-182245">
              <a:spcBef>
                <a:spcPts val="505"/>
              </a:spcBef>
              <a:buSzPct val="94444"/>
              <a:buFont typeface="Wingdings"/>
              <a:buChar char=""/>
              <a:tabLst>
                <a:tab pos="194945" algn="l"/>
              </a:tabLst>
            </a:pPr>
            <a:r>
              <a:rPr dirty="0">
                <a:latin typeface="Verdana"/>
                <a:cs typeface="Verdana"/>
              </a:rPr>
              <a:t>Default</a:t>
            </a:r>
            <a:r>
              <a:rPr spc="-5" dirty="0">
                <a:latin typeface="Verdana"/>
                <a:cs typeface="Verdana"/>
              </a:rPr>
              <a:t> options to</a:t>
            </a:r>
            <a:r>
              <a:rPr dirty="0">
                <a:latin typeface="Verdana"/>
                <a:cs typeface="Verdana"/>
              </a:rPr>
              <a:t> increase</a:t>
            </a:r>
            <a:r>
              <a:rPr spc="-15" dirty="0">
                <a:latin typeface="Verdana"/>
                <a:cs typeface="Verdana"/>
              </a:rPr>
              <a:t> </a:t>
            </a:r>
            <a:r>
              <a:rPr spc="-5" dirty="0">
                <a:latin typeface="Verdana"/>
                <a:cs typeface="Verdana"/>
              </a:rPr>
              <a:t>performance</a:t>
            </a:r>
            <a:endParaRPr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1800" b="1" spc="-5" dirty="0">
                <a:latin typeface="Verdana"/>
                <a:cs typeface="Verdana"/>
              </a:rPr>
              <a:t>SAP</a:t>
            </a:r>
            <a:r>
              <a:rPr sz="1800" b="1" spc="-20" dirty="0">
                <a:latin typeface="Verdana"/>
                <a:cs typeface="Verdana"/>
              </a:rPr>
              <a:t> </a:t>
            </a:r>
            <a:r>
              <a:rPr lang="en-IN" sz="1800" b="1" spc="-5" dirty="0" smtClean="0">
                <a:latin typeface="Verdana"/>
                <a:cs typeface="Verdana"/>
              </a:rPr>
              <a:t>Data Intelligenc</a:t>
            </a:r>
            <a:r>
              <a:rPr lang="en-IN" b="1" spc="-5" dirty="0" smtClean="0">
                <a:latin typeface="Verdana"/>
                <a:cs typeface="Verdana"/>
              </a:rPr>
              <a:t>e Overview</a:t>
            </a:r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lang="en-IN" sz="1800" b="1" spc="-5" dirty="0" smtClean="0">
                <a:latin typeface="Verdana"/>
                <a:cs typeface="Verdana"/>
              </a:rPr>
              <a:t>SAP SDI Overview</a:t>
            </a:r>
            <a:endParaRPr sz="18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51052" y="318262"/>
            <a:ext cx="6262370" cy="605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85" dirty="0"/>
              <a:t>METADATA</a:t>
            </a:r>
            <a:r>
              <a:rPr spc="-70" dirty="0"/>
              <a:t> </a:t>
            </a:r>
            <a:r>
              <a:rPr dirty="0"/>
              <a:t>MANAGEMENT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51052" y="1595754"/>
            <a:ext cx="10085705" cy="3086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SAP </a:t>
            </a:r>
            <a:r>
              <a:rPr sz="1800" dirty="0">
                <a:latin typeface="Verdana"/>
                <a:cs typeface="Verdana"/>
              </a:rPr>
              <a:t>Business </a:t>
            </a:r>
            <a:r>
              <a:rPr sz="1800" spc="-5" dirty="0">
                <a:latin typeface="Verdana"/>
                <a:cs typeface="Verdana"/>
              </a:rPr>
              <a:t>Objects Metadata Management </a:t>
            </a:r>
            <a:r>
              <a:rPr sz="1800" spc="5" dirty="0">
                <a:latin typeface="Verdana"/>
                <a:cs typeface="Verdana"/>
              </a:rPr>
              <a:t>is </a:t>
            </a:r>
            <a:r>
              <a:rPr sz="1800" dirty="0">
                <a:latin typeface="Verdana"/>
                <a:cs typeface="Verdana"/>
              </a:rPr>
              <a:t>a </a:t>
            </a:r>
            <a:r>
              <a:rPr sz="1800" spc="-15" dirty="0">
                <a:latin typeface="Verdana"/>
                <a:cs typeface="Verdana"/>
              </a:rPr>
              <a:t>Web-based </a:t>
            </a:r>
            <a:r>
              <a:rPr sz="1800" dirty="0">
                <a:latin typeface="Verdana"/>
                <a:cs typeface="Verdana"/>
              </a:rPr>
              <a:t>application </a:t>
            </a:r>
            <a:r>
              <a:rPr sz="1800" spc="-5" dirty="0">
                <a:latin typeface="Verdana"/>
                <a:cs typeface="Verdana"/>
              </a:rPr>
              <a:t>that provides 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an</a:t>
            </a:r>
            <a:r>
              <a:rPr sz="1800" spc="114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integrated</a:t>
            </a:r>
            <a:r>
              <a:rPr sz="1800" spc="1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view</a:t>
            </a:r>
            <a:r>
              <a:rPr sz="1800" spc="114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of</a:t>
            </a:r>
            <a:r>
              <a:rPr sz="1800" spc="12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metadata</a:t>
            </a:r>
            <a:r>
              <a:rPr sz="1800" spc="114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and</a:t>
            </a:r>
            <a:r>
              <a:rPr sz="1800" spc="1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their</a:t>
            </a:r>
            <a:r>
              <a:rPr sz="1800" spc="12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relationships</a:t>
            </a:r>
            <a:r>
              <a:rPr sz="1800" spc="12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across</a:t>
            </a:r>
            <a:r>
              <a:rPr sz="1800" spc="114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all</a:t>
            </a:r>
            <a:r>
              <a:rPr sz="1800" spc="1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of</a:t>
            </a:r>
            <a:r>
              <a:rPr sz="1800" spc="12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the</a:t>
            </a:r>
            <a:r>
              <a:rPr sz="1800" spc="13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products</a:t>
            </a:r>
            <a:r>
              <a:rPr sz="1800" spc="114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used </a:t>
            </a:r>
            <a:r>
              <a:rPr sz="1800" spc="-620" dirty="0">
                <a:latin typeface="Verdana"/>
                <a:cs typeface="Verdana"/>
              </a:rPr>
              <a:t> </a:t>
            </a:r>
            <a:r>
              <a:rPr sz="1800" spc="5" dirty="0">
                <a:latin typeface="Verdana"/>
                <a:cs typeface="Verdana"/>
              </a:rPr>
              <a:t>in</a:t>
            </a:r>
            <a:r>
              <a:rPr sz="1800" dirty="0">
                <a:latin typeface="Verdana"/>
                <a:cs typeface="Verdana"/>
              </a:rPr>
              <a:t> a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Business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Intelligence</a:t>
            </a:r>
            <a:r>
              <a:rPr sz="1800" spc="3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project.</a:t>
            </a:r>
            <a:endParaRPr sz="1800">
              <a:latin typeface="Verdana"/>
              <a:cs typeface="Verdana"/>
            </a:endParaRPr>
          </a:p>
          <a:p>
            <a:pPr marL="12700" algn="just">
              <a:lnSpc>
                <a:spcPct val="100000"/>
              </a:lnSpc>
              <a:spcBef>
                <a:spcPts val="500"/>
              </a:spcBef>
            </a:pPr>
            <a:r>
              <a:rPr sz="1800" spc="-5" dirty="0">
                <a:latin typeface="Verdana"/>
                <a:cs typeface="Verdana"/>
              </a:rPr>
              <a:t>Metadata</a:t>
            </a:r>
            <a:r>
              <a:rPr sz="1800" spc="140" dirty="0">
                <a:latin typeface="Verdana"/>
                <a:cs typeface="Verdana"/>
              </a:rPr>
              <a:t> </a:t>
            </a:r>
            <a:r>
              <a:rPr sz="1800" spc="5" dirty="0">
                <a:latin typeface="Verdana"/>
                <a:cs typeface="Verdana"/>
              </a:rPr>
              <a:t>is</a:t>
            </a:r>
            <a:r>
              <a:rPr sz="1800" spc="15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definitional</a:t>
            </a:r>
            <a:r>
              <a:rPr sz="1800" spc="15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data</a:t>
            </a:r>
            <a:r>
              <a:rPr sz="1800" spc="14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that</a:t>
            </a:r>
            <a:r>
              <a:rPr sz="1800" spc="14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provides</a:t>
            </a:r>
            <a:r>
              <a:rPr sz="1800" spc="1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information</a:t>
            </a:r>
            <a:r>
              <a:rPr sz="1800" spc="15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about</a:t>
            </a:r>
            <a:r>
              <a:rPr sz="1800" spc="14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data</a:t>
            </a:r>
            <a:r>
              <a:rPr sz="1800" spc="14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managed</a:t>
            </a:r>
            <a:r>
              <a:rPr sz="1800" spc="15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within</a:t>
            </a:r>
            <a:r>
              <a:rPr sz="1800" spc="140" dirty="0">
                <a:latin typeface="Verdana"/>
                <a:cs typeface="Verdana"/>
              </a:rPr>
              <a:t> </a:t>
            </a:r>
            <a:r>
              <a:rPr sz="1800" spc="-15" dirty="0">
                <a:latin typeface="Verdana"/>
                <a:cs typeface="Verdana"/>
              </a:rPr>
              <a:t>an</a:t>
            </a:r>
            <a:endParaRPr sz="1800">
              <a:latin typeface="Verdana"/>
              <a:cs typeface="Verdana"/>
            </a:endParaRPr>
          </a:p>
          <a:p>
            <a:pPr marL="12700" algn="just">
              <a:lnSpc>
                <a:spcPct val="100000"/>
              </a:lnSpc>
              <a:spcBef>
                <a:spcPts val="5"/>
              </a:spcBef>
            </a:pPr>
            <a:r>
              <a:rPr sz="1800" spc="-5" dirty="0">
                <a:latin typeface="Verdana"/>
                <a:cs typeface="Verdana"/>
              </a:rPr>
              <a:t>application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or system.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Metadata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includes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the </a:t>
            </a:r>
            <a:r>
              <a:rPr sz="1800" dirty="0">
                <a:latin typeface="Verdana"/>
                <a:cs typeface="Verdana"/>
              </a:rPr>
              <a:t>following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information:</a:t>
            </a:r>
            <a:endParaRPr sz="1800">
              <a:latin typeface="Verdana"/>
              <a:cs typeface="Verdana"/>
            </a:endParaRPr>
          </a:p>
          <a:p>
            <a:pPr marL="194945" indent="-182245">
              <a:lnSpc>
                <a:spcPct val="100000"/>
              </a:lnSpc>
              <a:spcBef>
                <a:spcPts val="490"/>
              </a:spcBef>
              <a:buSzPct val="94444"/>
              <a:buFont typeface="Wingdings"/>
              <a:buChar char=""/>
              <a:tabLst>
                <a:tab pos="194945" algn="l"/>
              </a:tabLst>
            </a:pPr>
            <a:r>
              <a:rPr sz="1800" spc="-5" dirty="0">
                <a:latin typeface="Verdana"/>
                <a:cs typeface="Verdana"/>
              </a:rPr>
              <a:t>Attributes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such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as name,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size,</a:t>
            </a:r>
            <a:r>
              <a:rPr sz="1800" spc="-5" dirty="0">
                <a:latin typeface="Verdana"/>
                <a:cs typeface="Verdana"/>
              </a:rPr>
              <a:t> data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type</a:t>
            </a:r>
            <a:endParaRPr sz="1800">
              <a:latin typeface="Verdana"/>
              <a:cs typeface="Verdana"/>
            </a:endParaRPr>
          </a:p>
          <a:p>
            <a:pPr marL="194945" indent="-182245">
              <a:lnSpc>
                <a:spcPct val="100000"/>
              </a:lnSpc>
              <a:spcBef>
                <a:spcPts val="505"/>
              </a:spcBef>
              <a:buSzPct val="94444"/>
              <a:buFont typeface="Wingdings"/>
              <a:buChar char=""/>
              <a:tabLst>
                <a:tab pos="194945" algn="l"/>
              </a:tabLst>
            </a:pPr>
            <a:r>
              <a:rPr sz="1800" dirty="0">
                <a:latin typeface="Verdana"/>
                <a:cs typeface="Verdana"/>
              </a:rPr>
              <a:t>Structures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such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as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length,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fields,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columns</a:t>
            </a:r>
            <a:endParaRPr sz="1800">
              <a:latin typeface="Verdana"/>
              <a:cs typeface="Verdana"/>
            </a:endParaRPr>
          </a:p>
          <a:p>
            <a:pPr marL="194945" indent="-182245">
              <a:lnSpc>
                <a:spcPct val="100000"/>
              </a:lnSpc>
              <a:spcBef>
                <a:spcPts val="505"/>
              </a:spcBef>
              <a:buSzPct val="94444"/>
              <a:buFont typeface="Wingdings"/>
              <a:buChar char=""/>
              <a:tabLst>
                <a:tab pos="194945" algn="l"/>
              </a:tabLst>
            </a:pPr>
            <a:r>
              <a:rPr sz="1800" spc="-5" dirty="0">
                <a:latin typeface="Verdana"/>
                <a:cs typeface="Verdana"/>
              </a:rPr>
              <a:t>Properties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such </a:t>
            </a:r>
            <a:r>
              <a:rPr sz="1800" spc="-5" dirty="0">
                <a:latin typeface="Verdana"/>
                <a:cs typeface="Verdana"/>
              </a:rPr>
              <a:t>as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where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spc="5" dirty="0">
                <a:latin typeface="Verdana"/>
                <a:cs typeface="Verdana"/>
              </a:rPr>
              <a:t>it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5" dirty="0">
                <a:latin typeface="Verdana"/>
                <a:cs typeface="Verdana"/>
              </a:rPr>
              <a:t>is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located,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how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5" dirty="0">
                <a:latin typeface="Verdana"/>
                <a:cs typeface="Verdana"/>
              </a:rPr>
              <a:t>it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spc="5" dirty="0">
                <a:latin typeface="Verdana"/>
                <a:cs typeface="Verdana"/>
              </a:rPr>
              <a:t>is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associated,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ownership</a:t>
            </a:r>
            <a:endParaRPr sz="1800">
              <a:latin typeface="Verdana"/>
              <a:cs typeface="Verdana"/>
            </a:endParaRPr>
          </a:p>
          <a:p>
            <a:pPr marL="12700" marR="6985">
              <a:lnSpc>
                <a:spcPct val="100000"/>
              </a:lnSpc>
              <a:spcBef>
                <a:spcPts val="495"/>
              </a:spcBef>
              <a:buSzPct val="94444"/>
              <a:buFont typeface="Wingdings"/>
              <a:buChar char=""/>
              <a:tabLst>
                <a:tab pos="194945" algn="l"/>
              </a:tabLst>
            </a:pPr>
            <a:r>
              <a:rPr sz="1800" spc="-5" dirty="0">
                <a:latin typeface="Verdana"/>
                <a:cs typeface="Verdana"/>
              </a:rPr>
              <a:t>Descriptive</a:t>
            </a:r>
            <a:r>
              <a:rPr sz="1800" spc="5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information</a:t>
            </a:r>
            <a:r>
              <a:rPr sz="1800" spc="6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about</a:t>
            </a:r>
            <a:r>
              <a:rPr sz="1800" spc="6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the</a:t>
            </a:r>
            <a:r>
              <a:rPr sz="1800" spc="7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context,</a:t>
            </a:r>
            <a:r>
              <a:rPr sz="1800" spc="7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quality</a:t>
            </a:r>
            <a:r>
              <a:rPr sz="1800" spc="7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and</a:t>
            </a:r>
            <a:r>
              <a:rPr sz="1800" spc="6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condition,</a:t>
            </a:r>
            <a:r>
              <a:rPr sz="1800" spc="7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or</a:t>
            </a:r>
            <a:r>
              <a:rPr sz="1800" spc="6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characteristics</a:t>
            </a:r>
            <a:r>
              <a:rPr sz="1800" spc="5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of </a:t>
            </a:r>
            <a:r>
              <a:rPr sz="1800" spc="-6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the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data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51052" y="199389"/>
            <a:ext cx="6262370" cy="605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85" dirty="0"/>
              <a:t>METADATA</a:t>
            </a:r>
            <a:r>
              <a:rPr spc="-70" dirty="0"/>
              <a:t> </a:t>
            </a:r>
            <a:r>
              <a:rPr dirty="0"/>
              <a:t>MANAGEMENT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3752" y="1356360"/>
            <a:ext cx="8546592" cy="52273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54100" y="441401"/>
            <a:ext cx="6263005" cy="605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85" dirty="0"/>
              <a:t>METADATA</a:t>
            </a:r>
            <a:r>
              <a:rPr spc="-60" dirty="0"/>
              <a:t> </a:t>
            </a:r>
            <a:r>
              <a:rPr dirty="0"/>
              <a:t>MANAGEMENT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57147" y="1595754"/>
            <a:ext cx="10086975" cy="2200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Verdana"/>
                <a:cs typeface="Verdana"/>
              </a:rPr>
              <a:t>As</a:t>
            </a:r>
            <a:r>
              <a:rPr sz="1800" spc="26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the</a:t>
            </a:r>
            <a:r>
              <a:rPr sz="1800" spc="26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following</a:t>
            </a:r>
            <a:r>
              <a:rPr sz="1800" spc="26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diagram</a:t>
            </a:r>
            <a:r>
              <a:rPr sz="1800" spc="26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illustrates,</a:t>
            </a:r>
            <a:r>
              <a:rPr sz="1800" spc="27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the</a:t>
            </a:r>
            <a:r>
              <a:rPr sz="1800" spc="254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software</a:t>
            </a:r>
            <a:r>
              <a:rPr sz="1800" spc="254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collects</a:t>
            </a:r>
            <a:r>
              <a:rPr sz="1800" spc="254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and</a:t>
            </a:r>
            <a:r>
              <a:rPr sz="1800" spc="254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unifies</a:t>
            </a:r>
            <a:r>
              <a:rPr sz="1800" spc="254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metadata</a:t>
            </a:r>
            <a:r>
              <a:rPr sz="1800" spc="254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from </a:t>
            </a:r>
            <a:r>
              <a:rPr sz="1800" spc="-6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data sources</a:t>
            </a:r>
            <a:r>
              <a:rPr sz="1800" dirty="0">
                <a:latin typeface="Verdana"/>
                <a:cs typeface="Verdana"/>
              </a:rPr>
              <a:t> such </a:t>
            </a:r>
            <a:r>
              <a:rPr sz="1800" spc="-5" dirty="0">
                <a:latin typeface="Verdana"/>
                <a:cs typeface="Verdana"/>
              </a:rPr>
              <a:t>as:</a:t>
            </a:r>
            <a:endParaRPr sz="1800">
              <a:latin typeface="Verdana"/>
              <a:cs typeface="Verdana"/>
            </a:endParaRPr>
          </a:p>
          <a:p>
            <a:pPr marL="194945" indent="-182245">
              <a:lnSpc>
                <a:spcPct val="100000"/>
              </a:lnSpc>
              <a:spcBef>
                <a:spcPts val="505"/>
              </a:spcBef>
              <a:buSzPct val="94444"/>
              <a:buFont typeface="Wingdings"/>
              <a:buChar char=""/>
              <a:tabLst>
                <a:tab pos="194945" algn="l"/>
              </a:tabLst>
            </a:pPr>
            <a:r>
              <a:rPr sz="1800" dirty="0">
                <a:latin typeface="Verdana"/>
                <a:cs typeface="Verdana"/>
              </a:rPr>
              <a:t>Business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Intelligence</a:t>
            </a:r>
            <a:r>
              <a:rPr sz="1800" spc="2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(BI) systems</a:t>
            </a:r>
            <a:endParaRPr sz="1800">
              <a:latin typeface="Verdana"/>
              <a:cs typeface="Verdana"/>
            </a:endParaRPr>
          </a:p>
          <a:p>
            <a:pPr marL="194945" indent="-182245">
              <a:lnSpc>
                <a:spcPct val="100000"/>
              </a:lnSpc>
              <a:spcBef>
                <a:spcPts val="490"/>
              </a:spcBef>
              <a:buSzPct val="94444"/>
              <a:buFont typeface="Wingdings"/>
              <a:buChar char=""/>
              <a:tabLst>
                <a:tab pos="194945" algn="l"/>
              </a:tabLst>
            </a:pPr>
            <a:r>
              <a:rPr sz="1800" spc="-5" dirty="0">
                <a:latin typeface="Verdana"/>
                <a:cs typeface="Verdana"/>
              </a:rPr>
              <a:t>Databases</a:t>
            </a:r>
            <a:endParaRPr sz="1800">
              <a:latin typeface="Verdana"/>
              <a:cs typeface="Verdana"/>
            </a:endParaRPr>
          </a:p>
          <a:p>
            <a:pPr marL="12700" marR="5080">
              <a:lnSpc>
                <a:spcPct val="100000"/>
              </a:lnSpc>
              <a:spcBef>
                <a:spcPts val="505"/>
              </a:spcBef>
              <a:buSzPct val="94444"/>
              <a:buFont typeface="Wingdings"/>
              <a:buChar char=""/>
              <a:tabLst>
                <a:tab pos="194945" algn="l"/>
              </a:tabLst>
            </a:pPr>
            <a:r>
              <a:rPr sz="1800" dirty="0">
                <a:latin typeface="Verdana"/>
                <a:cs typeface="Verdana"/>
              </a:rPr>
              <a:t>Data</a:t>
            </a:r>
            <a:r>
              <a:rPr sz="1800" spc="26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Integration</a:t>
            </a:r>
            <a:r>
              <a:rPr sz="1800" spc="26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technologies</a:t>
            </a:r>
            <a:r>
              <a:rPr sz="1800" spc="28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such</a:t>
            </a:r>
            <a:r>
              <a:rPr sz="1800" spc="27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as</a:t>
            </a:r>
            <a:r>
              <a:rPr sz="1800" spc="28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SAP</a:t>
            </a:r>
            <a:r>
              <a:rPr sz="1800" spc="27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BusinessObjects</a:t>
            </a:r>
            <a:r>
              <a:rPr sz="1800" spc="27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Data</a:t>
            </a:r>
            <a:r>
              <a:rPr sz="1800" spc="27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Services</a:t>
            </a:r>
            <a:r>
              <a:rPr sz="1800" spc="27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and</a:t>
            </a:r>
            <a:r>
              <a:rPr sz="1800" spc="26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SAP </a:t>
            </a:r>
            <a:r>
              <a:rPr sz="1800" spc="-6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Business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Objects</a:t>
            </a:r>
            <a:r>
              <a:rPr sz="1800" spc="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Data </a:t>
            </a:r>
            <a:r>
              <a:rPr sz="1800" spc="-15" dirty="0">
                <a:latin typeface="Verdana"/>
                <a:cs typeface="Verdana"/>
              </a:rPr>
              <a:t>Federator</a:t>
            </a:r>
            <a:endParaRPr sz="1800">
              <a:latin typeface="Verdana"/>
              <a:cs typeface="Verdana"/>
            </a:endParaRPr>
          </a:p>
          <a:p>
            <a:pPr marL="194945" indent="-182245">
              <a:lnSpc>
                <a:spcPct val="100000"/>
              </a:lnSpc>
              <a:spcBef>
                <a:spcPts val="505"/>
              </a:spcBef>
              <a:buSzPct val="94444"/>
              <a:buFont typeface="Wingdings"/>
              <a:buChar char=""/>
              <a:tabLst>
                <a:tab pos="194945" algn="l"/>
              </a:tabLst>
            </a:pPr>
            <a:r>
              <a:rPr sz="1800" spc="-5" dirty="0">
                <a:latin typeface="Verdana"/>
                <a:cs typeface="Verdana"/>
              </a:rPr>
              <a:t>Modeling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utilities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51052" y="184784"/>
            <a:ext cx="7786370" cy="1126490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12700" marR="5080">
              <a:lnSpc>
                <a:spcPts val="4100"/>
              </a:lnSpc>
              <a:spcBef>
                <a:spcPts val="625"/>
              </a:spcBef>
            </a:pPr>
            <a:r>
              <a:rPr spc="-5" dirty="0"/>
              <a:t>SOURCE-BASED PERFORMANCE </a:t>
            </a:r>
            <a:r>
              <a:rPr spc="-1325" dirty="0"/>
              <a:t> </a:t>
            </a:r>
            <a:r>
              <a:rPr spc="-5" dirty="0"/>
              <a:t>OPTIONS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51052" y="1616786"/>
            <a:ext cx="3178175" cy="8585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4945" indent="-182880">
              <a:lnSpc>
                <a:spcPct val="100000"/>
              </a:lnSpc>
              <a:spcBef>
                <a:spcPts val="100"/>
              </a:spcBef>
              <a:buSzPct val="94444"/>
              <a:buFont typeface="Wingdings"/>
              <a:buChar char=""/>
              <a:tabLst>
                <a:tab pos="195580" algn="l"/>
              </a:tabLst>
            </a:pPr>
            <a:r>
              <a:rPr sz="1800" dirty="0">
                <a:latin typeface="Verdana"/>
                <a:cs typeface="Verdana"/>
              </a:rPr>
              <a:t>Join</a:t>
            </a:r>
            <a:r>
              <a:rPr sz="1800" spc="-6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ordering</a:t>
            </a:r>
            <a:endParaRPr sz="1800">
              <a:latin typeface="Verdana"/>
              <a:cs typeface="Verdana"/>
            </a:endParaRPr>
          </a:p>
          <a:p>
            <a:pPr marL="194945" indent="-182245">
              <a:lnSpc>
                <a:spcPct val="100000"/>
              </a:lnSpc>
              <a:spcBef>
                <a:spcPts val="40"/>
              </a:spcBef>
              <a:buSzPct val="94444"/>
              <a:buFont typeface="Wingdings"/>
              <a:buChar char=""/>
              <a:tabLst>
                <a:tab pos="194945" algn="l"/>
              </a:tabLst>
            </a:pPr>
            <a:r>
              <a:rPr sz="1800" dirty="0">
                <a:latin typeface="Verdana"/>
                <a:cs typeface="Verdana"/>
              </a:rPr>
              <a:t>Minimizing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extracted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data</a:t>
            </a:r>
            <a:endParaRPr sz="1800">
              <a:latin typeface="Verdana"/>
              <a:cs typeface="Verdana"/>
            </a:endParaRPr>
          </a:p>
          <a:p>
            <a:pPr marL="194945" indent="-182245">
              <a:lnSpc>
                <a:spcPct val="100000"/>
              </a:lnSpc>
              <a:spcBef>
                <a:spcPts val="35"/>
              </a:spcBef>
              <a:buSzPct val="94444"/>
              <a:buFont typeface="Wingdings"/>
              <a:buChar char=""/>
              <a:tabLst>
                <a:tab pos="194945" algn="l"/>
              </a:tabLst>
            </a:pPr>
            <a:r>
              <a:rPr sz="1800" dirty="0">
                <a:latin typeface="Verdana"/>
                <a:cs typeface="Verdana"/>
              </a:rPr>
              <a:t>Using</a:t>
            </a:r>
            <a:r>
              <a:rPr sz="1800" spc="-15" dirty="0">
                <a:latin typeface="Verdana"/>
                <a:cs typeface="Verdana"/>
              </a:rPr>
              <a:t> array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fetch </a:t>
            </a:r>
            <a:r>
              <a:rPr sz="1800" dirty="0">
                <a:latin typeface="Verdana"/>
                <a:cs typeface="Verdana"/>
              </a:rPr>
              <a:t>size</a:t>
            </a:r>
            <a:endParaRPr sz="180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3752" y="2659441"/>
            <a:ext cx="9370573" cy="317385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51052" y="287782"/>
            <a:ext cx="10029825" cy="605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5" dirty="0"/>
              <a:t>TARGET-BASED </a:t>
            </a:r>
            <a:r>
              <a:rPr spc="-5" dirty="0"/>
              <a:t>PERFORMANCE</a:t>
            </a:r>
            <a:r>
              <a:rPr spc="-65" dirty="0"/>
              <a:t> </a:t>
            </a:r>
            <a:r>
              <a:rPr spc="-5" dirty="0"/>
              <a:t>OPTIONS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51052" y="1331721"/>
            <a:ext cx="2199640" cy="579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4945" indent="-182245">
              <a:lnSpc>
                <a:spcPct val="100000"/>
              </a:lnSpc>
              <a:spcBef>
                <a:spcPts val="100"/>
              </a:spcBef>
              <a:buSzPct val="94444"/>
              <a:buFont typeface="Wingdings"/>
              <a:buChar char=""/>
              <a:tabLst>
                <a:tab pos="194945" algn="l"/>
              </a:tabLst>
            </a:pPr>
            <a:r>
              <a:rPr sz="1800" spc="-5" dirty="0">
                <a:latin typeface="Verdana"/>
                <a:cs typeface="Verdana"/>
              </a:rPr>
              <a:t>Loading</a:t>
            </a:r>
            <a:r>
              <a:rPr sz="1800" spc="-7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method</a:t>
            </a:r>
            <a:endParaRPr sz="1800">
              <a:latin typeface="Verdana"/>
              <a:cs typeface="Verdana"/>
            </a:endParaRPr>
          </a:p>
          <a:p>
            <a:pPr marL="194945" indent="-182245">
              <a:lnSpc>
                <a:spcPct val="100000"/>
              </a:lnSpc>
              <a:spcBef>
                <a:spcPts val="40"/>
              </a:spcBef>
              <a:buSzPct val="94444"/>
              <a:buFont typeface="Wingdings"/>
              <a:buChar char=""/>
              <a:tabLst>
                <a:tab pos="194945" algn="l"/>
              </a:tabLst>
            </a:pPr>
            <a:r>
              <a:rPr sz="1800" spc="-15" dirty="0">
                <a:latin typeface="Verdana"/>
                <a:cs typeface="Verdana"/>
              </a:rPr>
              <a:t>Rows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per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commit</a:t>
            </a:r>
            <a:endParaRPr sz="180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3752" y="2249455"/>
            <a:ext cx="9031751" cy="424583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54100" y="449021"/>
            <a:ext cx="9322435" cy="605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JOB</a:t>
            </a:r>
            <a:r>
              <a:rPr spc="-30" dirty="0"/>
              <a:t> </a:t>
            </a:r>
            <a:r>
              <a:rPr dirty="0"/>
              <a:t>DESIGN</a:t>
            </a:r>
            <a:r>
              <a:rPr spc="-25" dirty="0"/>
              <a:t> </a:t>
            </a:r>
            <a:r>
              <a:rPr dirty="0"/>
              <a:t>PERFORMANCE</a:t>
            </a:r>
            <a:r>
              <a:rPr spc="-50" dirty="0"/>
              <a:t> </a:t>
            </a:r>
            <a:r>
              <a:rPr spc="-5" dirty="0"/>
              <a:t>OPTIONS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54100" y="1864233"/>
            <a:ext cx="3916679" cy="1138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4945" indent="-182245">
              <a:lnSpc>
                <a:spcPct val="100000"/>
              </a:lnSpc>
              <a:spcBef>
                <a:spcPts val="100"/>
              </a:spcBef>
              <a:buSzPct val="94444"/>
              <a:buFont typeface="Wingdings"/>
              <a:buChar char=""/>
              <a:tabLst>
                <a:tab pos="194945" algn="l"/>
              </a:tabLst>
            </a:pPr>
            <a:r>
              <a:rPr sz="1800" spc="-5" dirty="0">
                <a:latin typeface="Verdana"/>
                <a:cs typeface="Verdana"/>
              </a:rPr>
              <a:t>Loading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only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changed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data</a:t>
            </a:r>
            <a:endParaRPr sz="1800">
              <a:latin typeface="Verdana"/>
              <a:cs typeface="Verdana"/>
            </a:endParaRPr>
          </a:p>
          <a:p>
            <a:pPr marL="194945" indent="-182245">
              <a:lnSpc>
                <a:spcPct val="100000"/>
              </a:lnSpc>
              <a:spcBef>
                <a:spcPts val="35"/>
              </a:spcBef>
              <a:buSzPct val="94444"/>
              <a:buFont typeface="Wingdings"/>
              <a:buChar char=""/>
              <a:tabLst>
                <a:tab pos="194945" algn="l"/>
              </a:tabLst>
            </a:pPr>
            <a:r>
              <a:rPr sz="1800" dirty="0">
                <a:latin typeface="Verdana"/>
                <a:cs typeface="Verdana"/>
              </a:rPr>
              <a:t>Minimizing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data type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conversion</a:t>
            </a:r>
            <a:endParaRPr sz="1800">
              <a:latin typeface="Verdana"/>
              <a:cs typeface="Verdana"/>
            </a:endParaRPr>
          </a:p>
          <a:p>
            <a:pPr marL="194945" indent="-182880">
              <a:lnSpc>
                <a:spcPct val="100000"/>
              </a:lnSpc>
              <a:spcBef>
                <a:spcPts val="35"/>
              </a:spcBef>
              <a:buSzPct val="94444"/>
              <a:buFont typeface="Wingdings"/>
              <a:buChar char=""/>
              <a:tabLst>
                <a:tab pos="195580" algn="l"/>
              </a:tabLst>
            </a:pPr>
            <a:r>
              <a:rPr sz="1800" dirty="0">
                <a:latin typeface="Verdana"/>
                <a:cs typeface="Verdana"/>
              </a:rPr>
              <a:t>Minimizing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local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conversion</a:t>
            </a:r>
            <a:endParaRPr sz="1800">
              <a:latin typeface="Verdana"/>
              <a:cs typeface="Verdana"/>
            </a:endParaRPr>
          </a:p>
          <a:p>
            <a:pPr marL="194945" indent="-182245">
              <a:lnSpc>
                <a:spcPct val="100000"/>
              </a:lnSpc>
              <a:spcBef>
                <a:spcPts val="50"/>
              </a:spcBef>
              <a:buSzPct val="94444"/>
              <a:buFont typeface="Wingdings"/>
              <a:buChar char=""/>
              <a:tabLst>
                <a:tab pos="194945" algn="l"/>
              </a:tabLst>
            </a:pPr>
            <a:r>
              <a:rPr sz="1800" spc="-5" dirty="0">
                <a:latin typeface="Verdana"/>
                <a:cs typeface="Verdana"/>
              </a:rPr>
              <a:t>Precision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spc="5" dirty="0">
                <a:latin typeface="Verdana"/>
                <a:cs typeface="Verdana"/>
              </a:rPr>
              <a:t>in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operations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54100" y="176911"/>
            <a:ext cx="5566410" cy="605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USING</a:t>
            </a:r>
            <a:r>
              <a:rPr spc="-35" dirty="0"/>
              <a:t> </a:t>
            </a:r>
            <a:r>
              <a:rPr dirty="0"/>
              <a:t>BULK</a:t>
            </a:r>
            <a:r>
              <a:rPr spc="-30" dirty="0"/>
              <a:t> </a:t>
            </a:r>
            <a:r>
              <a:rPr spc="-5" dirty="0"/>
              <a:t>LOADING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54100" y="1277492"/>
            <a:ext cx="10087610" cy="2749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  <a:buSzPct val="94444"/>
              <a:buFont typeface="Wingdings"/>
              <a:buChar char=""/>
              <a:tabLst>
                <a:tab pos="194945" algn="l"/>
              </a:tabLst>
            </a:pPr>
            <a:r>
              <a:rPr sz="1800" spc="-10" dirty="0">
                <a:latin typeface="Verdana"/>
                <a:cs typeface="Verdana"/>
              </a:rPr>
              <a:t>SAP </a:t>
            </a:r>
            <a:r>
              <a:rPr sz="1800" dirty="0">
                <a:latin typeface="Verdana"/>
                <a:cs typeface="Verdana"/>
              </a:rPr>
              <a:t>Business </a:t>
            </a:r>
            <a:r>
              <a:rPr sz="1800" spc="-5" dirty="0">
                <a:latin typeface="Verdana"/>
                <a:cs typeface="Verdana"/>
              </a:rPr>
              <a:t>Objects </a:t>
            </a:r>
            <a:r>
              <a:rPr sz="1800" dirty="0">
                <a:latin typeface="Verdana"/>
                <a:cs typeface="Verdana"/>
              </a:rPr>
              <a:t>Data Services </a:t>
            </a:r>
            <a:r>
              <a:rPr sz="1800" spc="-5" dirty="0">
                <a:latin typeface="Verdana"/>
                <a:cs typeface="Verdana"/>
              </a:rPr>
              <a:t>supports </a:t>
            </a:r>
            <a:r>
              <a:rPr sz="1800" dirty="0">
                <a:latin typeface="Verdana"/>
                <a:cs typeface="Verdana"/>
              </a:rPr>
              <a:t>capabilities </a:t>
            </a:r>
            <a:r>
              <a:rPr sz="1800" spc="-5" dirty="0">
                <a:latin typeface="Verdana"/>
                <a:cs typeface="Verdana"/>
              </a:rPr>
              <a:t>present </a:t>
            </a:r>
            <a:r>
              <a:rPr sz="1800" spc="5" dirty="0">
                <a:latin typeface="Verdana"/>
                <a:cs typeface="Verdana"/>
              </a:rPr>
              <a:t>in </a:t>
            </a:r>
            <a:r>
              <a:rPr sz="1800" spc="-10" dirty="0">
                <a:latin typeface="Verdana"/>
                <a:cs typeface="Verdana"/>
              </a:rPr>
              <a:t>Oracle, </a:t>
            </a:r>
            <a:r>
              <a:rPr sz="1800" spc="-5" dirty="0">
                <a:latin typeface="Verdana"/>
                <a:cs typeface="Verdana"/>
              </a:rPr>
              <a:t>Microsoft 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SQL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45" dirty="0">
                <a:latin typeface="Verdana"/>
                <a:cs typeface="Verdana"/>
              </a:rPr>
              <a:t>Server,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HP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Neoview,</a:t>
            </a:r>
            <a:r>
              <a:rPr sz="1800" spc="-5" dirty="0">
                <a:latin typeface="Verdana"/>
                <a:cs typeface="Verdana"/>
              </a:rPr>
              <a:t> Informix,</a:t>
            </a:r>
            <a:r>
              <a:rPr sz="1800" dirty="0">
                <a:latin typeface="Verdana"/>
                <a:cs typeface="Verdana"/>
              </a:rPr>
              <a:t> DB2,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Netezza,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Sybase</a:t>
            </a:r>
            <a:r>
              <a:rPr sz="1800" spc="-5" dirty="0">
                <a:latin typeface="Verdana"/>
                <a:cs typeface="Verdana"/>
              </a:rPr>
              <a:t> ASE,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Sybase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IQ,</a:t>
            </a:r>
            <a:r>
              <a:rPr sz="1800" spc="6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and 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35" dirty="0">
                <a:latin typeface="Verdana"/>
                <a:cs typeface="Verdana"/>
              </a:rPr>
              <a:t>Teradata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that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enable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you to</a:t>
            </a:r>
            <a:r>
              <a:rPr sz="1800" dirty="0">
                <a:latin typeface="Verdana"/>
                <a:cs typeface="Verdana"/>
              </a:rPr>
              <a:t> load</a:t>
            </a:r>
            <a:r>
              <a:rPr sz="1800" spc="-5" dirty="0">
                <a:latin typeface="Verdana"/>
                <a:cs typeface="Verdana"/>
              </a:rPr>
              <a:t> data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5" dirty="0">
                <a:latin typeface="Verdana"/>
                <a:cs typeface="Verdana"/>
              </a:rPr>
              <a:t>in</a:t>
            </a:r>
            <a:r>
              <a:rPr sz="1800" dirty="0">
                <a:latin typeface="Verdana"/>
                <a:cs typeface="Verdana"/>
              </a:rPr>
              <a:t> bulk </a:t>
            </a:r>
            <a:r>
              <a:rPr sz="1800" spc="-10" dirty="0">
                <a:latin typeface="Verdana"/>
                <a:cs typeface="Verdana"/>
              </a:rPr>
              <a:t>rather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than</a:t>
            </a:r>
            <a:r>
              <a:rPr sz="1800" dirty="0">
                <a:latin typeface="Verdana"/>
                <a:cs typeface="Verdana"/>
              </a:rPr>
              <a:t> using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SQL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statements.</a:t>
            </a:r>
            <a:endParaRPr sz="1800">
              <a:latin typeface="Verdana"/>
              <a:cs typeface="Verdana"/>
            </a:endParaRPr>
          </a:p>
          <a:p>
            <a:pPr marL="194945" indent="-182880" algn="just">
              <a:lnSpc>
                <a:spcPct val="100000"/>
              </a:lnSpc>
              <a:spcBef>
                <a:spcPts val="500"/>
              </a:spcBef>
              <a:buSzPct val="94444"/>
              <a:buFont typeface="Wingdings"/>
              <a:buChar char=""/>
              <a:tabLst>
                <a:tab pos="195580" algn="l"/>
              </a:tabLst>
            </a:pPr>
            <a:r>
              <a:rPr sz="1800" dirty="0">
                <a:latin typeface="Verdana"/>
                <a:cs typeface="Verdana"/>
              </a:rPr>
              <a:t>Some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general</a:t>
            </a:r>
            <a:r>
              <a:rPr sz="1800" spc="2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considerations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when </a:t>
            </a:r>
            <a:r>
              <a:rPr sz="1800" dirty="0">
                <a:latin typeface="Verdana"/>
                <a:cs typeface="Verdana"/>
              </a:rPr>
              <a:t>using bulk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loading</a:t>
            </a:r>
            <a:r>
              <a:rPr sz="1800" spc="-5" dirty="0">
                <a:latin typeface="Verdana"/>
                <a:cs typeface="Verdana"/>
              </a:rPr>
              <a:t> are:</a:t>
            </a:r>
            <a:endParaRPr sz="1800">
              <a:latin typeface="Verdana"/>
              <a:cs typeface="Verdana"/>
            </a:endParaRPr>
          </a:p>
          <a:p>
            <a:pPr marL="469900" marR="8255" indent="-457834" algn="just">
              <a:lnSpc>
                <a:spcPct val="100000"/>
              </a:lnSpc>
              <a:spcBef>
                <a:spcPts val="500"/>
              </a:spcBef>
              <a:buAutoNum type="arabicPeriod"/>
              <a:tabLst>
                <a:tab pos="470534" algn="l"/>
              </a:tabLst>
            </a:pPr>
            <a:r>
              <a:rPr sz="1800" spc="-45" dirty="0">
                <a:latin typeface="Verdana"/>
                <a:cs typeface="Verdana"/>
              </a:rPr>
              <a:t>You</a:t>
            </a:r>
            <a:r>
              <a:rPr sz="1800" spc="54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specify </a:t>
            </a:r>
            <a:r>
              <a:rPr sz="1800" spc="-10" dirty="0">
                <a:latin typeface="Verdana"/>
                <a:cs typeface="Verdana"/>
              </a:rPr>
              <a:t>bulk-loading </a:t>
            </a:r>
            <a:r>
              <a:rPr sz="1800" spc="-5" dirty="0">
                <a:latin typeface="Verdana"/>
                <a:cs typeface="Verdana"/>
              </a:rPr>
              <a:t>options on the </a:t>
            </a:r>
            <a:r>
              <a:rPr sz="1800" dirty="0">
                <a:latin typeface="Verdana"/>
                <a:cs typeface="Verdana"/>
              </a:rPr>
              <a:t>Data </a:t>
            </a:r>
            <a:r>
              <a:rPr sz="1800" spc="-5" dirty="0">
                <a:latin typeface="Verdana"/>
                <a:cs typeface="Verdana"/>
              </a:rPr>
              <a:t>Services target table editor </a:t>
            </a:r>
            <a:r>
              <a:rPr sz="1800" spc="5" dirty="0">
                <a:latin typeface="Verdana"/>
                <a:cs typeface="Verdana"/>
              </a:rPr>
              <a:t>in </a:t>
            </a:r>
            <a:r>
              <a:rPr sz="1800" spc="-5" dirty="0">
                <a:latin typeface="Verdana"/>
                <a:cs typeface="Verdana"/>
              </a:rPr>
              <a:t>the </a:t>
            </a:r>
            <a:r>
              <a:rPr sz="1800" dirty="0">
                <a:latin typeface="Verdana"/>
                <a:cs typeface="Verdana"/>
              </a:rPr>
              <a:t> Bulk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Loader Options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tab.</a:t>
            </a:r>
            <a:endParaRPr sz="1800">
              <a:latin typeface="Verdana"/>
              <a:cs typeface="Verdana"/>
            </a:endParaRPr>
          </a:p>
          <a:p>
            <a:pPr marL="469900" indent="-457834" algn="just">
              <a:lnSpc>
                <a:spcPct val="100000"/>
              </a:lnSpc>
              <a:spcBef>
                <a:spcPts val="500"/>
              </a:spcBef>
              <a:buAutoNum type="arabicPeriod"/>
              <a:tabLst>
                <a:tab pos="470534" algn="l"/>
              </a:tabLst>
            </a:pPr>
            <a:r>
              <a:rPr sz="1800" spc="-5" dirty="0">
                <a:latin typeface="Verdana"/>
                <a:cs typeface="Verdana"/>
              </a:rPr>
              <a:t>If</a:t>
            </a:r>
            <a:r>
              <a:rPr sz="1800" spc="24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you</a:t>
            </a:r>
            <a:r>
              <a:rPr sz="1800" spc="229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are</a:t>
            </a:r>
            <a:r>
              <a:rPr sz="1800" spc="24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using</a:t>
            </a:r>
            <a:r>
              <a:rPr sz="1800" spc="2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bulk</a:t>
            </a:r>
            <a:r>
              <a:rPr sz="1800" spc="25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loading,</a:t>
            </a:r>
            <a:r>
              <a:rPr sz="1800" spc="24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parallel</a:t>
            </a:r>
            <a:r>
              <a:rPr sz="1800" spc="23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loading</a:t>
            </a:r>
            <a:r>
              <a:rPr sz="1800" spc="260" dirty="0">
                <a:latin typeface="Verdana"/>
                <a:cs typeface="Verdana"/>
              </a:rPr>
              <a:t> </a:t>
            </a:r>
            <a:r>
              <a:rPr sz="1800" spc="5" dirty="0">
                <a:latin typeface="Verdana"/>
                <a:cs typeface="Verdana"/>
              </a:rPr>
              <a:t>is</a:t>
            </a:r>
            <a:r>
              <a:rPr sz="1800" spc="24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available</a:t>
            </a:r>
            <a:r>
              <a:rPr sz="1800" spc="25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only</a:t>
            </a:r>
            <a:r>
              <a:rPr sz="1800" spc="229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in</a:t>
            </a:r>
            <a:r>
              <a:rPr sz="1800" spc="25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the</a:t>
            </a:r>
            <a:r>
              <a:rPr sz="1800" spc="23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Oracle</a:t>
            </a:r>
            <a:r>
              <a:rPr sz="1800" spc="2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and</a:t>
            </a:r>
            <a:endParaRPr sz="1800">
              <a:latin typeface="Verdana"/>
              <a:cs typeface="Verdana"/>
            </a:endParaRPr>
          </a:p>
          <a:p>
            <a:pPr marL="469900" algn="just">
              <a:lnSpc>
                <a:spcPct val="100000"/>
              </a:lnSpc>
            </a:pPr>
            <a:r>
              <a:rPr sz="1800" dirty="0">
                <a:latin typeface="Verdana"/>
                <a:cs typeface="Verdana"/>
              </a:rPr>
              <a:t>Informix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environment.</a:t>
            </a:r>
            <a:endParaRPr sz="1800">
              <a:latin typeface="Verdana"/>
              <a:cs typeface="Verdana"/>
            </a:endParaRPr>
          </a:p>
          <a:p>
            <a:pPr marL="469900" indent="-457834" algn="just">
              <a:lnSpc>
                <a:spcPct val="100000"/>
              </a:lnSpc>
              <a:spcBef>
                <a:spcPts val="505"/>
              </a:spcBef>
              <a:buAutoNum type="arabicPeriod" startAt="3"/>
              <a:tabLst>
                <a:tab pos="470534" algn="l"/>
              </a:tabLst>
            </a:pPr>
            <a:r>
              <a:rPr sz="1800" spc="-5" dirty="0">
                <a:latin typeface="Verdana"/>
                <a:cs typeface="Verdana"/>
              </a:rPr>
              <a:t>When you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use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template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table,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bulk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loading </a:t>
            </a:r>
            <a:r>
              <a:rPr sz="1800" spc="5" dirty="0">
                <a:latin typeface="Verdana"/>
                <a:cs typeface="Verdana"/>
              </a:rPr>
              <a:t>is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disabled.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54100" y="487171"/>
            <a:ext cx="6632575" cy="6051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800" dirty="0">
                <a:solidFill>
                  <a:srgbClr val="006FAC"/>
                </a:solidFill>
                <a:latin typeface="Verdana"/>
                <a:cs typeface="Verdana"/>
              </a:rPr>
              <a:t>BULK</a:t>
            </a:r>
            <a:r>
              <a:rPr sz="3800" spc="-5" dirty="0">
                <a:solidFill>
                  <a:srgbClr val="006FAC"/>
                </a:solidFill>
                <a:latin typeface="Verdana"/>
                <a:cs typeface="Verdana"/>
              </a:rPr>
              <a:t> </a:t>
            </a:r>
            <a:r>
              <a:rPr sz="3800" spc="-10" dirty="0">
                <a:solidFill>
                  <a:srgbClr val="006FAC"/>
                </a:solidFill>
                <a:latin typeface="Verdana"/>
                <a:cs typeface="Verdana"/>
              </a:rPr>
              <a:t>LOADING</a:t>
            </a:r>
            <a:r>
              <a:rPr sz="3800" spc="-25" dirty="0">
                <a:solidFill>
                  <a:srgbClr val="006FAC"/>
                </a:solidFill>
                <a:latin typeface="Verdana"/>
                <a:cs typeface="Verdana"/>
              </a:rPr>
              <a:t> </a:t>
            </a:r>
            <a:r>
              <a:rPr sz="3800" dirty="0">
                <a:solidFill>
                  <a:srgbClr val="006FAC"/>
                </a:solidFill>
                <a:latin typeface="Verdana"/>
                <a:cs typeface="Verdana"/>
              </a:rPr>
              <a:t>IN</a:t>
            </a:r>
            <a:r>
              <a:rPr sz="3800" spc="-15" dirty="0">
                <a:solidFill>
                  <a:srgbClr val="006FAC"/>
                </a:solidFill>
                <a:latin typeface="Verdana"/>
                <a:cs typeface="Verdana"/>
              </a:rPr>
              <a:t> </a:t>
            </a:r>
            <a:r>
              <a:rPr sz="3800" spc="-5" dirty="0">
                <a:solidFill>
                  <a:srgbClr val="006FAC"/>
                </a:solidFill>
                <a:latin typeface="Verdana"/>
                <a:cs typeface="Verdana"/>
              </a:rPr>
              <a:t>ORACLE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54100" y="1532890"/>
            <a:ext cx="66567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45" dirty="0">
                <a:latin typeface="Verdana"/>
                <a:cs typeface="Verdana"/>
              </a:rPr>
              <a:t>You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can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bulk load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to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Oracle</a:t>
            </a:r>
            <a:r>
              <a:rPr sz="1800" dirty="0">
                <a:latin typeface="Verdana"/>
                <a:cs typeface="Verdana"/>
              </a:rPr>
              <a:t> using an API or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 </a:t>
            </a:r>
            <a:r>
              <a:rPr sz="1800" spc="-5" dirty="0">
                <a:latin typeface="Verdana"/>
                <a:cs typeface="Verdana"/>
              </a:rPr>
              <a:t>staging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file.</a:t>
            </a:r>
            <a:endParaRPr sz="180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1308" y="1959875"/>
            <a:ext cx="7859403" cy="411936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51052" y="389889"/>
            <a:ext cx="8675370" cy="6051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BULK </a:t>
            </a:r>
            <a:r>
              <a:rPr spc="-10" dirty="0"/>
              <a:t>LOADING</a:t>
            </a:r>
            <a:r>
              <a:rPr spc="-20" dirty="0"/>
              <a:t> </a:t>
            </a:r>
            <a:r>
              <a:rPr dirty="0"/>
              <a:t>IN</a:t>
            </a:r>
            <a:r>
              <a:rPr spc="-15" dirty="0"/>
              <a:t> </a:t>
            </a:r>
            <a:r>
              <a:rPr dirty="0"/>
              <a:t>MS</a:t>
            </a:r>
            <a:r>
              <a:rPr spc="-5" dirty="0"/>
              <a:t> </a:t>
            </a:r>
            <a:r>
              <a:rPr dirty="0"/>
              <a:t>SQL</a:t>
            </a:r>
            <a:r>
              <a:rPr spc="-10" dirty="0"/>
              <a:t> </a:t>
            </a:r>
            <a:r>
              <a:rPr dirty="0"/>
              <a:t>SERVER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51052" y="1417446"/>
            <a:ext cx="10091420" cy="33610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7620" algn="just">
              <a:lnSpc>
                <a:spcPct val="100000"/>
              </a:lnSpc>
              <a:spcBef>
                <a:spcPts val="100"/>
              </a:spcBef>
              <a:buSzPct val="94444"/>
              <a:buFont typeface="Wingdings"/>
              <a:buChar char=""/>
              <a:tabLst>
                <a:tab pos="194945" algn="l"/>
              </a:tabLst>
            </a:pPr>
            <a:r>
              <a:rPr sz="1800" spc="-10" dirty="0">
                <a:latin typeface="Verdana"/>
                <a:cs typeface="Verdana"/>
              </a:rPr>
              <a:t>SAP</a:t>
            </a:r>
            <a:r>
              <a:rPr sz="1800" spc="-5" dirty="0">
                <a:latin typeface="Verdana"/>
                <a:cs typeface="Verdana"/>
              </a:rPr>
              <a:t> BusinessObjects</a:t>
            </a:r>
            <a:r>
              <a:rPr sz="1800" dirty="0">
                <a:latin typeface="Verdana"/>
                <a:cs typeface="Verdana"/>
              </a:rPr>
              <a:t> Data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Services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supports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Microsoft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SQL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Server</a:t>
            </a:r>
            <a:r>
              <a:rPr sz="1800" dirty="0">
                <a:latin typeface="Verdana"/>
                <a:cs typeface="Verdana"/>
              </a:rPr>
              <a:t> bulk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loading </a:t>
            </a:r>
            <a:r>
              <a:rPr sz="1800" spc="-62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through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the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SQL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Server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ODBC</a:t>
            </a:r>
            <a:r>
              <a:rPr sz="1800" dirty="0">
                <a:latin typeface="Verdana"/>
                <a:cs typeface="Verdana"/>
              </a:rPr>
              <a:t> bulk </a:t>
            </a:r>
            <a:r>
              <a:rPr sz="1800" spc="-5" dirty="0">
                <a:latin typeface="Verdana"/>
                <a:cs typeface="Verdana"/>
              </a:rPr>
              <a:t>copy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API.</a:t>
            </a:r>
            <a:endParaRPr sz="1800">
              <a:latin typeface="Verdana"/>
              <a:cs typeface="Verdana"/>
            </a:endParaRPr>
          </a:p>
          <a:p>
            <a:pPr marL="12700" marR="5080" algn="just">
              <a:lnSpc>
                <a:spcPct val="100000"/>
              </a:lnSpc>
              <a:spcBef>
                <a:spcPts val="505"/>
              </a:spcBef>
              <a:buSzPct val="94444"/>
              <a:buFont typeface="Wingdings"/>
              <a:buChar char=""/>
              <a:tabLst>
                <a:tab pos="194945" algn="l"/>
              </a:tabLst>
            </a:pPr>
            <a:r>
              <a:rPr sz="1800" spc="-5" dirty="0">
                <a:latin typeface="Verdana"/>
                <a:cs typeface="Verdana"/>
              </a:rPr>
              <a:t>When loading to </a:t>
            </a:r>
            <a:r>
              <a:rPr sz="1800" dirty="0">
                <a:latin typeface="Verdana"/>
                <a:cs typeface="Verdana"/>
              </a:rPr>
              <a:t>SQL </a:t>
            </a:r>
            <a:r>
              <a:rPr sz="1800" spc="-45" dirty="0">
                <a:latin typeface="Verdana"/>
                <a:cs typeface="Verdana"/>
              </a:rPr>
              <a:t>Server, </a:t>
            </a:r>
            <a:r>
              <a:rPr sz="1800" spc="-5" dirty="0">
                <a:latin typeface="Verdana"/>
                <a:cs typeface="Verdana"/>
              </a:rPr>
              <a:t>the </a:t>
            </a:r>
            <a:r>
              <a:rPr sz="1800" dirty="0">
                <a:latin typeface="Verdana"/>
                <a:cs typeface="Verdana"/>
              </a:rPr>
              <a:t>client </a:t>
            </a:r>
            <a:r>
              <a:rPr sz="1800" spc="-5" dirty="0">
                <a:latin typeface="Verdana"/>
                <a:cs typeface="Verdana"/>
              </a:rPr>
              <a:t>caches </a:t>
            </a:r>
            <a:r>
              <a:rPr sz="1800" dirty="0">
                <a:latin typeface="Verdana"/>
                <a:cs typeface="Verdana"/>
              </a:rPr>
              <a:t>rows until </a:t>
            </a:r>
            <a:r>
              <a:rPr sz="1800" spc="5" dirty="0">
                <a:latin typeface="Verdana"/>
                <a:cs typeface="Verdana"/>
              </a:rPr>
              <a:t>it </a:t>
            </a:r>
            <a:r>
              <a:rPr sz="1800" spc="-5" dirty="0">
                <a:latin typeface="Verdana"/>
                <a:cs typeface="Verdana"/>
              </a:rPr>
              <a:t>either </a:t>
            </a:r>
            <a:r>
              <a:rPr sz="1800" spc="5" dirty="0">
                <a:latin typeface="Verdana"/>
                <a:cs typeface="Verdana"/>
              </a:rPr>
              <a:t>fills </a:t>
            </a:r>
            <a:r>
              <a:rPr sz="1800" dirty="0">
                <a:latin typeface="Verdana"/>
                <a:cs typeface="Verdana"/>
              </a:rPr>
              <a:t>a </a:t>
            </a:r>
            <a:r>
              <a:rPr sz="1800" spc="-10" dirty="0">
                <a:latin typeface="Verdana"/>
                <a:cs typeface="Verdana"/>
              </a:rPr>
              <a:t>network </a:t>
            </a:r>
            <a:r>
              <a:rPr sz="1800" spc="-5" dirty="0">
                <a:latin typeface="Verdana"/>
                <a:cs typeface="Verdana"/>
              </a:rPr>
              <a:t> packet or reaches the </a:t>
            </a:r>
            <a:r>
              <a:rPr sz="1800" dirty="0">
                <a:latin typeface="Verdana"/>
                <a:cs typeface="Verdana"/>
              </a:rPr>
              <a:t>commit size </a:t>
            </a:r>
            <a:r>
              <a:rPr sz="1800" spc="-5" dirty="0">
                <a:latin typeface="Verdana"/>
                <a:cs typeface="Verdana"/>
              </a:rPr>
              <a:t>(regardless of whether the packet </a:t>
            </a:r>
            <a:r>
              <a:rPr sz="1800" spc="5" dirty="0">
                <a:latin typeface="Verdana"/>
                <a:cs typeface="Verdana"/>
              </a:rPr>
              <a:t>is </a:t>
            </a:r>
            <a:r>
              <a:rPr sz="1800" dirty="0">
                <a:latin typeface="Verdana"/>
                <a:cs typeface="Verdana"/>
              </a:rPr>
              <a:t>full). </a:t>
            </a:r>
            <a:r>
              <a:rPr sz="1800" spc="-5" dirty="0">
                <a:latin typeface="Verdana"/>
                <a:cs typeface="Verdana"/>
              </a:rPr>
              <a:t>Then the </a:t>
            </a:r>
            <a:r>
              <a:rPr sz="1800" dirty="0">
                <a:latin typeface="Verdana"/>
                <a:cs typeface="Verdana"/>
              </a:rPr>
              <a:t> client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sends</a:t>
            </a:r>
            <a:r>
              <a:rPr sz="1800" spc="2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the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packet to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the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45" dirty="0">
                <a:latin typeface="Verdana"/>
                <a:cs typeface="Verdana"/>
              </a:rPr>
              <a:t>server.</a:t>
            </a:r>
            <a:endParaRPr sz="1800">
              <a:latin typeface="Verdana"/>
              <a:cs typeface="Verdana"/>
            </a:endParaRPr>
          </a:p>
          <a:p>
            <a:pPr marL="194945" indent="-182245" algn="just">
              <a:lnSpc>
                <a:spcPct val="100000"/>
              </a:lnSpc>
              <a:spcBef>
                <a:spcPts val="490"/>
              </a:spcBef>
              <a:buSzPct val="94444"/>
              <a:buFont typeface="Wingdings"/>
              <a:buChar char=""/>
              <a:tabLst>
                <a:tab pos="194945" algn="l"/>
              </a:tabLst>
            </a:pPr>
            <a:r>
              <a:rPr sz="1800" spc="-45" dirty="0">
                <a:latin typeface="Verdana"/>
                <a:cs typeface="Verdana"/>
              </a:rPr>
              <a:t>You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can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affect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performance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by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tuning</a:t>
            </a:r>
            <a:r>
              <a:rPr sz="1800" dirty="0">
                <a:latin typeface="Verdana"/>
                <a:cs typeface="Verdana"/>
              </a:rPr>
              <a:t> commit size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and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network packet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size.</a:t>
            </a:r>
            <a:endParaRPr sz="1800">
              <a:latin typeface="Verdana"/>
              <a:cs typeface="Verdana"/>
            </a:endParaRPr>
          </a:p>
          <a:p>
            <a:pPr marL="194945" indent="-182245" algn="just">
              <a:lnSpc>
                <a:spcPct val="100000"/>
              </a:lnSpc>
              <a:spcBef>
                <a:spcPts val="509"/>
              </a:spcBef>
              <a:buSzPct val="94444"/>
              <a:buFont typeface="Wingdings"/>
              <a:buChar char=""/>
              <a:tabLst>
                <a:tab pos="194945" algn="l"/>
              </a:tabLst>
            </a:pPr>
            <a:r>
              <a:rPr sz="1800" spc="-45" dirty="0">
                <a:latin typeface="Verdana"/>
                <a:cs typeface="Verdana"/>
              </a:rPr>
              <a:t>You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can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change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these</a:t>
            </a:r>
            <a:r>
              <a:rPr sz="1800" spc="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sizes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on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the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Bulk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Loader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Options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tab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for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SQL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Server:</a:t>
            </a:r>
            <a:endParaRPr sz="1800">
              <a:latin typeface="Verdana"/>
              <a:cs typeface="Verdana"/>
            </a:endParaRPr>
          </a:p>
          <a:p>
            <a:pPr marL="469900" marR="5715" indent="-457834" algn="just">
              <a:lnSpc>
                <a:spcPct val="100000"/>
              </a:lnSpc>
              <a:spcBef>
                <a:spcPts val="505"/>
              </a:spcBef>
              <a:buAutoNum type="arabicPeriod"/>
              <a:tabLst>
                <a:tab pos="470534" algn="l"/>
              </a:tabLst>
            </a:pPr>
            <a:r>
              <a:rPr sz="1800" spc="-15" dirty="0">
                <a:latin typeface="Verdana"/>
                <a:cs typeface="Verdana"/>
              </a:rPr>
              <a:t>Rows </a:t>
            </a:r>
            <a:r>
              <a:rPr sz="1800" spc="-10" dirty="0">
                <a:latin typeface="Verdana"/>
                <a:cs typeface="Verdana"/>
              </a:rPr>
              <a:t>per </a:t>
            </a:r>
            <a:r>
              <a:rPr sz="1800" dirty="0">
                <a:latin typeface="Verdana"/>
                <a:cs typeface="Verdana"/>
              </a:rPr>
              <a:t>commit: </a:t>
            </a:r>
            <a:r>
              <a:rPr sz="1800" spc="-5" dirty="0">
                <a:latin typeface="Verdana"/>
                <a:cs typeface="Verdana"/>
              </a:rPr>
              <a:t>This option </a:t>
            </a:r>
            <a:r>
              <a:rPr sz="1800" dirty="0">
                <a:latin typeface="Verdana"/>
                <a:cs typeface="Verdana"/>
              </a:rPr>
              <a:t>lets </a:t>
            </a:r>
            <a:r>
              <a:rPr sz="1800" spc="-10" dirty="0">
                <a:latin typeface="Verdana"/>
                <a:cs typeface="Verdana"/>
              </a:rPr>
              <a:t>you </a:t>
            </a:r>
            <a:r>
              <a:rPr sz="1800" spc="-5" dirty="0">
                <a:latin typeface="Verdana"/>
                <a:cs typeface="Verdana"/>
              </a:rPr>
              <a:t>specify the number of rows to put in the 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cache before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issuing a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commit.</a:t>
            </a:r>
            <a:endParaRPr sz="1800">
              <a:latin typeface="Verdana"/>
              <a:cs typeface="Verdana"/>
            </a:endParaRPr>
          </a:p>
          <a:p>
            <a:pPr marL="469900" indent="-457834" algn="just">
              <a:lnSpc>
                <a:spcPct val="100000"/>
              </a:lnSpc>
              <a:spcBef>
                <a:spcPts val="490"/>
              </a:spcBef>
              <a:buAutoNum type="arabicPeriod"/>
              <a:tabLst>
                <a:tab pos="470534" algn="l"/>
              </a:tabLst>
            </a:pPr>
            <a:r>
              <a:rPr sz="1800" spc="-5" dirty="0">
                <a:latin typeface="Verdana"/>
                <a:cs typeface="Verdana"/>
              </a:rPr>
              <a:t>Network</a:t>
            </a:r>
            <a:r>
              <a:rPr sz="1800" spc="16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packet</a:t>
            </a:r>
            <a:r>
              <a:rPr sz="1800" spc="15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size:This</a:t>
            </a:r>
            <a:r>
              <a:rPr sz="1800" spc="17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option</a:t>
            </a:r>
            <a:r>
              <a:rPr sz="1800" spc="15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lets</a:t>
            </a:r>
            <a:r>
              <a:rPr sz="1800" spc="15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you</a:t>
            </a:r>
            <a:r>
              <a:rPr sz="1800" spc="15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specify</a:t>
            </a:r>
            <a:r>
              <a:rPr sz="1800" spc="16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network</a:t>
            </a:r>
            <a:r>
              <a:rPr sz="1800" spc="16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packet</a:t>
            </a:r>
            <a:r>
              <a:rPr sz="1800" spc="15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size</a:t>
            </a:r>
            <a:r>
              <a:rPr sz="1800" spc="150" dirty="0">
                <a:latin typeface="Verdana"/>
                <a:cs typeface="Verdana"/>
              </a:rPr>
              <a:t> </a:t>
            </a:r>
            <a:r>
              <a:rPr sz="1800" spc="5" dirty="0">
                <a:latin typeface="Verdana"/>
                <a:cs typeface="Verdana"/>
              </a:rPr>
              <a:t>in</a:t>
            </a:r>
            <a:r>
              <a:rPr sz="1800" spc="16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kilobytes.</a:t>
            </a:r>
            <a:endParaRPr sz="1800">
              <a:latin typeface="Verdana"/>
              <a:cs typeface="Verdana"/>
            </a:endParaRPr>
          </a:p>
          <a:p>
            <a:pPr marL="469900" algn="just">
              <a:lnSpc>
                <a:spcPct val="100000"/>
              </a:lnSpc>
            </a:pPr>
            <a:r>
              <a:rPr sz="1800" spc="-5" dirty="0">
                <a:latin typeface="Verdana"/>
                <a:cs typeface="Verdana"/>
              </a:rPr>
              <a:t>The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default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packet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size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is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4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kilobytes.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54100" y="360426"/>
            <a:ext cx="8675370" cy="6051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BULK </a:t>
            </a:r>
            <a:r>
              <a:rPr spc="-10" dirty="0"/>
              <a:t>LOADING</a:t>
            </a:r>
            <a:r>
              <a:rPr spc="-20" dirty="0"/>
              <a:t> </a:t>
            </a:r>
            <a:r>
              <a:rPr dirty="0"/>
              <a:t>IN</a:t>
            </a:r>
            <a:r>
              <a:rPr spc="-15" dirty="0"/>
              <a:t> </a:t>
            </a:r>
            <a:r>
              <a:rPr dirty="0"/>
              <a:t>MS</a:t>
            </a:r>
            <a:r>
              <a:rPr spc="-5" dirty="0"/>
              <a:t> </a:t>
            </a:r>
            <a:r>
              <a:rPr dirty="0"/>
              <a:t>SQL</a:t>
            </a:r>
            <a:r>
              <a:rPr spc="-10" dirty="0"/>
              <a:t> </a:t>
            </a:r>
            <a:r>
              <a:rPr dirty="0"/>
              <a:t>SERVER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6800" y="1746604"/>
            <a:ext cx="10529438" cy="387085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54100" y="428625"/>
            <a:ext cx="9745980" cy="6051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DISTRIBUTING</a:t>
            </a:r>
            <a:r>
              <a:rPr spc="-10" dirty="0"/>
              <a:t> </a:t>
            </a:r>
            <a:r>
              <a:rPr spc="-114" dirty="0"/>
              <a:t>DATA</a:t>
            </a:r>
            <a:r>
              <a:rPr spc="-5" dirty="0"/>
              <a:t> </a:t>
            </a:r>
            <a:r>
              <a:rPr spc="-15" dirty="0"/>
              <a:t>FLOW </a:t>
            </a:r>
            <a:r>
              <a:rPr spc="-5" dirty="0"/>
              <a:t>EXECUTION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54100" y="1736851"/>
            <a:ext cx="10085705" cy="1313180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1800" spc="-5" dirty="0">
                <a:latin typeface="Verdana"/>
                <a:cs typeface="Verdana"/>
              </a:rPr>
              <a:t>This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distribution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of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data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flow</a:t>
            </a:r>
            <a:r>
              <a:rPr sz="1800" spc="-5" dirty="0">
                <a:latin typeface="Verdana"/>
                <a:cs typeface="Verdana"/>
              </a:rPr>
              <a:t> execution</a:t>
            </a:r>
            <a:r>
              <a:rPr sz="1800" spc="2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provides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the</a:t>
            </a:r>
            <a:r>
              <a:rPr sz="1800" dirty="0">
                <a:latin typeface="Verdana"/>
                <a:cs typeface="Verdana"/>
              </a:rPr>
              <a:t> following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potential</a:t>
            </a:r>
            <a:r>
              <a:rPr sz="1800" spc="2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benefits:</a:t>
            </a:r>
            <a:endParaRPr sz="1800">
              <a:latin typeface="Verdana"/>
              <a:cs typeface="Verdana"/>
            </a:endParaRPr>
          </a:p>
          <a:p>
            <a:pPr marL="12700" marR="5080">
              <a:lnSpc>
                <a:spcPct val="100000"/>
              </a:lnSpc>
              <a:spcBef>
                <a:spcPts val="500"/>
              </a:spcBef>
              <a:buSzPct val="94444"/>
              <a:buFont typeface="Wingdings"/>
              <a:buChar char=""/>
              <a:tabLst>
                <a:tab pos="194945" algn="l"/>
              </a:tabLst>
            </a:pPr>
            <a:r>
              <a:rPr sz="1800" dirty="0">
                <a:latin typeface="Verdana"/>
                <a:cs typeface="Verdana"/>
              </a:rPr>
              <a:t>Better</a:t>
            </a:r>
            <a:r>
              <a:rPr sz="1800" spc="204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memory</a:t>
            </a:r>
            <a:r>
              <a:rPr sz="1800" spc="22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management</a:t>
            </a:r>
            <a:r>
              <a:rPr sz="1800" spc="2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by</a:t>
            </a:r>
            <a:r>
              <a:rPr sz="1800" spc="22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taking</a:t>
            </a:r>
            <a:r>
              <a:rPr sz="1800" spc="204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advantage</a:t>
            </a:r>
            <a:r>
              <a:rPr sz="1800" spc="22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of</a:t>
            </a:r>
            <a:r>
              <a:rPr sz="1800" spc="2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more</a:t>
            </a:r>
            <a:r>
              <a:rPr sz="1800" spc="2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CPU</a:t>
            </a:r>
            <a:r>
              <a:rPr sz="1800" spc="2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power</a:t>
            </a:r>
            <a:r>
              <a:rPr sz="1800" spc="2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and</a:t>
            </a:r>
            <a:r>
              <a:rPr sz="1800" spc="22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physical </a:t>
            </a:r>
            <a:r>
              <a:rPr sz="1800" spc="-6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memory</a:t>
            </a:r>
            <a:endParaRPr sz="1800">
              <a:latin typeface="Verdana"/>
              <a:cs typeface="Verdana"/>
            </a:endParaRPr>
          </a:p>
          <a:p>
            <a:pPr marL="194945" indent="-182245">
              <a:lnSpc>
                <a:spcPct val="100000"/>
              </a:lnSpc>
              <a:spcBef>
                <a:spcPts val="495"/>
              </a:spcBef>
              <a:buSzPct val="94444"/>
              <a:buFont typeface="Wingdings"/>
              <a:buChar char=""/>
              <a:tabLst>
                <a:tab pos="194945" algn="l"/>
              </a:tabLst>
            </a:pPr>
            <a:r>
              <a:rPr sz="1800" spc="-5" dirty="0">
                <a:latin typeface="Verdana"/>
                <a:cs typeface="Verdana"/>
              </a:rPr>
              <a:t>Better</a:t>
            </a:r>
            <a:r>
              <a:rPr sz="1800" spc="2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job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performance</a:t>
            </a:r>
            <a:r>
              <a:rPr sz="1800" spc="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and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scalability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by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taking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advantage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of</a:t>
            </a:r>
            <a:r>
              <a:rPr sz="1800" dirty="0">
                <a:latin typeface="Verdana"/>
                <a:cs typeface="Verdana"/>
              </a:rPr>
              <a:t> grid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computing.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54100" y="277113"/>
            <a:ext cx="7249159" cy="605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USING</a:t>
            </a:r>
            <a:r>
              <a:rPr spc="-40" dirty="0"/>
              <a:t> </a:t>
            </a:r>
            <a:r>
              <a:rPr spc="-10" dirty="0"/>
              <a:t>PARALLEL</a:t>
            </a:r>
            <a:r>
              <a:rPr spc="-50" dirty="0"/>
              <a:t> </a:t>
            </a:r>
            <a:r>
              <a:rPr spc="-5" dirty="0"/>
              <a:t>EXECUTION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6193" y="1389634"/>
            <a:ext cx="18040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buSzPct val="94444"/>
              <a:buFont typeface="Wingdings"/>
              <a:buChar char=""/>
              <a:tabLst>
                <a:tab pos="194945" algn="l"/>
                <a:tab pos="804545" algn="l"/>
                <a:tab pos="1408430" algn="l"/>
              </a:tabLst>
            </a:pPr>
            <a:r>
              <a:rPr sz="1800" spc="-45" dirty="0">
                <a:latin typeface="Verdana"/>
                <a:cs typeface="Verdana"/>
              </a:rPr>
              <a:t>You	</a:t>
            </a:r>
            <a:r>
              <a:rPr sz="1800" spc="-5" dirty="0">
                <a:latin typeface="Verdana"/>
                <a:cs typeface="Verdana"/>
              </a:rPr>
              <a:t>can	set </a:t>
            </a:r>
            <a:r>
              <a:rPr sz="1800" spc="-62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</a:t>
            </a:r>
            <a:r>
              <a:rPr sz="1800" spc="-40" dirty="0">
                <a:latin typeface="Verdana"/>
                <a:cs typeface="Verdana"/>
              </a:rPr>
              <a:t>r</a:t>
            </a:r>
            <a:r>
              <a:rPr sz="1800" dirty="0">
                <a:latin typeface="Verdana"/>
                <a:cs typeface="Verdana"/>
              </a:rPr>
              <a:t>ansfor</a:t>
            </a:r>
            <a:r>
              <a:rPr sz="1800" spc="-15" dirty="0">
                <a:latin typeface="Verdana"/>
                <a:cs typeface="Verdana"/>
              </a:rPr>
              <a:t>m</a:t>
            </a:r>
            <a:r>
              <a:rPr sz="1800" dirty="0">
                <a:latin typeface="Verdana"/>
                <a:cs typeface="Verdana"/>
              </a:rPr>
              <a:t>at</a:t>
            </a:r>
            <a:r>
              <a:rPr sz="1800" spc="5" dirty="0">
                <a:latin typeface="Verdana"/>
                <a:cs typeface="Verdana"/>
              </a:rPr>
              <a:t>i</a:t>
            </a:r>
            <a:r>
              <a:rPr sz="1800" spc="-15" dirty="0">
                <a:latin typeface="Verdana"/>
                <a:cs typeface="Verdana"/>
              </a:rPr>
              <a:t>o</a:t>
            </a:r>
            <a:r>
              <a:rPr sz="1800" dirty="0">
                <a:latin typeface="Verdana"/>
                <a:cs typeface="Verdana"/>
              </a:rPr>
              <a:t>n,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79573" y="1389634"/>
            <a:ext cx="814197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200" marR="5080" indent="-64135">
              <a:lnSpc>
                <a:spcPct val="100000"/>
              </a:lnSpc>
              <a:spcBef>
                <a:spcPts val="100"/>
              </a:spcBef>
              <a:tabLst>
                <a:tab pos="662940" algn="l"/>
                <a:tab pos="727075" algn="l"/>
                <a:tab pos="1554480" algn="l"/>
                <a:tab pos="1991995" algn="l"/>
                <a:tab pos="2734310" algn="l"/>
                <a:tab pos="3057525" algn="l"/>
                <a:tab pos="3476625" algn="l"/>
                <a:tab pos="3563620" algn="l"/>
                <a:tab pos="4578350" algn="l"/>
                <a:tab pos="4639310" algn="l"/>
                <a:tab pos="5071110" algn="l"/>
                <a:tab pos="5643880" algn="l"/>
                <a:tab pos="6189980" algn="l"/>
                <a:tab pos="6709409" algn="l"/>
                <a:tab pos="6898640" algn="l"/>
                <a:tab pos="7254875" algn="l"/>
              </a:tabLst>
            </a:pPr>
            <a:r>
              <a:rPr sz="1800" spc="-20" dirty="0">
                <a:latin typeface="Verdana"/>
                <a:cs typeface="Verdana"/>
              </a:rPr>
              <a:t>S</a:t>
            </a:r>
            <a:r>
              <a:rPr sz="1800" dirty="0">
                <a:latin typeface="Verdana"/>
                <a:cs typeface="Verdana"/>
              </a:rPr>
              <a:t>AP	Busines</a:t>
            </a:r>
            <a:r>
              <a:rPr sz="1800" spc="-5" dirty="0">
                <a:latin typeface="Verdana"/>
                <a:cs typeface="Verdana"/>
              </a:rPr>
              <a:t>sO</a:t>
            </a:r>
            <a:r>
              <a:rPr sz="1800" spc="-10" dirty="0">
                <a:latin typeface="Verdana"/>
                <a:cs typeface="Verdana"/>
              </a:rPr>
              <a:t>b</a:t>
            </a:r>
            <a:r>
              <a:rPr sz="1800" spc="10" dirty="0">
                <a:latin typeface="Verdana"/>
                <a:cs typeface="Verdana"/>
              </a:rPr>
              <a:t>j</a:t>
            </a:r>
            <a:r>
              <a:rPr sz="1800" dirty="0">
                <a:latin typeface="Verdana"/>
                <a:cs typeface="Verdana"/>
              </a:rPr>
              <a:t>e</a:t>
            </a:r>
            <a:r>
              <a:rPr sz="1800" spc="-10" dirty="0">
                <a:latin typeface="Verdana"/>
                <a:cs typeface="Verdana"/>
              </a:rPr>
              <a:t>c</a:t>
            </a:r>
            <a:r>
              <a:rPr sz="1800" spc="-5" dirty="0">
                <a:latin typeface="Verdana"/>
                <a:cs typeface="Verdana"/>
              </a:rPr>
              <a:t>t</a:t>
            </a:r>
            <a:r>
              <a:rPr sz="1800" dirty="0">
                <a:latin typeface="Verdana"/>
                <a:cs typeface="Verdana"/>
              </a:rPr>
              <a:t>s	Data	Ser</a:t>
            </a:r>
            <a:r>
              <a:rPr sz="1800" spc="-15" dirty="0">
                <a:latin typeface="Verdana"/>
                <a:cs typeface="Verdana"/>
              </a:rPr>
              <a:t>v</a:t>
            </a:r>
            <a:r>
              <a:rPr sz="1800" spc="-5" dirty="0">
                <a:latin typeface="Verdana"/>
                <a:cs typeface="Verdana"/>
              </a:rPr>
              <a:t>ice</a:t>
            </a:r>
            <a:r>
              <a:rPr sz="1800" dirty="0">
                <a:latin typeface="Verdana"/>
                <a:cs typeface="Verdana"/>
              </a:rPr>
              <a:t>s		</a:t>
            </a:r>
            <a:r>
              <a:rPr sz="1800" spc="-5" dirty="0">
                <a:latin typeface="Verdana"/>
                <a:cs typeface="Verdana"/>
              </a:rPr>
              <a:t>t</a:t>
            </a:r>
            <a:r>
              <a:rPr sz="1800" dirty="0">
                <a:latin typeface="Verdana"/>
                <a:cs typeface="Verdana"/>
              </a:rPr>
              <a:t>o	</a:t>
            </a:r>
            <a:r>
              <a:rPr sz="1800" spc="5" dirty="0">
                <a:latin typeface="Verdana"/>
                <a:cs typeface="Verdana"/>
              </a:rPr>
              <a:t>p</a:t>
            </a:r>
            <a:r>
              <a:rPr sz="1800" dirty="0">
                <a:latin typeface="Verdana"/>
                <a:cs typeface="Verdana"/>
              </a:rPr>
              <a:t>e</a:t>
            </a:r>
            <a:r>
              <a:rPr sz="1800" spc="-5" dirty="0">
                <a:latin typeface="Verdana"/>
                <a:cs typeface="Verdana"/>
              </a:rPr>
              <a:t>r</a:t>
            </a:r>
            <a:r>
              <a:rPr sz="1800" dirty="0">
                <a:latin typeface="Verdana"/>
                <a:cs typeface="Verdana"/>
              </a:rPr>
              <a:t>form	</a:t>
            </a:r>
            <a:r>
              <a:rPr sz="1800" spc="-10" dirty="0">
                <a:latin typeface="Verdana"/>
                <a:cs typeface="Verdana"/>
              </a:rPr>
              <a:t>d</a:t>
            </a:r>
            <a:r>
              <a:rPr sz="1800" dirty="0">
                <a:latin typeface="Verdana"/>
                <a:cs typeface="Verdana"/>
              </a:rPr>
              <a:t>ata		</a:t>
            </a:r>
            <a:r>
              <a:rPr sz="1800" spc="-20" dirty="0">
                <a:latin typeface="Verdana"/>
                <a:cs typeface="Verdana"/>
              </a:rPr>
              <a:t>e</a:t>
            </a:r>
            <a:r>
              <a:rPr sz="1800" dirty="0">
                <a:latin typeface="Verdana"/>
                <a:cs typeface="Verdana"/>
              </a:rPr>
              <a:t>xt</a:t>
            </a:r>
            <a:r>
              <a:rPr sz="1800" spc="-40" dirty="0">
                <a:latin typeface="Verdana"/>
                <a:cs typeface="Verdana"/>
              </a:rPr>
              <a:t>r</a:t>
            </a:r>
            <a:r>
              <a:rPr sz="1800" dirty="0">
                <a:latin typeface="Verdana"/>
                <a:cs typeface="Verdana"/>
              </a:rPr>
              <a:t>act</a:t>
            </a:r>
            <a:r>
              <a:rPr sz="1800" spc="5" dirty="0">
                <a:latin typeface="Verdana"/>
                <a:cs typeface="Verdana"/>
              </a:rPr>
              <a:t>i</a:t>
            </a:r>
            <a:r>
              <a:rPr sz="1800" dirty="0">
                <a:latin typeface="Verdana"/>
                <a:cs typeface="Verdana"/>
              </a:rPr>
              <a:t>o</a:t>
            </a:r>
            <a:r>
              <a:rPr sz="1800" spc="-15" dirty="0">
                <a:latin typeface="Verdana"/>
                <a:cs typeface="Verdana"/>
              </a:rPr>
              <a:t>n</a:t>
            </a:r>
            <a:r>
              <a:rPr sz="1800" dirty="0">
                <a:latin typeface="Verdana"/>
                <a:cs typeface="Verdana"/>
              </a:rPr>
              <a:t>,  </a:t>
            </a:r>
            <a:r>
              <a:rPr sz="1800" spc="-15" dirty="0">
                <a:latin typeface="Verdana"/>
                <a:cs typeface="Verdana"/>
              </a:rPr>
              <a:t>a</a:t>
            </a:r>
            <a:r>
              <a:rPr sz="1800" dirty="0">
                <a:latin typeface="Verdana"/>
                <a:cs typeface="Verdana"/>
              </a:rPr>
              <a:t>nd		</a:t>
            </a:r>
            <a:r>
              <a:rPr sz="1800" spc="5" dirty="0">
                <a:latin typeface="Verdana"/>
                <a:cs typeface="Verdana"/>
              </a:rPr>
              <a:t>l</a:t>
            </a:r>
            <a:r>
              <a:rPr sz="1800" dirty="0">
                <a:latin typeface="Verdana"/>
                <a:cs typeface="Verdana"/>
              </a:rPr>
              <a:t>o</a:t>
            </a:r>
            <a:r>
              <a:rPr sz="1800" spc="-15" dirty="0">
                <a:latin typeface="Verdana"/>
                <a:cs typeface="Verdana"/>
              </a:rPr>
              <a:t>a</a:t>
            </a:r>
            <a:r>
              <a:rPr sz="1800" spc="-10" dirty="0">
                <a:latin typeface="Verdana"/>
                <a:cs typeface="Verdana"/>
              </a:rPr>
              <a:t>d</a:t>
            </a:r>
            <a:r>
              <a:rPr sz="1800" dirty="0">
                <a:latin typeface="Verdana"/>
                <a:cs typeface="Verdana"/>
              </a:rPr>
              <a:t>s	</a:t>
            </a:r>
            <a:r>
              <a:rPr sz="1800" spc="10" dirty="0">
                <a:latin typeface="Verdana"/>
                <a:cs typeface="Verdana"/>
              </a:rPr>
              <a:t>i</a:t>
            </a:r>
            <a:r>
              <a:rPr sz="1800" dirty="0">
                <a:latin typeface="Verdana"/>
                <a:cs typeface="Verdana"/>
              </a:rPr>
              <a:t>n	</a:t>
            </a:r>
            <a:r>
              <a:rPr sz="1800" spc="-10" dirty="0">
                <a:latin typeface="Verdana"/>
                <a:cs typeface="Verdana"/>
              </a:rPr>
              <a:t>p</a:t>
            </a:r>
            <a:r>
              <a:rPr sz="1800" dirty="0">
                <a:latin typeface="Verdana"/>
                <a:cs typeface="Verdana"/>
              </a:rPr>
              <a:t>a</a:t>
            </a:r>
            <a:r>
              <a:rPr sz="1800" spc="-40" dirty="0">
                <a:latin typeface="Verdana"/>
                <a:cs typeface="Verdana"/>
              </a:rPr>
              <a:t>r</a:t>
            </a:r>
            <a:r>
              <a:rPr sz="1800" dirty="0">
                <a:latin typeface="Verdana"/>
                <a:cs typeface="Verdana"/>
              </a:rPr>
              <a:t>a</a:t>
            </a:r>
            <a:r>
              <a:rPr sz="1800" spc="10" dirty="0">
                <a:latin typeface="Verdana"/>
                <a:cs typeface="Verdana"/>
              </a:rPr>
              <a:t>l</a:t>
            </a:r>
            <a:r>
              <a:rPr sz="1800" spc="5" dirty="0">
                <a:latin typeface="Verdana"/>
                <a:cs typeface="Verdana"/>
              </a:rPr>
              <a:t>l</a:t>
            </a:r>
            <a:r>
              <a:rPr sz="1800" dirty="0">
                <a:latin typeface="Verdana"/>
                <a:cs typeface="Verdana"/>
              </a:rPr>
              <a:t>el	</a:t>
            </a:r>
            <a:r>
              <a:rPr sz="1800" spc="-10" dirty="0">
                <a:latin typeface="Verdana"/>
                <a:cs typeface="Verdana"/>
              </a:rPr>
              <a:t>b</a:t>
            </a:r>
            <a:r>
              <a:rPr sz="1800" dirty="0">
                <a:latin typeface="Verdana"/>
                <a:cs typeface="Verdana"/>
              </a:rPr>
              <a:t>y		s</a:t>
            </a:r>
            <a:r>
              <a:rPr sz="1800" spc="-10" dirty="0">
                <a:latin typeface="Verdana"/>
                <a:cs typeface="Verdana"/>
              </a:rPr>
              <a:t>e</a:t>
            </a:r>
            <a:r>
              <a:rPr sz="1800" spc="-5" dirty="0">
                <a:latin typeface="Verdana"/>
                <a:cs typeface="Verdana"/>
              </a:rPr>
              <a:t>tt</a:t>
            </a:r>
            <a:r>
              <a:rPr sz="1800" spc="20" dirty="0">
                <a:latin typeface="Verdana"/>
                <a:cs typeface="Verdana"/>
              </a:rPr>
              <a:t>i</a:t>
            </a:r>
            <a:r>
              <a:rPr sz="1800" dirty="0">
                <a:latin typeface="Verdana"/>
                <a:cs typeface="Verdana"/>
              </a:rPr>
              <a:t>ng	</a:t>
            </a:r>
            <a:r>
              <a:rPr sz="1800" spc="-10" dirty="0">
                <a:latin typeface="Verdana"/>
                <a:cs typeface="Verdana"/>
              </a:rPr>
              <a:t>p</a:t>
            </a:r>
            <a:r>
              <a:rPr sz="1800" dirty="0">
                <a:latin typeface="Verdana"/>
                <a:cs typeface="Verdana"/>
              </a:rPr>
              <a:t>a</a:t>
            </a:r>
            <a:r>
              <a:rPr sz="1800" spc="-40" dirty="0">
                <a:latin typeface="Verdana"/>
                <a:cs typeface="Verdana"/>
              </a:rPr>
              <a:t>r</a:t>
            </a:r>
            <a:r>
              <a:rPr sz="1800" dirty="0">
                <a:latin typeface="Verdana"/>
                <a:cs typeface="Verdana"/>
              </a:rPr>
              <a:t>a</a:t>
            </a:r>
            <a:r>
              <a:rPr sz="1800" spc="10" dirty="0">
                <a:latin typeface="Verdana"/>
                <a:cs typeface="Verdana"/>
              </a:rPr>
              <a:t>l</a:t>
            </a:r>
            <a:r>
              <a:rPr sz="1800" spc="5" dirty="0">
                <a:latin typeface="Verdana"/>
                <a:cs typeface="Verdana"/>
              </a:rPr>
              <a:t>l</a:t>
            </a:r>
            <a:r>
              <a:rPr sz="1800" dirty="0">
                <a:latin typeface="Verdana"/>
                <a:cs typeface="Verdana"/>
              </a:rPr>
              <a:t>el	o</a:t>
            </a:r>
            <a:r>
              <a:rPr sz="1800" spc="-10" dirty="0">
                <a:latin typeface="Verdana"/>
                <a:cs typeface="Verdana"/>
              </a:rPr>
              <a:t>p</a:t>
            </a:r>
            <a:r>
              <a:rPr sz="1800" spc="-5" dirty="0">
                <a:latin typeface="Verdana"/>
                <a:cs typeface="Verdana"/>
              </a:rPr>
              <a:t>t</a:t>
            </a:r>
            <a:r>
              <a:rPr sz="1800" spc="10" dirty="0">
                <a:latin typeface="Verdana"/>
                <a:cs typeface="Verdana"/>
              </a:rPr>
              <a:t>i</a:t>
            </a:r>
            <a:r>
              <a:rPr sz="1800" dirty="0">
                <a:latin typeface="Verdana"/>
                <a:cs typeface="Verdana"/>
              </a:rPr>
              <a:t>ons	for	sourc</a:t>
            </a:r>
            <a:r>
              <a:rPr sz="1800" spc="-10" dirty="0">
                <a:latin typeface="Verdana"/>
                <a:cs typeface="Verdana"/>
              </a:rPr>
              <a:t>e</a:t>
            </a:r>
            <a:r>
              <a:rPr sz="1800" dirty="0">
                <a:latin typeface="Verdana"/>
                <a:cs typeface="Verdana"/>
              </a:rPr>
              <a:t>s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,transforms,</a:t>
            </a:r>
            <a:r>
              <a:rPr spc="65" dirty="0"/>
              <a:t> </a:t>
            </a:r>
            <a:r>
              <a:rPr dirty="0"/>
              <a:t>and</a:t>
            </a:r>
            <a:r>
              <a:rPr spc="60" dirty="0"/>
              <a:t> </a:t>
            </a:r>
            <a:r>
              <a:rPr spc="-5" dirty="0"/>
              <a:t>targets.</a:t>
            </a:r>
            <a:r>
              <a:rPr spc="85" dirty="0"/>
              <a:t> </a:t>
            </a:r>
            <a:r>
              <a:rPr spc="-5" dirty="0"/>
              <a:t>In</a:t>
            </a:r>
            <a:r>
              <a:rPr spc="65" dirty="0"/>
              <a:t> </a:t>
            </a:r>
            <a:r>
              <a:rPr dirty="0"/>
              <a:t>addition,</a:t>
            </a:r>
            <a:r>
              <a:rPr spc="65" dirty="0"/>
              <a:t> </a:t>
            </a:r>
            <a:r>
              <a:rPr spc="-10" dirty="0"/>
              <a:t>you</a:t>
            </a:r>
            <a:r>
              <a:rPr spc="65" dirty="0"/>
              <a:t> </a:t>
            </a:r>
            <a:r>
              <a:rPr spc="-5" dirty="0"/>
              <a:t>can</a:t>
            </a:r>
            <a:r>
              <a:rPr spc="65" dirty="0"/>
              <a:t> </a:t>
            </a:r>
            <a:r>
              <a:rPr spc="-5" dirty="0"/>
              <a:t>set</a:t>
            </a:r>
            <a:r>
              <a:rPr spc="80" dirty="0"/>
              <a:t> </a:t>
            </a:r>
            <a:r>
              <a:rPr dirty="0"/>
              <a:t>individual</a:t>
            </a:r>
            <a:r>
              <a:rPr spc="75" dirty="0"/>
              <a:t> </a:t>
            </a:r>
            <a:r>
              <a:rPr spc="-5" dirty="0"/>
              <a:t>data</a:t>
            </a:r>
            <a:r>
              <a:rPr spc="60" dirty="0"/>
              <a:t> </a:t>
            </a:r>
            <a:r>
              <a:rPr dirty="0"/>
              <a:t>flows</a:t>
            </a:r>
            <a:r>
              <a:rPr spc="65" dirty="0"/>
              <a:t> </a:t>
            </a:r>
            <a:r>
              <a:rPr dirty="0"/>
              <a:t>and</a:t>
            </a:r>
            <a:r>
              <a:rPr spc="60" dirty="0"/>
              <a:t> </a:t>
            </a:r>
            <a:r>
              <a:rPr dirty="0"/>
              <a:t>work</a:t>
            </a:r>
            <a:r>
              <a:rPr spc="70" dirty="0"/>
              <a:t> </a:t>
            </a:r>
            <a:r>
              <a:rPr dirty="0"/>
              <a:t>flows </a:t>
            </a:r>
            <a:r>
              <a:rPr spc="-615" dirty="0"/>
              <a:t> </a:t>
            </a:r>
            <a:r>
              <a:rPr spc="-5" dirty="0"/>
              <a:t>to </a:t>
            </a:r>
            <a:r>
              <a:rPr dirty="0"/>
              <a:t>run</a:t>
            </a:r>
            <a:r>
              <a:rPr spc="-10" dirty="0"/>
              <a:t> </a:t>
            </a:r>
            <a:r>
              <a:rPr spc="5" dirty="0"/>
              <a:t>in</a:t>
            </a:r>
            <a:r>
              <a:rPr dirty="0"/>
              <a:t> </a:t>
            </a:r>
            <a:r>
              <a:rPr spc="-5" dirty="0"/>
              <a:t>parallel</a:t>
            </a:r>
            <a:r>
              <a:rPr spc="5" dirty="0"/>
              <a:t> </a:t>
            </a:r>
            <a:r>
              <a:rPr spc="-5" dirty="0"/>
              <a:t>by</a:t>
            </a:r>
            <a:r>
              <a:rPr spc="5" dirty="0"/>
              <a:t> </a:t>
            </a:r>
            <a:r>
              <a:rPr dirty="0"/>
              <a:t>simply</a:t>
            </a:r>
            <a:r>
              <a:rPr spc="-15" dirty="0"/>
              <a:t> </a:t>
            </a:r>
            <a:r>
              <a:rPr dirty="0"/>
              <a:t>not </a:t>
            </a:r>
            <a:r>
              <a:rPr spc="-5" dirty="0"/>
              <a:t>connecting</a:t>
            </a:r>
            <a:r>
              <a:rPr spc="10" dirty="0"/>
              <a:t> </a:t>
            </a:r>
            <a:r>
              <a:rPr spc="-5" dirty="0"/>
              <a:t>them</a:t>
            </a:r>
            <a:r>
              <a:rPr spc="15" dirty="0"/>
              <a:t> </a:t>
            </a:r>
            <a:r>
              <a:rPr spc="5" dirty="0"/>
              <a:t>in</a:t>
            </a:r>
            <a:r>
              <a:rPr spc="-10" dirty="0"/>
              <a:t> </a:t>
            </a:r>
            <a:r>
              <a:rPr spc="-5" dirty="0"/>
              <a:t>the</a:t>
            </a:r>
            <a:r>
              <a:rPr spc="5" dirty="0"/>
              <a:t> </a:t>
            </a:r>
            <a:r>
              <a:rPr spc="-5" dirty="0"/>
              <a:t>workspace.</a:t>
            </a:r>
          </a:p>
          <a:p>
            <a:pPr marL="12700" marR="8890">
              <a:lnSpc>
                <a:spcPct val="100000"/>
              </a:lnSpc>
              <a:spcBef>
                <a:spcPts val="505"/>
              </a:spcBef>
              <a:buSzPct val="94444"/>
              <a:buFont typeface="Wingdings"/>
              <a:buChar char=""/>
              <a:tabLst>
                <a:tab pos="194945" algn="l"/>
              </a:tabLst>
            </a:pPr>
            <a:r>
              <a:rPr spc="-5" dirty="0"/>
              <a:t>If</a:t>
            </a:r>
            <a:r>
              <a:rPr spc="70" dirty="0"/>
              <a:t> </a:t>
            </a:r>
            <a:r>
              <a:rPr spc="-5" dirty="0"/>
              <a:t>the</a:t>
            </a:r>
            <a:r>
              <a:rPr spc="60" dirty="0"/>
              <a:t> </a:t>
            </a:r>
            <a:r>
              <a:rPr dirty="0"/>
              <a:t>Job</a:t>
            </a:r>
            <a:r>
              <a:rPr spc="55" dirty="0"/>
              <a:t> </a:t>
            </a:r>
            <a:r>
              <a:rPr spc="-5" dirty="0"/>
              <a:t>Server</a:t>
            </a:r>
            <a:r>
              <a:rPr spc="50" dirty="0"/>
              <a:t> </a:t>
            </a:r>
            <a:r>
              <a:rPr spc="5" dirty="0"/>
              <a:t>is</a:t>
            </a:r>
            <a:r>
              <a:rPr spc="65" dirty="0"/>
              <a:t> </a:t>
            </a:r>
            <a:r>
              <a:rPr spc="-5" dirty="0"/>
              <a:t>running</a:t>
            </a:r>
            <a:r>
              <a:rPr spc="65" dirty="0"/>
              <a:t> </a:t>
            </a:r>
            <a:r>
              <a:rPr spc="-5" dirty="0"/>
              <a:t>on</a:t>
            </a:r>
            <a:r>
              <a:rPr spc="65" dirty="0"/>
              <a:t> </a:t>
            </a:r>
            <a:r>
              <a:rPr dirty="0"/>
              <a:t>a</a:t>
            </a:r>
            <a:r>
              <a:rPr spc="65" dirty="0"/>
              <a:t> </a:t>
            </a:r>
            <a:r>
              <a:rPr spc="-5" dirty="0"/>
              <a:t>multi-processor</a:t>
            </a:r>
            <a:r>
              <a:rPr spc="60" dirty="0"/>
              <a:t> </a:t>
            </a:r>
            <a:r>
              <a:rPr spc="-35" dirty="0"/>
              <a:t>computer,</a:t>
            </a:r>
            <a:r>
              <a:rPr spc="70" dirty="0"/>
              <a:t> </a:t>
            </a:r>
            <a:r>
              <a:rPr spc="5" dirty="0"/>
              <a:t>it</a:t>
            </a:r>
            <a:r>
              <a:rPr spc="70" dirty="0"/>
              <a:t> </a:t>
            </a:r>
            <a:r>
              <a:rPr spc="-10" dirty="0"/>
              <a:t>takes</a:t>
            </a:r>
            <a:r>
              <a:rPr spc="60" dirty="0"/>
              <a:t> </a:t>
            </a:r>
            <a:r>
              <a:rPr dirty="0"/>
              <a:t>full</a:t>
            </a:r>
            <a:r>
              <a:rPr spc="60" dirty="0"/>
              <a:t> </a:t>
            </a:r>
            <a:r>
              <a:rPr spc="-10" dirty="0"/>
              <a:t>advantage</a:t>
            </a:r>
            <a:r>
              <a:rPr spc="65" dirty="0"/>
              <a:t> </a:t>
            </a:r>
            <a:r>
              <a:rPr spc="-5" dirty="0"/>
              <a:t>of </a:t>
            </a:r>
            <a:r>
              <a:rPr spc="-615" dirty="0"/>
              <a:t> </a:t>
            </a:r>
            <a:r>
              <a:rPr spc="-5" dirty="0"/>
              <a:t>available</a:t>
            </a:r>
            <a:r>
              <a:rPr spc="-20" dirty="0"/>
              <a:t> </a:t>
            </a:r>
            <a:r>
              <a:rPr spc="-5" dirty="0"/>
              <a:t>CPUs.</a:t>
            </a:r>
          </a:p>
          <a:p>
            <a:pPr marL="12700" marR="5715">
              <a:lnSpc>
                <a:spcPct val="100000"/>
              </a:lnSpc>
              <a:spcBef>
                <a:spcPts val="490"/>
              </a:spcBef>
              <a:buSzPct val="94444"/>
              <a:buFont typeface="Wingdings"/>
              <a:buChar char=""/>
              <a:tabLst>
                <a:tab pos="194945" algn="l"/>
              </a:tabLst>
            </a:pPr>
            <a:r>
              <a:rPr spc="-5" dirty="0"/>
              <a:t>Note</a:t>
            </a:r>
            <a:r>
              <a:rPr spc="210" dirty="0"/>
              <a:t> </a:t>
            </a:r>
            <a:r>
              <a:rPr spc="-5" dirty="0"/>
              <a:t>that</a:t>
            </a:r>
            <a:r>
              <a:rPr spc="200" dirty="0"/>
              <a:t> </a:t>
            </a:r>
            <a:r>
              <a:rPr spc="5" dirty="0"/>
              <a:t>if</a:t>
            </a:r>
            <a:r>
              <a:rPr spc="225" dirty="0"/>
              <a:t> </a:t>
            </a:r>
            <a:r>
              <a:rPr spc="-5" dirty="0"/>
              <a:t>you</a:t>
            </a:r>
            <a:r>
              <a:rPr spc="204" dirty="0"/>
              <a:t> </a:t>
            </a:r>
            <a:r>
              <a:rPr spc="-15" dirty="0"/>
              <a:t>have</a:t>
            </a:r>
            <a:r>
              <a:rPr spc="200" dirty="0"/>
              <a:t> </a:t>
            </a:r>
            <a:r>
              <a:rPr dirty="0"/>
              <a:t>more</a:t>
            </a:r>
            <a:r>
              <a:rPr spc="204" dirty="0"/>
              <a:t> </a:t>
            </a:r>
            <a:r>
              <a:rPr spc="-5" dirty="0"/>
              <a:t>than</a:t>
            </a:r>
            <a:r>
              <a:rPr spc="204" dirty="0"/>
              <a:t> </a:t>
            </a:r>
            <a:r>
              <a:rPr spc="-5" dirty="0"/>
              <a:t>eight</a:t>
            </a:r>
            <a:r>
              <a:rPr spc="220" dirty="0"/>
              <a:t> </a:t>
            </a:r>
            <a:r>
              <a:rPr spc="-5" dirty="0"/>
              <a:t>CPUs</a:t>
            </a:r>
            <a:r>
              <a:rPr spc="204" dirty="0"/>
              <a:t> </a:t>
            </a:r>
            <a:r>
              <a:rPr spc="-5" dirty="0"/>
              <a:t>on</a:t>
            </a:r>
            <a:r>
              <a:rPr spc="204" dirty="0"/>
              <a:t> </a:t>
            </a:r>
            <a:r>
              <a:rPr spc="-5" dirty="0"/>
              <a:t>your</a:t>
            </a:r>
            <a:r>
              <a:rPr spc="210" dirty="0"/>
              <a:t> </a:t>
            </a:r>
            <a:r>
              <a:rPr dirty="0"/>
              <a:t>Job</a:t>
            </a:r>
            <a:r>
              <a:rPr spc="195" dirty="0"/>
              <a:t> </a:t>
            </a:r>
            <a:r>
              <a:rPr spc="-5" dirty="0"/>
              <a:t>Server</a:t>
            </a:r>
            <a:r>
              <a:rPr spc="204" dirty="0"/>
              <a:t> </a:t>
            </a:r>
            <a:r>
              <a:rPr spc="-35" dirty="0"/>
              <a:t>computer,</a:t>
            </a:r>
            <a:r>
              <a:rPr spc="210" dirty="0"/>
              <a:t> </a:t>
            </a:r>
            <a:r>
              <a:rPr spc="-5" dirty="0"/>
              <a:t>you</a:t>
            </a:r>
            <a:r>
              <a:rPr spc="204" dirty="0"/>
              <a:t> </a:t>
            </a:r>
            <a:r>
              <a:rPr spc="-10" dirty="0"/>
              <a:t>can </a:t>
            </a:r>
            <a:r>
              <a:rPr spc="-615" dirty="0"/>
              <a:t> </a:t>
            </a:r>
            <a:r>
              <a:rPr spc="-5" dirty="0"/>
              <a:t>increase </a:t>
            </a:r>
            <a:r>
              <a:rPr dirty="0"/>
              <a:t>Maximum</a:t>
            </a:r>
            <a:r>
              <a:rPr spc="-10" dirty="0"/>
              <a:t> </a:t>
            </a:r>
            <a:r>
              <a:rPr spc="-5" dirty="0"/>
              <a:t>number</a:t>
            </a:r>
            <a:r>
              <a:rPr spc="5" dirty="0"/>
              <a:t> </a:t>
            </a:r>
            <a:r>
              <a:rPr spc="-5" dirty="0"/>
              <a:t>of</a:t>
            </a:r>
            <a:r>
              <a:rPr spc="5" dirty="0"/>
              <a:t> </a:t>
            </a:r>
            <a:r>
              <a:rPr spc="-5" dirty="0"/>
              <a:t>engine</a:t>
            </a:r>
            <a:r>
              <a:rPr spc="10" dirty="0"/>
              <a:t> </a:t>
            </a:r>
            <a:r>
              <a:rPr spc="-5" dirty="0"/>
              <a:t>processes</a:t>
            </a:r>
            <a:r>
              <a:rPr spc="30" dirty="0"/>
              <a:t> </a:t>
            </a:r>
            <a:r>
              <a:rPr spc="-5" dirty="0"/>
              <a:t>to</a:t>
            </a:r>
            <a:r>
              <a:rPr dirty="0"/>
              <a:t> </a:t>
            </a:r>
            <a:r>
              <a:rPr spc="-5" dirty="0"/>
              <a:t>improve</a:t>
            </a:r>
            <a:r>
              <a:rPr spc="-10" dirty="0"/>
              <a:t> </a:t>
            </a:r>
            <a:r>
              <a:rPr spc="-5" dirty="0"/>
              <a:t>performance.</a:t>
            </a:r>
          </a:p>
          <a:p>
            <a:pPr marL="194945" indent="-182245">
              <a:lnSpc>
                <a:spcPct val="100000"/>
              </a:lnSpc>
              <a:spcBef>
                <a:spcPts val="505"/>
              </a:spcBef>
              <a:buSzPct val="94444"/>
              <a:buFont typeface="Wingdings"/>
              <a:buChar char=""/>
              <a:tabLst>
                <a:tab pos="194945" algn="l"/>
              </a:tabLst>
            </a:pPr>
            <a:r>
              <a:rPr spc="-100" dirty="0"/>
              <a:t>To</a:t>
            </a:r>
            <a:r>
              <a:rPr spc="315" dirty="0"/>
              <a:t> </a:t>
            </a:r>
            <a:r>
              <a:rPr spc="-5" dirty="0"/>
              <a:t>change</a:t>
            </a:r>
            <a:r>
              <a:rPr spc="325" dirty="0"/>
              <a:t> </a:t>
            </a:r>
            <a:r>
              <a:rPr dirty="0"/>
              <a:t>the</a:t>
            </a:r>
            <a:r>
              <a:rPr spc="315" dirty="0"/>
              <a:t> </a:t>
            </a:r>
            <a:r>
              <a:rPr dirty="0"/>
              <a:t>maximum</a:t>
            </a:r>
            <a:r>
              <a:rPr spc="305" dirty="0"/>
              <a:t> </a:t>
            </a:r>
            <a:r>
              <a:rPr spc="-5" dirty="0"/>
              <a:t>number</a:t>
            </a:r>
            <a:r>
              <a:rPr spc="315" dirty="0"/>
              <a:t> </a:t>
            </a:r>
            <a:r>
              <a:rPr spc="-5" dirty="0"/>
              <a:t>of</a:t>
            </a:r>
            <a:r>
              <a:rPr spc="320" dirty="0"/>
              <a:t> </a:t>
            </a:r>
            <a:r>
              <a:rPr spc="-5" dirty="0"/>
              <a:t>parallel</a:t>
            </a:r>
            <a:r>
              <a:rPr spc="310" dirty="0"/>
              <a:t> </a:t>
            </a:r>
            <a:r>
              <a:rPr dirty="0"/>
              <a:t>engine</a:t>
            </a:r>
            <a:r>
              <a:rPr spc="325" dirty="0"/>
              <a:t> </a:t>
            </a:r>
            <a:r>
              <a:rPr spc="-5" dirty="0"/>
              <a:t>processes,</a:t>
            </a:r>
            <a:r>
              <a:rPr spc="330" dirty="0"/>
              <a:t> </a:t>
            </a:r>
            <a:r>
              <a:rPr dirty="0"/>
              <a:t>use</a:t>
            </a:r>
            <a:r>
              <a:rPr spc="310" dirty="0"/>
              <a:t> </a:t>
            </a:r>
            <a:r>
              <a:rPr dirty="0"/>
              <a:t>the</a:t>
            </a:r>
            <a:r>
              <a:rPr spc="310" dirty="0"/>
              <a:t> </a:t>
            </a:r>
            <a:r>
              <a:rPr dirty="0"/>
              <a:t>Job</a:t>
            </a:r>
            <a:r>
              <a:rPr spc="315" dirty="0"/>
              <a:t> </a:t>
            </a:r>
            <a:r>
              <a:rPr spc="-10" dirty="0"/>
              <a:t>Server</a:t>
            </a:r>
          </a:p>
          <a:p>
            <a:pPr marL="12700">
              <a:lnSpc>
                <a:spcPct val="100000"/>
              </a:lnSpc>
            </a:pPr>
            <a:r>
              <a:rPr spc="-5" dirty="0"/>
              <a:t>options</a:t>
            </a:r>
            <a:r>
              <a:rPr dirty="0"/>
              <a:t> </a:t>
            </a:r>
            <a:r>
              <a:rPr spc="-35" dirty="0"/>
              <a:t>(Tools</a:t>
            </a:r>
            <a:r>
              <a:rPr dirty="0"/>
              <a:t> &gt;</a:t>
            </a:r>
            <a:r>
              <a:rPr spc="10" dirty="0"/>
              <a:t> </a:t>
            </a:r>
            <a:r>
              <a:rPr spc="-5" dirty="0"/>
              <a:t>Options&gt;</a:t>
            </a:r>
            <a:r>
              <a:rPr spc="10" dirty="0"/>
              <a:t> </a:t>
            </a:r>
            <a:r>
              <a:rPr spc="-5" dirty="0"/>
              <a:t>Job Server </a:t>
            </a:r>
            <a:r>
              <a:rPr dirty="0"/>
              <a:t>&gt;</a:t>
            </a:r>
            <a:r>
              <a:rPr spc="5" dirty="0"/>
              <a:t> </a:t>
            </a:r>
            <a:r>
              <a:rPr spc="-5" dirty="0"/>
              <a:t>Environment).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54100" y="338455"/>
            <a:ext cx="6351270" cy="605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DEGREE</a:t>
            </a:r>
            <a:r>
              <a:rPr spc="-4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spc="-10" dirty="0"/>
              <a:t>PARALLELISM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57147" y="1728342"/>
            <a:ext cx="10088245" cy="2685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7620" algn="just">
              <a:lnSpc>
                <a:spcPct val="100000"/>
              </a:lnSpc>
              <a:spcBef>
                <a:spcPts val="100"/>
              </a:spcBef>
              <a:buSzPct val="94444"/>
              <a:buFont typeface="Wingdings"/>
              <a:buChar char=""/>
              <a:tabLst>
                <a:tab pos="194945" algn="l"/>
              </a:tabLst>
            </a:pPr>
            <a:r>
              <a:rPr sz="1800" dirty="0">
                <a:latin typeface="Verdana"/>
                <a:cs typeface="Verdana"/>
              </a:rPr>
              <a:t>Degree </a:t>
            </a:r>
            <a:r>
              <a:rPr sz="1800" spc="-5" dirty="0">
                <a:latin typeface="Verdana"/>
                <a:cs typeface="Verdana"/>
              </a:rPr>
              <a:t>Of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Parallelism (DOP)</a:t>
            </a:r>
            <a:r>
              <a:rPr sz="1800" spc="610" dirty="0">
                <a:latin typeface="Verdana"/>
                <a:cs typeface="Verdana"/>
              </a:rPr>
              <a:t> </a:t>
            </a:r>
            <a:r>
              <a:rPr sz="1800" spc="5" dirty="0">
                <a:latin typeface="Verdana"/>
                <a:cs typeface="Verdana"/>
              </a:rPr>
              <a:t>is </a:t>
            </a:r>
            <a:r>
              <a:rPr sz="1800" dirty="0">
                <a:latin typeface="Verdana"/>
                <a:cs typeface="Verdana"/>
              </a:rPr>
              <a:t>a </a:t>
            </a:r>
            <a:r>
              <a:rPr sz="1800" spc="-5" dirty="0">
                <a:latin typeface="Verdana"/>
                <a:cs typeface="Verdana"/>
              </a:rPr>
              <a:t>property of</a:t>
            </a:r>
            <a:r>
              <a:rPr sz="1800" spc="6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 data flow </a:t>
            </a:r>
            <a:r>
              <a:rPr sz="1800" spc="-5" dirty="0">
                <a:latin typeface="Verdana"/>
                <a:cs typeface="Verdana"/>
              </a:rPr>
              <a:t>that </a:t>
            </a:r>
            <a:r>
              <a:rPr sz="1800" dirty="0">
                <a:latin typeface="Verdana"/>
                <a:cs typeface="Verdana"/>
              </a:rPr>
              <a:t>defines how </a:t>
            </a:r>
            <a:r>
              <a:rPr sz="1800" spc="-10" dirty="0">
                <a:latin typeface="Verdana"/>
                <a:cs typeface="Verdana"/>
              </a:rPr>
              <a:t>many 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times </a:t>
            </a:r>
            <a:r>
              <a:rPr sz="1800" spc="-5" dirty="0">
                <a:latin typeface="Verdana"/>
                <a:cs typeface="Verdana"/>
              </a:rPr>
              <a:t>each transform </a:t>
            </a:r>
            <a:r>
              <a:rPr sz="1800" dirty="0">
                <a:latin typeface="Verdana"/>
                <a:cs typeface="Verdana"/>
              </a:rPr>
              <a:t>defined </a:t>
            </a:r>
            <a:r>
              <a:rPr sz="1800" spc="5" dirty="0">
                <a:latin typeface="Verdana"/>
                <a:cs typeface="Verdana"/>
              </a:rPr>
              <a:t>in </a:t>
            </a:r>
            <a:r>
              <a:rPr sz="1800" dirty="0">
                <a:latin typeface="Verdana"/>
                <a:cs typeface="Verdana"/>
              </a:rPr>
              <a:t>the </a:t>
            </a:r>
            <a:r>
              <a:rPr sz="1800" spc="-5" dirty="0">
                <a:latin typeface="Verdana"/>
                <a:cs typeface="Verdana"/>
              </a:rPr>
              <a:t>data </a:t>
            </a:r>
            <a:r>
              <a:rPr sz="1800" dirty="0">
                <a:latin typeface="Verdana"/>
                <a:cs typeface="Verdana"/>
              </a:rPr>
              <a:t>flow </a:t>
            </a:r>
            <a:r>
              <a:rPr sz="1800" spc="-5" dirty="0">
                <a:latin typeface="Verdana"/>
                <a:cs typeface="Verdana"/>
              </a:rPr>
              <a:t>replicates </a:t>
            </a:r>
            <a:r>
              <a:rPr sz="1800" dirty="0">
                <a:latin typeface="Verdana"/>
                <a:cs typeface="Verdana"/>
              </a:rPr>
              <a:t>for use </a:t>
            </a:r>
            <a:r>
              <a:rPr sz="1800" spc="-5" dirty="0">
                <a:latin typeface="Verdana"/>
                <a:cs typeface="Verdana"/>
              </a:rPr>
              <a:t>on </a:t>
            </a:r>
            <a:r>
              <a:rPr sz="1800" dirty="0">
                <a:latin typeface="Verdana"/>
                <a:cs typeface="Verdana"/>
              </a:rPr>
              <a:t>a </a:t>
            </a:r>
            <a:r>
              <a:rPr sz="1800" spc="-5" dirty="0">
                <a:latin typeface="Verdana"/>
                <a:cs typeface="Verdana"/>
              </a:rPr>
              <a:t>parallel subset of 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data.</a:t>
            </a:r>
            <a:endParaRPr sz="1800">
              <a:latin typeface="Verdana"/>
              <a:cs typeface="Verdana"/>
            </a:endParaRPr>
          </a:p>
          <a:p>
            <a:pPr marL="12700" marR="8255" algn="just">
              <a:lnSpc>
                <a:spcPct val="100000"/>
              </a:lnSpc>
              <a:spcBef>
                <a:spcPts val="490"/>
              </a:spcBef>
              <a:buSzPct val="94444"/>
              <a:buFont typeface="Wingdings"/>
              <a:buChar char=""/>
              <a:tabLst>
                <a:tab pos="194945" algn="l"/>
              </a:tabLst>
            </a:pPr>
            <a:r>
              <a:rPr sz="1800" spc="-5" dirty="0">
                <a:latin typeface="Verdana"/>
                <a:cs typeface="Verdana"/>
              </a:rPr>
              <a:t>If there </a:t>
            </a:r>
            <a:r>
              <a:rPr sz="1800" dirty="0">
                <a:latin typeface="Verdana"/>
                <a:cs typeface="Verdana"/>
              </a:rPr>
              <a:t>are multiple </a:t>
            </a:r>
            <a:r>
              <a:rPr sz="1800" spc="-5" dirty="0">
                <a:latin typeface="Verdana"/>
                <a:cs typeface="Verdana"/>
              </a:rPr>
              <a:t>transforms </a:t>
            </a:r>
            <a:r>
              <a:rPr sz="1800" spc="5" dirty="0">
                <a:latin typeface="Verdana"/>
                <a:cs typeface="Verdana"/>
              </a:rPr>
              <a:t>in </a:t>
            </a:r>
            <a:r>
              <a:rPr sz="1800" dirty="0">
                <a:latin typeface="Verdana"/>
                <a:cs typeface="Verdana"/>
              </a:rPr>
              <a:t>a </a:t>
            </a:r>
            <a:r>
              <a:rPr sz="1800" spc="-5" dirty="0">
                <a:latin typeface="Verdana"/>
                <a:cs typeface="Verdana"/>
              </a:rPr>
              <a:t>data </a:t>
            </a:r>
            <a:r>
              <a:rPr sz="1800" spc="-10" dirty="0">
                <a:latin typeface="Verdana"/>
                <a:cs typeface="Verdana"/>
              </a:rPr>
              <a:t>flow, SAP </a:t>
            </a:r>
            <a:r>
              <a:rPr sz="1800" spc="-5" dirty="0">
                <a:latin typeface="Verdana"/>
                <a:cs typeface="Verdana"/>
              </a:rPr>
              <a:t>BusinessObjects </a:t>
            </a:r>
            <a:r>
              <a:rPr sz="1800" dirty="0">
                <a:latin typeface="Verdana"/>
                <a:cs typeface="Verdana"/>
              </a:rPr>
              <a:t>Data Services 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chains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them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together</a:t>
            </a:r>
            <a:r>
              <a:rPr sz="1800" spc="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until </a:t>
            </a:r>
            <a:r>
              <a:rPr sz="1800" spc="5" dirty="0">
                <a:latin typeface="Verdana"/>
                <a:cs typeface="Verdana"/>
              </a:rPr>
              <a:t>it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reaches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merge</a:t>
            </a:r>
            <a:r>
              <a:rPr sz="1800" spc="2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point.</a:t>
            </a:r>
            <a:endParaRPr sz="1800">
              <a:latin typeface="Verdana"/>
              <a:cs typeface="Verdana"/>
            </a:endParaRPr>
          </a:p>
          <a:p>
            <a:pPr marL="12700" marR="5715" algn="just">
              <a:lnSpc>
                <a:spcPct val="100000"/>
              </a:lnSpc>
              <a:spcBef>
                <a:spcPts val="505"/>
              </a:spcBef>
              <a:buSzPct val="94444"/>
              <a:buFont typeface="Wingdings"/>
              <a:buChar char=""/>
              <a:tabLst>
                <a:tab pos="194945" algn="l"/>
              </a:tabLst>
            </a:pPr>
            <a:r>
              <a:rPr sz="1800" spc="-45" dirty="0">
                <a:latin typeface="Verdana"/>
                <a:cs typeface="Verdana"/>
              </a:rPr>
              <a:t>You </a:t>
            </a:r>
            <a:r>
              <a:rPr sz="1800" spc="-5" dirty="0">
                <a:latin typeface="Verdana"/>
                <a:cs typeface="Verdana"/>
              </a:rPr>
              <a:t>can </a:t>
            </a:r>
            <a:r>
              <a:rPr sz="1800" dirty="0">
                <a:latin typeface="Verdana"/>
                <a:cs typeface="Verdana"/>
              </a:rPr>
              <a:t>run </a:t>
            </a:r>
            <a:r>
              <a:rPr sz="1800" spc="-5" dirty="0">
                <a:latin typeface="Verdana"/>
                <a:cs typeface="Verdana"/>
              </a:rPr>
              <a:t>transforms </a:t>
            </a:r>
            <a:r>
              <a:rPr sz="1800" spc="5" dirty="0">
                <a:latin typeface="Verdana"/>
                <a:cs typeface="Verdana"/>
              </a:rPr>
              <a:t>in </a:t>
            </a:r>
            <a:r>
              <a:rPr sz="1800" spc="-5" dirty="0">
                <a:latin typeface="Verdana"/>
                <a:cs typeface="Verdana"/>
              </a:rPr>
              <a:t>parallel by </a:t>
            </a:r>
            <a:r>
              <a:rPr sz="1800" dirty="0">
                <a:latin typeface="Verdana"/>
                <a:cs typeface="Verdana"/>
              </a:rPr>
              <a:t>entering a </a:t>
            </a:r>
            <a:r>
              <a:rPr sz="1800" spc="-5" dirty="0">
                <a:latin typeface="Verdana"/>
                <a:cs typeface="Verdana"/>
              </a:rPr>
              <a:t>number </a:t>
            </a:r>
            <a:r>
              <a:rPr sz="1800" spc="5" dirty="0">
                <a:latin typeface="Verdana"/>
                <a:cs typeface="Verdana"/>
              </a:rPr>
              <a:t>in </a:t>
            </a:r>
            <a:r>
              <a:rPr sz="1800" dirty="0">
                <a:latin typeface="Verdana"/>
                <a:cs typeface="Verdana"/>
              </a:rPr>
              <a:t>the Degree </a:t>
            </a:r>
            <a:r>
              <a:rPr sz="1800" spc="-5" dirty="0">
                <a:latin typeface="Verdana"/>
                <a:cs typeface="Verdana"/>
              </a:rPr>
              <a:t>of </a:t>
            </a:r>
            <a:r>
              <a:rPr sz="1800" spc="-10" dirty="0">
                <a:latin typeface="Verdana"/>
                <a:cs typeface="Verdana"/>
              </a:rPr>
              <a:t>Parallelism 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box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on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 </a:t>
            </a:r>
            <a:r>
              <a:rPr sz="1800" spc="-5" dirty="0">
                <a:latin typeface="Verdana"/>
                <a:cs typeface="Verdana"/>
              </a:rPr>
              <a:t>data </a:t>
            </a:r>
            <a:r>
              <a:rPr sz="1800" dirty="0">
                <a:latin typeface="Verdana"/>
                <a:cs typeface="Verdana"/>
              </a:rPr>
              <a:t>flow's</a:t>
            </a:r>
            <a:r>
              <a:rPr sz="1800" spc="-5" dirty="0">
                <a:latin typeface="Verdana"/>
                <a:cs typeface="Verdana"/>
              </a:rPr>
              <a:t> Properties</a:t>
            </a:r>
            <a:r>
              <a:rPr sz="1800" spc="2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window.</a:t>
            </a:r>
            <a:endParaRPr sz="1800">
              <a:latin typeface="Verdana"/>
              <a:cs typeface="Verdana"/>
            </a:endParaRPr>
          </a:p>
          <a:p>
            <a:pPr marL="12700" marR="5080" algn="just">
              <a:lnSpc>
                <a:spcPct val="100000"/>
              </a:lnSpc>
              <a:spcBef>
                <a:spcPts val="505"/>
              </a:spcBef>
              <a:buSzPct val="94444"/>
              <a:buFont typeface="Wingdings"/>
              <a:buChar char=""/>
              <a:tabLst>
                <a:tab pos="194945" algn="l"/>
              </a:tabLst>
            </a:pPr>
            <a:r>
              <a:rPr sz="1800" spc="-5" dirty="0">
                <a:latin typeface="Verdana"/>
                <a:cs typeface="Verdana"/>
              </a:rPr>
              <a:t>The </a:t>
            </a:r>
            <a:r>
              <a:rPr sz="1800" dirty="0">
                <a:latin typeface="Verdana"/>
                <a:cs typeface="Verdana"/>
              </a:rPr>
              <a:t>number </a:t>
            </a:r>
            <a:r>
              <a:rPr sz="1800" spc="5" dirty="0">
                <a:latin typeface="Verdana"/>
                <a:cs typeface="Verdana"/>
              </a:rPr>
              <a:t>is </a:t>
            </a:r>
            <a:r>
              <a:rPr sz="1800" spc="-5" dirty="0">
                <a:latin typeface="Verdana"/>
                <a:cs typeface="Verdana"/>
              </a:rPr>
              <a:t>used to </a:t>
            </a:r>
            <a:r>
              <a:rPr sz="1800" dirty="0">
                <a:latin typeface="Verdana"/>
                <a:cs typeface="Verdana"/>
              </a:rPr>
              <a:t>replicate </a:t>
            </a:r>
            <a:r>
              <a:rPr sz="1800" spc="-5" dirty="0">
                <a:latin typeface="Verdana"/>
                <a:cs typeface="Verdana"/>
              </a:rPr>
              <a:t>transforms </a:t>
            </a:r>
            <a:r>
              <a:rPr sz="1800" spc="5" dirty="0">
                <a:latin typeface="Verdana"/>
                <a:cs typeface="Verdana"/>
              </a:rPr>
              <a:t>in </a:t>
            </a:r>
            <a:r>
              <a:rPr sz="1800" spc="-5" dirty="0">
                <a:latin typeface="Verdana"/>
                <a:cs typeface="Verdana"/>
              </a:rPr>
              <a:t>the data </a:t>
            </a:r>
            <a:r>
              <a:rPr sz="1800" dirty="0">
                <a:latin typeface="Verdana"/>
                <a:cs typeface="Verdana"/>
              </a:rPr>
              <a:t>flow which run </a:t>
            </a:r>
            <a:r>
              <a:rPr sz="1800" spc="-5" dirty="0">
                <a:latin typeface="Verdana"/>
                <a:cs typeface="Verdana"/>
              </a:rPr>
              <a:t>as </a:t>
            </a:r>
            <a:r>
              <a:rPr sz="1800" spc="-10" dirty="0">
                <a:latin typeface="Verdana"/>
                <a:cs typeface="Verdana"/>
              </a:rPr>
              <a:t>separate </a:t>
            </a:r>
            <a:r>
              <a:rPr sz="1800" spc="-5" dirty="0">
                <a:latin typeface="Verdana"/>
                <a:cs typeface="Verdana"/>
              </a:rPr>
              <a:t> threads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when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the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Job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Server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processes</a:t>
            </a:r>
            <a:r>
              <a:rPr sz="1800" spc="2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the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data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flow.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54100" y="243077"/>
            <a:ext cx="8757285" cy="605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DEGREE</a:t>
            </a:r>
            <a:r>
              <a:rPr spc="-25" dirty="0"/>
              <a:t> </a:t>
            </a:r>
            <a:r>
              <a:rPr dirty="0"/>
              <a:t>OF</a:t>
            </a:r>
            <a:r>
              <a:rPr spc="-15" dirty="0"/>
              <a:t> </a:t>
            </a:r>
            <a:r>
              <a:rPr spc="-10" dirty="0"/>
              <a:t>PARALLELISM</a:t>
            </a:r>
            <a:r>
              <a:rPr spc="-35" dirty="0"/>
              <a:t> </a:t>
            </a:r>
            <a:r>
              <a:rPr spc="-5" dirty="0"/>
              <a:t>EXAMPLE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48483" y="1403603"/>
            <a:ext cx="7495032" cy="405079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32283" rIns="0" bIns="0" rtlCol="0">
            <a:spAutoFit/>
          </a:bodyPr>
          <a:lstStyle/>
          <a:p>
            <a:pPr marL="12700" marR="5080">
              <a:lnSpc>
                <a:spcPts val="4110"/>
              </a:lnSpc>
              <a:spcBef>
                <a:spcPts val="615"/>
              </a:spcBef>
            </a:pPr>
            <a:r>
              <a:rPr dirty="0"/>
              <a:t>BODS</a:t>
            </a:r>
            <a:r>
              <a:rPr spc="-40" dirty="0"/>
              <a:t> </a:t>
            </a:r>
            <a:r>
              <a:rPr dirty="0"/>
              <a:t>PERFORMANCE</a:t>
            </a:r>
            <a:r>
              <a:rPr spc="-70" dirty="0"/>
              <a:t> </a:t>
            </a:r>
            <a:r>
              <a:rPr spc="-5" dirty="0"/>
              <a:t>TUNING </a:t>
            </a:r>
            <a:r>
              <a:rPr spc="-1320" dirty="0"/>
              <a:t> </a:t>
            </a:r>
            <a:r>
              <a:rPr spc="-5" dirty="0"/>
              <a:t>TECHNIQUES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54100" y="1683511"/>
            <a:ext cx="20751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10235" algn="l"/>
              </a:tabLst>
            </a:pPr>
            <a:r>
              <a:rPr sz="1800" spc="-5" dirty="0">
                <a:latin typeface="Verdana"/>
                <a:cs typeface="Verdana"/>
              </a:rPr>
              <a:t>The	performance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77870" y="1683511"/>
            <a:ext cx="69113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07034" algn="l"/>
                <a:tab pos="864869" algn="l"/>
                <a:tab pos="1452880" algn="l"/>
                <a:tab pos="1989455" algn="l"/>
                <a:tab pos="3129280" algn="l"/>
                <a:tab pos="3588385" algn="l"/>
                <a:tab pos="4135120" algn="l"/>
                <a:tab pos="5092700" algn="l"/>
                <a:tab pos="5730875" algn="l"/>
              </a:tabLst>
            </a:pPr>
            <a:r>
              <a:rPr sz="1800" spc="-5" dirty="0">
                <a:latin typeface="Verdana"/>
                <a:cs typeface="Verdana"/>
              </a:rPr>
              <a:t>of	an	ETL	job	</a:t>
            </a:r>
            <a:r>
              <a:rPr sz="1800" dirty="0">
                <a:latin typeface="Verdana"/>
                <a:cs typeface="Verdana"/>
              </a:rPr>
              <a:t>depends	</a:t>
            </a:r>
            <a:r>
              <a:rPr sz="1800" spc="-5" dirty="0">
                <a:latin typeface="Verdana"/>
                <a:cs typeface="Verdana"/>
              </a:rPr>
              <a:t>on	</a:t>
            </a:r>
            <a:r>
              <a:rPr sz="1800" dirty="0">
                <a:latin typeface="Verdana"/>
                <a:cs typeface="Verdana"/>
              </a:rPr>
              <a:t>the	factors	that	</a:t>
            </a:r>
            <a:r>
              <a:rPr sz="1800" spc="-5" dirty="0">
                <a:latin typeface="Verdana"/>
                <a:cs typeface="Verdana"/>
              </a:rPr>
              <a:t>contribute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54100" y="1958085"/>
            <a:ext cx="46240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Verdana"/>
                <a:cs typeface="Verdana"/>
              </a:rPr>
              <a:t>performance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5" dirty="0">
                <a:latin typeface="Verdana"/>
                <a:cs typeface="Verdana"/>
              </a:rPr>
              <a:t>in</a:t>
            </a:r>
            <a:r>
              <a:rPr sz="1800" spc="-5" dirty="0">
                <a:latin typeface="Verdana"/>
                <a:cs typeface="Verdana"/>
              </a:rPr>
              <a:t> an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ETL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task.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They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are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−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199369" y="1683511"/>
            <a:ext cx="940435" cy="9131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  <a:tabLst>
                <a:tab pos="403225" algn="l"/>
              </a:tabLst>
            </a:pPr>
            <a:r>
              <a:rPr sz="1800" spc="-5" dirty="0">
                <a:latin typeface="Verdana"/>
                <a:cs typeface="Verdana"/>
              </a:rPr>
              <a:t>to	the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150">
              <a:latin typeface="Verdana"/>
              <a:cs typeface="Verdana"/>
            </a:endParaRPr>
          </a:p>
          <a:p>
            <a:pPr marR="5080" algn="r">
              <a:lnSpc>
                <a:spcPct val="100000"/>
              </a:lnSpc>
            </a:pPr>
            <a:r>
              <a:rPr sz="1800" spc="-5" dirty="0">
                <a:latin typeface="Verdana"/>
                <a:cs typeface="Verdana"/>
              </a:rPr>
              <a:t>perform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54100" y="2296414"/>
            <a:ext cx="88372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buSzPct val="94444"/>
              <a:buFont typeface="Wingdings"/>
              <a:buChar char=""/>
              <a:tabLst>
                <a:tab pos="194945" algn="l"/>
                <a:tab pos="1410335" algn="l"/>
                <a:tab pos="2341245" algn="l"/>
                <a:tab pos="3289300" algn="l"/>
                <a:tab pos="3725545" algn="l"/>
                <a:tab pos="4848860" algn="l"/>
                <a:tab pos="6220460" algn="l"/>
                <a:tab pos="7306945" algn="l"/>
                <a:tab pos="7918450" algn="l"/>
                <a:tab pos="8595360" algn="l"/>
              </a:tabLst>
            </a:pPr>
            <a:r>
              <a:rPr sz="1800" b="1" dirty="0">
                <a:latin typeface="Verdana"/>
                <a:cs typeface="Verdana"/>
              </a:rPr>
              <a:t>Sou</a:t>
            </a:r>
            <a:r>
              <a:rPr sz="1800" b="1" spc="5" dirty="0">
                <a:latin typeface="Verdana"/>
                <a:cs typeface="Verdana"/>
              </a:rPr>
              <a:t>r</a:t>
            </a:r>
            <a:r>
              <a:rPr sz="1800" b="1" spc="-5" dirty="0">
                <a:latin typeface="Verdana"/>
                <a:cs typeface="Verdana"/>
              </a:rPr>
              <a:t>c</a:t>
            </a:r>
            <a:r>
              <a:rPr sz="1800" b="1" dirty="0">
                <a:latin typeface="Verdana"/>
                <a:cs typeface="Verdana"/>
              </a:rPr>
              <a:t>e	Da</a:t>
            </a:r>
            <a:r>
              <a:rPr sz="1800" b="1" spc="-10" dirty="0">
                <a:latin typeface="Verdana"/>
                <a:cs typeface="Verdana"/>
              </a:rPr>
              <a:t>t</a:t>
            </a:r>
            <a:r>
              <a:rPr sz="1800" b="1" dirty="0">
                <a:latin typeface="Verdana"/>
                <a:cs typeface="Verdana"/>
              </a:rPr>
              <a:t>a	B</a:t>
            </a:r>
            <a:r>
              <a:rPr sz="1800" b="1" spc="-5" dirty="0">
                <a:latin typeface="Verdana"/>
                <a:cs typeface="Verdana"/>
              </a:rPr>
              <a:t>as</a:t>
            </a:r>
            <a:r>
              <a:rPr sz="1800" b="1" dirty="0">
                <a:latin typeface="Verdana"/>
                <a:cs typeface="Verdana"/>
              </a:rPr>
              <a:t>e	</a:t>
            </a:r>
            <a:r>
              <a:rPr sz="1800" dirty="0">
                <a:latin typeface="Verdana"/>
                <a:cs typeface="Verdana"/>
              </a:rPr>
              <a:t>:	</a:t>
            </a:r>
            <a:r>
              <a:rPr sz="1800" spc="-10" dirty="0">
                <a:latin typeface="Verdana"/>
                <a:cs typeface="Verdana"/>
              </a:rPr>
              <a:t>S</a:t>
            </a:r>
            <a:r>
              <a:rPr sz="1800" dirty="0">
                <a:latin typeface="Verdana"/>
                <a:cs typeface="Verdana"/>
              </a:rPr>
              <a:t>ource	</a:t>
            </a:r>
            <a:r>
              <a:rPr sz="1800" spc="-10" dirty="0">
                <a:latin typeface="Verdana"/>
                <a:cs typeface="Verdana"/>
              </a:rPr>
              <a:t>d</a:t>
            </a:r>
            <a:r>
              <a:rPr sz="1800" dirty="0">
                <a:latin typeface="Verdana"/>
                <a:cs typeface="Verdana"/>
              </a:rPr>
              <a:t>ata</a:t>
            </a:r>
            <a:r>
              <a:rPr sz="1800" spc="-15" dirty="0">
                <a:latin typeface="Verdana"/>
                <a:cs typeface="Verdana"/>
              </a:rPr>
              <a:t>b</a:t>
            </a:r>
            <a:r>
              <a:rPr sz="1800" dirty="0">
                <a:latin typeface="Verdana"/>
                <a:cs typeface="Verdana"/>
              </a:rPr>
              <a:t>ase	</a:t>
            </a:r>
            <a:r>
              <a:rPr sz="1800" spc="5" dirty="0">
                <a:latin typeface="Verdana"/>
                <a:cs typeface="Verdana"/>
              </a:rPr>
              <a:t>s</a:t>
            </a:r>
            <a:r>
              <a:rPr sz="1800" dirty="0">
                <a:latin typeface="Verdana"/>
                <a:cs typeface="Verdana"/>
              </a:rPr>
              <a:t>hou</a:t>
            </a:r>
            <a:r>
              <a:rPr sz="1800" spc="10" dirty="0">
                <a:latin typeface="Verdana"/>
                <a:cs typeface="Verdana"/>
              </a:rPr>
              <a:t>l</a:t>
            </a:r>
            <a:r>
              <a:rPr sz="1800" dirty="0">
                <a:latin typeface="Verdana"/>
                <a:cs typeface="Verdana"/>
              </a:rPr>
              <a:t>d	</a:t>
            </a:r>
            <a:r>
              <a:rPr sz="1800" spc="-10" dirty="0">
                <a:latin typeface="Verdana"/>
                <a:cs typeface="Verdana"/>
              </a:rPr>
              <a:t>b</a:t>
            </a:r>
            <a:r>
              <a:rPr sz="1800" dirty="0">
                <a:latin typeface="Verdana"/>
                <a:cs typeface="Verdana"/>
              </a:rPr>
              <a:t>e	s</a:t>
            </a:r>
            <a:r>
              <a:rPr sz="1800" spc="-10" dirty="0">
                <a:latin typeface="Verdana"/>
                <a:cs typeface="Verdana"/>
              </a:rPr>
              <a:t>e</a:t>
            </a:r>
            <a:r>
              <a:rPr sz="1800" dirty="0">
                <a:latin typeface="Verdana"/>
                <a:cs typeface="Verdana"/>
              </a:rPr>
              <a:t>t	</a:t>
            </a:r>
            <a:r>
              <a:rPr sz="1800" spc="-5" dirty="0">
                <a:latin typeface="Verdana"/>
                <a:cs typeface="Verdana"/>
              </a:rPr>
              <a:t>to  the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Select</a:t>
            </a:r>
            <a:r>
              <a:rPr sz="1800" spc="-5" dirty="0">
                <a:latin typeface="Verdana"/>
                <a:cs typeface="Verdana"/>
              </a:rPr>
              <a:t> statements</a:t>
            </a:r>
            <a:r>
              <a:rPr sz="1800" spc="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quickly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54100" y="2907538"/>
            <a:ext cx="1008570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4945" indent="-182245">
              <a:lnSpc>
                <a:spcPct val="100000"/>
              </a:lnSpc>
              <a:spcBef>
                <a:spcPts val="100"/>
              </a:spcBef>
              <a:buSzPct val="94444"/>
              <a:buFont typeface="Wingdings"/>
              <a:buChar char=""/>
              <a:tabLst>
                <a:tab pos="194945" algn="l"/>
              </a:tabLst>
            </a:pPr>
            <a:r>
              <a:rPr sz="1800" b="1" dirty="0">
                <a:latin typeface="Verdana"/>
                <a:cs typeface="Verdana"/>
              </a:rPr>
              <a:t>Source</a:t>
            </a:r>
            <a:r>
              <a:rPr sz="1800" b="1" spc="35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Operating</a:t>
            </a:r>
            <a:r>
              <a:rPr sz="1800" b="1" spc="35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System</a:t>
            </a:r>
            <a:r>
              <a:rPr sz="1800" b="1" spc="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: </a:t>
            </a:r>
            <a:r>
              <a:rPr sz="1800" spc="-5" dirty="0">
                <a:latin typeface="Verdana"/>
                <a:cs typeface="Verdana"/>
              </a:rPr>
              <a:t>Source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Operating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System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should</a:t>
            </a:r>
            <a:r>
              <a:rPr sz="1800" spc="2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be</a:t>
            </a:r>
            <a:r>
              <a:rPr sz="1800" spc="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configured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to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read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latin typeface="Verdana"/>
                <a:cs typeface="Verdana"/>
              </a:rPr>
              <a:t>the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data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quickly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from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the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disks.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484489" y="3520567"/>
            <a:ext cx="26549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47395" algn="l"/>
                <a:tab pos="2413000" algn="l"/>
              </a:tabLst>
            </a:pPr>
            <a:r>
              <a:rPr sz="1800" spc="-10" dirty="0">
                <a:latin typeface="Verdana"/>
                <a:cs typeface="Verdana"/>
              </a:rPr>
              <a:t>b</a:t>
            </a:r>
            <a:r>
              <a:rPr sz="1800" dirty="0">
                <a:latin typeface="Verdana"/>
                <a:cs typeface="Verdana"/>
              </a:rPr>
              <a:t>e	conf</a:t>
            </a:r>
            <a:r>
              <a:rPr sz="1800" spc="10" dirty="0">
                <a:latin typeface="Verdana"/>
                <a:cs typeface="Verdana"/>
              </a:rPr>
              <a:t>i</a:t>
            </a:r>
            <a:r>
              <a:rPr sz="1800" spc="5" dirty="0">
                <a:latin typeface="Verdana"/>
                <a:cs typeface="Verdana"/>
              </a:rPr>
              <a:t>g</a:t>
            </a:r>
            <a:r>
              <a:rPr sz="1800" dirty="0">
                <a:latin typeface="Verdana"/>
                <a:cs typeface="Verdana"/>
              </a:rPr>
              <a:t>ured	</a:t>
            </a:r>
            <a:r>
              <a:rPr sz="1800" spc="-5" dirty="0">
                <a:latin typeface="Verdana"/>
                <a:cs typeface="Verdana"/>
              </a:rPr>
              <a:t>to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54100" y="3520567"/>
            <a:ext cx="6999605" cy="1496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buSzPct val="94444"/>
              <a:buFont typeface="Wingdings"/>
              <a:buChar char=""/>
              <a:tabLst>
                <a:tab pos="194945" algn="l"/>
                <a:tab pos="1487805" algn="l"/>
                <a:tab pos="3146425" algn="l"/>
                <a:tab pos="3705860" algn="l"/>
                <a:tab pos="4879340" algn="l"/>
                <a:tab pos="6409690" algn="l"/>
              </a:tabLst>
            </a:pPr>
            <a:r>
              <a:rPr sz="1800" b="1" dirty="0">
                <a:latin typeface="Verdana"/>
                <a:cs typeface="Verdana"/>
              </a:rPr>
              <a:t>T</a:t>
            </a:r>
            <a:r>
              <a:rPr sz="1800" b="1" spc="-5" dirty="0">
                <a:latin typeface="Verdana"/>
                <a:cs typeface="Verdana"/>
              </a:rPr>
              <a:t>ar</a:t>
            </a:r>
            <a:r>
              <a:rPr sz="1800" b="1" spc="5" dirty="0">
                <a:latin typeface="Verdana"/>
                <a:cs typeface="Verdana"/>
              </a:rPr>
              <a:t>g</a:t>
            </a:r>
            <a:r>
              <a:rPr sz="1800" b="1" spc="-5" dirty="0">
                <a:latin typeface="Verdana"/>
                <a:cs typeface="Verdana"/>
              </a:rPr>
              <a:t>e</a:t>
            </a:r>
            <a:r>
              <a:rPr sz="1800" b="1" dirty="0">
                <a:latin typeface="Verdana"/>
                <a:cs typeface="Verdana"/>
              </a:rPr>
              <a:t>t	</a:t>
            </a:r>
            <a:r>
              <a:rPr sz="1800" b="1" spc="15" dirty="0">
                <a:latin typeface="Verdana"/>
                <a:cs typeface="Verdana"/>
              </a:rPr>
              <a:t>D</a:t>
            </a:r>
            <a:r>
              <a:rPr sz="1800" b="1" dirty="0">
                <a:latin typeface="Verdana"/>
                <a:cs typeface="Verdana"/>
              </a:rPr>
              <a:t>a</a:t>
            </a:r>
            <a:r>
              <a:rPr sz="1800" b="1" spc="-10" dirty="0">
                <a:latin typeface="Verdana"/>
                <a:cs typeface="Verdana"/>
              </a:rPr>
              <a:t>t</a:t>
            </a:r>
            <a:r>
              <a:rPr sz="1800" b="1" dirty="0">
                <a:latin typeface="Verdana"/>
                <a:cs typeface="Verdana"/>
              </a:rPr>
              <a:t>abase	</a:t>
            </a:r>
            <a:r>
              <a:rPr sz="1800" dirty="0">
                <a:latin typeface="Verdana"/>
                <a:cs typeface="Verdana"/>
              </a:rPr>
              <a:t>:	</a:t>
            </a:r>
            <a:r>
              <a:rPr sz="1800" spc="-225" dirty="0">
                <a:latin typeface="Verdana"/>
                <a:cs typeface="Verdana"/>
              </a:rPr>
              <a:t>T</a:t>
            </a:r>
            <a:r>
              <a:rPr sz="1800" dirty="0">
                <a:latin typeface="Verdana"/>
                <a:cs typeface="Verdana"/>
              </a:rPr>
              <a:t>ar</a:t>
            </a:r>
            <a:r>
              <a:rPr sz="1800" spc="-10" dirty="0">
                <a:latin typeface="Verdana"/>
                <a:cs typeface="Verdana"/>
              </a:rPr>
              <a:t>g</a:t>
            </a:r>
            <a:r>
              <a:rPr sz="1800" spc="5" dirty="0">
                <a:latin typeface="Verdana"/>
                <a:cs typeface="Verdana"/>
              </a:rPr>
              <a:t>e</a:t>
            </a:r>
            <a:r>
              <a:rPr sz="1800" dirty="0">
                <a:latin typeface="Verdana"/>
                <a:cs typeface="Verdana"/>
              </a:rPr>
              <a:t>t	Data</a:t>
            </a:r>
            <a:r>
              <a:rPr sz="1800" spc="-5" dirty="0">
                <a:latin typeface="Verdana"/>
                <a:cs typeface="Verdana"/>
              </a:rPr>
              <a:t>b</a:t>
            </a:r>
            <a:r>
              <a:rPr sz="1800" dirty="0">
                <a:latin typeface="Verdana"/>
                <a:cs typeface="Verdana"/>
              </a:rPr>
              <a:t>ase	must  </a:t>
            </a:r>
            <a:r>
              <a:rPr sz="1800" spc="-5" dirty="0">
                <a:latin typeface="Verdana"/>
                <a:cs typeface="Verdana"/>
              </a:rPr>
              <a:t>perform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INSERT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and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UPDATE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quickly.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This can be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done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by</a:t>
            </a:r>
            <a:endParaRPr sz="1800">
              <a:latin typeface="Verdana"/>
              <a:cs typeface="Verdana"/>
            </a:endParaRPr>
          </a:p>
          <a:p>
            <a:pPr marL="187960" indent="-173355">
              <a:lnSpc>
                <a:spcPct val="100000"/>
              </a:lnSpc>
              <a:spcBef>
                <a:spcPts val="500"/>
              </a:spcBef>
              <a:buClr>
                <a:srgbClr val="006FAC"/>
              </a:buClr>
              <a:buFont typeface="Wingdings"/>
              <a:buChar char=""/>
              <a:tabLst>
                <a:tab pos="188595" algn="l"/>
              </a:tabLst>
            </a:pPr>
            <a:r>
              <a:rPr sz="1600" spc="-10" dirty="0">
                <a:latin typeface="Verdana"/>
                <a:cs typeface="Verdana"/>
              </a:rPr>
              <a:t>Disabling</a:t>
            </a:r>
            <a:r>
              <a:rPr sz="1600" spc="30" dirty="0">
                <a:latin typeface="Verdana"/>
                <a:cs typeface="Verdana"/>
              </a:rPr>
              <a:t> </a:t>
            </a:r>
            <a:r>
              <a:rPr sz="1600" spc="-5" dirty="0">
                <a:latin typeface="Verdana"/>
                <a:cs typeface="Verdana"/>
              </a:rPr>
              <a:t>the Archive</a:t>
            </a:r>
            <a:r>
              <a:rPr sz="1600" spc="15" dirty="0">
                <a:latin typeface="Verdana"/>
                <a:cs typeface="Verdana"/>
              </a:rPr>
              <a:t> </a:t>
            </a:r>
            <a:r>
              <a:rPr sz="1600" spc="-5" dirty="0">
                <a:latin typeface="Verdana"/>
                <a:cs typeface="Verdana"/>
              </a:rPr>
              <a:t>logging.</a:t>
            </a:r>
            <a:endParaRPr sz="1600">
              <a:latin typeface="Verdana"/>
              <a:cs typeface="Verdana"/>
            </a:endParaRPr>
          </a:p>
          <a:p>
            <a:pPr marL="187960" indent="-173355">
              <a:lnSpc>
                <a:spcPct val="100000"/>
              </a:lnSpc>
              <a:spcBef>
                <a:spcPts val="500"/>
              </a:spcBef>
              <a:buClr>
                <a:srgbClr val="006FAC"/>
              </a:buClr>
              <a:buFont typeface="Wingdings"/>
              <a:buChar char=""/>
              <a:tabLst>
                <a:tab pos="188595" algn="l"/>
              </a:tabLst>
            </a:pPr>
            <a:r>
              <a:rPr sz="1600" spc="-10" dirty="0">
                <a:latin typeface="Verdana"/>
                <a:cs typeface="Verdana"/>
              </a:rPr>
              <a:t>Disabling</a:t>
            </a:r>
            <a:r>
              <a:rPr sz="1600" spc="45" dirty="0">
                <a:latin typeface="Verdana"/>
                <a:cs typeface="Verdana"/>
              </a:rPr>
              <a:t> </a:t>
            </a:r>
            <a:r>
              <a:rPr sz="1600" spc="-5" dirty="0">
                <a:latin typeface="Verdana"/>
                <a:cs typeface="Verdana"/>
              </a:rPr>
              <a:t>the</a:t>
            </a:r>
            <a:r>
              <a:rPr sz="1600" spc="10" dirty="0">
                <a:latin typeface="Verdana"/>
                <a:cs typeface="Verdana"/>
              </a:rPr>
              <a:t> </a:t>
            </a:r>
            <a:r>
              <a:rPr sz="1600" spc="-15" dirty="0">
                <a:latin typeface="Verdana"/>
                <a:cs typeface="Verdana"/>
              </a:rPr>
              <a:t>Redo</a:t>
            </a:r>
            <a:r>
              <a:rPr sz="1600" spc="2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logging</a:t>
            </a:r>
            <a:r>
              <a:rPr sz="1600" spc="45" dirty="0">
                <a:latin typeface="Verdana"/>
                <a:cs typeface="Verdana"/>
              </a:rPr>
              <a:t> </a:t>
            </a:r>
            <a:r>
              <a:rPr sz="1600" spc="-5" dirty="0">
                <a:latin typeface="Verdana"/>
                <a:cs typeface="Verdana"/>
              </a:rPr>
              <a:t>for</a:t>
            </a:r>
            <a:r>
              <a:rPr sz="1600" spc="25" dirty="0">
                <a:latin typeface="Verdana"/>
                <a:cs typeface="Verdana"/>
              </a:rPr>
              <a:t> </a:t>
            </a:r>
            <a:r>
              <a:rPr sz="1600" spc="-5" dirty="0">
                <a:latin typeface="Verdana"/>
                <a:cs typeface="Verdana"/>
              </a:rPr>
              <a:t>all</a:t>
            </a:r>
            <a:r>
              <a:rPr sz="160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tables.</a:t>
            </a:r>
            <a:endParaRPr sz="1600">
              <a:latin typeface="Verdana"/>
              <a:cs typeface="Verdana"/>
            </a:endParaRPr>
          </a:p>
          <a:p>
            <a:pPr marL="187960" indent="-173355">
              <a:lnSpc>
                <a:spcPct val="100000"/>
              </a:lnSpc>
              <a:spcBef>
                <a:spcPts val="495"/>
              </a:spcBef>
              <a:buClr>
                <a:srgbClr val="006FAC"/>
              </a:buClr>
              <a:buFont typeface="Wingdings"/>
              <a:buChar char=""/>
              <a:tabLst>
                <a:tab pos="188595" algn="l"/>
              </a:tabLst>
            </a:pPr>
            <a:r>
              <a:rPr sz="1600" spc="-5" dirty="0">
                <a:latin typeface="Verdana"/>
                <a:cs typeface="Verdana"/>
              </a:rPr>
              <a:t>Maximizing</a:t>
            </a:r>
            <a:r>
              <a:rPr sz="1600" spc="25" dirty="0">
                <a:latin typeface="Verdana"/>
                <a:cs typeface="Verdana"/>
              </a:rPr>
              <a:t> </a:t>
            </a:r>
            <a:r>
              <a:rPr sz="1600" spc="-5" dirty="0">
                <a:latin typeface="Verdana"/>
                <a:cs typeface="Verdana"/>
              </a:rPr>
              <a:t>the</a:t>
            </a:r>
            <a:r>
              <a:rPr sz="1600" spc="-1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size</a:t>
            </a:r>
            <a:r>
              <a:rPr sz="1600" spc="5" dirty="0">
                <a:latin typeface="Verdana"/>
                <a:cs typeface="Verdana"/>
              </a:rPr>
              <a:t> </a:t>
            </a:r>
            <a:r>
              <a:rPr sz="1600" spc="-5" dirty="0">
                <a:latin typeface="Verdana"/>
                <a:cs typeface="Verdana"/>
              </a:rPr>
              <a:t>of</a:t>
            </a:r>
            <a:r>
              <a:rPr sz="1600" spc="-10" dirty="0">
                <a:latin typeface="Verdana"/>
                <a:cs typeface="Verdana"/>
              </a:rPr>
              <a:t> </a:t>
            </a:r>
            <a:r>
              <a:rPr sz="1600" spc="-5" dirty="0">
                <a:latin typeface="Verdana"/>
                <a:cs typeface="Verdana"/>
              </a:rPr>
              <a:t>the</a:t>
            </a:r>
            <a:r>
              <a:rPr sz="1600" spc="-10" dirty="0">
                <a:latin typeface="Verdana"/>
                <a:cs typeface="Verdana"/>
              </a:rPr>
              <a:t> </a:t>
            </a:r>
            <a:r>
              <a:rPr sz="1600" spc="-5" dirty="0">
                <a:latin typeface="Verdana"/>
                <a:cs typeface="Verdana"/>
              </a:rPr>
              <a:t>shared</a:t>
            </a:r>
            <a:r>
              <a:rPr sz="1600" spc="15" dirty="0">
                <a:latin typeface="Verdana"/>
                <a:cs typeface="Verdana"/>
              </a:rPr>
              <a:t> </a:t>
            </a:r>
            <a:r>
              <a:rPr sz="1600" spc="-40" dirty="0">
                <a:latin typeface="Verdana"/>
                <a:cs typeface="Verdana"/>
              </a:rPr>
              <a:t>buffer.</a:t>
            </a:r>
            <a:endParaRPr sz="16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32283" rIns="0" bIns="0" rtlCol="0">
            <a:spAutoFit/>
          </a:bodyPr>
          <a:lstStyle/>
          <a:p>
            <a:pPr marL="9525" marR="5080">
              <a:lnSpc>
                <a:spcPts val="4110"/>
              </a:lnSpc>
              <a:spcBef>
                <a:spcPts val="615"/>
              </a:spcBef>
            </a:pPr>
            <a:r>
              <a:rPr dirty="0"/>
              <a:t>BODS</a:t>
            </a:r>
            <a:r>
              <a:rPr spc="-40" dirty="0"/>
              <a:t> </a:t>
            </a:r>
            <a:r>
              <a:rPr dirty="0"/>
              <a:t>PERFORMANCE</a:t>
            </a:r>
            <a:r>
              <a:rPr spc="-70" dirty="0"/>
              <a:t> </a:t>
            </a:r>
            <a:r>
              <a:rPr spc="-5" dirty="0"/>
              <a:t>TUNING </a:t>
            </a:r>
            <a:r>
              <a:rPr spc="-1320" dirty="0"/>
              <a:t> </a:t>
            </a:r>
            <a:r>
              <a:rPr spc="-5" dirty="0"/>
              <a:t>TECHNIQUES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51052" y="1595754"/>
            <a:ext cx="10087610" cy="3755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350" algn="just">
              <a:lnSpc>
                <a:spcPct val="100000"/>
              </a:lnSpc>
              <a:spcBef>
                <a:spcPts val="100"/>
              </a:spcBef>
              <a:buSzPct val="94444"/>
              <a:buFont typeface="Wingdings"/>
              <a:buChar char=""/>
              <a:tabLst>
                <a:tab pos="194945" algn="l"/>
              </a:tabLst>
            </a:pPr>
            <a:r>
              <a:rPr sz="1800" b="1" spc="-5" dirty="0">
                <a:latin typeface="Verdana"/>
                <a:cs typeface="Verdana"/>
              </a:rPr>
              <a:t>Target Operating </a:t>
            </a:r>
            <a:r>
              <a:rPr sz="1800" b="1" dirty="0">
                <a:latin typeface="Verdana"/>
                <a:cs typeface="Verdana"/>
              </a:rPr>
              <a:t>System </a:t>
            </a:r>
            <a:r>
              <a:rPr sz="1800" dirty="0">
                <a:latin typeface="Verdana"/>
                <a:cs typeface="Verdana"/>
              </a:rPr>
              <a:t>: </a:t>
            </a:r>
            <a:r>
              <a:rPr sz="1800" spc="-40" dirty="0">
                <a:latin typeface="Verdana"/>
                <a:cs typeface="Verdana"/>
              </a:rPr>
              <a:t>Target </a:t>
            </a:r>
            <a:r>
              <a:rPr sz="1800" spc="-10" dirty="0">
                <a:latin typeface="Verdana"/>
                <a:cs typeface="Verdana"/>
              </a:rPr>
              <a:t>Operating </a:t>
            </a:r>
            <a:r>
              <a:rPr sz="1800" spc="-5" dirty="0">
                <a:latin typeface="Verdana"/>
                <a:cs typeface="Verdana"/>
              </a:rPr>
              <a:t>System </a:t>
            </a:r>
            <a:r>
              <a:rPr sz="1800" dirty="0">
                <a:latin typeface="Verdana"/>
                <a:cs typeface="Verdana"/>
              </a:rPr>
              <a:t>has </a:t>
            </a:r>
            <a:r>
              <a:rPr sz="1800" spc="-5" dirty="0">
                <a:latin typeface="Verdana"/>
                <a:cs typeface="Verdana"/>
              </a:rPr>
              <a:t>to </a:t>
            </a:r>
            <a:r>
              <a:rPr sz="1800" dirty="0">
                <a:latin typeface="Verdana"/>
                <a:cs typeface="Verdana"/>
              </a:rPr>
              <a:t>be configured </a:t>
            </a:r>
            <a:r>
              <a:rPr sz="1800" spc="10" dirty="0">
                <a:latin typeface="Verdana"/>
                <a:cs typeface="Verdana"/>
              </a:rPr>
              <a:t>in </a:t>
            </a:r>
            <a:r>
              <a:rPr sz="1800" spc="-5" dirty="0">
                <a:latin typeface="Verdana"/>
                <a:cs typeface="Verdana"/>
              </a:rPr>
              <a:t>order 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to </a:t>
            </a:r>
            <a:r>
              <a:rPr sz="1800" dirty="0">
                <a:latin typeface="Verdana"/>
                <a:cs typeface="Verdana"/>
              </a:rPr>
              <a:t>write </a:t>
            </a:r>
            <a:r>
              <a:rPr sz="1800" spc="-5" dirty="0">
                <a:latin typeface="Verdana"/>
                <a:cs typeface="Verdana"/>
              </a:rPr>
              <a:t>the data to the </a:t>
            </a:r>
            <a:r>
              <a:rPr sz="1800" dirty="0">
                <a:latin typeface="Verdana"/>
                <a:cs typeface="Verdana"/>
              </a:rPr>
              <a:t>disks </a:t>
            </a:r>
            <a:r>
              <a:rPr sz="1800" spc="-25" dirty="0">
                <a:latin typeface="Verdana"/>
                <a:cs typeface="Verdana"/>
              </a:rPr>
              <a:t>quickly. </a:t>
            </a:r>
            <a:r>
              <a:rPr sz="1800" spc="-45" dirty="0">
                <a:latin typeface="Verdana"/>
                <a:cs typeface="Verdana"/>
              </a:rPr>
              <a:t>You </a:t>
            </a:r>
            <a:r>
              <a:rPr sz="1800" spc="-5" dirty="0">
                <a:latin typeface="Verdana"/>
                <a:cs typeface="Verdana"/>
              </a:rPr>
              <a:t>can turn on asynchronous I/O to </a:t>
            </a:r>
            <a:r>
              <a:rPr sz="1800" spc="-10" dirty="0">
                <a:latin typeface="Verdana"/>
                <a:cs typeface="Verdana"/>
              </a:rPr>
              <a:t>make </a:t>
            </a:r>
            <a:r>
              <a:rPr sz="1800" spc="-5" dirty="0">
                <a:latin typeface="Verdana"/>
                <a:cs typeface="Verdana"/>
              </a:rPr>
              <a:t>the 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Input/output</a:t>
            </a:r>
            <a:r>
              <a:rPr sz="1800" spc="2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operations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as</a:t>
            </a:r>
            <a:r>
              <a:rPr sz="1800" dirty="0">
                <a:latin typeface="Verdana"/>
                <a:cs typeface="Verdana"/>
              </a:rPr>
              <a:t> fast</a:t>
            </a:r>
            <a:r>
              <a:rPr sz="1800" spc="-5" dirty="0">
                <a:latin typeface="Verdana"/>
                <a:cs typeface="Verdana"/>
              </a:rPr>
              <a:t> as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possible.</a:t>
            </a:r>
            <a:endParaRPr sz="1800">
              <a:latin typeface="Verdana"/>
              <a:cs typeface="Verdana"/>
            </a:endParaRPr>
          </a:p>
          <a:p>
            <a:pPr marL="194945" indent="-182245" algn="just">
              <a:lnSpc>
                <a:spcPct val="100000"/>
              </a:lnSpc>
              <a:spcBef>
                <a:spcPts val="500"/>
              </a:spcBef>
              <a:buSzPct val="94444"/>
              <a:buFont typeface="Wingdings"/>
              <a:buChar char=""/>
              <a:tabLst>
                <a:tab pos="194945" algn="l"/>
              </a:tabLst>
            </a:pPr>
            <a:r>
              <a:rPr sz="1800" b="1" dirty="0">
                <a:latin typeface="Verdana"/>
                <a:cs typeface="Verdana"/>
              </a:rPr>
              <a:t>Network</a:t>
            </a:r>
            <a:r>
              <a:rPr sz="1800" b="1" spc="6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:</a:t>
            </a:r>
            <a:r>
              <a:rPr sz="1800" spc="4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Network</a:t>
            </a:r>
            <a:r>
              <a:rPr sz="1800" spc="5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bandwidth</a:t>
            </a:r>
            <a:r>
              <a:rPr sz="1800" spc="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should</a:t>
            </a:r>
            <a:r>
              <a:rPr sz="1800" spc="4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be</a:t>
            </a:r>
            <a:r>
              <a:rPr sz="1800" spc="4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enough</a:t>
            </a:r>
            <a:r>
              <a:rPr sz="1800" spc="5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to</a:t>
            </a:r>
            <a:r>
              <a:rPr sz="1800" spc="3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transfer</a:t>
            </a:r>
            <a:r>
              <a:rPr sz="1800" spc="4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the</a:t>
            </a:r>
            <a:r>
              <a:rPr sz="1800" spc="5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data</a:t>
            </a:r>
            <a:r>
              <a:rPr sz="1800" spc="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from</a:t>
            </a:r>
            <a:r>
              <a:rPr sz="1800" spc="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source</a:t>
            </a:r>
            <a:r>
              <a:rPr sz="1800" spc="3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to</a:t>
            </a:r>
            <a:endParaRPr sz="1800">
              <a:latin typeface="Verdana"/>
              <a:cs typeface="Verdana"/>
            </a:endParaRPr>
          </a:p>
          <a:p>
            <a:pPr marL="12700" algn="just">
              <a:lnSpc>
                <a:spcPct val="100000"/>
              </a:lnSpc>
              <a:spcBef>
                <a:spcPts val="5"/>
              </a:spcBef>
            </a:pPr>
            <a:r>
              <a:rPr sz="1800" spc="-5" dirty="0">
                <a:latin typeface="Verdana"/>
                <a:cs typeface="Verdana"/>
              </a:rPr>
              <a:t>target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system.</a:t>
            </a:r>
            <a:endParaRPr sz="1800">
              <a:latin typeface="Verdana"/>
              <a:cs typeface="Verdana"/>
            </a:endParaRPr>
          </a:p>
          <a:p>
            <a:pPr marL="12700" marR="5080" algn="just">
              <a:lnSpc>
                <a:spcPct val="100000"/>
              </a:lnSpc>
              <a:spcBef>
                <a:spcPts val="490"/>
              </a:spcBef>
              <a:buSzPct val="94444"/>
              <a:buFont typeface="Wingdings"/>
              <a:buChar char=""/>
              <a:tabLst>
                <a:tab pos="194945" algn="l"/>
              </a:tabLst>
            </a:pPr>
            <a:r>
              <a:rPr sz="1800" b="1" dirty="0">
                <a:latin typeface="Verdana"/>
                <a:cs typeface="Verdana"/>
              </a:rPr>
              <a:t>BODS </a:t>
            </a:r>
            <a:r>
              <a:rPr sz="1800" b="1" spc="-5" dirty="0">
                <a:latin typeface="Verdana"/>
                <a:cs typeface="Verdana"/>
              </a:rPr>
              <a:t>Repository Database </a:t>
            </a:r>
            <a:r>
              <a:rPr sz="1800" dirty="0">
                <a:latin typeface="Verdana"/>
                <a:cs typeface="Verdana"/>
              </a:rPr>
              <a:t>: </a:t>
            </a:r>
            <a:r>
              <a:rPr sz="1800" spc="-100" dirty="0">
                <a:latin typeface="Verdana"/>
                <a:cs typeface="Verdana"/>
              </a:rPr>
              <a:t>To </a:t>
            </a:r>
            <a:r>
              <a:rPr sz="1800" spc="-5" dirty="0">
                <a:latin typeface="Verdana"/>
                <a:cs typeface="Verdana"/>
              </a:rPr>
              <a:t>improve the performance of </a:t>
            </a:r>
            <a:r>
              <a:rPr sz="1800" dirty="0">
                <a:latin typeface="Verdana"/>
                <a:cs typeface="Verdana"/>
              </a:rPr>
              <a:t>BODS </a:t>
            </a:r>
            <a:r>
              <a:rPr sz="1800" spc="-5" dirty="0">
                <a:latin typeface="Verdana"/>
                <a:cs typeface="Verdana"/>
              </a:rPr>
              <a:t>jobs, Monitor </a:t>
            </a:r>
            <a:r>
              <a:rPr sz="1800" dirty="0">
                <a:latin typeface="Verdana"/>
                <a:cs typeface="Verdana"/>
              </a:rPr>
              <a:t> Sample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15" dirty="0">
                <a:latin typeface="Verdana"/>
                <a:cs typeface="Verdana"/>
              </a:rPr>
              <a:t>Rate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can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be</a:t>
            </a:r>
            <a:r>
              <a:rPr sz="1800" spc="2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performed</a:t>
            </a:r>
            <a:endParaRPr sz="1800">
              <a:latin typeface="Verdana"/>
              <a:cs typeface="Verdana"/>
            </a:endParaRPr>
          </a:p>
          <a:p>
            <a:pPr marL="187960" marR="5080" indent="-172720" algn="just">
              <a:lnSpc>
                <a:spcPct val="100000"/>
              </a:lnSpc>
              <a:spcBef>
                <a:spcPts val="500"/>
              </a:spcBef>
              <a:buClr>
                <a:srgbClr val="006FAC"/>
              </a:buClr>
              <a:buFont typeface="Wingdings"/>
              <a:buChar char=""/>
              <a:tabLst>
                <a:tab pos="188595" algn="l"/>
              </a:tabLst>
            </a:pPr>
            <a:r>
              <a:rPr sz="1600" b="1" spc="-5" dirty="0">
                <a:latin typeface="Verdana"/>
                <a:cs typeface="Verdana"/>
              </a:rPr>
              <a:t>Monitor Sample </a:t>
            </a:r>
            <a:r>
              <a:rPr sz="1600" b="1" spc="-10" dirty="0">
                <a:latin typeface="Verdana"/>
                <a:cs typeface="Verdana"/>
              </a:rPr>
              <a:t>Rate </a:t>
            </a:r>
            <a:r>
              <a:rPr sz="1600" spc="-5" dirty="0">
                <a:latin typeface="Verdana"/>
                <a:cs typeface="Verdana"/>
              </a:rPr>
              <a:t>: </a:t>
            </a:r>
            <a:r>
              <a:rPr sz="1600" dirty="0">
                <a:latin typeface="Verdana"/>
                <a:cs typeface="Verdana"/>
              </a:rPr>
              <a:t>In </a:t>
            </a:r>
            <a:r>
              <a:rPr sz="1600" spc="-5" dirty="0">
                <a:latin typeface="Verdana"/>
                <a:cs typeface="Verdana"/>
              </a:rPr>
              <a:t>case </a:t>
            </a:r>
            <a:r>
              <a:rPr sz="1600" spc="-10" dirty="0">
                <a:latin typeface="Verdana"/>
                <a:cs typeface="Verdana"/>
              </a:rPr>
              <a:t>you </a:t>
            </a:r>
            <a:r>
              <a:rPr sz="1600" spc="-5" dirty="0">
                <a:latin typeface="Verdana"/>
                <a:cs typeface="Verdana"/>
              </a:rPr>
              <a:t>are processing a large amount of </a:t>
            </a:r>
            <a:r>
              <a:rPr sz="1600" spc="-10" dirty="0">
                <a:latin typeface="Verdana"/>
                <a:cs typeface="Verdana"/>
              </a:rPr>
              <a:t>data set </a:t>
            </a:r>
            <a:r>
              <a:rPr sz="1600" dirty="0">
                <a:latin typeface="Verdana"/>
                <a:cs typeface="Verdana"/>
              </a:rPr>
              <a:t>in </a:t>
            </a:r>
            <a:r>
              <a:rPr sz="1600" spc="-5" dirty="0">
                <a:latin typeface="Verdana"/>
                <a:cs typeface="Verdana"/>
              </a:rPr>
              <a:t>an </a:t>
            </a:r>
            <a:r>
              <a:rPr sz="1600" spc="-10" dirty="0">
                <a:latin typeface="Verdana"/>
                <a:cs typeface="Verdana"/>
              </a:rPr>
              <a:t>ETL job, </a:t>
            </a:r>
            <a:r>
              <a:rPr sz="1600" spc="-5" dirty="0">
                <a:latin typeface="Verdana"/>
                <a:cs typeface="Verdana"/>
              </a:rPr>
              <a:t> monitor Sample </a:t>
            </a:r>
            <a:r>
              <a:rPr sz="1600" spc="-15" dirty="0">
                <a:latin typeface="Verdana"/>
                <a:cs typeface="Verdana"/>
              </a:rPr>
              <a:t>Rate </a:t>
            </a:r>
            <a:r>
              <a:rPr sz="1600" spc="-10" dirty="0">
                <a:latin typeface="Verdana"/>
                <a:cs typeface="Verdana"/>
              </a:rPr>
              <a:t>to </a:t>
            </a:r>
            <a:r>
              <a:rPr sz="1600" spc="-5" dirty="0">
                <a:latin typeface="Verdana"/>
                <a:cs typeface="Verdana"/>
              </a:rPr>
              <a:t>a higher </a:t>
            </a:r>
            <a:r>
              <a:rPr sz="1600" spc="-10" dirty="0">
                <a:latin typeface="Verdana"/>
                <a:cs typeface="Verdana"/>
              </a:rPr>
              <a:t>value to </a:t>
            </a:r>
            <a:r>
              <a:rPr sz="1600" spc="-5" dirty="0">
                <a:latin typeface="Verdana"/>
                <a:cs typeface="Verdana"/>
              </a:rPr>
              <a:t>reduce the </a:t>
            </a:r>
            <a:r>
              <a:rPr sz="1600" dirty="0">
                <a:latin typeface="Verdana"/>
                <a:cs typeface="Verdana"/>
              </a:rPr>
              <a:t>number </a:t>
            </a:r>
            <a:r>
              <a:rPr sz="1600" spc="-5" dirty="0">
                <a:latin typeface="Verdana"/>
                <a:cs typeface="Verdana"/>
              </a:rPr>
              <a:t>of I/O calls </a:t>
            </a:r>
            <a:r>
              <a:rPr sz="1600" spc="-10" dirty="0">
                <a:latin typeface="Verdana"/>
                <a:cs typeface="Verdana"/>
              </a:rPr>
              <a:t>to </a:t>
            </a:r>
            <a:r>
              <a:rPr sz="1600" spc="-5" dirty="0">
                <a:latin typeface="Verdana"/>
                <a:cs typeface="Verdana"/>
              </a:rPr>
              <a:t>the log file thereby </a:t>
            </a:r>
            <a:r>
              <a:rPr sz="160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improving</a:t>
            </a:r>
            <a:r>
              <a:rPr sz="1600" spc="45" dirty="0">
                <a:latin typeface="Verdana"/>
                <a:cs typeface="Verdana"/>
              </a:rPr>
              <a:t> </a:t>
            </a:r>
            <a:r>
              <a:rPr sz="1600" spc="-5" dirty="0">
                <a:latin typeface="Verdana"/>
                <a:cs typeface="Verdana"/>
              </a:rPr>
              <a:t>the performance.</a:t>
            </a:r>
            <a:endParaRPr sz="1600">
              <a:latin typeface="Verdana"/>
              <a:cs typeface="Verdana"/>
            </a:endParaRPr>
          </a:p>
          <a:p>
            <a:pPr marL="12700" marR="6985" algn="just">
              <a:lnSpc>
                <a:spcPct val="100000"/>
              </a:lnSpc>
              <a:spcBef>
                <a:spcPts val="509"/>
              </a:spcBef>
              <a:buSzPct val="94444"/>
              <a:buFont typeface="Wingdings"/>
              <a:buChar char=""/>
              <a:tabLst>
                <a:tab pos="194945" algn="l"/>
              </a:tabLst>
            </a:pPr>
            <a:r>
              <a:rPr sz="1800" b="1" spc="-5" dirty="0">
                <a:latin typeface="Verdana"/>
                <a:cs typeface="Verdana"/>
              </a:rPr>
              <a:t>Job</a:t>
            </a:r>
            <a:r>
              <a:rPr sz="1800" b="1" spc="610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Server</a:t>
            </a:r>
            <a:r>
              <a:rPr sz="1800" b="1" spc="610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OS   </a:t>
            </a:r>
            <a:r>
              <a:rPr sz="1800" dirty="0">
                <a:latin typeface="Verdana"/>
                <a:cs typeface="Verdana"/>
              </a:rPr>
              <a:t>:   </a:t>
            </a:r>
            <a:r>
              <a:rPr sz="1800" spc="-5" dirty="0">
                <a:latin typeface="Verdana"/>
                <a:cs typeface="Verdana"/>
              </a:rPr>
              <a:t>In</a:t>
            </a:r>
            <a:r>
              <a:rPr sz="1800" spc="125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Data   </a:t>
            </a:r>
            <a:r>
              <a:rPr sz="1800" spc="-5" dirty="0">
                <a:latin typeface="Verdana"/>
                <a:cs typeface="Verdana"/>
              </a:rPr>
              <a:t>Services,</a:t>
            </a:r>
            <a:r>
              <a:rPr sz="1800" spc="125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one   </a:t>
            </a:r>
            <a:r>
              <a:rPr sz="1800" spc="-5" dirty="0">
                <a:latin typeface="Verdana"/>
                <a:cs typeface="Verdana"/>
              </a:rPr>
              <a:t>data</a:t>
            </a:r>
            <a:r>
              <a:rPr sz="1800" spc="125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flow   </a:t>
            </a:r>
            <a:r>
              <a:rPr sz="1800" spc="5" dirty="0">
                <a:latin typeface="Verdana"/>
                <a:cs typeface="Verdana"/>
              </a:rPr>
              <a:t>in   </a:t>
            </a:r>
            <a:r>
              <a:rPr sz="1800" dirty="0">
                <a:latin typeface="Verdana"/>
                <a:cs typeface="Verdana"/>
              </a:rPr>
              <a:t>a   </a:t>
            </a:r>
            <a:r>
              <a:rPr sz="1800" spc="-5" dirty="0">
                <a:latin typeface="Verdana"/>
                <a:cs typeface="Verdana"/>
              </a:rPr>
              <a:t>job</a:t>
            </a:r>
            <a:r>
              <a:rPr sz="1800" spc="125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initiates 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one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‘al_engine’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process,</a:t>
            </a:r>
            <a:r>
              <a:rPr sz="1800" dirty="0">
                <a:latin typeface="Verdana"/>
                <a:cs typeface="Verdana"/>
              </a:rPr>
              <a:t> which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initiates</a:t>
            </a:r>
            <a:r>
              <a:rPr sz="1800" dirty="0">
                <a:latin typeface="Verdana"/>
                <a:cs typeface="Verdana"/>
              </a:rPr>
              <a:t> four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threads.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For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maximum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performance, </a:t>
            </a:r>
            <a:r>
              <a:rPr sz="1800" spc="-62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consider </a:t>
            </a:r>
            <a:r>
              <a:rPr sz="1800" dirty="0">
                <a:latin typeface="Verdana"/>
                <a:cs typeface="Verdana"/>
              </a:rPr>
              <a:t>a </a:t>
            </a:r>
            <a:r>
              <a:rPr sz="1800" spc="-5" dirty="0">
                <a:latin typeface="Verdana"/>
                <a:cs typeface="Verdana"/>
              </a:rPr>
              <a:t>design</a:t>
            </a:r>
            <a:r>
              <a:rPr sz="1800" spc="3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that</a:t>
            </a:r>
            <a:r>
              <a:rPr sz="1800" dirty="0">
                <a:latin typeface="Verdana"/>
                <a:cs typeface="Verdana"/>
              </a:rPr>
              <a:t> runs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one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‘al_engine’</a:t>
            </a:r>
            <a:r>
              <a:rPr sz="1800" spc="2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process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per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CPU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at</a:t>
            </a:r>
            <a:r>
              <a:rPr sz="1800" dirty="0">
                <a:latin typeface="Verdana"/>
                <a:cs typeface="Verdana"/>
              </a:rPr>
              <a:t> a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time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5866" rIns="0" bIns="0" rtlCol="0">
            <a:spAutoFit/>
          </a:bodyPr>
          <a:lstStyle/>
          <a:p>
            <a:pPr marL="12700" marR="5080">
              <a:lnSpc>
                <a:spcPts val="4110"/>
              </a:lnSpc>
              <a:spcBef>
                <a:spcPts val="615"/>
              </a:spcBef>
            </a:pPr>
            <a:r>
              <a:rPr spc="-5" dirty="0"/>
              <a:t>INTRODUCTION </a:t>
            </a:r>
            <a:r>
              <a:rPr spc="-50" dirty="0"/>
              <a:t>TO </a:t>
            </a:r>
            <a:r>
              <a:rPr dirty="0"/>
              <a:t>THE </a:t>
            </a:r>
            <a:r>
              <a:rPr spc="-85" dirty="0"/>
              <a:t>METADATA </a:t>
            </a:r>
            <a:r>
              <a:rPr spc="-1325" dirty="0"/>
              <a:t> </a:t>
            </a:r>
            <a:r>
              <a:rPr spc="-40" dirty="0"/>
              <a:t>TABLES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54100" y="1716785"/>
            <a:ext cx="10085705" cy="1863089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194945" indent="-182245" algn="just">
              <a:lnSpc>
                <a:spcPct val="100000"/>
              </a:lnSpc>
              <a:spcBef>
                <a:spcPts val="605"/>
              </a:spcBef>
              <a:buSzPct val="94444"/>
              <a:buFont typeface="Wingdings"/>
              <a:buChar char=""/>
              <a:tabLst>
                <a:tab pos="194945" algn="l"/>
              </a:tabLst>
            </a:pPr>
            <a:r>
              <a:rPr sz="1800" spc="-5" dirty="0">
                <a:latin typeface="Verdana"/>
                <a:cs typeface="Verdana"/>
              </a:rPr>
              <a:t>The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metadata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for</a:t>
            </a:r>
            <a:r>
              <a:rPr sz="1800" spc="-5" dirty="0">
                <a:latin typeface="Verdana"/>
                <a:cs typeface="Verdana"/>
              </a:rPr>
              <a:t> the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mappings</a:t>
            </a:r>
            <a:r>
              <a:rPr sz="1800" spc="2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created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will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get</a:t>
            </a:r>
            <a:r>
              <a:rPr sz="1800" spc="3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stored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spc="5" dirty="0">
                <a:latin typeface="Verdana"/>
                <a:cs typeface="Verdana"/>
              </a:rPr>
              <a:t>in </a:t>
            </a:r>
            <a:r>
              <a:rPr sz="1800" spc="-5" dirty="0">
                <a:latin typeface="Verdana"/>
                <a:cs typeface="Verdana"/>
              </a:rPr>
              <a:t>the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repository.</a:t>
            </a:r>
            <a:endParaRPr sz="1800">
              <a:latin typeface="Verdana"/>
              <a:cs typeface="Verdana"/>
            </a:endParaRPr>
          </a:p>
          <a:p>
            <a:pPr marL="12700" marR="5080" algn="just">
              <a:lnSpc>
                <a:spcPct val="100000"/>
              </a:lnSpc>
              <a:spcBef>
                <a:spcPts val="505"/>
              </a:spcBef>
              <a:buSzPct val="94444"/>
              <a:buFont typeface="Wingdings"/>
              <a:buChar char=""/>
              <a:tabLst>
                <a:tab pos="194945" algn="l"/>
              </a:tabLst>
            </a:pPr>
            <a:r>
              <a:rPr sz="1800" dirty="0">
                <a:latin typeface="Verdana"/>
                <a:cs typeface="Verdana"/>
              </a:rPr>
              <a:t>Data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Services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provides</a:t>
            </a:r>
            <a:r>
              <a:rPr sz="1800" dirty="0">
                <a:latin typeface="Verdana"/>
                <a:cs typeface="Verdana"/>
              </a:rPr>
              <a:t> full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access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to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the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repository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metadata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used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by</a:t>
            </a:r>
            <a:r>
              <a:rPr sz="1800" spc="6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the 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applications you create. </a:t>
            </a:r>
            <a:r>
              <a:rPr sz="1800" spc="-100" dirty="0">
                <a:latin typeface="Verdana"/>
                <a:cs typeface="Verdana"/>
              </a:rPr>
              <a:t>To </a:t>
            </a:r>
            <a:r>
              <a:rPr sz="1800" spc="-5" dirty="0">
                <a:latin typeface="Verdana"/>
                <a:cs typeface="Verdana"/>
              </a:rPr>
              <a:t>access </a:t>
            </a:r>
            <a:r>
              <a:rPr sz="1800" dirty="0">
                <a:latin typeface="Verdana"/>
                <a:cs typeface="Verdana"/>
              </a:rPr>
              <a:t>this </a:t>
            </a:r>
            <a:r>
              <a:rPr sz="1800" spc="-5" dirty="0">
                <a:latin typeface="Verdana"/>
                <a:cs typeface="Verdana"/>
              </a:rPr>
              <a:t>metadata </a:t>
            </a:r>
            <a:r>
              <a:rPr sz="1800" dirty="0">
                <a:latin typeface="Verdana"/>
                <a:cs typeface="Verdana"/>
              </a:rPr>
              <a:t>either manually </a:t>
            </a:r>
            <a:r>
              <a:rPr sz="1800" spc="-5" dirty="0">
                <a:latin typeface="Verdana"/>
                <a:cs typeface="Verdana"/>
              </a:rPr>
              <a:t>enters </a:t>
            </a:r>
            <a:r>
              <a:rPr sz="1800" dirty="0">
                <a:latin typeface="Verdana"/>
                <a:cs typeface="Verdana"/>
              </a:rPr>
              <a:t>SQL </a:t>
            </a:r>
            <a:r>
              <a:rPr sz="1800" spc="-5" dirty="0">
                <a:latin typeface="Verdana"/>
                <a:cs typeface="Verdana"/>
              </a:rPr>
              <a:t>SELECT 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statements</a:t>
            </a:r>
            <a:r>
              <a:rPr sz="1800" spc="2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or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open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the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metadata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reporting tool.</a:t>
            </a:r>
            <a:endParaRPr sz="1800">
              <a:latin typeface="Verdana"/>
              <a:cs typeface="Verdana"/>
            </a:endParaRPr>
          </a:p>
          <a:p>
            <a:pPr marL="12700" marR="6350" algn="just">
              <a:lnSpc>
                <a:spcPct val="100000"/>
              </a:lnSpc>
              <a:spcBef>
                <a:spcPts val="495"/>
              </a:spcBef>
              <a:buSzPct val="94444"/>
              <a:buFont typeface="Wingdings"/>
              <a:buChar char=""/>
              <a:tabLst>
                <a:tab pos="194945" algn="l"/>
              </a:tabLst>
            </a:pPr>
            <a:r>
              <a:rPr sz="1800" spc="-5" dirty="0">
                <a:latin typeface="Verdana"/>
                <a:cs typeface="Verdana"/>
              </a:rPr>
              <a:t>The</a:t>
            </a:r>
            <a:r>
              <a:rPr sz="1800" spc="2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following</a:t>
            </a:r>
            <a:r>
              <a:rPr sz="1800" spc="18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set</a:t>
            </a:r>
            <a:r>
              <a:rPr sz="1800" spc="2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of</a:t>
            </a:r>
            <a:r>
              <a:rPr sz="1800" spc="2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tables</a:t>
            </a:r>
            <a:r>
              <a:rPr sz="1800" spc="210" dirty="0">
                <a:latin typeface="Verdana"/>
                <a:cs typeface="Verdana"/>
              </a:rPr>
              <a:t> </a:t>
            </a:r>
            <a:r>
              <a:rPr sz="1800" spc="5" dirty="0">
                <a:latin typeface="Verdana"/>
                <a:cs typeface="Verdana"/>
              </a:rPr>
              <a:t>in</a:t>
            </a:r>
            <a:r>
              <a:rPr sz="1800" spc="2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the</a:t>
            </a:r>
            <a:r>
              <a:rPr sz="1800" spc="2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Data</a:t>
            </a:r>
            <a:r>
              <a:rPr sz="1800" spc="2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Services</a:t>
            </a:r>
            <a:r>
              <a:rPr sz="1800" spc="2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repository</a:t>
            </a:r>
            <a:r>
              <a:rPr sz="1800" spc="2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stores</a:t>
            </a:r>
            <a:r>
              <a:rPr sz="1800" spc="2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the</a:t>
            </a:r>
            <a:r>
              <a:rPr sz="1800" spc="2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statistics</a:t>
            </a:r>
            <a:r>
              <a:rPr sz="1800" spc="204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that </a:t>
            </a:r>
            <a:r>
              <a:rPr sz="1800" spc="-62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the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audit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feature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collects.</a:t>
            </a:r>
            <a:endParaRPr sz="180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6800" y="3768852"/>
            <a:ext cx="10770108" cy="175564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1134" rIns="0" bIns="0" rtlCol="0">
            <a:spAutoFit/>
          </a:bodyPr>
          <a:lstStyle/>
          <a:p>
            <a:pPr marL="12700" marR="5080">
              <a:lnSpc>
                <a:spcPts val="4110"/>
              </a:lnSpc>
              <a:spcBef>
                <a:spcPts val="615"/>
              </a:spcBef>
            </a:pPr>
            <a:r>
              <a:rPr spc="-5" dirty="0"/>
              <a:t>INTRODUCTION </a:t>
            </a:r>
            <a:r>
              <a:rPr spc="-50" dirty="0"/>
              <a:t>TO </a:t>
            </a:r>
            <a:r>
              <a:rPr dirty="0"/>
              <a:t>THE </a:t>
            </a:r>
            <a:r>
              <a:rPr spc="-85" dirty="0"/>
              <a:t>METADATA </a:t>
            </a:r>
            <a:r>
              <a:rPr spc="-1325" dirty="0"/>
              <a:t> </a:t>
            </a:r>
            <a:r>
              <a:rPr spc="-40" dirty="0"/>
              <a:t>TABLES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51052" y="1766138"/>
            <a:ext cx="1008570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275590" algn="l"/>
              </a:tabLst>
            </a:pPr>
            <a:r>
              <a:rPr sz="1800" spc="-5" dirty="0">
                <a:latin typeface="Verdana"/>
                <a:cs typeface="Verdana"/>
              </a:rPr>
              <a:t>The</a:t>
            </a:r>
            <a:r>
              <a:rPr sz="1800" spc="5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below</a:t>
            </a:r>
            <a:r>
              <a:rPr sz="1800" spc="55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set</a:t>
            </a:r>
            <a:r>
              <a:rPr sz="1800" spc="55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of</a:t>
            </a:r>
            <a:r>
              <a:rPr sz="1800" spc="54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tables</a:t>
            </a:r>
            <a:r>
              <a:rPr sz="1800" spc="56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(prefixed</a:t>
            </a:r>
            <a:r>
              <a:rPr sz="1800" spc="5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by</a:t>
            </a:r>
            <a:r>
              <a:rPr sz="1800" spc="54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AL_)</a:t>
            </a:r>
            <a:r>
              <a:rPr sz="1800" spc="5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and</a:t>
            </a:r>
            <a:r>
              <a:rPr sz="1800" spc="5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views</a:t>
            </a:r>
            <a:r>
              <a:rPr sz="1800" spc="54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(prefixed</a:t>
            </a:r>
            <a:r>
              <a:rPr sz="1800" spc="54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by</a:t>
            </a:r>
            <a:r>
              <a:rPr sz="1800" spc="545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ALVW_)</a:t>
            </a:r>
            <a:r>
              <a:rPr sz="1800" spc="5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will </a:t>
            </a:r>
            <a:r>
              <a:rPr sz="1800" spc="-62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capture the </a:t>
            </a:r>
            <a:r>
              <a:rPr sz="1800" dirty="0">
                <a:latin typeface="Verdana"/>
                <a:cs typeface="Verdana"/>
              </a:rPr>
              <a:t>information </a:t>
            </a:r>
            <a:r>
              <a:rPr sz="1800" spc="-5" dirty="0">
                <a:latin typeface="Verdana"/>
                <a:cs typeface="Verdana"/>
              </a:rPr>
              <a:t>about the </a:t>
            </a:r>
            <a:r>
              <a:rPr sz="1800" dirty="0">
                <a:latin typeface="Verdana"/>
                <a:cs typeface="Verdana"/>
              </a:rPr>
              <a:t>metadata </a:t>
            </a:r>
            <a:r>
              <a:rPr sz="1800" spc="-5" dirty="0">
                <a:latin typeface="Verdana"/>
                <a:cs typeface="Verdana"/>
              </a:rPr>
              <a:t>imported </a:t>
            </a:r>
            <a:r>
              <a:rPr sz="1800" dirty="0">
                <a:latin typeface="Verdana"/>
                <a:cs typeface="Verdana"/>
              </a:rPr>
              <a:t>into Data </a:t>
            </a:r>
            <a:r>
              <a:rPr sz="1800" spc="-5" dirty="0">
                <a:latin typeface="Verdana"/>
                <a:cs typeface="Verdana"/>
              </a:rPr>
              <a:t>Services from external </a:t>
            </a:r>
            <a:r>
              <a:rPr sz="1800" spc="-62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databases</a:t>
            </a:r>
            <a:r>
              <a:rPr sz="1800" spc="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and </a:t>
            </a:r>
            <a:r>
              <a:rPr sz="1800" spc="-5" dirty="0">
                <a:latin typeface="Verdana"/>
                <a:cs typeface="Verdana"/>
              </a:rPr>
              <a:t>applications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(such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as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Oracle, PeopleSoft,</a:t>
            </a:r>
            <a:r>
              <a:rPr sz="1800" spc="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and </a:t>
            </a:r>
            <a:r>
              <a:rPr sz="1800" spc="-5" dirty="0">
                <a:latin typeface="Verdana"/>
                <a:cs typeface="Verdana"/>
              </a:rPr>
              <a:t>SAP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ERP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or R/3).</a:t>
            </a:r>
            <a:endParaRPr sz="180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9847" y="2880360"/>
            <a:ext cx="9811512" cy="349300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2442" rIns="0" bIns="0" rtlCol="0">
            <a:spAutoFit/>
          </a:bodyPr>
          <a:lstStyle/>
          <a:p>
            <a:pPr marL="9525" marR="5080">
              <a:lnSpc>
                <a:spcPts val="4100"/>
              </a:lnSpc>
              <a:spcBef>
                <a:spcPts val="625"/>
              </a:spcBef>
            </a:pPr>
            <a:r>
              <a:rPr dirty="0"/>
              <a:t>INTRODUCTION</a:t>
            </a:r>
            <a:r>
              <a:rPr spc="-60" dirty="0"/>
              <a:t> </a:t>
            </a:r>
            <a:r>
              <a:rPr spc="-50" dirty="0"/>
              <a:t>TO</a:t>
            </a:r>
            <a:r>
              <a:rPr spc="-15" dirty="0"/>
              <a:t> </a:t>
            </a:r>
            <a:r>
              <a:rPr spc="-5" dirty="0"/>
              <a:t>THE</a:t>
            </a:r>
            <a:r>
              <a:rPr spc="-40" dirty="0"/>
              <a:t> </a:t>
            </a:r>
            <a:r>
              <a:rPr spc="-85" dirty="0"/>
              <a:t>METADATA </a:t>
            </a:r>
            <a:r>
              <a:rPr spc="-1320" dirty="0"/>
              <a:t> </a:t>
            </a:r>
            <a:r>
              <a:rPr spc="-40" dirty="0"/>
              <a:t>TABLES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51052" y="1822196"/>
            <a:ext cx="92506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buSzPct val="94444"/>
              <a:buFont typeface="Wingdings"/>
              <a:buChar char=""/>
              <a:tabLst>
                <a:tab pos="194945" algn="l"/>
              </a:tabLst>
            </a:pPr>
            <a:r>
              <a:rPr sz="1800" spc="-5" dirty="0">
                <a:latin typeface="Verdana"/>
                <a:cs typeface="Verdana"/>
              </a:rPr>
              <a:t>The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below</a:t>
            </a:r>
            <a:r>
              <a:rPr sz="1800" spc="2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set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of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tables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and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views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capture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information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about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built-in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metadata </a:t>
            </a:r>
            <a:r>
              <a:rPr sz="1800" spc="-6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objects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used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by </a:t>
            </a:r>
            <a:r>
              <a:rPr sz="1800" dirty="0">
                <a:latin typeface="Verdana"/>
                <a:cs typeface="Verdana"/>
              </a:rPr>
              <a:t>Data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Services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and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the</a:t>
            </a:r>
            <a:r>
              <a:rPr sz="1800" dirty="0">
                <a:latin typeface="Verdana"/>
                <a:cs typeface="Verdana"/>
              </a:rPr>
              <a:t> relationships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between</a:t>
            </a:r>
            <a:r>
              <a:rPr sz="1800" spc="3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those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objects.</a:t>
            </a:r>
            <a:endParaRPr sz="180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3752" y="2435351"/>
            <a:ext cx="10058400" cy="322173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671" rIns="0" bIns="0" rtlCol="0">
            <a:spAutoFit/>
          </a:bodyPr>
          <a:lstStyle/>
          <a:p>
            <a:pPr marL="12700" marR="5080">
              <a:lnSpc>
                <a:spcPts val="4110"/>
              </a:lnSpc>
              <a:spcBef>
                <a:spcPts val="615"/>
              </a:spcBef>
            </a:pPr>
            <a:r>
              <a:rPr spc="-5" dirty="0"/>
              <a:t>INTRODUCTION </a:t>
            </a:r>
            <a:r>
              <a:rPr spc="-50" dirty="0"/>
              <a:t>TO </a:t>
            </a:r>
            <a:r>
              <a:rPr dirty="0"/>
              <a:t>THE </a:t>
            </a:r>
            <a:r>
              <a:rPr spc="-85" dirty="0"/>
              <a:t>METADATA </a:t>
            </a:r>
            <a:r>
              <a:rPr spc="-1325" dirty="0"/>
              <a:t> </a:t>
            </a:r>
            <a:r>
              <a:rPr spc="-40" dirty="0"/>
              <a:t>TABLES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54100" y="1764538"/>
            <a:ext cx="99650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buSzPct val="94444"/>
              <a:buFont typeface="Wingdings"/>
              <a:buChar char=""/>
              <a:tabLst>
                <a:tab pos="194945" algn="l"/>
              </a:tabLst>
            </a:pPr>
            <a:r>
              <a:rPr sz="1800" spc="-5" dirty="0">
                <a:latin typeface="Verdana"/>
                <a:cs typeface="Verdana"/>
              </a:rPr>
              <a:t>These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following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tables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and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views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contain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information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about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the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run-time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statistics of </a:t>
            </a:r>
            <a:r>
              <a:rPr sz="1800" spc="-6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Data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Services </a:t>
            </a:r>
            <a:r>
              <a:rPr sz="1800" spc="-5" dirty="0">
                <a:latin typeface="Verdana"/>
                <a:cs typeface="Verdana"/>
              </a:rPr>
              <a:t>jobs</a:t>
            </a:r>
            <a:r>
              <a:rPr sz="1800" dirty="0">
                <a:latin typeface="Verdana"/>
                <a:cs typeface="Verdana"/>
              </a:rPr>
              <a:t> and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data</a:t>
            </a:r>
            <a:r>
              <a:rPr sz="1800" dirty="0">
                <a:latin typeface="Verdana"/>
                <a:cs typeface="Verdana"/>
              </a:rPr>
              <a:t> flows.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6800" y="2455164"/>
            <a:ext cx="10210800" cy="288340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object 2"/>
          <p:cNvSpPr txBox="1">
            <a:spLocks/>
          </p:cNvSpPr>
          <p:nvPr/>
        </p:nvSpPr>
        <p:spPr>
          <a:xfrm>
            <a:off x="228600" y="-17576"/>
            <a:ext cx="11201400" cy="2022733"/>
          </a:xfrm>
          <a:prstGeom prst="rect">
            <a:avLst/>
          </a:prstGeom>
        </p:spPr>
        <p:txBody>
          <a:bodyPr vert="horz" wrap="square" lIns="0" tIns="288671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5080">
              <a:lnSpc>
                <a:spcPts val="4110"/>
              </a:lnSpc>
              <a:spcBef>
                <a:spcPts val="615"/>
              </a:spcBef>
            </a:pPr>
            <a:r>
              <a:rPr lang="en-IN" sz="3800" dirty="0">
                <a:solidFill>
                  <a:srgbClr val="006FAC"/>
                </a:solidFill>
                <a:latin typeface="Verdana"/>
                <a:cs typeface="Verdana"/>
              </a:rPr>
              <a:t>Introduction to SAP Data </a:t>
            </a:r>
            <a:r>
              <a:rPr lang="en-IN" sz="3800" dirty="0" smtClean="0">
                <a:solidFill>
                  <a:srgbClr val="006FAC"/>
                </a:solidFill>
                <a:latin typeface="Verdana"/>
                <a:cs typeface="Verdana"/>
              </a:rPr>
              <a:t>Intelligence</a:t>
            </a:r>
          </a:p>
          <a:p>
            <a:pPr marL="12700" marR="5080">
              <a:lnSpc>
                <a:spcPts val="4110"/>
              </a:lnSpc>
              <a:spcBef>
                <a:spcPts val="615"/>
              </a:spcBef>
            </a:pPr>
            <a:r>
              <a:rPr lang="en-IN" dirty="0">
                <a:solidFill>
                  <a:srgbClr val="006FAC"/>
                </a:solidFill>
                <a:latin typeface="Verdana"/>
                <a:ea typeface="Verdana" panose="020B0604030504040204" pitchFamily="34" charset="0"/>
              </a:rPr>
              <a:t>-</a:t>
            </a:r>
            <a:r>
              <a:rPr lang="en-IN" sz="1600" dirty="0">
                <a:solidFill>
                  <a:srgbClr val="006FAC"/>
                </a:solidFill>
                <a:latin typeface="Verdana"/>
                <a:cs typeface="Verdana"/>
              </a:rPr>
              <a:t>Turn </a:t>
            </a:r>
            <a:r>
              <a:rPr lang="en-IN" sz="1600" dirty="0">
                <a:solidFill>
                  <a:srgbClr val="006FAC"/>
                </a:solidFill>
                <a:latin typeface="Verdana"/>
                <a:cs typeface="Verdana"/>
              </a:rPr>
              <a:t>data chaos into data value with </a:t>
            </a:r>
            <a:r>
              <a:rPr lang="en-IN" sz="1600" dirty="0" smtClean="0">
                <a:solidFill>
                  <a:srgbClr val="006FAC"/>
                </a:solidFill>
                <a:latin typeface="Verdana"/>
                <a:cs typeface="Verdana"/>
              </a:rPr>
              <a:t>Data </a:t>
            </a:r>
            <a:r>
              <a:rPr lang="en-IN" sz="1600" dirty="0">
                <a:solidFill>
                  <a:srgbClr val="006FAC"/>
                </a:solidFill>
                <a:latin typeface="Verdana"/>
                <a:cs typeface="Verdana"/>
              </a:rPr>
              <a:t>I</a:t>
            </a:r>
            <a:r>
              <a:rPr lang="en-IN" sz="1600" dirty="0" smtClean="0">
                <a:solidFill>
                  <a:srgbClr val="006FAC"/>
                </a:solidFill>
                <a:latin typeface="Verdana"/>
                <a:cs typeface="Verdana"/>
              </a:rPr>
              <a:t>ntelligence</a:t>
            </a:r>
            <a:endParaRPr lang="en-IN" sz="1600" dirty="0">
              <a:solidFill>
                <a:srgbClr val="006FAC"/>
              </a:solidFill>
              <a:latin typeface="Verdana"/>
              <a:cs typeface="Verdana"/>
            </a:endParaRPr>
          </a:p>
          <a:p>
            <a:pPr marL="12700" marR="5080">
              <a:lnSpc>
                <a:spcPts val="4110"/>
              </a:lnSpc>
              <a:spcBef>
                <a:spcPts val="615"/>
              </a:spcBef>
            </a:pPr>
            <a:endParaRPr lang="en-IN" kern="0" spc="-40" dirty="0">
              <a:solidFill>
                <a:sysClr val="windowText" lastClr="00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10206" y="1524000"/>
            <a:ext cx="11524593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What is SAP Data Intelligence?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solidFill>
                  <a:srgbClr val="3C3C3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SAP Data Intelligence is a comprehensive data management solution</a:t>
            </a:r>
            <a:r>
              <a:rPr lang="en-IN" dirty="0" smtClean="0">
                <a:solidFill>
                  <a:srgbClr val="3C3C3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 smtClean="0">
                <a:solidFill>
                  <a:srgbClr val="3C3C3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As </a:t>
            </a:r>
            <a:r>
              <a:rPr lang="en-IN" dirty="0">
                <a:solidFill>
                  <a:srgbClr val="3C3C3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data orchestration layer of SAP’s Business Technology Platform, it transforms distributed data sprawls into vital data insights, delivering innovation at scale.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solidFill>
                  <a:srgbClr val="444444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This product is known to be one of the robust product under SAP Integration suite. Provides Data Integration, Data Management &amp; Data Processing –A complete solution.</a:t>
            </a:r>
            <a:endParaRPr lang="en-IN" b="0" i="0" dirty="0">
              <a:solidFill>
                <a:srgbClr val="444444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3886199"/>
            <a:ext cx="8153400" cy="2979683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304800" y="3500593"/>
            <a:ext cx="54612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>
                <a:solidFill>
                  <a:srgbClr val="3C3C3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Features &amp; Connections with various sources </a:t>
            </a: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3054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8DD3D75-0E78-46B7-ACC5-9759C2DC12C2}"/>
              </a:ext>
            </a:extLst>
          </p:cNvPr>
          <p:cNvSpPr/>
          <p:nvPr/>
        </p:nvSpPr>
        <p:spPr>
          <a:xfrm>
            <a:off x="0" y="8860"/>
            <a:ext cx="11430000" cy="7102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SAP Data </a:t>
            </a:r>
            <a:r>
              <a:rPr lang="en-IN" sz="2400" b="1" dirty="0" smtClean="0"/>
              <a:t>Intelligence Overview</a:t>
            </a:r>
            <a:endParaRPr lang="en-IN" sz="2400" b="1" dirty="0"/>
          </a:p>
        </p:txBody>
      </p:sp>
      <p:sp>
        <p:nvSpPr>
          <p:cNvPr id="16" name="Arrow: Chevron 15">
            <a:extLst>
              <a:ext uri="{FF2B5EF4-FFF2-40B4-BE49-F238E27FC236}">
                <a16:creationId xmlns:a16="http://schemas.microsoft.com/office/drawing/2014/main" id="{F89889A7-CE77-43BD-BCDD-0FB80844EADE}"/>
              </a:ext>
            </a:extLst>
          </p:cNvPr>
          <p:cNvSpPr/>
          <p:nvPr/>
        </p:nvSpPr>
        <p:spPr>
          <a:xfrm>
            <a:off x="2302648" y="844413"/>
            <a:ext cx="1995997" cy="387026"/>
          </a:xfrm>
          <a:prstGeom prst="chevron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chemeClr val="bg1"/>
                </a:solidFill>
              </a:rPr>
              <a:t>Data Provisioning</a:t>
            </a:r>
          </a:p>
        </p:txBody>
      </p:sp>
      <p:sp>
        <p:nvSpPr>
          <p:cNvPr id="17" name="Arrow: Chevron 16">
            <a:extLst>
              <a:ext uri="{FF2B5EF4-FFF2-40B4-BE49-F238E27FC236}">
                <a16:creationId xmlns:a16="http://schemas.microsoft.com/office/drawing/2014/main" id="{AF2441DA-2722-4BEA-882E-E83678ADA329}"/>
              </a:ext>
            </a:extLst>
          </p:cNvPr>
          <p:cNvSpPr/>
          <p:nvPr/>
        </p:nvSpPr>
        <p:spPr>
          <a:xfrm>
            <a:off x="8419295" y="874549"/>
            <a:ext cx="1995997" cy="439425"/>
          </a:xfrm>
          <a:prstGeom prst="chevron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>
                <a:solidFill>
                  <a:schemeClr val="bg1"/>
                </a:solidFill>
              </a:rPr>
              <a:t>Data Science Lifecycle Management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A09DB364-545E-48B9-BE70-2600C656E558}"/>
              </a:ext>
            </a:extLst>
          </p:cNvPr>
          <p:cNvGrpSpPr/>
          <p:nvPr/>
        </p:nvGrpSpPr>
        <p:grpSpPr>
          <a:xfrm>
            <a:off x="276851" y="2902187"/>
            <a:ext cx="2680013" cy="1637204"/>
            <a:chOff x="273990" y="2897447"/>
            <a:chExt cx="2680013" cy="1637204"/>
          </a:xfrm>
        </p:grpSpPr>
        <p:sp>
          <p:nvSpPr>
            <p:cNvPr id="8" name="Arrow: Chevron 7">
              <a:extLst>
                <a:ext uri="{FF2B5EF4-FFF2-40B4-BE49-F238E27FC236}">
                  <a16:creationId xmlns:a16="http://schemas.microsoft.com/office/drawing/2014/main" id="{592BD616-05B4-49C5-BC70-3EBB586C1372}"/>
                </a:ext>
              </a:extLst>
            </p:cNvPr>
            <p:cNvSpPr/>
            <p:nvPr/>
          </p:nvSpPr>
          <p:spPr>
            <a:xfrm>
              <a:off x="894763" y="3021543"/>
              <a:ext cx="1995997" cy="439425"/>
            </a:xfrm>
            <a:prstGeom prst="chevron">
              <a:avLst/>
            </a:prstGeom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400" b="1" dirty="0">
                  <a:solidFill>
                    <a:schemeClr val="bg1"/>
                  </a:solidFill>
                </a:rPr>
                <a:t>Security</a:t>
              </a:r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ABB2ADC0-6FE8-41E9-AA5F-F8CEE27D0E00}"/>
                </a:ext>
              </a:extLst>
            </p:cNvPr>
            <p:cNvSpPr/>
            <p:nvPr/>
          </p:nvSpPr>
          <p:spPr>
            <a:xfrm>
              <a:off x="273990" y="3585836"/>
              <a:ext cx="2680013" cy="948815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sz="1200" dirty="0">
                  <a:solidFill>
                    <a:schemeClr val="tx1"/>
                  </a:solidFill>
                </a:rPr>
                <a:t>Control over Artifacts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sz="1200" dirty="0">
                  <a:solidFill>
                    <a:schemeClr val="tx1"/>
                  </a:solidFill>
                </a:rPr>
                <a:t>Roles, Policies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sz="1200" dirty="0">
                  <a:solidFill>
                    <a:schemeClr val="tx1"/>
                  </a:solidFill>
                </a:rPr>
                <a:t>Audit Logs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sz="1200" dirty="0">
                  <a:solidFill>
                    <a:schemeClr val="tx1"/>
                  </a:solidFill>
                </a:rPr>
                <a:t>Authentication &amp; Authorization</a:t>
              </a:r>
            </a:p>
          </p:txBody>
        </p:sp>
        <p:pic>
          <p:nvPicPr>
            <p:cNvPr id="27" name="Graphic 26" descr="Shield Tick with solid fill">
              <a:extLst>
                <a:ext uri="{FF2B5EF4-FFF2-40B4-BE49-F238E27FC236}">
                  <a16:creationId xmlns:a16="http://schemas.microsoft.com/office/drawing/2014/main" id="{0971C430-F510-4076-8394-5FEC2105BB8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p:blipFill>
          <p:spPr>
            <a:xfrm>
              <a:off x="342466" y="2897447"/>
              <a:ext cx="579138" cy="579138"/>
            </a:xfrm>
            <a:prstGeom prst="rect">
              <a:avLst/>
            </a:prstGeom>
          </p:spPr>
        </p:pic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423B31BD-364F-4188-A423-060FE54F83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338" y="0"/>
            <a:ext cx="1035374" cy="8196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E4E9044-5841-4DCE-BD73-D806F04C2F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9386" y="1399418"/>
            <a:ext cx="6150446" cy="1393517"/>
          </a:xfrm>
          <a:prstGeom prst="rect">
            <a:avLst/>
          </a:prstGeom>
        </p:spPr>
      </p:pic>
      <p:grpSp>
        <p:nvGrpSpPr>
          <p:cNvPr id="42" name="Group 41">
            <a:extLst>
              <a:ext uri="{FF2B5EF4-FFF2-40B4-BE49-F238E27FC236}">
                <a16:creationId xmlns:a16="http://schemas.microsoft.com/office/drawing/2014/main" id="{F3FF648B-211E-41DF-8635-0DC106AE6BC6}"/>
              </a:ext>
            </a:extLst>
          </p:cNvPr>
          <p:cNvGrpSpPr/>
          <p:nvPr/>
        </p:nvGrpSpPr>
        <p:grpSpPr>
          <a:xfrm>
            <a:off x="6715140" y="1436433"/>
            <a:ext cx="5382167" cy="932445"/>
            <a:chOff x="6715140" y="1436433"/>
            <a:chExt cx="5382167" cy="932445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FACB442E-86BA-4C8E-9F52-1CEDA21A60D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715140" y="1436433"/>
              <a:ext cx="1323250" cy="932445"/>
            </a:xfrm>
            <a:prstGeom prst="rect">
              <a:avLst/>
            </a:prstGeom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23F5C39F-43F4-48BF-A3EF-12C34267EDB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978780" y="1505538"/>
              <a:ext cx="1204030" cy="849157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0638666B-B628-4FE5-8474-F8E68AA2370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l="2784"/>
            <a:stretch/>
          </p:blipFill>
          <p:spPr>
            <a:xfrm>
              <a:off x="9182810" y="1505538"/>
              <a:ext cx="1484658" cy="849157"/>
            </a:xfrm>
            <a:prstGeom prst="rect">
              <a:avLst/>
            </a:prstGeom>
          </p:spPr>
        </p:pic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2D81C86C-FDAB-4FB4-8640-35C4B8C162E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0580303" y="1493024"/>
              <a:ext cx="1517004" cy="811730"/>
            </a:xfrm>
            <a:prstGeom prst="rect">
              <a:avLst/>
            </a:prstGeom>
          </p:spPr>
        </p:pic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4525D383-DEEA-45EE-AADD-5F154EC92AF1}"/>
              </a:ext>
            </a:extLst>
          </p:cNvPr>
          <p:cNvGrpSpPr/>
          <p:nvPr/>
        </p:nvGrpSpPr>
        <p:grpSpPr>
          <a:xfrm>
            <a:off x="3334191" y="2986174"/>
            <a:ext cx="2680013" cy="1534289"/>
            <a:chOff x="3334191" y="2986174"/>
            <a:chExt cx="2680013" cy="1534289"/>
          </a:xfrm>
        </p:grpSpPr>
        <p:sp>
          <p:nvSpPr>
            <p:cNvPr id="10" name="Arrow: Chevron 9">
              <a:extLst>
                <a:ext uri="{FF2B5EF4-FFF2-40B4-BE49-F238E27FC236}">
                  <a16:creationId xmlns:a16="http://schemas.microsoft.com/office/drawing/2014/main" id="{F5A45446-7081-4CBA-9071-11A12A253531}"/>
                </a:ext>
              </a:extLst>
            </p:cNvPr>
            <p:cNvSpPr/>
            <p:nvPr/>
          </p:nvSpPr>
          <p:spPr>
            <a:xfrm>
              <a:off x="3924855" y="3028134"/>
              <a:ext cx="1995997" cy="439425"/>
            </a:xfrm>
            <a:prstGeom prst="chevron">
              <a:avLst/>
            </a:prstGeom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b="1" dirty="0">
                  <a:solidFill>
                    <a:schemeClr val="bg1"/>
                  </a:solidFill>
                </a:rPr>
                <a:t>Monitoring</a:t>
              </a:r>
            </a:p>
            <a:p>
              <a:pPr algn="ctr"/>
              <a:r>
                <a:rPr lang="en-IN" sz="1200" b="1" dirty="0">
                  <a:solidFill>
                    <a:schemeClr val="bg1"/>
                  </a:solidFill>
                </a:rPr>
                <a:t>Maintenance</a:t>
              </a:r>
            </a:p>
          </p:txBody>
        </p:sp>
        <p:pic>
          <p:nvPicPr>
            <p:cNvPr id="1028" name="Picture 4" descr="Reverse Logo Monitoring | Social Media Monitoring| App Store Monitoring">
              <a:extLst>
                <a:ext uri="{FF2B5EF4-FFF2-40B4-BE49-F238E27FC236}">
                  <a16:creationId xmlns:a16="http://schemas.microsoft.com/office/drawing/2014/main" id="{BA3FB761-A537-4E20-A456-264D199E892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18216" y="2986174"/>
              <a:ext cx="453081" cy="4551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8CFE54E7-E3F9-48A4-A789-497AEBECFBD1}"/>
                </a:ext>
              </a:extLst>
            </p:cNvPr>
            <p:cNvSpPr/>
            <p:nvPr/>
          </p:nvSpPr>
          <p:spPr>
            <a:xfrm>
              <a:off x="3334191" y="3571648"/>
              <a:ext cx="2680013" cy="948815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sz="1200" dirty="0">
                  <a:solidFill>
                    <a:schemeClr val="tx1"/>
                  </a:solidFill>
                </a:rPr>
                <a:t>Workflow &amp; Operations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sz="1200" dirty="0">
                  <a:solidFill>
                    <a:schemeClr val="tx1"/>
                  </a:solidFill>
                </a:rPr>
                <a:t>Logging &amp; Tracing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sz="1200" dirty="0">
                  <a:solidFill>
                    <a:schemeClr val="tx1"/>
                  </a:solidFill>
                </a:rPr>
                <a:t>Resource Consumption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sz="1200" dirty="0">
                  <a:solidFill>
                    <a:schemeClr val="tx1"/>
                  </a:solidFill>
                </a:rPr>
                <a:t>Diagnosis Info</a:t>
              </a: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FB9801F9-7D80-4C7B-83E7-6E584EC7ABC4}"/>
              </a:ext>
            </a:extLst>
          </p:cNvPr>
          <p:cNvGrpSpPr/>
          <p:nvPr/>
        </p:nvGrpSpPr>
        <p:grpSpPr>
          <a:xfrm>
            <a:off x="6276757" y="3018416"/>
            <a:ext cx="2768028" cy="1491974"/>
            <a:chOff x="6276757" y="3018416"/>
            <a:chExt cx="2768028" cy="1491974"/>
          </a:xfrm>
        </p:grpSpPr>
        <p:sp>
          <p:nvSpPr>
            <p:cNvPr id="9" name="Arrow: Chevron 8">
              <a:extLst>
                <a:ext uri="{FF2B5EF4-FFF2-40B4-BE49-F238E27FC236}">
                  <a16:creationId xmlns:a16="http://schemas.microsoft.com/office/drawing/2014/main" id="{D4E396BC-C35C-4822-9417-A80DBC6000C5}"/>
                </a:ext>
              </a:extLst>
            </p:cNvPr>
            <p:cNvSpPr/>
            <p:nvPr/>
          </p:nvSpPr>
          <p:spPr>
            <a:xfrm>
              <a:off x="7022475" y="3026348"/>
              <a:ext cx="1995997" cy="439425"/>
            </a:xfrm>
            <a:prstGeom prst="chevron">
              <a:avLst/>
            </a:prstGeom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400" b="1" dirty="0">
                  <a:solidFill>
                    <a:schemeClr val="bg1"/>
                  </a:solidFill>
                </a:rPr>
                <a:t>Data Governance</a:t>
              </a:r>
            </a:p>
          </p:txBody>
        </p:sp>
        <p:pic>
          <p:nvPicPr>
            <p:cNvPr id="1026" name="Picture 2" descr="Data Governance - GoldenSource 101 Data Management Series">
              <a:extLst>
                <a:ext uri="{FF2B5EF4-FFF2-40B4-BE49-F238E27FC236}">
                  <a16:creationId xmlns:a16="http://schemas.microsoft.com/office/drawing/2014/main" id="{B9B0A2B6-8760-459C-AC7E-540BF349E1E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76757" y="3018416"/>
              <a:ext cx="616997" cy="4105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D9403A82-A1B6-4A36-88D9-CD0D413C8749}"/>
                </a:ext>
              </a:extLst>
            </p:cNvPr>
            <p:cNvSpPr/>
            <p:nvPr/>
          </p:nvSpPr>
          <p:spPr>
            <a:xfrm>
              <a:off x="6364772" y="3561575"/>
              <a:ext cx="2680013" cy="948815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sz="1200" dirty="0">
                  <a:solidFill>
                    <a:schemeClr val="tx1"/>
                  </a:solidFill>
                </a:rPr>
                <a:t>Data Discovery, Profiling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sz="1200" dirty="0">
                  <a:solidFill>
                    <a:schemeClr val="tx1"/>
                  </a:solidFill>
                </a:rPr>
                <a:t>Data Cataloguing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sz="1200" dirty="0">
                  <a:solidFill>
                    <a:schemeClr val="tx1"/>
                  </a:solidFill>
                </a:rPr>
                <a:t>Data Quality Rules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sz="1200" dirty="0">
                  <a:solidFill>
                    <a:schemeClr val="tx1"/>
                  </a:solidFill>
                </a:rPr>
                <a:t>Track Data Source Usage</a:t>
              </a: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CD1CE498-5B73-41AB-9360-78D845DDB3A8}"/>
              </a:ext>
            </a:extLst>
          </p:cNvPr>
          <p:cNvGrpSpPr/>
          <p:nvPr/>
        </p:nvGrpSpPr>
        <p:grpSpPr>
          <a:xfrm>
            <a:off x="9297529" y="2934493"/>
            <a:ext cx="2680013" cy="1518194"/>
            <a:chOff x="9297529" y="2934493"/>
            <a:chExt cx="2680013" cy="1518194"/>
          </a:xfrm>
        </p:grpSpPr>
        <p:sp>
          <p:nvSpPr>
            <p:cNvPr id="11" name="Arrow: Chevron 10">
              <a:extLst>
                <a:ext uri="{FF2B5EF4-FFF2-40B4-BE49-F238E27FC236}">
                  <a16:creationId xmlns:a16="http://schemas.microsoft.com/office/drawing/2014/main" id="{E006D569-726B-4EF2-8B4B-304B936041F0}"/>
                </a:ext>
              </a:extLst>
            </p:cNvPr>
            <p:cNvSpPr/>
            <p:nvPr/>
          </p:nvSpPr>
          <p:spPr>
            <a:xfrm>
              <a:off x="9973829" y="2990689"/>
              <a:ext cx="1995997" cy="439425"/>
            </a:xfrm>
            <a:prstGeom prst="chevron">
              <a:avLst/>
            </a:prstGeom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b="1" dirty="0">
                  <a:solidFill>
                    <a:schemeClr val="bg1"/>
                  </a:solidFill>
                </a:rPr>
                <a:t>Scalability</a:t>
              </a:r>
            </a:p>
            <a:p>
              <a:pPr algn="ctr"/>
              <a:r>
                <a:rPr lang="en-IN" sz="1200" b="1" dirty="0">
                  <a:solidFill>
                    <a:schemeClr val="bg1"/>
                  </a:solidFill>
                </a:rPr>
                <a:t>Flexibility</a:t>
              </a:r>
            </a:p>
          </p:txBody>
        </p:sp>
        <p:pic>
          <p:nvPicPr>
            <p:cNvPr id="43" name="Graphic 42" descr="Bar graph with upward trend with solid fill">
              <a:extLst>
                <a:ext uri="{FF2B5EF4-FFF2-40B4-BE49-F238E27FC236}">
                  <a16:creationId xmlns:a16="http://schemas.microsoft.com/office/drawing/2014/main" id="{2FE4537E-1255-434F-A4C4-1B1EBCAD9217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p:blipFill>
          <p:spPr>
            <a:xfrm>
              <a:off x="9355520" y="2934493"/>
              <a:ext cx="533418" cy="533418"/>
            </a:xfrm>
            <a:prstGeom prst="rect">
              <a:avLst/>
            </a:prstGeom>
          </p:spPr>
        </p:pic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124B9090-1C1D-47FD-9E27-A87A763A84BB}"/>
                </a:ext>
              </a:extLst>
            </p:cNvPr>
            <p:cNvSpPr/>
            <p:nvPr/>
          </p:nvSpPr>
          <p:spPr>
            <a:xfrm>
              <a:off x="9297529" y="3503872"/>
              <a:ext cx="2680013" cy="948815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sz="1200" dirty="0">
                  <a:solidFill>
                    <a:schemeClr val="tx1"/>
                  </a:solidFill>
                </a:rPr>
                <a:t>Kubernetes &amp; Docker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sz="1200" dirty="0">
                  <a:solidFill>
                    <a:schemeClr val="tx1"/>
                  </a:solidFill>
                </a:rPr>
                <a:t>Distributed Runtime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sz="1200" dirty="0">
                  <a:solidFill>
                    <a:schemeClr val="tx1"/>
                  </a:solidFill>
                </a:rPr>
                <a:t>Massive Parallelization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sz="1200" dirty="0">
                  <a:solidFill>
                    <a:schemeClr val="tx1"/>
                  </a:solidFill>
                </a:rPr>
                <a:t>Resource Isolation</a:t>
              </a: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5413F220-0AA4-46B9-B9D3-683DEA2DA65C}"/>
              </a:ext>
            </a:extLst>
          </p:cNvPr>
          <p:cNvGrpSpPr/>
          <p:nvPr/>
        </p:nvGrpSpPr>
        <p:grpSpPr>
          <a:xfrm>
            <a:off x="299386" y="4912647"/>
            <a:ext cx="2680013" cy="1532004"/>
            <a:chOff x="299386" y="4912647"/>
            <a:chExt cx="2680013" cy="1532004"/>
          </a:xfrm>
        </p:grpSpPr>
        <p:sp>
          <p:nvSpPr>
            <p:cNvPr id="12" name="Arrow: Chevron 11">
              <a:extLst>
                <a:ext uri="{FF2B5EF4-FFF2-40B4-BE49-F238E27FC236}">
                  <a16:creationId xmlns:a16="http://schemas.microsoft.com/office/drawing/2014/main" id="{13339743-C89B-40CD-97AE-F76A0BBB6732}"/>
                </a:ext>
              </a:extLst>
            </p:cNvPr>
            <p:cNvSpPr/>
            <p:nvPr/>
          </p:nvSpPr>
          <p:spPr>
            <a:xfrm>
              <a:off x="962988" y="4947159"/>
              <a:ext cx="1995997" cy="439425"/>
            </a:xfrm>
            <a:prstGeom prst="chevron">
              <a:avLst/>
            </a:prstGeom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400" b="1" dirty="0">
                  <a:solidFill>
                    <a:schemeClr val="bg1"/>
                  </a:solidFill>
                </a:rPr>
                <a:t>Customization</a:t>
              </a:r>
            </a:p>
          </p:txBody>
        </p:sp>
        <p:pic>
          <p:nvPicPr>
            <p:cNvPr id="39" name="Graphic 38" descr="Mining tools with solid fill">
              <a:extLst>
                <a:ext uri="{FF2B5EF4-FFF2-40B4-BE49-F238E27FC236}">
                  <a16:creationId xmlns:a16="http://schemas.microsoft.com/office/drawing/2014/main" id="{5ED224C8-EBA9-40C7-8332-FB488A6166F5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5"/>
                </a:ext>
              </a:extLst>
            </a:blip>
            <a:stretch>
              <a:fillRect/>
            </a:stretch>
          </p:blipFill>
          <p:spPr>
            <a:xfrm>
              <a:off x="455338" y="4912647"/>
              <a:ext cx="439425" cy="439425"/>
            </a:xfrm>
            <a:prstGeom prst="rect">
              <a:avLst/>
            </a:prstGeom>
          </p:spPr>
        </p:pic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ADB22AF3-D658-452F-9C79-16EE38E9411C}"/>
                </a:ext>
              </a:extLst>
            </p:cNvPr>
            <p:cNvSpPr/>
            <p:nvPr/>
          </p:nvSpPr>
          <p:spPr>
            <a:xfrm>
              <a:off x="299386" y="5495836"/>
              <a:ext cx="2680013" cy="948815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sz="1200" dirty="0">
                  <a:solidFill>
                    <a:schemeClr val="tx1"/>
                  </a:solidFill>
                </a:rPr>
                <a:t>Custom Workflows/Templates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sz="1200" dirty="0">
                  <a:solidFill>
                    <a:schemeClr val="tx1"/>
                  </a:solidFill>
                </a:rPr>
                <a:t>Building Custom Models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sz="1200" dirty="0">
                  <a:solidFill>
                    <a:schemeClr val="tx1"/>
                  </a:solidFill>
                </a:rPr>
                <a:t>Graph Snippets, Operators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sz="1200" dirty="0">
                  <a:solidFill>
                    <a:schemeClr val="tx1"/>
                  </a:solidFill>
                </a:rPr>
                <a:t>Data Connections</a:t>
              </a: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1EB694D3-82BC-4E21-9009-E05746DEF958}"/>
              </a:ext>
            </a:extLst>
          </p:cNvPr>
          <p:cNvGrpSpPr/>
          <p:nvPr/>
        </p:nvGrpSpPr>
        <p:grpSpPr>
          <a:xfrm>
            <a:off x="3300647" y="4828734"/>
            <a:ext cx="2721371" cy="1615917"/>
            <a:chOff x="3300647" y="4828734"/>
            <a:chExt cx="2721371" cy="1615917"/>
          </a:xfrm>
        </p:grpSpPr>
        <p:sp>
          <p:nvSpPr>
            <p:cNvPr id="13" name="Arrow: Chevron 12">
              <a:extLst>
                <a:ext uri="{FF2B5EF4-FFF2-40B4-BE49-F238E27FC236}">
                  <a16:creationId xmlns:a16="http://schemas.microsoft.com/office/drawing/2014/main" id="{5CFEF67F-ED8C-45F5-BEA6-17DDEF6D998E}"/>
                </a:ext>
              </a:extLst>
            </p:cNvPr>
            <p:cNvSpPr/>
            <p:nvPr/>
          </p:nvSpPr>
          <p:spPr>
            <a:xfrm>
              <a:off x="3944699" y="4920257"/>
              <a:ext cx="1995997" cy="439425"/>
            </a:xfrm>
            <a:prstGeom prst="chevron">
              <a:avLst/>
            </a:prstGeom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100" b="1" dirty="0">
                  <a:solidFill>
                    <a:schemeClr val="bg1"/>
                  </a:solidFill>
                </a:rPr>
                <a:t>Ready to use Functional Services</a:t>
              </a:r>
            </a:p>
          </p:txBody>
        </p:sp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5DDA2F1D-6BDF-4499-9E7B-F8FAEB7C4173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3300647" y="4828734"/>
              <a:ext cx="592795" cy="607253"/>
            </a:xfrm>
            <a:prstGeom prst="rect">
              <a:avLst/>
            </a:prstGeom>
          </p:spPr>
        </p:pic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ADDB076E-6BE1-473E-9D3D-238DDF770818}"/>
                </a:ext>
              </a:extLst>
            </p:cNvPr>
            <p:cNvSpPr/>
            <p:nvPr/>
          </p:nvSpPr>
          <p:spPr>
            <a:xfrm>
              <a:off x="3342005" y="5495836"/>
              <a:ext cx="2680013" cy="948815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sz="1200" dirty="0">
                  <a:solidFill>
                    <a:schemeClr val="tx1"/>
                  </a:solidFill>
                </a:rPr>
                <a:t>Image Based Solutions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sz="1200" dirty="0">
                  <a:solidFill>
                    <a:schemeClr val="tx1"/>
                  </a:solidFill>
                </a:rPr>
                <a:t>HANA ML(PAL, APL)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sz="1200" dirty="0">
                  <a:solidFill>
                    <a:schemeClr val="tx1"/>
                  </a:solidFill>
                </a:rPr>
                <a:t>Text Based Solutions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sz="1200" dirty="0">
                  <a:solidFill>
                    <a:schemeClr val="tx1"/>
                  </a:solidFill>
                </a:rPr>
                <a:t>Auto ML</a:t>
              </a: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C9B6079A-8273-43F0-9A16-204F75529B8D}"/>
              </a:ext>
            </a:extLst>
          </p:cNvPr>
          <p:cNvGrpSpPr/>
          <p:nvPr/>
        </p:nvGrpSpPr>
        <p:grpSpPr>
          <a:xfrm>
            <a:off x="6436526" y="4892885"/>
            <a:ext cx="2680013" cy="1536404"/>
            <a:chOff x="6436526" y="4892885"/>
            <a:chExt cx="2680013" cy="1536404"/>
          </a:xfrm>
        </p:grpSpPr>
        <p:sp>
          <p:nvSpPr>
            <p:cNvPr id="14" name="Arrow: Chevron 13">
              <a:extLst>
                <a:ext uri="{FF2B5EF4-FFF2-40B4-BE49-F238E27FC236}">
                  <a16:creationId xmlns:a16="http://schemas.microsoft.com/office/drawing/2014/main" id="{D91458DD-4F0C-45EA-A31C-382FD55FF4F5}"/>
                </a:ext>
              </a:extLst>
            </p:cNvPr>
            <p:cNvSpPr/>
            <p:nvPr/>
          </p:nvSpPr>
          <p:spPr>
            <a:xfrm>
              <a:off x="7048788" y="4912649"/>
              <a:ext cx="1995997" cy="439425"/>
            </a:xfrm>
            <a:prstGeom prst="chevron">
              <a:avLst/>
            </a:prstGeom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 b="1" dirty="0">
                  <a:solidFill>
                    <a:schemeClr val="bg1"/>
                  </a:solidFill>
                </a:rPr>
                <a:t>Workflow</a:t>
              </a:r>
            </a:p>
            <a:p>
              <a:pPr algn="ctr"/>
              <a:r>
                <a:rPr lang="en-IN" sz="1200" b="1" dirty="0">
                  <a:solidFill>
                    <a:schemeClr val="bg1"/>
                  </a:solidFill>
                </a:rPr>
                <a:t>Management</a:t>
              </a:r>
            </a:p>
          </p:txBody>
        </p:sp>
        <p:pic>
          <p:nvPicPr>
            <p:cNvPr id="36" name="Picture 2" descr="Free Icon | Workflow">
              <a:extLst>
                <a:ext uri="{FF2B5EF4-FFF2-40B4-BE49-F238E27FC236}">
                  <a16:creationId xmlns:a16="http://schemas.microsoft.com/office/drawing/2014/main" id="{09C1C475-8690-41A4-9DDB-93C7A4E0F48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75993" y="4892885"/>
              <a:ext cx="494171" cy="49417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0" name="Rectangle: Rounded Corners 49">
              <a:extLst>
                <a:ext uri="{FF2B5EF4-FFF2-40B4-BE49-F238E27FC236}">
                  <a16:creationId xmlns:a16="http://schemas.microsoft.com/office/drawing/2014/main" id="{DAE465B8-F87F-4A58-A2C4-F28154C8BF6E}"/>
                </a:ext>
              </a:extLst>
            </p:cNvPr>
            <p:cNvSpPr/>
            <p:nvPr/>
          </p:nvSpPr>
          <p:spPr>
            <a:xfrm>
              <a:off x="6436526" y="5480474"/>
              <a:ext cx="2680013" cy="948815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sz="1200" dirty="0">
                  <a:solidFill>
                    <a:schemeClr val="tx1"/>
                  </a:solidFill>
                </a:rPr>
                <a:t>Automating Workflows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sz="1200" dirty="0">
                  <a:solidFill>
                    <a:schemeClr val="tx1"/>
                  </a:solidFill>
                </a:rPr>
                <a:t>Cron Based Scheduling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sz="1200" dirty="0">
                  <a:solidFill>
                    <a:schemeClr val="tx1"/>
                  </a:solidFill>
                </a:rPr>
                <a:t>API based Triggers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sz="1200" dirty="0">
                  <a:solidFill>
                    <a:schemeClr val="tx1"/>
                  </a:solidFill>
                </a:rPr>
                <a:t>On-Demand Triggering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FF393CAF-4537-4539-95DC-44A7E088021E}"/>
              </a:ext>
            </a:extLst>
          </p:cNvPr>
          <p:cNvGrpSpPr/>
          <p:nvPr/>
        </p:nvGrpSpPr>
        <p:grpSpPr>
          <a:xfrm>
            <a:off x="9417294" y="4795415"/>
            <a:ext cx="2680013" cy="1605261"/>
            <a:chOff x="9417294" y="4795415"/>
            <a:chExt cx="2680013" cy="1605261"/>
          </a:xfrm>
        </p:grpSpPr>
        <p:sp>
          <p:nvSpPr>
            <p:cNvPr id="15" name="Arrow: Chevron 14">
              <a:extLst>
                <a:ext uri="{FF2B5EF4-FFF2-40B4-BE49-F238E27FC236}">
                  <a16:creationId xmlns:a16="http://schemas.microsoft.com/office/drawing/2014/main" id="{3E7EAB1B-902D-4242-B93E-B8E2EC276582}"/>
                </a:ext>
              </a:extLst>
            </p:cNvPr>
            <p:cNvSpPr/>
            <p:nvPr/>
          </p:nvSpPr>
          <p:spPr>
            <a:xfrm>
              <a:off x="10101310" y="4899148"/>
              <a:ext cx="1995997" cy="439425"/>
            </a:xfrm>
            <a:prstGeom prst="chevron">
              <a:avLst/>
            </a:prstGeom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400" b="1" dirty="0">
                  <a:solidFill>
                    <a:schemeClr val="bg1"/>
                  </a:solidFill>
                </a:rPr>
                <a:t>Prototyping</a:t>
              </a:r>
            </a:p>
          </p:txBody>
        </p:sp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4D21CE6A-1A8A-42F9-A2D4-3D61B2DAA2C4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9417294" y="4795415"/>
              <a:ext cx="616997" cy="591641"/>
            </a:xfrm>
            <a:prstGeom prst="rect">
              <a:avLst/>
            </a:prstGeom>
          </p:spPr>
        </p:pic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2E416EEE-FDD0-45DA-9F6C-D292C5497B3C}"/>
                </a:ext>
              </a:extLst>
            </p:cNvPr>
            <p:cNvSpPr/>
            <p:nvPr/>
          </p:nvSpPr>
          <p:spPr>
            <a:xfrm>
              <a:off x="9417294" y="5451861"/>
              <a:ext cx="2680013" cy="948815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sz="1200" dirty="0">
                  <a:solidFill>
                    <a:schemeClr val="tx1"/>
                  </a:solidFill>
                </a:rPr>
                <a:t>Experimentation Templates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sz="1200" dirty="0">
                  <a:solidFill>
                    <a:schemeClr val="tx1"/>
                  </a:solidFill>
                </a:rPr>
                <a:t>400 Predefined Operators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sz="1200" dirty="0">
                  <a:solidFill>
                    <a:schemeClr val="tx1"/>
                  </a:solidFill>
                </a:rPr>
                <a:t>Ready-to-use Models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sz="1200" dirty="0">
                  <a:solidFill>
                    <a:schemeClr val="tx1"/>
                  </a:solidFill>
                </a:rPr>
                <a:t>Out-of-the-box Deployment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73268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 txBox="1">
            <a:spLocks/>
          </p:cNvSpPr>
          <p:nvPr/>
        </p:nvSpPr>
        <p:spPr>
          <a:xfrm>
            <a:off x="228600" y="-17576"/>
            <a:ext cx="11201400" cy="1420004"/>
          </a:xfrm>
          <a:prstGeom prst="rect">
            <a:avLst/>
          </a:prstGeom>
        </p:spPr>
        <p:txBody>
          <a:bodyPr vert="horz" wrap="square" lIns="0" tIns="288671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5080">
              <a:lnSpc>
                <a:spcPts val="4110"/>
              </a:lnSpc>
              <a:spcBef>
                <a:spcPts val="615"/>
              </a:spcBef>
            </a:pPr>
            <a:r>
              <a:rPr lang="en-IN" sz="2800" dirty="0">
                <a:solidFill>
                  <a:srgbClr val="006FAC"/>
                </a:solidFill>
                <a:latin typeface="Verdana"/>
                <a:cs typeface="Verdana"/>
              </a:rPr>
              <a:t>Introduction to SAP </a:t>
            </a:r>
            <a:r>
              <a:rPr lang="en-IN" sz="2800" dirty="0" smtClean="0">
                <a:solidFill>
                  <a:srgbClr val="006FAC"/>
                </a:solidFill>
                <a:latin typeface="Verdana"/>
                <a:cs typeface="Verdana"/>
              </a:rPr>
              <a:t>HANA Smart Data Integration</a:t>
            </a:r>
          </a:p>
          <a:p>
            <a:pPr marL="12700" marR="5080">
              <a:lnSpc>
                <a:spcPts val="4110"/>
              </a:lnSpc>
              <a:spcBef>
                <a:spcPts val="615"/>
              </a:spcBef>
            </a:pPr>
            <a:endParaRPr lang="en-IN" kern="0" spc="-40" dirty="0">
              <a:solidFill>
                <a:sysClr val="windowText" lastClr="000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91814" y="990600"/>
            <a:ext cx="115062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</a:rPr>
              <a:t>SAP HANA smart data integration and SAP HANA smart data quality load data, in batch or real-time, into HANA (on premise or in the cloud) from a variety of sources using pre-built and custom adapters</a:t>
            </a:r>
            <a:r>
              <a:rPr lang="en-IN" dirty="0" smtClean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  <a:p>
            <a:pPr algn="just"/>
            <a:endParaRPr lang="en-IN" i="1" dirty="0" smtClean="0">
              <a:solidFill>
                <a:srgbClr val="444444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just"/>
            <a:r>
              <a:rPr lang="en-IN" dirty="0" smtClean="0">
                <a:solidFill>
                  <a:srgbClr val="444444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Prior </a:t>
            </a:r>
            <a:r>
              <a:rPr lang="en-IN" dirty="0">
                <a:solidFill>
                  <a:srgbClr val="444444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to Hana </a:t>
            </a:r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</a:rPr>
              <a:t>SPS09</a:t>
            </a:r>
            <a:r>
              <a:rPr lang="en-IN" dirty="0" smtClean="0">
                <a:solidFill>
                  <a:srgbClr val="444444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IN" dirty="0">
                <a:solidFill>
                  <a:srgbClr val="444444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SAP suggested to use different tools to get data into </a:t>
            </a:r>
            <a:r>
              <a:rPr lang="en-IN" dirty="0" smtClean="0">
                <a:solidFill>
                  <a:srgbClr val="444444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Hana, now </a:t>
            </a:r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</a:rPr>
              <a:t>SDI is available on SAP Cloud Platform and every HANA database since HANA SPS09.</a:t>
            </a:r>
            <a:endParaRPr lang="en-IN" dirty="0" smtClean="0">
              <a:solidFill>
                <a:srgbClr val="444444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just"/>
            <a:endParaRPr lang="en-IN" i="1" dirty="0">
              <a:solidFill>
                <a:srgbClr val="444444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IN" dirty="0" smtClean="0">
                <a:latin typeface="Verdana" panose="020B0604030504040204" pitchFamily="34" charset="0"/>
                <a:ea typeface="Verdana" panose="020B0604030504040204" pitchFamily="34" charset="0"/>
              </a:rPr>
              <a:t>SDI </a:t>
            </a:r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</a:rPr>
              <a:t>has two main components</a:t>
            </a:r>
            <a:r>
              <a:rPr lang="en-IN" dirty="0" smtClean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  <a:p>
            <a:endParaRPr lang="en-IN" b="1" u="sng" dirty="0" smtClean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IN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1</a:t>
            </a:r>
            <a:r>
              <a:rPr lang="en-IN" b="1" dirty="0">
                <a:latin typeface="Verdana" panose="020B0604030504040204" pitchFamily="34" charset="0"/>
                <a:ea typeface="Verdana" panose="020B0604030504040204" pitchFamily="34" charset="0"/>
              </a:rPr>
              <a:t>. Data Provisioning Server (</a:t>
            </a:r>
            <a:r>
              <a:rPr lang="en-IN" b="1" dirty="0" err="1">
                <a:latin typeface="Verdana" panose="020B0604030504040204" pitchFamily="34" charset="0"/>
                <a:ea typeface="Verdana" panose="020B0604030504040204" pitchFamily="34" charset="0"/>
              </a:rPr>
              <a:t>DPServer</a:t>
            </a:r>
            <a:r>
              <a:rPr lang="en-IN" b="1" dirty="0">
                <a:latin typeface="Verdana" panose="020B0604030504040204" pitchFamily="34" charset="0"/>
                <a:ea typeface="Verdana" panose="020B0604030504040204" pitchFamily="34" charset="0"/>
              </a:rPr>
              <a:t>):</a:t>
            </a: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IN" dirty="0" err="1">
                <a:latin typeface="Verdana" panose="020B0604030504040204" pitchFamily="34" charset="0"/>
                <a:ea typeface="Verdana" panose="020B0604030504040204" pitchFamily="34" charset="0"/>
              </a:rPr>
              <a:t>DPServer</a:t>
            </a:r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</a:rPr>
              <a:t> is natively available in the HANA database. We need to activate the </a:t>
            </a:r>
            <a:r>
              <a:rPr lang="en-IN" dirty="0" err="1">
                <a:latin typeface="Verdana" panose="020B0604030504040204" pitchFamily="34" charset="0"/>
                <a:ea typeface="Verdana" panose="020B0604030504040204" pitchFamily="34" charset="0"/>
              </a:rPr>
              <a:t>DPServer</a:t>
            </a:r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</a:rPr>
              <a:t> in the HANA configuration.</a:t>
            </a:r>
          </a:p>
          <a:p>
            <a:endParaRPr lang="en-IN" b="1" u="sng" dirty="0" smtClean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IN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2</a:t>
            </a:r>
            <a:r>
              <a:rPr lang="en-IN" b="1" dirty="0">
                <a:latin typeface="Verdana" panose="020B0604030504040204" pitchFamily="34" charset="0"/>
                <a:ea typeface="Verdana" panose="020B0604030504040204" pitchFamily="34" charset="0"/>
              </a:rPr>
              <a:t>. Data Provisioning Agent (DP Agent):</a:t>
            </a: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</a:rPr>
              <a:t>The Data Provisioning Agent manages all SDI Adapters and connections to HANA database. It acts as the communication interface between HANA and the Adapter. The </a:t>
            </a:r>
            <a:r>
              <a:rPr lang="en-IN" u="sng" dirty="0">
                <a:latin typeface="Verdana" panose="020B0604030504040204" pitchFamily="34" charset="0"/>
                <a:ea typeface="Verdana" panose="020B0604030504040204" pitchFamily="34" charset="0"/>
              </a:rPr>
              <a:t>DP Agent version must match with the HANA version</a:t>
            </a:r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  <a:p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</a:rPr>
              <a:t>On this </a:t>
            </a:r>
            <a:r>
              <a:rPr lang="en-IN" dirty="0" err="1">
                <a:latin typeface="Verdana" panose="020B0604030504040204" pitchFamily="34" charset="0"/>
                <a:ea typeface="Verdana" panose="020B0604030504040204" pitchFamily="34" charset="0"/>
              </a:rPr>
              <a:t>agent,different</a:t>
            </a:r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</a:rPr>
              <a:t> types of adapters are deployed, these adapters will take care of the communication between the HANA database and the source systems.</a:t>
            </a:r>
          </a:p>
          <a:p>
            <a:pPr algn="just"/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3875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 txBox="1">
            <a:spLocks/>
          </p:cNvSpPr>
          <p:nvPr/>
        </p:nvSpPr>
        <p:spPr>
          <a:xfrm>
            <a:off x="228600" y="-17576"/>
            <a:ext cx="11201400" cy="1420004"/>
          </a:xfrm>
          <a:prstGeom prst="rect">
            <a:avLst/>
          </a:prstGeom>
        </p:spPr>
        <p:txBody>
          <a:bodyPr vert="horz" wrap="square" lIns="0" tIns="288671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5080">
              <a:lnSpc>
                <a:spcPts val="4110"/>
              </a:lnSpc>
              <a:spcBef>
                <a:spcPts val="615"/>
              </a:spcBef>
            </a:pPr>
            <a:r>
              <a:rPr lang="en-IN" sz="2800" dirty="0" smtClean="0">
                <a:solidFill>
                  <a:srgbClr val="006FAC"/>
                </a:solidFill>
                <a:latin typeface="Verdana"/>
                <a:cs typeface="Verdana"/>
              </a:rPr>
              <a:t>HANA Smart Data Integration Architecture</a:t>
            </a:r>
          </a:p>
          <a:p>
            <a:pPr marL="12700" marR="5080">
              <a:lnSpc>
                <a:spcPts val="4110"/>
              </a:lnSpc>
              <a:spcBef>
                <a:spcPts val="615"/>
              </a:spcBef>
            </a:pPr>
            <a:endParaRPr lang="en-IN" kern="0" spc="-40" dirty="0">
              <a:solidFill>
                <a:sysClr val="windowText" lastClr="00000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838200"/>
            <a:ext cx="11201400" cy="556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675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36007" y="2172081"/>
            <a:ext cx="1918970" cy="6051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45" dirty="0">
                <a:solidFill>
                  <a:srgbClr val="000000"/>
                </a:solidFill>
                <a:latin typeface="Microsoft Sans Serif"/>
                <a:cs typeface="Microsoft Sans Serif"/>
              </a:rPr>
              <a:t>Tha</a:t>
            </a:r>
            <a:r>
              <a:rPr spc="-425" dirty="0">
                <a:solidFill>
                  <a:srgbClr val="000000"/>
                </a:solidFill>
                <a:latin typeface="Microsoft Sans Serif"/>
                <a:cs typeface="Microsoft Sans Serif"/>
              </a:rPr>
              <a:t>n</a:t>
            </a:r>
            <a:r>
              <a:rPr spc="-80" dirty="0">
                <a:solidFill>
                  <a:srgbClr val="000000"/>
                </a:solidFill>
                <a:latin typeface="Microsoft Sans Serif"/>
                <a:cs typeface="Microsoft Sans Serif"/>
              </a:rPr>
              <a:t>k </a:t>
            </a:r>
            <a:r>
              <a:rPr spc="-780" dirty="0">
                <a:solidFill>
                  <a:srgbClr val="000000"/>
                </a:solidFill>
                <a:latin typeface="Microsoft Sans Serif"/>
                <a:cs typeface="Microsoft Sans Serif"/>
              </a:rPr>
              <a:t>Y</a:t>
            </a:r>
            <a:r>
              <a:rPr spc="-375" dirty="0">
                <a:solidFill>
                  <a:srgbClr val="000000"/>
                </a:solidFill>
                <a:latin typeface="Microsoft Sans Serif"/>
                <a:cs typeface="Microsoft Sans Serif"/>
              </a:rPr>
              <a:t>ou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632703" y="2965704"/>
            <a:ext cx="927100" cy="927100"/>
            <a:chOff x="5632703" y="2965704"/>
            <a:chExt cx="927100" cy="927100"/>
          </a:xfrm>
        </p:grpSpPr>
        <p:sp>
          <p:nvSpPr>
            <p:cNvPr id="4" name="object 4"/>
            <p:cNvSpPr/>
            <p:nvPr/>
          </p:nvSpPr>
          <p:spPr>
            <a:xfrm>
              <a:off x="5638799" y="29718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457200" y="0"/>
                  </a:moveTo>
                  <a:lnTo>
                    <a:pt x="410458" y="2360"/>
                  </a:lnTo>
                  <a:lnTo>
                    <a:pt x="365066" y="9289"/>
                  </a:lnTo>
                  <a:lnTo>
                    <a:pt x="321253" y="20557"/>
                  </a:lnTo>
                  <a:lnTo>
                    <a:pt x="279249" y="35933"/>
                  </a:lnTo>
                  <a:lnTo>
                    <a:pt x="239283" y="55187"/>
                  </a:lnTo>
                  <a:lnTo>
                    <a:pt x="201587" y="78090"/>
                  </a:lnTo>
                  <a:lnTo>
                    <a:pt x="166390" y="104411"/>
                  </a:lnTo>
                  <a:lnTo>
                    <a:pt x="133921" y="133921"/>
                  </a:lnTo>
                  <a:lnTo>
                    <a:pt x="104411" y="166390"/>
                  </a:lnTo>
                  <a:lnTo>
                    <a:pt x="78090" y="201587"/>
                  </a:lnTo>
                  <a:lnTo>
                    <a:pt x="55187" y="239283"/>
                  </a:lnTo>
                  <a:lnTo>
                    <a:pt x="35933" y="279249"/>
                  </a:lnTo>
                  <a:lnTo>
                    <a:pt x="20557" y="321253"/>
                  </a:lnTo>
                  <a:lnTo>
                    <a:pt x="9289" y="365066"/>
                  </a:lnTo>
                  <a:lnTo>
                    <a:pt x="2360" y="410458"/>
                  </a:lnTo>
                  <a:lnTo>
                    <a:pt x="0" y="457200"/>
                  </a:lnTo>
                  <a:lnTo>
                    <a:pt x="2360" y="503941"/>
                  </a:lnTo>
                  <a:lnTo>
                    <a:pt x="9289" y="549333"/>
                  </a:lnTo>
                  <a:lnTo>
                    <a:pt x="20557" y="593146"/>
                  </a:lnTo>
                  <a:lnTo>
                    <a:pt x="35933" y="635150"/>
                  </a:lnTo>
                  <a:lnTo>
                    <a:pt x="55187" y="675116"/>
                  </a:lnTo>
                  <a:lnTo>
                    <a:pt x="78090" y="712812"/>
                  </a:lnTo>
                  <a:lnTo>
                    <a:pt x="104411" y="748009"/>
                  </a:lnTo>
                  <a:lnTo>
                    <a:pt x="133921" y="780478"/>
                  </a:lnTo>
                  <a:lnTo>
                    <a:pt x="166390" y="809988"/>
                  </a:lnTo>
                  <a:lnTo>
                    <a:pt x="201587" y="836309"/>
                  </a:lnTo>
                  <a:lnTo>
                    <a:pt x="239283" y="859212"/>
                  </a:lnTo>
                  <a:lnTo>
                    <a:pt x="279249" y="878466"/>
                  </a:lnTo>
                  <a:lnTo>
                    <a:pt x="321253" y="893842"/>
                  </a:lnTo>
                  <a:lnTo>
                    <a:pt x="365066" y="905110"/>
                  </a:lnTo>
                  <a:lnTo>
                    <a:pt x="410458" y="912039"/>
                  </a:lnTo>
                  <a:lnTo>
                    <a:pt x="457200" y="914400"/>
                  </a:lnTo>
                  <a:lnTo>
                    <a:pt x="503941" y="912039"/>
                  </a:lnTo>
                  <a:lnTo>
                    <a:pt x="549333" y="905110"/>
                  </a:lnTo>
                  <a:lnTo>
                    <a:pt x="593146" y="893842"/>
                  </a:lnTo>
                  <a:lnTo>
                    <a:pt x="635150" y="878466"/>
                  </a:lnTo>
                  <a:lnTo>
                    <a:pt x="675116" y="859212"/>
                  </a:lnTo>
                  <a:lnTo>
                    <a:pt x="712812" y="836309"/>
                  </a:lnTo>
                  <a:lnTo>
                    <a:pt x="748009" y="809988"/>
                  </a:lnTo>
                  <a:lnTo>
                    <a:pt x="780478" y="780478"/>
                  </a:lnTo>
                  <a:lnTo>
                    <a:pt x="809988" y="748009"/>
                  </a:lnTo>
                  <a:lnTo>
                    <a:pt x="836309" y="712812"/>
                  </a:lnTo>
                  <a:lnTo>
                    <a:pt x="859212" y="675116"/>
                  </a:lnTo>
                  <a:lnTo>
                    <a:pt x="878466" y="635150"/>
                  </a:lnTo>
                  <a:lnTo>
                    <a:pt x="893842" y="593146"/>
                  </a:lnTo>
                  <a:lnTo>
                    <a:pt x="905110" y="549333"/>
                  </a:lnTo>
                  <a:lnTo>
                    <a:pt x="912039" y="503941"/>
                  </a:lnTo>
                  <a:lnTo>
                    <a:pt x="914400" y="457200"/>
                  </a:lnTo>
                  <a:lnTo>
                    <a:pt x="912039" y="410458"/>
                  </a:lnTo>
                  <a:lnTo>
                    <a:pt x="905110" y="365066"/>
                  </a:lnTo>
                  <a:lnTo>
                    <a:pt x="893842" y="321253"/>
                  </a:lnTo>
                  <a:lnTo>
                    <a:pt x="878466" y="279249"/>
                  </a:lnTo>
                  <a:lnTo>
                    <a:pt x="859212" y="239283"/>
                  </a:lnTo>
                  <a:lnTo>
                    <a:pt x="836309" y="201587"/>
                  </a:lnTo>
                  <a:lnTo>
                    <a:pt x="809988" y="166390"/>
                  </a:lnTo>
                  <a:lnTo>
                    <a:pt x="780478" y="133921"/>
                  </a:lnTo>
                  <a:lnTo>
                    <a:pt x="748009" y="104411"/>
                  </a:lnTo>
                  <a:lnTo>
                    <a:pt x="712812" y="78090"/>
                  </a:lnTo>
                  <a:lnTo>
                    <a:pt x="675116" y="55187"/>
                  </a:lnTo>
                  <a:lnTo>
                    <a:pt x="635150" y="35933"/>
                  </a:lnTo>
                  <a:lnTo>
                    <a:pt x="593146" y="20557"/>
                  </a:lnTo>
                  <a:lnTo>
                    <a:pt x="549333" y="9289"/>
                  </a:lnTo>
                  <a:lnTo>
                    <a:pt x="503941" y="236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F4FF4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901943" y="3244596"/>
              <a:ext cx="388620" cy="95250"/>
            </a:xfrm>
            <a:custGeom>
              <a:avLst/>
              <a:gdLst/>
              <a:ahLst/>
              <a:cxnLst/>
              <a:rect l="l" t="t" r="r" b="b"/>
              <a:pathLst>
                <a:path w="388620" h="95250">
                  <a:moveTo>
                    <a:pt x="47625" y="0"/>
                  </a:moveTo>
                  <a:lnTo>
                    <a:pt x="29092" y="3744"/>
                  </a:lnTo>
                  <a:lnTo>
                    <a:pt x="13954" y="13954"/>
                  </a:lnTo>
                  <a:lnTo>
                    <a:pt x="3744" y="29092"/>
                  </a:lnTo>
                  <a:lnTo>
                    <a:pt x="0" y="47625"/>
                  </a:lnTo>
                  <a:lnTo>
                    <a:pt x="3744" y="66157"/>
                  </a:lnTo>
                  <a:lnTo>
                    <a:pt x="13954" y="81295"/>
                  </a:lnTo>
                  <a:lnTo>
                    <a:pt x="29092" y="91505"/>
                  </a:lnTo>
                  <a:lnTo>
                    <a:pt x="47625" y="95250"/>
                  </a:lnTo>
                  <a:lnTo>
                    <a:pt x="66157" y="91505"/>
                  </a:lnTo>
                  <a:lnTo>
                    <a:pt x="81295" y="81295"/>
                  </a:lnTo>
                  <a:lnTo>
                    <a:pt x="91505" y="66157"/>
                  </a:lnTo>
                  <a:lnTo>
                    <a:pt x="95250" y="47625"/>
                  </a:lnTo>
                  <a:lnTo>
                    <a:pt x="91505" y="29092"/>
                  </a:lnTo>
                  <a:lnTo>
                    <a:pt x="81295" y="13954"/>
                  </a:lnTo>
                  <a:lnTo>
                    <a:pt x="66157" y="3744"/>
                  </a:lnTo>
                  <a:lnTo>
                    <a:pt x="47625" y="0"/>
                  </a:lnTo>
                  <a:close/>
                </a:path>
                <a:path w="388620" h="95250">
                  <a:moveTo>
                    <a:pt x="340486" y="0"/>
                  </a:moveTo>
                  <a:lnTo>
                    <a:pt x="321954" y="3744"/>
                  </a:lnTo>
                  <a:lnTo>
                    <a:pt x="306816" y="13954"/>
                  </a:lnTo>
                  <a:lnTo>
                    <a:pt x="296606" y="29092"/>
                  </a:lnTo>
                  <a:lnTo>
                    <a:pt x="292861" y="47625"/>
                  </a:lnTo>
                  <a:lnTo>
                    <a:pt x="296606" y="66157"/>
                  </a:lnTo>
                  <a:lnTo>
                    <a:pt x="306816" y="81295"/>
                  </a:lnTo>
                  <a:lnTo>
                    <a:pt x="321954" y="91505"/>
                  </a:lnTo>
                  <a:lnTo>
                    <a:pt x="340486" y="95250"/>
                  </a:lnTo>
                  <a:lnTo>
                    <a:pt x="359019" y="91505"/>
                  </a:lnTo>
                  <a:lnTo>
                    <a:pt x="374157" y="81295"/>
                  </a:lnTo>
                  <a:lnTo>
                    <a:pt x="384367" y="66157"/>
                  </a:lnTo>
                  <a:lnTo>
                    <a:pt x="388111" y="47625"/>
                  </a:lnTo>
                  <a:lnTo>
                    <a:pt x="384367" y="29092"/>
                  </a:lnTo>
                  <a:lnTo>
                    <a:pt x="374157" y="13954"/>
                  </a:lnTo>
                  <a:lnTo>
                    <a:pt x="359019" y="3744"/>
                  </a:lnTo>
                  <a:lnTo>
                    <a:pt x="340486" y="0"/>
                  </a:lnTo>
                  <a:close/>
                </a:path>
              </a:pathLst>
            </a:custGeom>
            <a:solidFill>
              <a:srgbClr val="C4CD3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95847" y="3238500"/>
              <a:ext cx="107442" cy="10744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88709" y="3238500"/>
              <a:ext cx="107442" cy="10744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638799" y="29718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209423" y="656589"/>
                  </a:moveTo>
                  <a:lnTo>
                    <a:pt x="254478" y="684708"/>
                  </a:lnTo>
                  <a:lnTo>
                    <a:pt x="299522" y="707203"/>
                  </a:lnTo>
                  <a:lnTo>
                    <a:pt x="344554" y="724074"/>
                  </a:lnTo>
                  <a:lnTo>
                    <a:pt x="389575" y="735321"/>
                  </a:lnTo>
                  <a:lnTo>
                    <a:pt x="434587" y="740945"/>
                  </a:lnTo>
                  <a:lnTo>
                    <a:pt x="479588" y="740945"/>
                  </a:lnTo>
                  <a:lnTo>
                    <a:pt x="524580" y="735321"/>
                  </a:lnTo>
                  <a:lnTo>
                    <a:pt x="569564" y="724074"/>
                  </a:lnTo>
                  <a:lnTo>
                    <a:pt x="614539" y="707203"/>
                  </a:lnTo>
                  <a:lnTo>
                    <a:pt x="659507" y="684708"/>
                  </a:lnTo>
                  <a:lnTo>
                    <a:pt x="704469" y="656589"/>
                  </a:lnTo>
                </a:path>
                <a:path w="914400" h="914400">
                  <a:moveTo>
                    <a:pt x="0" y="457200"/>
                  </a:moveTo>
                  <a:lnTo>
                    <a:pt x="2360" y="410458"/>
                  </a:lnTo>
                  <a:lnTo>
                    <a:pt x="9289" y="365066"/>
                  </a:lnTo>
                  <a:lnTo>
                    <a:pt x="20557" y="321253"/>
                  </a:lnTo>
                  <a:lnTo>
                    <a:pt x="35933" y="279249"/>
                  </a:lnTo>
                  <a:lnTo>
                    <a:pt x="55187" y="239283"/>
                  </a:lnTo>
                  <a:lnTo>
                    <a:pt x="78090" y="201587"/>
                  </a:lnTo>
                  <a:lnTo>
                    <a:pt x="104411" y="166390"/>
                  </a:lnTo>
                  <a:lnTo>
                    <a:pt x="133921" y="133921"/>
                  </a:lnTo>
                  <a:lnTo>
                    <a:pt x="166390" y="104411"/>
                  </a:lnTo>
                  <a:lnTo>
                    <a:pt x="201587" y="78090"/>
                  </a:lnTo>
                  <a:lnTo>
                    <a:pt x="239283" y="55187"/>
                  </a:lnTo>
                  <a:lnTo>
                    <a:pt x="279249" y="35933"/>
                  </a:lnTo>
                  <a:lnTo>
                    <a:pt x="321253" y="20557"/>
                  </a:lnTo>
                  <a:lnTo>
                    <a:pt x="365066" y="9289"/>
                  </a:lnTo>
                  <a:lnTo>
                    <a:pt x="410458" y="2360"/>
                  </a:lnTo>
                  <a:lnTo>
                    <a:pt x="457200" y="0"/>
                  </a:lnTo>
                  <a:lnTo>
                    <a:pt x="503941" y="2360"/>
                  </a:lnTo>
                  <a:lnTo>
                    <a:pt x="549333" y="9289"/>
                  </a:lnTo>
                  <a:lnTo>
                    <a:pt x="593146" y="20557"/>
                  </a:lnTo>
                  <a:lnTo>
                    <a:pt x="635150" y="35933"/>
                  </a:lnTo>
                  <a:lnTo>
                    <a:pt x="675116" y="55187"/>
                  </a:lnTo>
                  <a:lnTo>
                    <a:pt x="712812" y="78090"/>
                  </a:lnTo>
                  <a:lnTo>
                    <a:pt x="748009" y="104411"/>
                  </a:lnTo>
                  <a:lnTo>
                    <a:pt x="780478" y="133921"/>
                  </a:lnTo>
                  <a:lnTo>
                    <a:pt x="809988" y="166390"/>
                  </a:lnTo>
                  <a:lnTo>
                    <a:pt x="836309" y="201587"/>
                  </a:lnTo>
                  <a:lnTo>
                    <a:pt x="859212" y="239283"/>
                  </a:lnTo>
                  <a:lnTo>
                    <a:pt x="878466" y="279249"/>
                  </a:lnTo>
                  <a:lnTo>
                    <a:pt x="893842" y="321253"/>
                  </a:lnTo>
                  <a:lnTo>
                    <a:pt x="905110" y="365066"/>
                  </a:lnTo>
                  <a:lnTo>
                    <a:pt x="912039" y="410458"/>
                  </a:lnTo>
                  <a:lnTo>
                    <a:pt x="914400" y="457200"/>
                  </a:lnTo>
                  <a:lnTo>
                    <a:pt x="912039" y="503941"/>
                  </a:lnTo>
                  <a:lnTo>
                    <a:pt x="905110" y="549333"/>
                  </a:lnTo>
                  <a:lnTo>
                    <a:pt x="893842" y="593146"/>
                  </a:lnTo>
                  <a:lnTo>
                    <a:pt x="878466" y="635150"/>
                  </a:lnTo>
                  <a:lnTo>
                    <a:pt x="859212" y="675116"/>
                  </a:lnTo>
                  <a:lnTo>
                    <a:pt x="836309" y="712812"/>
                  </a:lnTo>
                  <a:lnTo>
                    <a:pt x="809988" y="748009"/>
                  </a:lnTo>
                  <a:lnTo>
                    <a:pt x="780478" y="780478"/>
                  </a:lnTo>
                  <a:lnTo>
                    <a:pt x="748009" y="809988"/>
                  </a:lnTo>
                  <a:lnTo>
                    <a:pt x="712812" y="836309"/>
                  </a:lnTo>
                  <a:lnTo>
                    <a:pt x="675116" y="859212"/>
                  </a:lnTo>
                  <a:lnTo>
                    <a:pt x="635150" y="878466"/>
                  </a:lnTo>
                  <a:lnTo>
                    <a:pt x="593146" y="893842"/>
                  </a:lnTo>
                  <a:lnTo>
                    <a:pt x="549333" y="905110"/>
                  </a:lnTo>
                  <a:lnTo>
                    <a:pt x="503941" y="912039"/>
                  </a:lnTo>
                  <a:lnTo>
                    <a:pt x="457200" y="914400"/>
                  </a:lnTo>
                  <a:lnTo>
                    <a:pt x="410458" y="912039"/>
                  </a:lnTo>
                  <a:lnTo>
                    <a:pt x="365066" y="905110"/>
                  </a:lnTo>
                  <a:lnTo>
                    <a:pt x="321253" y="893842"/>
                  </a:lnTo>
                  <a:lnTo>
                    <a:pt x="279249" y="878466"/>
                  </a:lnTo>
                  <a:lnTo>
                    <a:pt x="239283" y="859212"/>
                  </a:lnTo>
                  <a:lnTo>
                    <a:pt x="201587" y="836309"/>
                  </a:lnTo>
                  <a:lnTo>
                    <a:pt x="166390" y="809988"/>
                  </a:lnTo>
                  <a:lnTo>
                    <a:pt x="133921" y="780478"/>
                  </a:lnTo>
                  <a:lnTo>
                    <a:pt x="104411" y="748009"/>
                  </a:lnTo>
                  <a:lnTo>
                    <a:pt x="78090" y="712812"/>
                  </a:lnTo>
                  <a:lnTo>
                    <a:pt x="55187" y="675116"/>
                  </a:lnTo>
                  <a:lnTo>
                    <a:pt x="35933" y="635150"/>
                  </a:lnTo>
                  <a:lnTo>
                    <a:pt x="20557" y="593146"/>
                  </a:lnTo>
                  <a:lnTo>
                    <a:pt x="9289" y="549333"/>
                  </a:lnTo>
                  <a:lnTo>
                    <a:pt x="2360" y="503941"/>
                  </a:lnTo>
                  <a:lnTo>
                    <a:pt x="0" y="457200"/>
                  </a:lnTo>
                  <a:close/>
                </a:path>
              </a:pathLst>
            </a:custGeom>
            <a:ln w="12192">
              <a:solidFill>
                <a:srgbClr val="0050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E8604E4B921FB4F93D8730230AA0870" ma:contentTypeVersion="14" ma:contentTypeDescription="Create a new document." ma:contentTypeScope="" ma:versionID="c969565bd0441f143c008ea4f71f08fa">
  <xsd:schema xmlns:xsd="http://www.w3.org/2001/XMLSchema" xmlns:xs="http://www.w3.org/2001/XMLSchema" xmlns:p="http://schemas.microsoft.com/office/2006/metadata/properties" xmlns:ns2="b5bd380f-4f72-4d40-8fc8-67f930036d20" xmlns:ns3="dd57703e-8384-4d8b-be02-c5599229607d" targetNamespace="http://schemas.microsoft.com/office/2006/metadata/properties" ma:root="true" ma:fieldsID="43b57f1948bdfaf8442f9e5286e9a92a" ns2:_="" ns3:_="">
    <xsd:import namespace="b5bd380f-4f72-4d40-8fc8-67f930036d20"/>
    <xsd:import namespace="dd57703e-8384-4d8b-be02-c5599229607d"/>
    <xsd:element name="properties">
      <xsd:complexType>
        <xsd:sequence>
          <xsd:element name="documentManagement">
            <xsd:complexType>
              <xsd:all>
                <xsd:element ref="ns2:Level"/>
                <xsd:element ref="ns2:Category"/>
                <xsd:element ref="ns2:Material_x0020_Type"/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5bd380f-4f72-4d40-8fc8-67f930036d20" elementFormDefault="qualified">
    <xsd:import namespace="http://schemas.microsoft.com/office/2006/documentManagement/types"/>
    <xsd:import namespace="http://schemas.microsoft.com/office/infopath/2007/PartnerControls"/>
    <xsd:element name="Level" ma:index="8" ma:displayName="Level" ma:format="Dropdown" ma:internalName="Level">
      <xsd:simpleType>
        <xsd:restriction base="dms:Choice">
          <xsd:enumeration value="L1"/>
          <xsd:enumeration value="L2"/>
          <xsd:enumeration value="L3"/>
          <xsd:enumeration value="L4"/>
          <xsd:enumeration value="Common"/>
        </xsd:restriction>
      </xsd:simpleType>
    </xsd:element>
    <xsd:element name="Category" ma:index="9" ma:displayName="Category" ma:default="Module Artifact" ma:format="Dropdown" ma:internalName="Category">
      <xsd:simpleType>
        <xsd:restriction base="dms:Choice">
          <xsd:enumeration value="Module Artifact"/>
          <xsd:enumeration value="Assessment Component"/>
        </xsd:restriction>
      </xsd:simpleType>
    </xsd:element>
    <xsd:element name="Material_x0020_Type" ma:index="10" ma:displayName="Material Type" ma:default="Class book" ma:format="Dropdown" ma:internalName="Material_x0020_Type">
      <xsd:simpleType>
        <xsd:restriction base="dms:Choice">
          <xsd:enumeration value="Demos"/>
          <xsd:enumeration value="Extra Example"/>
          <xsd:enumeration value="Extra Material"/>
          <xsd:enumeration value="Suggestions"/>
          <xsd:enumeration value="General"/>
          <xsd:enumeration value="Module Test Practical"/>
          <xsd:enumeration value="Module Test Theory"/>
          <xsd:enumeration value="Quiz"/>
          <xsd:enumeration value="Class book"/>
          <xsd:enumeration value="Lab book"/>
          <xsd:enumeration value="Recordings"/>
        </xsd:restriction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MediaServiceAutoTags" ma:internalName="MediaServiceAutoTags" ma:readOnly="true">
      <xsd:simpleType>
        <xsd:restriction base="dms:Text"/>
      </xsd:simpleType>
    </xsd:element>
    <xsd:element name="MediaServiceOCR" ma:index="14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57703e-8384-4d8b-be02-c5599229607d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aterial_x0020_Type xmlns="b5bd380f-4f72-4d40-8fc8-67f930036d20">Class book</Material_x0020_Type>
    <Category xmlns="b5bd380f-4f72-4d40-8fc8-67f930036d20">Module Artifact</Category>
    <Level xmlns="b5bd380f-4f72-4d40-8fc8-67f930036d20">L1</Level>
  </documentManagement>
</p:properties>
</file>

<file path=customXml/itemProps1.xml><?xml version="1.0" encoding="utf-8"?>
<ds:datastoreItem xmlns:ds="http://schemas.openxmlformats.org/officeDocument/2006/customXml" ds:itemID="{E81B7717-C976-4144-AA22-9B7CD9C668EA}"/>
</file>

<file path=customXml/itemProps2.xml><?xml version="1.0" encoding="utf-8"?>
<ds:datastoreItem xmlns:ds="http://schemas.openxmlformats.org/officeDocument/2006/customXml" ds:itemID="{97A23841-82BA-4B48-B6D1-0BB1DD469829}"/>
</file>

<file path=customXml/itemProps3.xml><?xml version="1.0" encoding="utf-8"?>
<ds:datastoreItem xmlns:ds="http://schemas.openxmlformats.org/officeDocument/2006/customXml" ds:itemID="{96022454-89D8-471F-BE37-2DA8A1B51294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137</TotalTime>
  <Words>1665</Words>
  <Application>Microsoft Office PowerPoint</Application>
  <PresentationFormat>Widescreen</PresentationFormat>
  <Paragraphs>171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Arial</vt:lpstr>
      <vt:lpstr>Calibri</vt:lpstr>
      <vt:lpstr>Microsoft Sans Serif</vt:lpstr>
      <vt:lpstr>Verdana</vt:lpstr>
      <vt:lpstr>Wingdings</vt:lpstr>
      <vt:lpstr>Office Theme</vt:lpstr>
      <vt:lpstr>TRAINING DAY 3</vt:lpstr>
      <vt:lpstr>AGENDA</vt:lpstr>
      <vt:lpstr>METADATA MANAGEMENT</vt:lpstr>
      <vt:lpstr>METADATA MANAGEMENT</vt:lpstr>
      <vt:lpstr>METADATA MANAGEMENT</vt:lpstr>
      <vt:lpstr>SOURCE-BASED PERFORMANCE  OPTIONS</vt:lpstr>
      <vt:lpstr>TARGET-BASED PERFORMANCE OPTIONS</vt:lpstr>
      <vt:lpstr>JOB DESIGN PERFORMANCE OPTIONS</vt:lpstr>
      <vt:lpstr>USING BULK LOADING</vt:lpstr>
      <vt:lpstr>PowerPoint Presentation</vt:lpstr>
      <vt:lpstr>BULK LOADING IN MS SQL SERVER</vt:lpstr>
      <vt:lpstr>BULK LOADING IN MS SQL SERVER</vt:lpstr>
      <vt:lpstr>DISTRIBUTING DATA FLOW EXECUTION</vt:lpstr>
      <vt:lpstr>USING PARALLEL EXECUTION</vt:lpstr>
      <vt:lpstr>DEGREE OF PARALLELISM</vt:lpstr>
      <vt:lpstr>DEGREE OF PARALLELISM EXAMPLE</vt:lpstr>
      <vt:lpstr>BODS PERFORMANCE TUNING  TECHNIQUES</vt:lpstr>
      <vt:lpstr>BODS PERFORMANCE TUNING  TECHNIQUES</vt:lpstr>
      <vt:lpstr>INTRODUCTION TO THE METADATA  TABLES</vt:lpstr>
      <vt:lpstr>INTRODUCTION TO THE METADATA  TABLES</vt:lpstr>
      <vt:lpstr>INTRODUCTION TO THE METADATA  TABLES</vt:lpstr>
      <vt:lpstr>INTRODUCTION TO THE METADATA  TABLES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Sahu, Monika</dc:creator>
  <cp:lastModifiedBy>Mohammad, Fareed</cp:lastModifiedBy>
  <cp:revision>7</cp:revision>
  <dcterms:created xsi:type="dcterms:W3CDTF">2022-01-04T13:20:09Z</dcterms:created>
  <dcterms:modified xsi:type="dcterms:W3CDTF">2022-01-05T16:20:28Z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2019-01-15T00:00:00Z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2022-01-04T00:00:00Z</vt:filetime>
  </property>
  <property fmtid="{D5CDD505-2E9C-101B-9397-08002B2CF9AE}" pid="5" name="ContentTypeId">
    <vt:lpwstr>0x0101008E8604E4B921FB4F93D8730230AA0870</vt:lpwstr>
  </property>
</Properties>
</file>